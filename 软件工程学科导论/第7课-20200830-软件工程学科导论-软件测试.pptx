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7" r:id="rId2"/>
    <p:sldId id="511" r:id="rId3"/>
    <p:sldId id="512" r:id="rId4"/>
    <p:sldId id="513" r:id="rId5"/>
    <p:sldId id="514" r:id="rId6"/>
    <p:sldId id="515" r:id="rId7"/>
    <p:sldId id="516" r:id="rId8"/>
    <p:sldId id="517" r:id="rId9"/>
    <p:sldId id="518" r:id="rId10"/>
    <p:sldId id="519" r:id="rId11"/>
    <p:sldId id="520" r:id="rId12"/>
    <p:sldId id="521" r:id="rId13"/>
    <p:sldId id="522" r:id="rId14"/>
    <p:sldId id="523" r:id="rId15"/>
    <p:sldId id="524" r:id="rId16"/>
    <p:sldId id="525" r:id="rId17"/>
    <p:sldId id="526" r:id="rId18"/>
    <p:sldId id="527" r:id="rId19"/>
    <p:sldId id="528" r:id="rId20"/>
    <p:sldId id="529" r:id="rId21"/>
    <p:sldId id="530" r:id="rId22"/>
    <p:sldId id="531" r:id="rId23"/>
    <p:sldId id="532" r:id="rId24"/>
    <p:sldId id="533" r:id="rId25"/>
    <p:sldId id="534" r:id="rId26"/>
    <p:sldId id="535" r:id="rId27"/>
    <p:sldId id="536" r:id="rId28"/>
    <p:sldId id="537" r:id="rId29"/>
    <p:sldId id="538" r:id="rId30"/>
    <p:sldId id="539" r:id="rId31"/>
    <p:sldId id="540" r:id="rId32"/>
    <p:sldId id="541" r:id="rId33"/>
    <p:sldId id="542" r:id="rId34"/>
    <p:sldId id="543" r:id="rId35"/>
    <p:sldId id="544" r:id="rId36"/>
    <p:sldId id="545" r:id="rId37"/>
    <p:sldId id="546" r:id="rId38"/>
    <p:sldId id="547" r:id="rId39"/>
    <p:sldId id="548" r:id="rId40"/>
    <p:sldId id="549" r:id="rId41"/>
    <p:sldId id="550" r:id="rId42"/>
    <p:sldId id="551" r:id="rId43"/>
    <p:sldId id="552" r:id="rId44"/>
    <p:sldId id="553" r:id="rId45"/>
    <p:sldId id="554" r:id="rId46"/>
    <p:sldId id="555" r:id="rId47"/>
    <p:sldId id="556" r:id="rId48"/>
    <p:sldId id="557" r:id="rId49"/>
    <p:sldId id="558" r:id="rId50"/>
    <p:sldId id="559" r:id="rId51"/>
    <p:sldId id="560" r:id="rId52"/>
    <p:sldId id="561" r:id="rId53"/>
    <p:sldId id="562" r:id="rId54"/>
    <p:sldId id="563" r:id="rId55"/>
    <p:sldId id="564" r:id="rId56"/>
    <p:sldId id="565" r:id="rId57"/>
    <p:sldId id="566" r:id="rId58"/>
    <p:sldId id="567" r:id="rId59"/>
    <p:sldId id="568" r:id="rId60"/>
    <p:sldId id="569" r:id="rId61"/>
    <p:sldId id="570" r:id="rId62"/>
    <p:sldId id="571" r:id="rId63"/>
    <p:sldId id="572" r:id="rId64"/>
    <p:sldId id="573" r:id="rId65"/>
    <p:sldId id="574" r:id="rId66"/>
    <p:sldId id="575" r:id="rId67"/>
    <p:sldId id="576" r:id="rId68"/>
    <p:sldId id="577" r:id="rId69"/>
    <p:sldId id="578" r:id="rId70"/>
    <p:sldId id="579" r:id="rId71"/>
    <p:sldId id="580" r:id="rId72"/>
    <p:sldId id="581" r:id="rId73"/>
    <p:sldId id="582" r:id="rId74"/>
    <p:sldId id="583" r:id="rId75"/>
    <p:sldId id="584" r:id="rId76"/>
    <p:sldId id="585" r:id="rId77"/>
    <p:sldId id="586" r:id="rId78"/>
    <p:sldId id="587" r:id="rId79"/>
    <p:sldId id="588" r:id="rId80"/>
    <p:sldId id="589" r:id="rId81"/>
    <p:sldId id="590" r:id="rId82"/>
    <p:sldId id="591" r:id="rId83"/>
    <p:sldId id="592" r:id="rId84"/>
    <p:sldId id="608" r:id="rId85"/>
    <p:sldId id="594" r:id="rId86"/>
    <p:sldId id="595" r:id="rId87"/>
    <p:sldId id="596" r:id="rId88"/>
    <p:sldId id="597" r:id="rId89"/>
    <p:sldId id="598" r:id="rId90"/>
    <p:sldId id="599" r:id="rId91"/>
    <p:sldId id="600" r:id="rId92"/>
    <p:sldId id="601" r:id="rId93"/>
    <p:sldId id="602" r:id="rId94"/>
    <p:sldId id="603" r:id="rId95"/>
    <p:sldId id="604" r:id="rId96"/>
    <p:sldId id="605" r:id="rId97"/>
    <p:sldId id="606" r:id="rId98"/>
    <p:sldId id="607" r:id="rId9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53" autoAdjust="0"/>
    <p:restoredTop sz="94660"/>
  </p:normalViewPr>
  <p:slideViewPr>
    <p:cSldViewPr snapToGrid="0">
      <p:cViewPr varScale="1">
        <p:scale>
          <a:sx n="114" d="100"/>
          <a:sy n="114" d="100"/>
        </p:scale>
        <p:origin x="516"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image" Target="../media/image57.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928511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062509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479322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2952120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406885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475091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1221549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75863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002366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2983803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2020/8/30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1736691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39A293-D832-476E-9709-23C41C0E91C8}" type="datetimeFigureOut">
              <a:rPr lang="zh-CN" altLang="en-US" smtClean="0"/>
              <a:t>2020/8/30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143227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6.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5.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4.jpg"/><Relationship Id="rId5" Type="http://schemas.openxmlformats.org/officeDocument/2006/relationships/tags" Target="../tags/tag5.xml"/><Relationship Id="rId15" Type="http://schemas.openxmlformats.org/officeDocument/2006/relationships/image" Target="../media/image8.png"/><Relationship Id="rId10" Type="http://schemas.openxmlformats.org/officeDocument/2006/relationships/image" Target="../media/image1.jpeg"/><Relationship Id="rId4" Type="http://schemas.openxmlformats.org/officeDocument/2006/relationships/tags" Target="../tags/tag4.xml"/><Relationship Id="rId9" Type="http://schemas.openxmlformats.org/officeDocument/2006/relationships/slideLayout" Target="../slideLayouts/slideLayout2.xml"/><Relationship Id="rId1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9.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0.emf"/></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9.wmf"/><Relationship Id="rId5" Type="http://schemas.openxmlformats.org/officeDocument/2006/relationships/oleObject" Target="../embeddings/oleObject5.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7.bin"/></Relationships>
</file>

<file path=ppt/slides/_rels/slide57.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39.wmf"/><Relationship Id="rId5" Type="http://schemas.openxmlformats.org/officeDocument/2006/relationships/oleObject" Target="../embeddings/oleObject9.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11.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58.png"/><Relationship Id="rId5" Type="http://schemas.openxmlformats.org/officeDocument/2006/relationships/oleObject" Target="../embeddings/oleObject13.bin"/><Relationship Id="rId4" Type="http://schemas.openxmlformats.org/officeDocument/2006/relationships/image" Target="../media/image5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59.w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标题 1"/>
          <p:cNvSpPr txBox="1">
            <a:spLocks/>
          </p:cNvSpPr>
          <p:nvPr/>
        </p:nvSpPr>
        <p:spPr>
          <a:xfrm>
            <a:off x="1905287" y="1139128"/>
            <a:ext cx="8572500" cy="17161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b="1" dirty="0">
                <a:solidFill>
                  <a:schemeClr val="accent5">
                    <a:lumMod val="50000"/>
                  </a:schemeClr>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软件工程学科导论</a:t>
            </a:r>
            <a:br>
              <a:rPr lang="en-US" altLang="zh-CN" b="1" dirty="0">
                <a:solidFill>
                  <a:schemeClr val="accent5">
                    <a:lumMod val="50000"/>
                  </a:schemeClr>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br>
            <a:r>
              <a:rPr lang="en-US" altLang="zh-CN" sz="3600" b="1" dirty="0">
                <a:solidFill>
                  <a:schemeClr val="accent5">
                    <a:lumMod val="50000"/>
                  </a:schemeClr>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Introduction to Software Engineering</a:t>
            </a:r>
            <a:endParaRPr lang="zh-CN" altLang="en-US" sz="3600" b="1" dirty="0">
              <a:solidFill>
                <a:schemeClr val="accent5">
                  <a:lumMod val="50000"/>
                </a:schemeClr>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pic>
        <p:nvPicPr>
          <p:cNvPr id="32" name="图片 31" descr="hrbeu.jpg"/>
          <p:cNvPicPr>
            <a:picLocks noChangeAspect="1"/>
          </p:cNvPicPr>
          <p:nvPr/>
        </p:nvPicPr>
        <p:blipFill>
          <a:blip r:embed="rId2"/>
          <a:stretch>
            <a:fillRect/>
          </a:stretch>
        </p:blipFill>
        <p:spPr>
          <a:xfrm>
            <a:off x="457907" y="397869"/>
            <a:ext cx="2257425" cy="514350"/>
          </a:xfrm>
          <a:prstGeom prst="rect">
            <a:avLst/>
          </a:prstGeom>
        </p:spPr>
      </p:pic>
      <p:pic>
        <p:nvPicPr>
          <p:cNvPr id="34" name="图片 33" descr="cover.jpg"/>
          <p:cNvPicPr>
            <a:picLocks noChangeAspect="1"/>
          </p:cNvPicPr>
          <p:nvPr/>
        </p:nvPicPr>
        <p:blipFill>
          <a:blip r:embed="rId3"/>
          <a:stretch>
            <a:fillRect/>
          </a:stretch>
        </p:blipFill>
        <p:spPr>
          <a:xfrm>
            <a:off x="0" y="3936011"/>
            <a:ext cx="12192000" cy="2321719"/>
          </a:xfrm>
          <a:prstGeom prst="rect">
            <a:avLst/>
          </a:prstGeom>
        </p:spPr>
      </p:pic>
      <p:sp>
        <p:nvSpPr>
          <p:cNvPr id="35" name="副标题 2"/>
          <p:cNvSpPr txBox="1">
            <a:spLocks/>
          </p:cNvSpPr>
          <p:nvPr/>
        </p:nvSpPr>
        <p:spPr>
          <a:xfrm>
            <a:off x="1253481" y="4435444"/>
            <a:ext cx="6029325"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800" dirty="0">
                <a:solidFill>
                  <a:srgbClr val="7030A0"/>
                </a:solidFill>
                <a:latin typeface="华文新魏" panose="02010800040101010101" pitchFamily="2" charset="-122"/>
                <a:ea typeface="华文新魏" panose="02010800040101010101" pitchFamily="2" charset="-122"/>
              </a:rPr>
              <a:t>王念滨</a:t>
            </a:r>
            <a:endParaRPr lang="en-US" altLang="zh-CN" sz="2800" dirty="0">
              <a:solidFill>
                <a:srgbClr val="7030A0"/>
              </a:solidFill>
              <a:latin typeface="华文新魏" panose="02010800040101010101" pitchFamily="2" charset="-122"/>
              <a:ea typeface="华文新魏" panose="02010800040101010101" pitchFamily="2" charset="-122"/>
            </a:endParaRPr>
          </a:p>
          <a:p>
            <a:r>
              <a:rPr lang="zh-CN" altLang="en-US" sz="2800" dirty="0">
                <a:solidFill>
                  <a:srgbClr val="7030A0"/>
                </a:solidFill>
                <a:latin typeface="华文新魏" panose="02010800040101010101" pitchFamily="2" charset="-122"/>
                <a:ea typeface="华文新魏" panose="02010800040101010101" pitchFamily="2" charset="-122"/>
              </a:rPr>
              <a:t>软件学院 大数据与智能计算课题组</a:t>
            </a:r>
            <a:endParaRPr lang="en-US" altLang="zh-CN" sz="2800" dirty="0">
              <a:solidFill>
                <a:srgbClr val="7030A0"/>
              </a:solidFill>
              <a:latin typeface="华文新魏" panose="02010800040101010101" pitchFamily="2" charset="-122"/>
              <a:ea typeface="华文新魏" panose="02010800040101010101" pitchFamily="2" charset="-122"/>
            </a:endParaRPr>
          </a:p>
          <a:p>
            <a:r>
              <a:rPr lang="en-US" altLang="zh-CN" sz="2800" dirty="0">
                <a:solidFill>
                  <a:srgbClr val="7030A0"/>
                </a:solidFill>
                <a:latin typeface="华文新魏" panose="02010800040101010101" pitchFamily="2" charset="-122"/>
                <a:ea typeface="华文新魏" panose="02010800040101010101" pitchFamily="2" charset="-122"/>
              </a:rPr>
              <a:t>2020</a:t>
            </a:r>
            <a:r>
              <a:rPr lang="zh-CN" altLang="en-US" sz="2800" dirty="0">
                <a:solidFill>
                  <a:srgbClr val="7030A0"/>
                </a:solidFill>
                <a:latin typeface="华文新魏" panose="02010800040101010101" pitchFamily="2" charset="-122"/>
                <a:ea typeface="华文新魏" panose="02010800040101010101" pitchFamily="2" charset="-122"/>
              </a:rPr>
              <a:t>年</a:t>
            </a:r>
            <a:r>
              <a:rPr lang="en-US" altLang="zh-CN" sz="2800" dirty="0">
                <a:solidFill>
                  <a:srgbClr val="7030A0"/>
                </a:solidFill>
                <a:latin typeface="华文新魏" panose="02010800040101010101" pitchFamily="2" charset="-122"/>
                <a:ea typeface="华文新魏" panose="02010800040101010101" pitchFamily="2" charset="-122"/>
              </a:rPr>
              <a:t>3</a:t>
            </a:r>
            <a:r>
              <a:rPr lang="zh-CN" altLang="en-US" sz="2800" dirty="0">
                <a:solidFill>
                  <a:srgbClr val="7030A0"/>
                </a:solidFill>
                <a:latin typeface="华文新魏" panose="02010800040101010101" pitchFamily="2" charset="-122"/>
                <a:ea typeface="华文新魏" panose="02010800040101010101" pitchFamily="2" charset="-122"/>
              </a:rPr>
              <a:t>月</a:t>
            </a:r>
          </a:p>
        </p:txBody>
      </p:sp>
      <p:sp>
        <p:nvSpPr>
          <p:cNvPr id="2" name="矩形 1">
            <a:extLst>
              <a:ext uri="{FF2B5EF4-FFF2-40B4-BE49-F238E27FC236}">
                <a16:creationId xmlns:a16="http://schemas.microsoft.com/office/drawing/2014/main" id="{279742D0-0CAF-41BA-A806-0E53342E0CE2}"/>
              </a:ext>
            </a:extLst>
          </p:cNvPr>
          <p:cNvSpPr/>
          <p:nvPr/>
        </p:nvSpPr>
        <p:spPr>
          <a:xfrm>
            <a:off x="2715332" y="2737154"/>
            <a:ext cx="7398179" cy="830997"/>
          </a:xfrm>
          <a:prstGeom prst="rect">
            <a:avLst/>
          </a:prstGeom>
        </p:spPr>
        <p:txBody>
          <a:bodyPr wrap="none">
            <a:spAutoFit/>
          </a:bodyPr>
          <a:lstStyle/>
          <a:p>
            <a:r>
              <a:rPr lang="zh-CN" altLang="en-US" sz="4800" b="1" dirty="0">
                <a:solidFill>
                  <a:srgbClr val="7030A0"/>
                </a:solidFill>
                <a:latin typeface="华文楷体" panose="02010600040101010101" pitchFamily="2" charset="-122"/>
                <a:ea typeface="华文楷体" panose="02010600040101010101" pitchFamily="2" charset="-122"/>
              </a:rPr>
              <a:t>第</a:t>
            </a:r>
            <a:r>
              <a:rPr lang="en-US" altLang="zh-CN" sz="4800" b="1" dirty="0">
                <a:solidFill>
                  <a:srgbClr val="7030A0"/>
                </a:solidFill>
                <a:latin typeface="华文楷体" panose="02010600040101010101" pitchFamily="2" charset="-122"/>
                <a:ea typeface="华文楷体" panose="02010600040101010101" pitchFamily="2" charset="-122"/>
              </a:rPr>
              <a:t>7</a:t>
            </a:r>
            <a:r>
              <a:rPr lang="zh-CN" altLang="en-US" sz="4800" b="1" dirty="0">
                <a:solidFill>
                  <a:srgbClr val="7030A0"/>
                </a:solidFill>
                <a:latin typeface="华文楷体" panose="02010600040101010101" pitchFamily="2" charset="-122"/>
                <a:ea typeface="华文楷体" panose="02010600040101010101" pitchFamily="2" charset="-122"/>
              </a:rPr>
              <a:t>课 软件测试与维护概要</a:t>
            </a:r>
          </a:p>
        </p:txBody>
      </p:sp>
    </p:spTree>
    <p:extLst>
      <p:ext uri="{BB962C8B-B14F-4D97-AF65-F5344CB8AC3E}">
        <p14:creationId xmlns:p14="http://schemas.microsoft.com/office/powerpoint/2010/main" val="203800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B887BDEE-B082-4DDF-BB7A-B0E39F3309A6}"/>
              </a:ext>
            </a:extLst>
          </p:cNvPr>
          <p:cNvGrpSpPr/>
          <p:nvPr/>
        </p:nvGrpSpPr>
        <p:grpSpPr>
          <a:xfrm>
            <a:off x="2030478" y="1272140"/>
            <a:ext cx="8372475" cy="4989765"/>
            <a:chOff x="371154" y="1739178"/>
            <a:chExt cx="8372475" cy="4989765"/>
          </a:xfrm>
        </p:grpSpPr>
        <p:sp>
          <p:nvSpPr>
            <p:cNvPr id="7" name="矩形: 圆角 47">
              <a:extLst>
                <a:ext uri="{FF2B5EF4-FFF2-40B4-BE49-F238E27FC236}">
                  <a16:creationId xmlns:a16="http://schemas.microsoft.com/office/drawing/2014/main" id="{E5D9F2D1-4846-4A7C-8428-4F368F9B0EC8}"/>
                </a:ext>
              </a:extLst>
            </p:cNvPr>
            <p:cNvSpPr/>
            <p:nvPr/>
          </p:nvSpPr>
          <p:spPr>
            <a:xfrm>
              <a:off x="371154" y="2080579"/>
              <a:ext cx="980159" cy="1618674"/>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zh-CN" altLang="en-US" b="1" dirty="0">
                  <a:latin typeface="楷体" panose="02010609060101010101" pitchFamily="49" charset="-122"/>
                  <a:ea typeface="楷体" panose="02010609060101010101" pitchFamily="49" charset="-122"/>
                </a:rPr>
                <a:t>软件</a:t>
              </a:r>
              <a:endParaRPr lang="en-US" altLang="zh-CN" b="1" dirty="0">
                <a:latin typeface="楷体" panose="02010609060101010101" pitchFamily="49" charset="-122"/>
                <a:ea typeface="楷体" panose="02010609060101010101" pitchFamily="49" charset="-122"/>
              </a:endParaRPr>
            </a:p>
            <a:p>
              <a:pPr algn="ctr"/>
              <a:r>
                <a:rPr lang="zh-CN" altLang="en-US" b="1" dirty="0">
                  <a:latin typeface="楷体" panose="02010609060101010101" pitchFamily="49" charset="-122"/>
                  <a:ea typeface="楷体" panose="02010609060101010101" pitchFamily="49" charset="-122"/>
                </a:rPr>
                <a:t>工程学科概述</a:t>
              </a:r>
            </a:p>
          </p:txBody>
        </p:sp>
        <p:sp>
          <p:nvSpPr>
            <p:cNvPr id="8" name="矩形: 圆角 47">
              <a:extLst>
                <a:ext uri="{FF2B5EF4-FFF2-40B4-BE49-F238E27FC236}">
                  <a16:creationId xmlns:a16="http://schemas.microsoft.com/office/drawing/2014/main" id="{440970F6-0381-43DF-8625-4463543B93D2}"/>
                </a:ext>
              </a:extLst>
            </p:cNvPr>
            <p:cNvSpPr/>
            <p:nvPr/>
          </p:nvSpPr>
          <p:spPr>
            <a:xfrm>
              <a:off x="1403816" y="2080577"/>
              <a:ext cx="980159" cy="1618674"/>
            </a:xfrm>
            <a:prstGeom prst="roundRect">
              <a:avLst/>
            </a:prstGeom>
            <a:solidFill>
              <a:schemeClr val="accent1">
                <a:lumMod val="75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b="1" dirty="0">
                  <a:latin typeface="楷体" panose="02010609060101010101" pitchFamily="49" charset="-122"/>
                  <a:ea typeface="楷体" panose="02010609060101010101" pitchFamily="49" charset="-122"/>
                </a:rPr>
                <a:t>软件</a:t>
              </a:r>
              <a:endParaRPr lang="en-US" altLang="zh-CN" b="1" dirty="0">
                <a:latin typeface="楷体" panose="02010609060101010101" pitchFamily="49" charset="-122"/>
                <a:ea typeface="楷体" panose="02010609060101010101" pitchFamily="49" charset="-122"/>
              </a:endParaRPr>
            </a:p>
            <a:p>
              <a:pPr algn="ctr"/>
              <a:r>
                <a:rPr lang="zh-CN" altLang="en-US" b="1" dirty="0">
                  <a:latin typeface="楷体" panose="02010609060101010101" pitchFamily="49" charset="-122"/>
                  <a:ea typeface="楷体" panose="02010609060101010101" pitchFamily="49" charset="-122"/>
                </a:rPr>
                <a:t>与软件开发管理</a:t>
              </a:r>
            </a:p>
          </p:txBody>
        </p:sp>
        <p:sp>
          <p:nvSpPr>
            <p:cNvPr id="9" name="矩形: 圆角 47">
              <a:extLst>
                <a:ext uri="{FF2B5EF4-FFF2-40B4-BE49-F238E27FC236}">
                  <a16:creationId xmlns:a16="http://schemas.microsoft.com/office/drawing/2014/main" id="{87BB5D69-8FC4-4F68-9DAD-2A1C6163514C}"/>
                </a:ext>
              </a:extLst>
            </p:cNvPr>
            <p:cNvSpPr/>
            <p:nvPr/>
          </p:nvSpPr>
          <p:spPr>
            <a:xfrm>
              <a:off x="2447448" y="2108848"/>
              <a:ext cx="1019500" cy="1628199"/>
            </a:xfrm>
            <a:prstGeom prst="roundRect">
              <a:avLst/>
            </a:prstGeom>
            <a:solidFill>
              <a:schemeClr val="accent2"/>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b="1" dirty="0">
                  <a:solidFill>
                    <a:schemeClr val="bg1"/>
                  </a:solidFill>
                  <a:latin typeface="楷体" panose="02010609060101010101" pitchFamily="49" charset="-122"/>
                  <a:ea typeface="楷体" panose="02010609060101010101" pitchFamily="49" charset="-122"/>
                </a:rPr>
                <a:t>软件项目管理概要</a:t>
              </a:r>
            </a:p>
          </p:txBody>
        </p:sp>
        <p:sp>
          <p:nvSpPr>
            <p:cNvPr id="10" name="矩形: 圆角 47">
              <a:extLst>
                <a:ext uri="{FF2B5EF4-FFF2-40B4-BE49-F238E27FC236}">
                  <a16:creationId xmlns:a16="http://schemas.microsoft.com/office/drawing/2014/main" id="{84B3E661-5A82-4C99-BF4D-E2F2E11E8922}"/>
                </a:ext>
              </a:extLst>
            </p:cNvPr>
            <p:cNvSpPr/>
            <p:nvPr/>
          </p:nvSpPr>
          <p:spPr>
            <a:xfrm>
              <a:off x="4517685" y="2118373"/>
              <a:ext cx="980159" cy="1618674"/>
            </a:xfrm>
            <a:prstGeom prst="roundRect">
              <a:avLst/>
            </a:prstGeom>
            <a:solidFill>
              <a:schemeClr val="accent2">
                <a:lumMod val="50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b="1" dirty="0">
                  <a:latin typeface="楷体" panose="02010609060101010101" pitchFamily="49" charset="-122"/>
                  <a:ea typeface="楷体" panose="02010609060101010101" pitchFamily="49" charset="-122"/>
                </a:rPr>
                <a:t>软件</a:t>
              </a:r>
              <a:endParaRPr lang="en-US" altLang="zh-CN" b="1" dirty="0">
                <a:latin typeface="楷体" panose="02010609060101010101" pitchFamily="49" charset="-122"/>
                <a:ea typeface="楷体" panose="02010609060101010101" pitchFamily="49" charset="-122"/>
              </a:endParaRPr>
            </a:p>
            <a:p>
              <a:pPr algn="ctr"/>
              <a:r>
                <a:rPr lang="zh-CN" altLang="en-US" b="1" dirty="0">
                  <a:latin typeface="楷体" panose="02010609060101010101" pitchFamily="49" charset="-122"/>
                  <a:ea typeface="楷体" panose="02010609060101010101" pitchFamily="49" charset="-122"/>
                </a:rPr>
                <a:t>架构与设计模式概要</a:t>
              </a:r>
            </a:p>
          </p:txBody>
        </p:sp>
        <p:sp>
          <p:nvSpPr>
            <p:cNvPr id="11" name="矩形: 圆角 47">
              <a:extLst>
                <a:ext uri="{FF2B5EF4-FFF2-40B4-BE49-F238E27FC236}">
                  <a16:creationId xmlns:a16="http://schemas.microsoft.com/office/drawing/2014/main" id="{B7D647B1-E70A-4A28-8223-59024A71335A}"/>
                </a:ext>
              </a:extLst>
            </p:cNvPr>
            <p:cNvSpPr/>
            <p:nvPr/>
          </p:nvSpPr>
          <p:spPr>
            <a:xfrm>
              <a:off x="5544973" y="2118373"/>
              <a:ext cx="980159" cy="1618674"/>
            </a:xfrm>
            <a:prstGeom prst="roundRect">
              <a:avLst/>
            </a:prstGeom>
            <a:solidFill>
              <a:schemeClr val="accent4">
                <a:lumMod val="50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b="1" dirty="0">
                  <a:latin typeface="楷体" panose="02010609060101010101" pitchFamily="49" charset="-122"/>
                  <a:ea typeface="楷体" panose="02010609060101010101" pitchFamily="49" charset="-122"/>
                </a:rPr>
                <a:t>软件</a:t>
              </a:r>
              <a:endParaRPr lang="en-US" altLang="zh-CN" b="1" dirty="0">
                <a:latin typeface="楷体" panose="02010609060101010101" pitchFamily="49" charset="-122"/>
                <a:ea typeface="楷体" panose="02010609060101010101" pitchFamily="49" charset="-122"/>
              </a:endParaRPr>
            </a:p>
            <a:p>
              <a:pPr algn="ctr"/>
              <a:r>
                <a:rPr lang="zh-CN" altLang="en-US" b="1" dirty="0">
                  <a:latin typeface="楷体" panose="02010609060101010101" pitchFamily="49" charset="-122"/>
                  <a:ea typeface="楷体" panose="02010609060101010101" pitchFamily="49" charset="-122"/>
                </a:rPr>
                <a:t>系统设计方法概要</a:t>
              </a:r>
            </a:p>
          </p:txBody>
        </p:sp>
        <p:sp>
          <p:nvSpPr>
            <p:cNvPr id="12" name="矩形: 圆角 47">
              <a:extLst>
                <a:ext uri="{FF2B5EF4-FFF2-40B4-BE49-F238E27FC236}">
                  <a16:creationId xmlns:a16="http://schemas.microsoft.com/office/drawing/2014/main" id="{6BB744A0-D7F1-4486-A424-4CB0FE3B35A3}"/>
                </a:ext>
              </a:extLst>
            </p:cNvPr>
            <p:cNvSpPr/>
            <p:nvPr/>
          </p:nvSpPr>
          <p:spPr>
            <a:xfrm>
              <a:off x="6572429" y="1739178"/>
              <a:ext cx="980159" cy="2267744"/>
            </a:xfrm>
            <a:prstGeom prst="roundRect">
              <a:avLst/>
            </a:prstGeom>
            <a:solidFill>
              <a:schemeClr val="accent5"/>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400" b="1" dirty="0">
                  <a:solidFill>
                    <a:schemeClr val="tx1"/>
                  </a:solidFill>
                  <a:latin typeface="楷体" panose="02010609060101010101" pitchFamily="49" charset="-122"/>
                  <a:ea typeface="楷体" panose="02010609060101010101" pitchFamily="49" charset="-122"/>
                </a:rPr>
                <a:t>软件</a:t>
              </a:r>
              <a:endParaRPr lang="en-US" altLang="zh-CN" sz="2400" b="1" dirty="0">
                <a:solidFill>
                  <a:schemeClr val="tx1"/>
                </a:solidFill>
                <a:latin typeface="楷体" panose="02010609060101010101" pitchFamily="49" charset="-122"/>
                <a:ea typeface="楷体" panose="02010609060101010101" pitchFamily="49" charset="-122"/>
              </a:endParaRPr>
            </a:p>
            <a:p>
              <a:pPr algn="ctr"/>
              <a:r>
                <a:rPr lang="zh-CN" altLang="en-US" sz="2400" b="1" dirty="0">
                  <a:solidFill>
                    <a:schemeClr val="tx1"/>
                  </a:solidFill>
                  <a:latin typeface="楷体" panose="02010609060101010101" pitchFamily="49" charset="-122"/>
                  <a:ea typeface="楷体" panose="02010609060101010101" pitchFamily="49" charset="-122"/>
                </a:rPr>
                <a:t>测试与维护要点</a:t>
              </a:r>
            </a:p>
          </p:txBody>
        </p:sp>
        <p:sp>
          <p:nvSpPr>
            <p:cNvPr id="13" name="矩形: 圆角 47">
              <a:extLst>
                <a:ext uri="{FF2B5EF4-FFF2-40B4-BE49-F238E27FC236}">
                  <a16:creationId xmlns:a16="http://schemas.microsoft.com/office/drawing/2014/main" id="{A84FB83E-B384-4D01-9D93-F22F88370416}"/>
                </a:ext>
              </a:extLst>
            </p:cNvPr>
            <p:cNvSpPr/>
            <p:nvPr/>
          </p:nvSpPr>
          <p:spPr>
            <a:xfrm>
              <a:off x="3507205" y="2108848"/>
              <a:ext cx="980159" cy="1618674"/>
            </a:xfrm>
            <a:prstGeom prst="roundRect">
              <a:avLst/>
            </a:prstGeom>
            <a:solidFill>
              <a:srgbClr val="C00000"/>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b="1" dirty="0">
                  <a:latin typeface="楷体" panose="02010609060101010101" pitchFamily="49" charset="-122"/>
                  <a:ea typeface="楷体" panose="02010609060101010101" pitchFamily="49" charset="-122"/>
                </a:rPr>
                <a:t>软件需求工程概要</a:t>
              </a:r>
            </a:p>
          </p:txBody>
        </p:sp>
        <p:sp>
          <p:nvSpPr>
            <p:cNvPr id="14" name="矩形: 圆角 47">
              <a:extLst>
                <a:ext uri="{FF2B5EF4-FFF2-40B4-BE49-F238E27FC236}">
                  <a16:creationId xmlns:a16="http://schemas.microsoft.com/office/drawing/2014/main" id="{CF506A75-F859-4620-B049-EC041A4A592B}"/>
                </a:ext>
              </a:extLst>
            </p:cNvPr>
            <p:cNvSpPr/>
            <p:nvPr/>
          </p:nvSpPr>
          <p:spPr>
            <a:xfrm>
              <a:off x="7584889" y="2118373"/>
              <a:ext cx="980159" cy="1618674"/>
            </a:xfrm>
            <a:prstGeom prst="roundRect">
              <a:avLst/>
            </a:prstGeom>
            <a:solidFill>
              <a:srgbClr val="FF0000"/>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b="1" dirty="0">
                  <a:latin typeface="楷体" panose="02010609060101010101" pitchFamily="49" charset="-122"/>
                  <a:ea typeface="楷体" panose="02010609060101010101" pitchFamily="49" charset="-122"/>
                </a:rPr>
                <a:t>软件</a:t>
              </a:r>
              <a:endParaRPr lang="en-US" altLang="zh-CN" b="1" dirty="0">
                <a:latin typeface="楷体" panose="02010609060101010101" pitchFamily="49" charset="-122"/>
                <a:ea typeface="楷体" panose="02010609060101010101" pitchFamily="49" charset="-122"/>
              </a:endParaRPr>
            </a:p>
            <a:p>
              <a:pPr algn="ctr"/>
              <a:r>
                <a:rPr lang="zh-CN" altLang="en-US" b="1" dirty="0">
                  <a:latin typeface="楷体" panose="02010609060101010101" pitchFamily="49" charset="-122"/>
                  <a:ea typeface="楷体" panose="02010609060101010101" pitchFamily="49" charset="-122"/>
                </a:rPr>
                <a:t>工程教育与职业发展</a:t>
              </a:r>
            </a:p>
          </p:txBody>
        </p:sp>
        <p:graphicFrame>
          <p:nvGraphicFramePr>
            <p:cNvPr id="15" name="Object 7">
              <a:extLst>
                <a:ext uri="{FF2B5EF4-FFF2-40B4-BE49-F238E27FC236}">
                  <a16:creationId xmlns:a16="http://schemas.microsoft.com/office/drawing/2014/main" id="{19F74108-08CF-488A-A825-87CDBC378863}"/>
                </a:ext>
              </a:extLst>
            </p:cNvPr>
            <p:cNvGraphicFramePr>
              <a:graphicFrameLocks noChangeAspect="1"/>
            </p:cNvGraphicFramePr>
            <p:nvPr>
              <p:extLst>
                <p:ext uri="{D42A27DB-BD31-4B8C-83A1-F6EECF244321}">
                  <p14:modId xmlns:p14="http://schemas.microsoft.com/office/powerpoint/2010/main" val="2757586216"/>
                </p:ext>
              </p:extLst>
            </p:nvPr>
          </p:nvGraphicFramePr>
          <p:xfrm>
            <a:off x="6686229" y="4895381"/>
            <a:ext cx="2057400" cy="1833562"/>
          </p:xfrm>
          <a:graphic>
            <a:graphicData uri="http://schemas.openxmlformats.org/presentationml/2006/ole">
              <mc:AlternateContent xmlns:mc="http://schemas.openxmlformats.org/markup-compatibility/2006">
                <mc:Choice xmlns:v="urn:schemas-microsoft-com:vml" Requires="v">
                  <p:oleObj spid="_x0000_s24584" name="剪辑" r:id="rId3" imgW="1878840" imgH="1673640" progId="MS_ClipArt_Gallery.2">
                    <p:embed/>
                  </p:oleObj>
                </mc:Choice>
                <mc:Fallback>
                  <p:oleObj name="剪辑" r:id="rId3" imgW="1878840" imgH="1673640" progId="MS_ClipArt_Gallery.2">
                    <p:embed/>
                    <p:pic>
                      <p:nvPicPr>
                        <p:cNvPr id="15"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6229" y="4895381"/>
                          <a:ext cx="2057400" cy="183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勾2 283">
              <a:extLst>
                <a:ext uri="{FF2B5EF4-FFF2-40B4-BE49-F238E27FC236}">
                  <a16:creationId xmlns:a16="http://schemas.microsoft.com/office/drawing/2014/main" id="{33911160-F784-40D1-851D-ABFF02631703}"/>
                </a:ext>
              </a:extLst>
            </p:cNvPr>
            <p:cNvSpPr>
              <a:spLocks/>
            </p:cNvSpPr>
            <p:nvPr/>
          </p:nvSpPr>
          <p:spPr bwMode="auto">
            <a:xfrm>
              <a:off x="6613245" y="3952677"/>
              <a:ext cx="898525" cy="996950"/>
            </a:xfrm>
            <a:custGeom>
              <a:avLst/>
              <a:gdLst>
                <a:gd name="T0" fmla="*/ 2147483647 w 1360"/>
                <a:gd name="T1" fmla="*/ 2147483647 h 1360"/>
                <a:gd name="T2" fmla="*/ 2147483647 w 1360"/>
                <a:gd name="T3" fmla="*/ 2147483647 h 1360"/>
                <a:gd name="T4" fmla="*/ 2147483647 w 1360"/>
                <a:gd name="T5" fmla="*/ 2147483647 h 1360"/>
                <a:gd name="T6" fmla="*/ 2147483647 w 1360"/>
                <a:gd name="T7" fmla="*/ 2147483647 h 1360"/>
                <a:gd name="T8" fmla="*/ 2147483647 w 1360"/>
                <a:gd name="T9" fmla="*/ 2147483647 h 1360"/>
                <a:gd name="T10" fmla="*/ 2147483647 w 1360"/>
                <a:gd name="T11" fmla="*/ 2147483647 h 1360"/>
                <a:gd name="T12" fmla="*/ 2147483647 w 1360"/>
                <a:gd name="T13" fmla="*/ 2147483647 h 1360"/>
                <a:gd name="T14" fmla="*/ 2147483647 w 1360"/>
                <a:gd name="T15" fmla="*/ 2147483647 h 1360"/>
                <a:gd name="T16" fmla="*/ 2147483647 w 1360"/>
                <a:gd name="T17" fmla="*/ 2147483647 h 1360"/>
                <a:gd name="T18" fmla="*/ 2147483647 w 1360"/>
                <a:gd name="T19" fmla="*/ 2147483647 h 1360"/>
                <a:gd name="T20" fmla="*/ 2147483647 w 1360"/>
                <a:gd name="T21" fmla="*/ 2147483647 h 1360"/>
                <a:gd name="T22" fmla="*/ 2147483647 w 1360"/>
                <a:gd name="T23" fmla="*/ 2147483647 h 1360"/>
                <a:gd name="T24" fmla="*/ 2147483647 w 1360"/>
                <a:gd name="T25" fmla="*/ 2147483647 h 1360"/>
                <a:gd name="T26" fmla="*/ 2147483647 w 1360"/>
                <a:gd name="T27" fmla="*/ 2147483647 h 1360"/>
                <a:gd name="T28" fmla="*/ 2147483647 w 1360"/>
                <a:gd name="T29" fmla="*/ 2147483647 h 1360"/>
                <a:gd name="T30" fmla="*/ 2147483647 w 1360"/>
                <a:gd name="T31" fmla="*/ 2147483647 h 1360"/>
                <a:gd name="T32" fmla="*/ 2147483647 w 1360"/>
                <a:gd name="T33" fmla="*/ 2147483647 h 1360"/>
                <a:gd name="T34" fmla="*/ 2147483647 w 1360"/>
                <a:gd name="T35" fmla="*/ 2147483647 h 1360"/>
                <a:gd name="T36" fmla="*/ 2147483647 w 1360"/>
                <a:gd name="T37" fmla="*/ 2147483647 h 1360"/>
                <a:gd name="T38" fmla="*/ 2147483647 w 1360"/>
                <a:gd name="T39" fmla="*/ 2147483647 h 1360"/>
                <a:gd name="T40" fmla="*/ 2147483647 w 1360"/>
                <a:gd name="T41" fmla="*/ 2147483647 h 1360"/>
                <a:gd name="T42" fmla="*/ 2147483647 w 1360"/>
                <a:gd name="T43" fmla="*/ 2147483647 h 1360"/>
                <a:gd name="T44" fmla="*/ 2147483647 w 1360"/>
                <a:gd name="T45" fmla="*/ 2147483647 h 1360"/>
                <a:gd name="T46" fmla="*/ 2147483647 w 1360"/>
                <a:gd name="T47" fmla="*/ 2147483647 h 1360"/>
                <a:gd name="T48" fmla="*/ 2147483647 w 1360"/>
                <a:gd name="T49" fmla="*/ 2147483647 h 1360"/>
                <a:gd name="T50" fmla="*/ 2147483647 w 1360"/>
                <a:gd name="T51" fmla="*/ 2147483647 h 1360"/>
                <a:gd name="T52" fmla="*/ 2147483647 w 1360"/>
                <a:gd name="T53" fmla="*/ 2147483647 h 1360"/>
                <a:gd name="T54" fmla="*/ 2147483647 w 1360"/>
                <a:gd name="T55" fmla="*/ 2147483647 h 1360"/>
                <a:gd name="T56" fmla="*/ 2147483647 w 1360"/>
                <a:gd name="T57" fmla="*/ 2147483647 h 1360"/>
                <a:gd name="T58" fmla="*/ 2147483647 w 1360"/>
                <a:gd name="T59" fmla="*/ 2147483647 h 1360"/>
                <a:gd name="T60" fmla="*/ 2147483647 w 1360"/>
                <a:gd name="T61" fmla="*/ 2147483647 h 1360"/>
                <a:gd name="T62" fmla="*/ 2147483647 w 1360"/>
                <a:gd name="T63" fmla="*/ 0 h 1360"/>
                <a:gd name="T64" fmla="*/ 2147483647 w 1360"/>
                <a:gd name="T65" fmla="*/ 2147483647 h 1360"/>
                <a:gd name="T66" fmla="*/ 2147483647 w 1360"/>
                <a:gd name="T67" fmla="*/ 2147483647 h 1360"/>
                <a:gd name="T68" fmla="*/ 0 w 1360"/>
                <a:gd name="T69" fmla="*/ 2147483647 h 1360"/>
                <a:gd name="T70" fmla="*/ 2147483647 w 1360"/>
                <a:gd name="T71" fmla="*/ 2147483647 h 1360"/>
                <a:gd name="T72" fmla="*/ 2147483647 w 1360"/>
                <a:gd name="T73" fmla="*/ 0 h 13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360"/>
                <a:gd name="T112" fmla="*/ 0 h 1360"/>
                <a:gd name="T113" fmla="*/ 1360 w 1360"/>
                <a:gd name="T114" fmla="*/ 1360 h 136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360" h="1360">
                  <a:moveTo>
                    <a:pt x="83" y="161"/>
                  </a:moveTo>
                  <a:lnTo>
                    <a:pt x="83" y="1274"/>
                  </a:lnTo>
                  <a:lnTo>
                    <a:pt x="1179" y="1274"/>
                  </a:lnTo>
                  <a:lnTo>
                    <a:pt x="1179" y="192"/>
                  </a:lnTo>
                  <a:lnTo>
                    <a:pt x="1081" y="286"/>
                  </a:lnTo>
                  <a:lnTo>
                    <a:pt x="991" y="387"/>
                  </a:lnTo>
                  <a:lnTo>
                    <a:pt x="903" y="493"/>
                  </a:lnTo>
                  <a:lnTo>
                    <a:pt x="822" y="604"/>
                  </a:lnTo>
                  <a:lnTo>
                    <a:pt x="784" y="660"/>
                  </a:lnTo>
                  <a:lnTo>
                    <a:pt x="747" y="715"/>
                  </a:lnTo>
                  <a:lnTo>
                    <a:pt x="715" y="771"/>
                  </a:lnTo>
                  <a:lnTo>
                    <a:pt x="684" y="825"/>
                  </a:lnTo>
                  <a:lnTo>
                    <a:pt x="657" y="880"/>
                  </a:lnTo>
                  <a:lnTo>
                    <a:pt x="632" y="932"/>
                  </a:lnTo>
                  <a:lnTo>
                    <a:pt x="609" y="986"/>
                  </a:lnTo>
                  <a:lnTo>
                    <a:pt x="590" y="1038"/>
                  </a:lnTo>
                  <a:lnTo>
                    <a:pt x="551" y="1063"/>
                  </a:lnTo>
                  <a:lnTo>
                    <a:pt x="507" y="1095"/>
                  </a:lnTo>
                  <a:lnTo>
                    <a:pt x="469" y="1128"/>
                  </a:lnTo>
                  <a:lnTo>
                    <a:pt x="463" y="1109"/>
                  </a:lnTo>
                  <a:lnTo>
                    <a:pt x="455" y="1086"/>
                  </a:lnTo>
                  <a:lnTo>
                    <a:pt x="446" y="1059"/>
                  </a:lnTo>
                  <a:lnTo>
                    <a:pt x="434" y="1026"/>
                  </a:lnTo>
                  <a:lnTo>
                    <a:pt x="415" y="978"/>
                  </a:lnTo>
                  <a:lnTo>
                    <a:pt x="400" y="938"/>
                  </a:lnTo>
                  <a:lnTo>
                    <a:pt x="384" y="903"/>
                  </a:lnTo>
                  <a:lnTo>
                    <a:pt x="371" y="871"/>
                  </a:lnTo>
                  <a:lnTo>
                    <a:pt x="355" y="842"/>
                  </a:lnTo>
                  <a:lnTo>
                    <a:pt x="344" y="815"/>
                  </a:lnTo>
                  <a:lnTo>
                    <a:pt x="330" y="790"/>
                  </a:lnTo>
                  <a:lnTo>
                    <a:pt x="319" y="771"/>
                  </a:lnTo>
                  <a:lnTo>
                    <a:pt x="307" y="754"/>
                  </a:lnTo>
                  <a:lnTo>
                    <a:pt x="284" y="725"/>
                  </a:lnTo>
                  <a:lnTo>
                    <a:pt x="261" y="704"/>
                  </a:lnTo>
                  <a:lnTo>
                    <a:pt x="236" y="691"/>
                  </a:lnTo>
                  <a:lnTo>
                    <a:pt x="211" y="685"/>
                  </a:lnTo>
                  <a:lnTo>
                    <a:pt x="229" y="669"/>
                  </a:lnTo>
                  <a:lnTo>
                    <a:pt x="246" y="656"/>
                  </a:lnTo>
                  <a:lnTo>
                    <a:pt x="261" y="645"/>
                  </a:lnTo>
                  <a:lnTo>
                    <a:pt x="277" y="637"/>
                  </a:lnTo>
                  <a:lnTo>
                    <a:pt x="292" y="629"/>
                  </a:lnTo>
                  <a:lnTo>
                    <a:pt x="305" y="623"/>
                  </a:lnTo>
                  <a:lnTo>
                    <a:pt x="321" y="621"/>
                  </a:lnTo>
                  <a:lnTo>
                    <a:pt x="332" y="620"/>
                  </a:lnTo>
                  <a:lnTo>
                    <a:pt x="352" y="623"/>
                  </a:lnTo>
                  <a:lnTo>
                    <a:pt x="369" y="633"/>
                  </a:lnTo>
                  <a:lnTo>
                    <a:pt x="388" y="648"/>
                  </a:lnTo>
                  <a:lnTo>
                    <a:pt x="407" y="669"/>
                  </a:lnTo>
                  <a:lnTo>
                    <a:pt x="426" y="696"/>
                  </a:lnTo>
                  <a:lnTo>
                    <a:pt x="446" y="729"/>
                  </a:lnTo>
                  <a:lnTo>
                    <a:pt x="467" y="769"/>
                  </a:lnTo>
                  <a:lnTo>
                    <a:pt x="488" y="813"/>
                  </a:lnTo>
                  <a:lnTo>
                    <a:pt x="519" y="882"/>
                  </a:lnTo>
                  <a:lnTo>
                    <a:pt x="576" y="783"/>
                  </a:lnTo>
                  <a:lnTo>
                    <a:pt x="640" y="685"/>
                  </a:lnTo>
                  <a:lnTo>
                    <a:pt x="707" y="591"/>
                  </a:lnTo>
                  <a:lnTo>
                    <a:pt x="778" y="501"/>
                  </a:lnTo>
                  <a:lnTo>
                    <a:pt x="855" y="410"/>
                  </a:lnTo>
                  <a:lnTo>
                    <a:pt x="935" y="324"/>
                  </a:lnTo>
                  <a:lnTo>
                    <a:pt x="1020" y="242"/>
                  </a:lnTo>
                  <a:lnTo>
                    <a:pt x="1110" y="161"/>
                  </a:lnTo>
                  <a:lnTo>
                    <a:pt x="83" y="161"/>
                  </a:lnTo>
                  <a:close/>
                  <a:moveTo>
                    <a:pt x="1337" y="0"/>
                  </a:moveTo>
                  <a:lnTo>
                    <a:pt x="1360" y="46"/>
                  </a:lnTo>
                  <a:lnTo>
                    <a:pt x="1316" y="79"/>
                  </a:lnTo>
                  <a:lnTo>
                    <a:pt x="1264" y="119"/>
                  </a:lnTo>
                  <a:lnTo>
                    <a:pt x="1264" y="1360"/>
                  </a:lnTo>
                  <a:lnTo>
                    <a:pt x="0" y="1360"/>
                  </a:lnTo>
                  <a:lnTo>
                    <a:pt x="0" y="77"/>
                  </a:lnTo>
                  <a:lnTo>
                    <a:pt x="1222" y="77"/>
                  </a:lnTo>
                  <a:lnTo>
                    <a:pt x="1281" y="35"/>
                  </a:lnTo>
                  <a:lnTo>
                    <a:pt x="1337" y="0"/>
                  </a:lnTo>
                  <a:close/>
                </a:path>
              </a:pathLst>
            </a:custGeom>
            <a:solidFill>
              <a:schemeClr val="hlink"/>
            </a:solidFill>
            <a:ln w="9525" cmpd="sng">
              <a:solidFill>
                <a:schemeClr val="hlink"/>
              </a:solidFill>
              <a:round/>
              <a:headEnd/>
              <a:tailEnd/>
            </a:ln>
          </p:spPr>
          <p:txBody>
            <a:bodyPr lIns="68580" tIns="34290" rIns="68580" bIns="34290" anchor="ctr"/>
            <a:lstStyle>
              <a:defPPr>
                <a:defRPr lang="zh-CN"/>
              </a:defPPr>
              <a:lvl1pPr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sp>
        <p:nvSpPr>
          <p:cNvPr id="17" name="文本框 16">
            <a:extLst>
              <a:ext uri="{FF2B5EF4-FFF2-40B4-BE49-F238E27FC236}">
                <a16:creationId xmlns:a16="http://schemas.microsoft.com/office/drawing/2014/main" id="{9DECD043-F05E-4414-9559-73AD2161349D}"/>
              </a:ext>
            </a:extLst>
          </p:cNvPr>
          <p:cNvSpPr txBox="1"/>
          <p:nvPr/>
        </p:nvSpPr>
        <p:spPr>
          <a:xfrm>
            <a:off x="1994974" y="778025"/>
            <a:ext cx="2031325" cy="646331"/>
          </a:xfrm>
          <a:prstGeom prst="rect">
            <a:avLst/>
          </a:prstGeom>
          <a:noFill/>
        </p:spPr>
        <p:txBody>
          <a:bodyPr wrap="none" rtlCol="0">
            <a:spAutoFit/>
          </a:bodyPr>
          <a:lstStyle/>
          <a:p>
            <a:r>
              <a:rPr lang="zh-CN" altLang="en-US" sz="3600" b="1" dirty="0">
                <a:latin typeface="仿宋" panose="02010609060101010101" pitchFamily="49" charset="-122"/>
                <a:ea typeface="仿宋" panose="02010609060101010101" pitchFamily="49" charset="-122"/>
              </a:rPr>
              <a:t>学习内容</a:t>
            </a:r>
          </a:p>
        </p:txBody>
      </p:sp>
    </p:spTree>
    <p:extLst>
      <p:ext uri="{BB962C8B-B14F-4D97-AF65-F5344CB8AC3E}">
        <p14:creationId xmlns:p14="http://schemas.microsoft.com/office/powerpoint/2010/main" val="2811048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hrbeu.jpg">
            <a:extLst>
              <a:ext uri="{FF2B5EF4-FFF2-40B4-BE49-F238E27FC236}">
                <a16:creationId xmlns:a16="http://schemas.microsoft.com/office/drawing/2014/main" id="{B6CA305C-BEE6-45EF-A76D-ACA3171DE16C}"/>
              </a:ext>
            </a:extLst>
          </p:cNvPr>
          <p:cNvPicPr>
            <a:picLocks noChangeAspect="1"/>
          </p:cNvPicPr>
          <p:nvPr/>
        </p:nvPicPr>
        <p:blipFill>
          <a:blip r:embed="rId10"/>
          <a:stretch>
            <a:fillRect/>
          </a:stretch>
        </p:blipFill>
        <p:spPr>
          <a:xfrm>
            <a:off x="1342238" y="473533"/>
            <a:ext cx="2257425" cy="514350"/>
          </a:xfrm>
          <a:prstGeom prst="rect">
            <a:avLst/>
          </a:prstGeom>
        </p:spPr>
      </p:pic>
      <p:sp>
        <p:nvSpPr>
          <p:cNvPr id="3" name="TextBox 4">
            <a:extLst>
              <a:ext uri="{FF2B5EF4-FFF2-40B4-BE49-F238E27FC236}">
                <a16:creationId xmlns:a16="http://schemas.microsoft.com/office/drawing/2014/main" id="{5661C9C5-2D62-4F4C-AF7A-3C2F7E3FC20A}"/>
              </a:ext>
            </a:extLst>
          </p:cNvPr>
          <p:cNvSpPr txBox="1"/>
          <p:nvPr/>
        </p:nvSpPr>
        <p:spPr>
          <a:xfrm>
            <a:off x="7247297" y="508347"/>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sp>
        <p:nvSpPr>
          <p:cNvPr id="4" name="MH_Other_4">
            <a:extLst>
              <a:ext uri="{FF2B5EF4-FFF2-40B4-BE49-F238E27FC236}">
                <a16:creationId xmlns:a16="http://schemas.microsoft.com/office/drawing/2014/main" id="{2CDF34FF-FE1F-4E54-9BA7-8FC651107904}"/>
              </a:ext>
            </a:extLst>
          </p:cNvPr>
          <p:cNvSpPr/>
          <p:nvPr>
            <p:custDataLst>
              <p:tags r:id="rId1"/>
            </p:custDataLst>
          </p:nvPr>
        </p:nvSpPr>
        <p:spPr>
          <a:xfrm>
            <a:off x="7246707" y="4307183"/>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5" name="MH_Other_4">
            <a:extLst>
              <a:ext uri="{FF2B5EF4-FFF2-40B4-BE49-F238E27FC236}">
                <a16:creationId xmlns:a16="http://schemas.microsoft.com/office/drawing/2014/main" id="{94DE053B-B92B-46FF-A402-A34830D7278A}"/>
              </a:ext>
            </a:extLst>
          </p:cNvPr>
          <p:cNvSpPr/>
          <p:nvPr>
            <p:custDataLst>
              <p:tags r:id="rId2"/>
            </p:custDataLst>
          </p:nvPr>
        </p:nvSpPr>
        <p:spPr>
          <a:xfrm>
            <a:off x="5698119" y="4289949"/>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6" name="MH_Other_4">
            <a:extLst>
              <a:ext uri="{FF2B5EF4-FFF2-40B4-BE49-F238E27FC236}">
                <a16:creationId xmlns:a16="http://schemas.microsoft.com/office/drawing/2014/main" id="{23F479F8-F310-48FE-8A65-7049B3AD6215}"/>
              </a:ext>
            </a:extLst>
          </p:cNvPr>
          <p:cNvSpPr/>
          <p:nvPr>
            <p:custDataLst>
              <p:tags r:id="rId3"/>
            </p:custDataLst>
          </p:nvPr>
        </p:nvSpPr>
        <p:spPr>
          <a:xfrm>
            <a:off x="9899519" y="4289949"/>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7" name="MH_Other_4">
            <a:extLst>
              <a:ext uri="{FF2B5EF4-FFF2-40B4-BE49-F238E27FC236}">
                <a16:creationId xmlns:a16="http://schemas.microsoft.com/office/drawing/2014/main" id="{7640157C-07C3-4059-AD08-0FD6B8D1123B}"/>
              </a:ext>
            </a:extLst>
          </p:cNvPr>
          <p:cNvSpPr/>
          <p:nvPr>
            <p:custDataLst>
              <p:tags r:id="rId4"/>
            </p:custDataLst>
          </p:nvPr>
        </p:nvSpPr>
        <p:spPr>
          <a:xfrm>
            <a:off x="8401707" y="4289949"/>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8" name="MH_Other_4">
            <a:extLst>
              <a:ext uri="{FF2B5EF4-FFF2-40B4-BE49-F238E27FC236}">
                <a16:creationId xmlns:a16="http://schemas.microsoft.com/office/drawing/2014/main" id="{9C9DC4CA-CB65-451D-B8DC-FB5935558C8E}"/>
              </a:ext>
            </a:extLst>
          </p:cNvPr>
          <p:cNvSpPr/>
          <p:nvPr>
            <p:custDataLst>
              <p:tags r:id="rId5"/>
            </p:custDataLst>
          </p:nvPr>
        </p:nvSpPr>
        <p:spPr>
          <a:xfrm>
            <a:off x="9240623" y="4289949"/>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9" name="KSO_Shape">
            <a:extLst>
              <a:ext uri="{FF2B5EF4-FFF2-40B4-BE49-F238E27FC236}">
                <a16:creationId xmlns:a16="http://schemas.microsoft.com/office/drawing/2014/main" id="{805BC377-BEAA-4A7E-A956-10F8C1FC5EA4}"/>
              </a:ext>
            </a:extLst>
          </p:cNvPr>
          <p:cNvSpPr>
            <a:spLocks noChangeAspect="1"/>
          </p:cNvSpPr>
          <p:nvPr/>
        </p:nvSpPr>
        <p:spPr bwMode="auto">
          <a:xfrm>
            <a:off x="10151232" y="5014908"/>
            <a:ext cx="306625" cy="162000"/>
          </a:xfrm>
          <a:custGeom>
            <a:avLst/>
            <a:gdLst>
              <a:gd name="T0" fmla="*/ 1080063 w 2505075"/>
              <a:gd name="T1" fmla="*/ 966238 h 1325562"/>
              <a:gd name="T2" fmla="*/ 1088548 w 2505075"/>
              <a:gd name="T3" fmla="*/ 914266 h 1325562"/>
              <a:gd name="T4" fmla="*/ 445929 w 2505075"/>
              <a:gd name="T5" fmla="*/ 319311 h 1325562"/>
              <a:gd name="T6" fmla="*/ 395237 w 2505075"/>
              <a:gd name="T7" fmla="*/ 468695 h 1325562"/>
              <a:gd name="T8" fmla="*/ 512532 w 2505075"/>
              <a:gd name="T9" fmla="*/ 623196 h 1325562"/>
              <a:gd name="T10" fmla="*/ 620333 w 2505075"/>
              <a:gd name="T11" fmla="*/ 560492 h 1325562"/>
              <a:gd name="T12" fmla="*/ 663973 w 2505075"/>
              <a:gd name="T13" fmla="*/ 607742 h 1325562"/>
              <a:gd name="T14" fmla="*/ 627744 w 2505075"/>
              <a:gd name="T15" fmla="*/ 704255 h 1325562"/>
              <a:gd name="T16" fmla="*/ 757606 w 2505075"/>
              <a:gd name="T17" fmla="*/ 646073 h 1325562"/>
              <a:gd name="T18" fmla="*/ 808359 w 2505075"/>
              <a:gd name="T19" fmla="*/ 688124 h 1325562"/>
              <a:gd name="T20" fmla="*/ 784197 w 2505075"/>
              <a:gd name="T21" fmla="*/ 779867 h 1325562"/>
              <a:gd name="T22" fmla="*/ 928622 w 2505075"/>
              <a:gd name="T23" fmla="*/ 732135 h 1325562"/>
              <a:gd name="T24" fmla="*/ 906958 w 2505075"/>
              <a:gd name="T25" fmla="*/ 833145 h 1325562"/>
              <a:gd name="T26" fmla="*/ 948878 w 2505075"/>
              <a:gd name="T27" fmla="*/ 791644 h 1325562"/>
              <a:gd name="T28" fmla="*/ 967469 w 2505075"/>
              <a:gd name="T29" fmla="*/ 765403 h 1325562"/>
              <a:gd name="T30" fmla="*/ 1192310 w 2505075"/>
              <a:gd name="T31" fmla="*/ 919736 h 1325562"/>
              <a:gd name="T32" fmla="*/ 1202207 w 2505075"/>
              <a:gd name="T33" fmla="*/ 871307 h 1325562"/>
              <a:gd name="T34" fmla="*/ 973023 w 2505075"/>
              <a:gd name="T35" fmla="*/ 652581 h 1325562"/>
              <a:gd name="T36" fmla="*/ 1002109 w 2505075"/>
              <a:gd name="T37" fmla="*/ 637876 h 1325562"/>
              <a:gd name="T38" fmla="*/ 1285729 w 2505075"/>
              <a:gd name="T39" fmla="*/ 841671 h 1325562"/>
              <a:gd name="T40" fmla="*/ 1311316 w 2505075"/>
              <a:gd name="T41" fmla="*/ 796856 h 1325562"/>
              <a:gd name="T42" fmla="*/ 1092057 w 2505075"/>
              <a:gd name="T43" fmla="*/ 582941 h 1325562"/>
              <a:gd name="T44" fmla="*/ 1113371 w 2505075"/>
              <a:gd name="T45" fmla="*/ 558323 h 1325562"/>
              <a:gd name="T46" fmla="*/ 1383250 w 2505075"/>
              <a:gd name="T47" fmla="*/ 746018 h 1325562"/>
              <a:gd name="T48" fmla="*/ 1396527 w 2505075"/>
              <a:gd name="T49" fmla="*/ 680240 h 1325562"/>
              <a:gd name="T50" fmla="*/ 1184656 w 2505075"/>
              <a:gd name="T51" fmla="*/ 460782 h 1325562"/>
              <a:gd name="T52" fmla="*/ 1032502 w 2505075"/>
              <a:gd name="T53" fmla="*/ 404883 h 1325562"/>
              <a:gd name="T54" fmla="*/ 933963 w 2505075"/>
              <a:gd name="T55" fmla="*/ 481262 h 1325562"/>
              <a:gd name="T56" fmla="*/ 789778 w 2505075"/>
              <a:gd name="T57" fmla="*/ 559328 h 1325562"/>
              <a:gd name="T58" fmla="*/ 748479 w 2505075"/>
              <a:gd name="T59" fmla="*/ 508971 h 1325562"/>
              <a:gd name="T60" fmla="*/ 835666 w 2505075"/>
              <a:gd name="T61" fmla="*/ 313325 h 1325562"/>
              <a:gd name="T62" fmla="*/ 973330 w 2505075"/>
              <a:gd name="T63" fmla="*/ 213093 h 1325562"/>
              <a:gd name="T64" fmla="*/ 1302757 w 2505075"/>
              <a:gd name="T65" fmla="*/ 188035 h 1325562"/>
              <a:gd name="T66" fmla="*/ 1466747 w 2505075"/>
              <a:gd name="T67" fmla="*/ 282003 h 1325562"/>
              <a:gd name="T68" fmla="*/ 1564078 w 2505075"/>
              <a:gd name="T69" fmla="*/ 493551 h 1325562"/>
              <a:gd name="T70" fmla="*/ 1442633 w 2505075"/>
              <a:gd name="T71" fmla="*/ 704094 h 1325562"/>
              <a:gd name="T72" fmla="*/ 1413666 w 2505075"/>
              <a:gd name="T73" fmla="*/ 773726 h 1325562"/>
              <a:gd name="T74" fmla="*/ 1355490 w 2505075"/>
              <a:gd name="T75" fmla="*/ 815650 h 1325562"/>
              <a:gd name="T76" fmla="*/ 1304074 w 2505075"/>
              <a:gd name="T77" fmla="*/ 877331 h 1325562"/>
              <a:gd name="T78" fmla="*/ 1255071 w 2505075"/>
              <a:gd name="T79" fmla="*/ 922146 h 1325562"/>
              <a:gd name="T80" fmla="*/ 1195931 w 2505075"/>
              <a:gd name="T81" fmla="*/ 958287 h 1325562"/>
              <a:gd name="T82" fmla="*/ 1126169 w 2505075"/>
              <a:gd name="T83" fmla="*/ 987441 h 1325562"/>
              <a:gd name="T84" fmla="*/ 1025026 w 2505075"/>
              <a:gd name="T85" fmla="*/ 983586 h 1325562"/>
              <a:gd name="T86" fmla="*/ 943732 w 2505075"/>
              <a:gd name="T87" fmla="*/ 991771 h 1325562"/>
              <a:gd name="T88" fmla="*/ 890447 w 2505075"/>
              <a:gd name="T89" fmla="*/ 926198 h 1325562"/>
              <a:gd name="T90" fmla="*/ 804898 w 2505075"/>
              <a:gd name="T91" fmla="*/ 942109 h 1325562"/>
              <a:gd name="T92" fmla="*/ 719687 w 2505075"/>
              <a:gd name="T93" fmla="*/ 932466 h 1325562"/>
              <a:gd name="T94" fmla="*/ 719687 w 2505075"/>
              <a:gd name="T95" fmla="*/ 847609 h 1325562"/>
              <a:gd name="T96" fmla="*/ 649845 w 2505075"/>
              <a:gd name="T97" fmla="*/ 864980 h 1325562"/>
              <a:gd name="T98" fmla="*/ 564935 w 2505075"/>
              <a:gd name="T99" fmla="*/ 841431 h 1325562"/>
              <a:gd name="T100" fmla="*/ 599332 w 2505075"/>
              <a:gd name="T101" fmla="*/ 735462 h 1325562"/>
              <a:gd name="T102" fmla="*/ 525336 w 2505075"/>
              <a:gd name="T103" fmla="*/ 717912 h 1325562"/>
              <a:gd name="T104" fmla="*/ 434824 w 2505075"/>
              <a:gd name="T105" fmla="*/ 613741 h 1325562"/>
              <a:gd name="T106" fmla="*/ 356614 w 2505075"/>
              <a:gd name="T107" fmla="*/ 485079 h 1325562"/>
              <a:gd name="T108" fmla="*/ 409961 w 2505075"/>
              <a:gd name="T109" fmla="*/ 302445 h 1325562"/>
              <a:gd name="T110" fmla="*/ 585452 w 2505075"/>
              <a:gd name="T111" fmla="*/ 140292 h 1325562"/>
              <a:gd name="T112" fmla="*/ 1604643 w 2505075"/>
              <a:gd name="T113" fmla="*/ 378724 h 1325562"/>
              <a:gd name="T114" fmla="*/ 1484403 w 2505075"/>
              <a:gd name="T115" fmla="*/ 188277 h 1325562"/>
              <a:gd name="T116" fmla="*/ 490090 w 2505075"/>
              <a:gd name="T117" fmla="*/ 133795 h 1325562"/>
              <a:gd name="T118" fmla="*/ 325035 w 2505075"/>
              <a:gd name="T119" fmla="*/ 287116 h 1325562"/>
              <a:gd name="T120" fmla="*/ 274770 w 2505075"/>
              <a:gd name="T121" fmla="*/ 490340 h 13255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505075" h="1325562">
                <a:moveTo>
                  <a:pt x="1393413" y="1171553"/>
                </a:moveTo>
                <a:lnTo>
                  <a:pt x="1392878" y="1173480"/>
                </a:lnTo>
                <a:lnTo>
                  <a:pt x="1390342" y="1178878"/>
                </a:lnTo>
                <a:lnTo>
                  <a:pt x="1387805" y="1184593"/>
                </a:lnTo>
                <a:lnTo>
                  <a:pt x="1384952" y="1190308"/>
                </a:lnTo>
                <a:lnTo>
                  <a:pt x="1381781" y="1196023"/>
                </a:lnTo>
                <a:lnTo>
                  <a:pt x="1378294" y="1201738"/>
                </a:lnTo>
                <a:lnTo>
                  <a:pt x="1374489" y="1207135"/>
                </a:lnTo>
                <a:lnTo>
                  <a:pt x="1370684" y="1212850"/>
                </a:lnTo>
                <a:lnTo>
                  <a:pt x="1362758" y="1223010"/>
                </a:lnTo>
                <a:lnTo>
                  <a:pt x="1354514" y="1233170"/>
                </a:lnTo>
                <a:lnTo>
                  <a:pt x="1350935" y="1237020"/>
                </a:lnTo>
                <a:lnTo>
                  <a:pt x="1356797" y="1240836"/>
                </a:lnTo>
                <a:lnTo>
                  <a:pt x="1369812" y="1248769"/>
                </a:lnTo>
                <a:lnTo>
                  <a:pt x="1382509" y="1256385"/>
                </a:lnTo>
                <a:lnTo>
                  <a:pt x="1394571" y="1262097"/>
                </a:lnTo>
                <a:lnTo>
                  <a:pt x="1405364" y="1267174"/>
                </a:lnTo>
                <a:lnTo>
                  <a:pt x="1410443" y="1269395"/>
                </a:lnTo>
                <a:lnTo>
                  <a:pt x="1415521" y="1271299"/>
                </a:lnTo>
                <a:lnTo>
                  <a:pt x="1420283" y="1272568"/>
                </a:lnTo>
                <a:lnTo>
                  <a:pt x="1424092" y="1273520"/>
                </a:lnTo>
                <a:lnTo>
                  <a:pt x="1428219" y="1274155"/>
                </a:lnTo>
                <a:lnTo>
                  <a:pt x="1432028" y="1274155"/>
                </a:lnTo>
                <a:lnTo>
                  <a:pt x="1433615" y="1274155"/>
                </a:lnTo>
                <a:lnTo>
                  <a:pt x="1434250" y="1274155"/>
                </a:lnTo>
                <a:lnTo>
                  <a:pt x="1436789" y="1272568"/>
                </a:lnTo>
                <a:lnTo>
                  <a:pt x="1439329" y="1270665"/>
                </a:lnTo>
                <a:lnTo>
                  <a:pt x="1440916" y="1268126"/>
                </a:lnTo>
                <a:lnTo>
                  <a:pt x="1442186" y="1265587"/>
                </a:lnTo>
                <a:lnTo>
                  <a:pt x="1443138" y="1261779"/>
                </a:lnTo>
                <a:lnTo>
                  <a:pt x="1443773" y="1258289"/>
                </a:lnTo>
                <a:lnTo>
                  <a:pt x="1444408" y="1253846"/>
                </a:lnTo>
                <a:lnTo>
                  <a:pt x="1443773" y="1250038"/>
                </a:lnTo>
                <a:lnTo>
                  <a:pt x="1443455" y="1245278"/>
                </a:lnTo>
                <a:lnTo>
                  <a:pt x="1442820" y="1240518"/>
                </a:lnTo>
                <a:lnTo>
                  <a:pt x="1440916" y="1231316"/>
                </a:lnTo>
                <a:lnTo>
                  <a:pt x="1438694" y="1222113"/>
                </a:lnTo>
                <a:lnTo>
                  <a:pt x="1435520" y="1213863"/>
                </a:lnTo>
                <a:lnTo>
                  <a:pt x="1432663" y="1206564"/>
                </a:lnTo>
                <a:lnTo>
                  <a:pt x="1431441" y="1204120"/>
                </a:lnTo>
                <a:lnTo>
                  <a:pt x="1393413" y="1171553"/>
                </a:lnTo>
                <a:close/>
                <a:moveTo>
                  <a:pt x="1213954" y="208886"/>
                </a:moveTo>
                <a:lnTo>
                  <a:pt x="787646" y="233955"/>
                </a:lnTo>
                <a:lnTo>
                  <a:pt x="777171" y="240302"/>
                </a:lnTo>
                <a:lnTo>
                  <a:pt x="761934" y="250456"/>
                </a:lnTo>
                <a:lnTo>
                  <a:pt x="752411" y="256803"/>
                </a:lnTo>
                <a:lnTo>
                  <a:pt x="742571" y="264101"/>
                </a:lnTo>
                <a:lnTo>
                  <a:pt x="731778" y="272352"/>
                </a:lnTo>
                <a:lnTo>
                  <a:pt x="720034" y="281237"/>
                </a:lnTo>
                <a:lnTo>
                  <a:pt x="707971" y="291391"/>
                </a:lnTo>
                <a:lnTo>
                  <a:pt x="695274" y="301546"/>
                </a:lnTo>
                <a:lnTo>
                  <a:pt x="682577" y="312970"/>
                </a:lnTo>
                <a:lnTo>
                  <a:pt x="669245" y="325028"/>
                </a:lnTo>
                <a:lnTo>
                  <a:pt x="656230" y="337721"/>
                </a:lnTo>
                <a:lnTo>
                  <a:pt x="642898" y="351366"/>
                </a:lnTo>
                <a:lnTo>
                  <a:pt x="629884" y="365329"/>
                </a:lnTo>
                <a:lnTo>
                  <a:pt x="617186" y="380243"/>
                </a:lnTo>
                <a:lnTo>
                  <a:pt x="604489" y="396110"/>
                </a:lnTo>
                <a:lnTo>
                  <a:pt x="592427" y="411976"/>
                </a:lnTo>
                <a:lnTo>
                  <a:pt x="586396" y="420544"/>
                </a:lnTo>
                <a:lnTo>
                  <a:pt x="580682" y="429112"/>
                </a:lnTo>
                <a:lnTo>
                  <a:pt x="575286" y="437679"/>
                </a:lnTo>
                <a:lnTo>
                  <a:pt x="569889" y="446565"/>
                </a:lnTo>
                <a:lnTo>
                  <a:pt x="564811" y="455450"/>
                </a:lnTo>
                <a:lnTo>
                  <a:pt x="559732" y="464335"/>
                </a:lnTo>
                <a:lnTo>
                  <a:pt x="554970" y="473855"/>
                </a:lnTo>
                <a:lnTo>
                  <a:pt x="550526" y="483057"/>
                </a:lnTo>
                <a:lnTo>
                  <a:pt x="546400" y="492894"/>
                </a:lnTo>
                <a:lnTo>
                  <a:pt x="542273" y="502097"/>
                </a:lnTo>
                <a:lnTo>
                  <a:pt x="538464" y="512251"/>
                </a:lnTo>
                <a:lnTo>
                  <a:pt x="534972" y="522089"/>
                </a:lnTo>
                <a:lnTo>
                  <a:pt x="532115" y="532243"/>
                </a:lnTo>
                <a:lnTo>
                  <a:pt x="528941" y="542397"/>
                </a:lnTo>
                <a:lnTo>
                  <a:pt x="526719" y="552552"/>
                </a:lnTo>
                <a:lnTo>
                  <a:pt x="524814" y="563341"/>
                </a:lnTo>
                <a:lnTo>
                  <a:pt x="522592" y="573496"/>
                </a:lnTo>
                <a:lnTo>
                  <a:pt x="521323" y="584285"/>
                </a:lnTo>
                <a:lnTo>
                  <a:pt x="520370" y="595391"/>
                </a:lnTo>
                <a:lnTo>
                  <a:pt x="519736" y="605863"/>
                </a:lnTo>
                <a:lnTo>
                  <a:pt x="519736" y="617287"/>
                </a:lnTo>
                <a:lnTo>
                  <a:pt x="519736" y="628393"/>
                </a:lnTo>
                <a:lnTo>
                  <a:pt x="520370" y="639817"/>
                </a:lnTo>
                <a:lnTo>
                  <a:pt x="521640" y="650924"/>
                </a:lnTo>
                <a:lnTo>
                  <a:pt x="522910" y="662347"/>
                </a:lnTo>
                <a:lnTo>
                  <a:pt x="525132" y="674088"/>
                </a:lnTo>
                <a:lnTo>
                  <a:pt x="527671" y="685830"/>
                </a:lnTo>
                <a:lnTo>
                  <a:pt x="530846" y="697571"/>
                </a:lnTo>
                <a:lnTo>
                  <a:pt x="531798" y="700109"/>
                </a:lnTo>
                <a:lnTo>
                  <a:pt x="533385" y="703283"/>
                </a:lnTo>
                <a:lnTo>
                  <a:pt x="535607" y="706138"/>
                </a:lnTo>
                <a:lnTo>
                  <a:pt x="538464" y="709629"/>
                </a:lnTo>
                <a:lnTo>
                  <a:pt x="545130" y="717245"/>
                </a:lnTo>
                <a:lnTo>
                  <a:pt x="553701" y="725813"/>
                </a:lnTo>
                <a:lnTo>
                  <a:pt x="563858" y="735333"/>
                </a:lnTo>
                <a:lnTo>
                  <a:pt x="575603" y="744852"/>
                </a:lnTo>
                <a:lnTo>
                  <a:pt x="588300" y="755642"/>
                </a:lnTo>
                <a:lnTo>
                  <a:pt x="601950" y="766113"/>
                </a:lnTo>
                <a:lnTo>
                  <a:pt x="630836" y="788961"/>
                </a:lnTo>
                <a:lnTo>
                  <a:pt x="660992" y="811174"/>
                </a:lnTo>
                <a:lnTo>
                  <a:pt x="673980" y="820771"/>
                </a:lnTo>
                <a:lnTo>
                  <a:pt x="676549" y="818197"/>
                </a:lnTo>
                <a:lnTo>
                  <a:pt x="682891" y="811847"/>
                </a:lnTo>
                <a:lnTo>
                  <a:pt x="690500" y="804545"/>
                </a:lnTo>
                <a:lnTo>
                  <a:pt x="700329" y="795655"/>
                </a:lnTo>
                <a:lnTo>
                  <a:pt x="712060" y="785494"/>
                </a:lnTo>
                <a:lnTo>
                  <a:pt x="718401" y="780732"/>
                </a:lnTo>
                <a:lnTo>
                  <a:pt x="725376" y="775334"/>
                </a:lnTo>
                <a:lnTo>
                  <a:pt x="732352" y="770254"/>
                </a:lnTo>
                <a:lnTo>
                  <a:pt x="739961" y="765174"/>
                </a:lnTo>
                <a:lnTo>
                  <a:pt x="747570" y="760412"/>
                </a:lnTo>
                <a:lnTo>
                  <a:pt x="755497" y="755649"/>
                </a:lnTo>
                <a:lnTo>
                  <a:pt x="763423" y="751522"/>
                </a:lnTo>
                <a:lnTo>
                  <a:pt x="771350" y="747712"/>
                </a:lnTo>
                <a:lnTo>
                  <a:pt x="779593" y="744537"/>
                </a:lnTo>
                <a:lnTo>
                  <a:pt x="787837" y="741997"/>
                </a:lnTo>
                <a:lnTo>
                  <a:pt x="796080" y="739774"/>
                </a:lnTo>
                <a:lnTo>
                  <a:pt x="804007" y="738504"/>
                </a:lnTo>
                <a:lnTo>
                  <a:pt x="808128" y="738187"/>
                </a:lnTo>
                <a:lnTo>
                  <a:pt x="811933" y="738187"/>
                </a:lnTo>
                <a:lnTo>
                  <a:pt x="815738" y="738187"/>
                </a:lnTo>
                <a:lnTo>
                  <a:pt x="819859" y="738504"/>
                </a:lnTo>
                <a:lnTo>
                  <a:pt x="823347" y="739139"/>
                </a:lnTo>
                <a:lnTo>
                  <a:pt x="827469" y="740092"/>
                </a:lnTo>
                <a:lnTo>
                  <a:pt x="830956" y="741362"/>
                </a:lnTo>
                <a:lnTo>
                  <a:pt x="834444" y="742949"/>
                </a:lnTo>
                <a:lnTo>
                  <a:pt x="837932" y="744537"/>
                </a:lnTo>
                <a:lnTo>
                  <a:pt x="841419" y="746442"/>
                </a:lnTo>
                <a:lnTo>
                  <a:pt x="845224" y="748982"/>
                </a:lnTo>
                <a:lnTo>
                  <a:pt x="848077" y="751522"/>
                </a:lnTo>
                <a:lnTo>
                  <a:pt x="851565" y="754697"/>
                </a:lnTo>
                <a:lnTo>
                  <a:pt x="854419" y="757554"/>
                </a:lnTo>
                <a:lnTo>
                  <a:pt x="857272" y="761364"/>
                </a:lnTo>
                <a:lnTo>
                  <a:pt x="860443" y="765174"/>
                </a:lnTo>
                <a:lnTo>
                  <a:pt x="862979" y="769937"/>
                </a:lnTo>
                <a:lnTo>
                  <a:pt x="865833" y="774699"/>
                </a:lnTo>
                <a:lnTo>
                  <a:pt x="868052" y="779779"/>
                </a:lnTo>
                <a:lnTo>
                  <a:pt x="870589" y="785177"/>
                </a:lnTo>
                <a:lnTo>
                  <a:pt x="872174" y="789939"/>
                </a:lnTo>
                <a:lnTo>
                  <a:pt x="872808" y="795337"/>
                </a:lnTo>
                <a:lnTo>
                  <a:pt x="873125" y="800417"/>
                </a:lnTo>
                <a:lnTo>
                  <a:pt x="872808" y="805815"/>
                </a:lnTo>
                <a:lnTo>
                  <a:pt x="872174" y="810895"/>
                </a:lnTo>
                <a:lnTo>
                  <a:pt x="870906" y="816610"/>
                </a:lnTo>
                <a:lnTo>
                  <a:pt x="868686" y="822325"/>
                </a:lnTo>
                <a:lnTo>
                  <a:pt x="866784" y="828040"/>
                </a:lnTo>
                <a:lnTo>
                  <a:pt x="864247" y="833755"/>
                </a:lnTo>
                <a:lnTo>
                  <a:pt x="861077" y="839470"/>
                </a:lnTo>
                <a:lnTo>
                  <a:pt x="858223" y="844867"/>
                </a:lnTo>
                <a:lnTo>
                  <a:pt x="854419" y="850582"/>
                </a:lnTo>
                <a:lnTo>
                  <a:pt x="850614" y="855980"/>
                </a:lnTo>
                <a:lnTo>
                  <a:pt x="846809" y="861377"/>
                </a:lnTo>
                <a:lnTo>
                  <a:pt x="838883" y="872172"/>
                </a:lnTo>
                <a:lnTo>
                  <a:pt x="830322" y="882015"/>
                </a:lnTo>
                <a:lnTo>
                  <a:pt x="822079" y="891222"/>
                </a:lnTo>
                <a:lnTo>
                  <a:pt x="814469" y="899477"/>
                </a:lnTo>
                <a:lnTo>
                  <a:pt x="807177" y="906780"/>
                </a:lnTo>
                <a:lnTo>
                  <a:pt x="801280" y="912179"/>
                </a:lnTo>
                <a:lnTo>
                  <a:pt x="807327" y="916209"/>
                </a:lnTo>
                <a:lnTo>
                  <a:pt x="820976" y="924777"/>
                </a:lnTo>
                <a:lnTo>
                  <a:pt x="825483" y="927528"/>
                </a:lnTo>
                <a:lnTo>
                  <a:pt x="830507" y="922740"/>
                </a:lnTo>
                <a:lnTo>
                  <a:pt x="837466" y="916726"/>
                </a:lnTo>
                <a:lnTo>
                  <a:pt x="844425" y="910397"/>
                </a:lnTo>
                <a:lnTo>
                  <a:pt x="852332" y="904384"/>
                </a:lnTo>
                <a:lnTo>
                  <a:pt x="859924" y="898687"/>
                </a:lnTo>
                <a:lnTo>
                  <a:pt x="867831" y="893307"/>
                </a:lnTo>
                <a:lnTo>
                  <a:pt x="875739" y="887927"/>
                </a:lnTo>
                <a:lnTo>
                  <a:pt x="884596" y="882864"/>
                </a:lnTo>
                <a:lnTo>
                  <a:pt x="893136" y="878117"/>
                </a:lnTo>
                <a:lnTo>
                  <a:pt x="902309" y="873686"/>
                </a:lnTo>
                <a:lnTo>
                  <a:pt x="911798" y="869572"/>
                </a:lnTo>
                <a:lnTo>
                  <a:pt x="921287" y="865774"/>
                </a:lnTo>
                <a:lnTo>
                  <a:pt x="931409" y="862293"/>
                </a:lnTo>
                <a:lnTo>
                  <a:pt x="941847" y="859445"/>
                </a:lnTo>
                <a:lnTo>
                  <a:pt x="952285" y="856596"/>
                </a:lnTo>
                <a:lnTo>
                  <a:pt x="963356" y="854698"/>
                </a:lnTo>
                <a:lnTo>
                  <a:pt x="972212" y="853432"/>
                </a:lnTo>
                <a:lnTo>
                  <a:pt x="980753" y="852166"/>
                </a:lnTo>
                <a:lnTo>
                  <a:pt x="988660" y="851533"/>
                </a:lnTo>
                <a:lnTo>
                  <a:pt x="996252" y="850900"/>
                </a:lnTo>
                <a:lnTo>
                  <a:pt x="1003527" y="850900"/>
                </a:lnTo>
                <a:lnTo>
                  <a:pt x="1010169" y="851533"/>
                </a:lnTo>
                <a:lnTo>
                  <a:pt x="1016812" y="852166"/>
                </a:lnTo>
                <a:lnTo>
                  <a:pt x="1022505" y="853115"/>
                </a:lnTo>
                <a:lnTo>
                  <a:pt x="1028199" y="854381"/>
                </a:lnTo>
                <a:lnTo>
                  <a:pt x="1033260" y="855963"/>
                </a:lnTo>
                <a:lnTo>
                  <a:pt x="1038004" y="858179"/>
                </a:lnTo>
                <a:lnTo>
                  <a:pt x="1042116" y="860394"/>
                </a:lnTo>
                <a:lnTo>
                  <a:pt x="1046228" y="862609"/>
                </a:lnTo>
                <a:lnTo>
                  <a:pt x="1049391" y="865458"/>
                </a:lnTo>
                <a:lnTo>
                  <a:pt x="1052871" y="868306"/>
                </a:lnTo>
                <a:lnTo>
                  <a:pt x="1055401" y="871787"/>
                </a:lnTo>
                <a:lnTo>
                  <a:pt x="1057931" y="875268"/>
                </a:lnTo>
                <a:lnTo>
                  <a:pt x="1059513" y="879066"/>
                </a:lnTo>
                <a:lnTo>
                  <a:pt x="1061095" y="882864"/>
                </a:lnTo>
                <a:lnTo>
                  <a:pt x="1062043" y="887294"/>
                </a:lnTo>
                <a:lnTo>
                  <a:pt x="1062992" y="891725"/>
                </a:lnTo>
                <a:lnTo>
                  <a:pt x="1063625" y="896472"/>
                </a:lnTo>
                <a:lnTo>
                  <a:pt x="1063625" y="901219"/>
                </a:lnTo>
                <a:lnTo>
                  <a:pt x="1062992" y="906283"/>
                </a:lnTo>
                <a:lnTo>
                  <a:pt x="1062360" y="911663"/>
                </a:lnTo>
                <a:lnTo>
                  <a:pt x="1061411" y="917043"/>
                </a:lnTo>
                <a:lnTo>
                  <a:pt x="1060146" y="922740"/>
                </a:lnTo>
                <a:lnTo>
                  <a:pt x="1058564" y="928436"/>
                </a:lnTo>
                <a:lnTo>
                  <a:pt x="1056350" y="934133"/>
                </a:lnTo>
                <a:lnTo>
                  <a:pt x="1054136" y="940146"/>
                </a:lnTo>
                <a:lnTo>
                  <a:pt x="1051605" y="946475"/>
                </a:lnTo>
                <a:lnTo>
                  <a:pt x="1048442" y="952805"/>
                </a:lnTo>
                <a:lnTo>
                  <a:pt x="1044963" y="959134"/>
                </a:lnTo>
                <a:lnTo>
                  <a:pt x="1041167" y="966096"/>
                </a:lnTo>
                <a:lnTo>
                  <a:pt x="1036739" y="973375"/>
                </a:lnTo>
                <a:lnTo>
                  <a:pt x="1031994" y="980654"/>
                </a:lnTo>
                <a:lnTo>
                  <a:pt x="1026933" y="988250"/>
                </a:lnTo>
                <a:lnTo>
                  <a:pt x="1021240" y="995845"/>
                </a:lnTo>
                <a:lnTo>
                  <a:pt x="1008904" y="1011353"/>
                </a:lnTo>
                <a:lnTo>
                  <a:pt x="997613" y="1025070"/>
                </a:lnTo>
                <a:lnTo>
                  <a:pt x="998737" y="1025688"/>
                </a:lnTo>
                <a:lnTo>
                  <a:pt x="1020087" y="1037234"/>
                </a:lnTo>
                <a:lnTo>
                  <a:pt x="1021090" y="1036320"/>
                </a:lnTo>
                <a:lnTo>
                  <a:pt x="1031219" y="1027112"/>
                </a:lnTo>
                <a:lnTo>
                  <a:pt x="1052110" y="1009332"/>
                </a:lnTo>
                <a:lnTo>
                  <a:pt x="1071419" y="993774"/>
                </a:lnTo>
                <a:lnTo>
                  <a:pt x="1088828" y="979804"/>
                </a:lnTo>
                <a:lnTo>
                  <a:pt x="1104021" y="968374"/>
                </a:lnTo>
                <a:lnTo>
                  <a:pt x="1116050" y="959802"/>
                </a:lnTo>
                <a:lnTo>
                  <a:pt x="1125862" y="952182"/>
                </a:lnTo>
                <a:lnTo>
                  <a:pt x="1136624" y="950277"/>
                </a:lnTo>
                <a:lnTo>
                  <a:pt x="1146437" y="949007"/>
                </a:lnTo>
                <a:lnTo>
                  <a:pt x="1156249" y="948372"/>
                </a:lnTo>
                <a:lnTo>
                  <a:pt x="1164795" y="947737"/>
                </a:lnTo>
                <a:lnTo>
                  <a:pt x="1172709" y="947737"/>
                </a:lnTo>
                <a:lnTo>
                  <a:pt x="1180622" y="948372"/>
                </a:lnTo>
                <a:lnTo>
                  <a:pt x="1187586" y="949007"/>
                </a:lnTo>
                <a:lnTo>
                  <a:pt x="1193916" y="949959"/>
                </a:lnTo>
                <a:lnTo>
                  <a:pt x="1199930" y="951547"/>
                </a:lnTo>
                <a:lnTo>
                  <a:pt x="1204995" y="953452"/>
                </a:lnTo>
                <a:lnTo>
                  <a:pt x="1209743" y="955674"/>
                </a:lnTo>
                <a:lnTo>
                  <a:pt x="1214174" y="958214"/>
                </a:lnTo>
                <a:lnTo>
                  <a:pt x="1217656" y="961072"/>
                </a:lnTo>
                <a:lnTo>
                  <a:pt x="1221138" y="964247"/>
                </a:lnTo>
                <a:lnTo>
                  <a:pt x="1223670" y="967739"/>
                </a:lnTo>
                <a:lnTo>
                  <a:pt x="1226202" y="971232"/>
                </a:lnTo>
                <a:lnTo>
                  <a:pt x="1228102" y="975359"/>
                </a:lnTo>
                <a:lnTo>
                  <a:pt x="1229684" y="979804"/>
                </a:lnTo>
                <a:lnTo>
                  <a:pt x="1230634" y="983932"/>
                </a:lnTo>
                <a:lnTo>
                  <a:pt x="1231583" y="988694"/>
                </a:lnTo>
                <a:lnTo>
                  <a:pt x="1231900" y="993774"/>
                </a:lnTo>
                <a:lnTo>
                  <a:pt x="1231900" y="998854"/>
                </a:lnTo>
                <a:lnTo>
                  <a:pt x="1231267" y="1003934"/>
                </a:lnTo>
                <a:lnTo>
                  <a:pt x="1230317" y="1009650"/>
                </a:lnTo>
                <a:lnTo>
                  <a:pt x="1229368" y="1015365"/>
                </a:lnTo>
                <a:lnTo>
                  <a:pt x="1228102" y="1021080"/>
                </a:lnTo>
                <a:lnTo>
                  <a:pt x="1226519" y="1027112"/>
                </a:lnTo>
                <a:lnTo>
                  <a:pt x="1224303" y="1033145"/>
                </a:lnTo>
                <a:lnTo>
                  <a:pt x="1222088" y="1039177"/>
                </a:lnTo>
                <a:lnTo>
                  <a:pt x="1219872" y="1045527"/>
                </a:lnTo>
                <a:lnTo>
                  <a:pt x="1214174" y="1058227"/>
                </a:lnTo>
                <a:lnTo>
                  <a:pt x="1207527" y="1070927"/>
                </a:lnTo>
                <a:lnTo>
                  <a:pt x="1200563" y="1084262"/>
                </a:lnTo>
                <a:lnTo>
                  <a:pt x="1192650" y="1097280"/>
                </a:lnTo>
                <a:lnTo>
                  <a:pt x="1184104" y="1110297"/>
                </a:lnTo>
                <a:lnTo>
                  <a:pt x="1177556" y="1120028"/>
                </a:lnTo>
                <a:lnTo>
                  <a:pt x="1226114" y="1144685"/>
                </a:lnTo>
                <a:lnTo>
                  <a:pt x="1235618" y="1136968"/>
                </a:lnTo>
                <a:lnTo>
                  <a:pt x="1241959" y="1131570"/>
                </a:lnTo>
                <a:lnTo>
                  <a:pt x="1248934" y="1126173"/>
                </a:lnTo>
                <a:lnTo>
                  <a:pt x="1256227" y="1121093"/>
                </a:lnTo>
                <a:lnTo>
                  <a:pt x="1263836" y="1116330"/>
                </a:lnTo>
                <a:lnTo>
                  <a:pt x="1271445" y="1111250"/>
                </a:lnTo>
                <a:lnTo>
                  <a:pt x="1279055" y="1106488"/>
                </a:lnTo>
                <a:lnTo>
                  <a:pt x="1286981" y="1102678"/>
                </a:lnTo>
                <a:lnTo>
                  <a:pt x="1295542" y="1098868"/>
                </a:lnTo>
                <a:lnTo>
                  <a:pt x="1303468" y="1095375"/>
                </a:lnTo>
                <a:lnTo>
                  <a:pt x="1304197" y="1095150"/>
                </a:lnTo>
                <a:lnTo>
                  <a:pt x="1255077" y="1053085"/>
                </a:lnTo>
                <a:lnTo>
                  <a:pt x="1253172" y="1051499"/>
                </a:lnTo>
                <a:lnTo>
                  <a:pt x="1251585" y="1049280"/>
                </a:lnTo>
                <a:lnTo>
                  <a:pt x="1249997" y="1047378"/>
                </a:lnTo>
                <a:lnTo>
                  <a:pt x="1248727" y="1045158"/>
                </a:lnTo>
                <a:lnTo>
                  <a:pt x="1247775" y="1042622"/>
                </a:lnTo>
                <a:lnTo>
                  <a:pt x="1247140" y="1040402"/>
                </a:lnTo>
                <a:lnTo>
                  <a:pt x="1246505" y="1038183"/>
                </a:lnTo>
                <a:lnTo>
                  <a:pt x="1246187" y="1035646"/>
                </a:lnTo>
                <a:lnTo>
                  <a:pt x="1246187" y="1033110"/>
                </a:lnTo>
                <a:lnTo>
                  <a:pt x="1246505" y="1030890"/>
                </a:lnTo>
                <a:lnTo>
                  <a:pt x="1246822" y="1028354"/>
                </a:lnTo>
                <a:lnTo>
                  <a:pt x="1247457" y="1026135"/>
                </a:lnTo>
                <a:lnTo>
                  <a:pt x="1248092" y="1023281"/>
                </a:lnTo>
                <a:lnTo>
                  <a:pt x="1249362" y="1021379"/>
                </a:lnTo>
                <a:lnTo>
                  <a:pt x="1250632" y="1019159"/>
                </a:lnTo>
                <a:lnTo>
                  <a:pt x="1252537" y="1016940"/>
                </a:lnTo>
                <a:lnTo>
                  <a:pt x="1254125" y="1015037"/>
                </a:lnTo>
                <a:lnTo>
                  <a:pt x="1256030" y="1013452"/>
                </a:lnTo>
                <a:lnTo>
                  <a:pt x="1258252" y="1012184"/>
                </a:lnTo>
                <a:lnTo>
                  <a:pt x="1260475" y="1010599"/>
                </a:lnTo>
                <a:lnTo>
                  <a:pt x="1262380" y="1009647"/>
                </a:lnTo>
                <a:lnTo>
                  <a:pt x="1264920" y="1009013"/>
                </a:lnTo>
                <a:lnTo>
                  <a:pt x="1267460" y="1008379"/>
                </a:lnTo>
                <a:lnTo>
                  <a:pt x="1269682" y="1008062"/>
                </a:lnTo>
                <a:lnTo>
                  <a:pt x="1272222" y="1008062"/>
                </a:lnTo>
                <a:lnTo>
                  <a:pt x="1274762" y="1008062"/>
                </a:lnTo>
                <a:lnTo>
                  <a:pt x="1277302" y="1008696"/>
                </a:lnTo>
                <a:lnTo>
                  <a:pt x="1279525" y="1009013"/>
                </a:lnTo>
                <a:lnTo>
                  <a:pt x="1281747" y="1009964"/>
                </a:lnTo>
                <a:lnTo>
                  <a:pt x="1284287" y="1010916"/>
                </a:lnTo>
                <a:lnTo>
                  <a:pt x="1286510" y="1012818"/>
                </a:lnTo>
                <a:lnTo>
                  <a:pt x="1288415" y="1014086"/>
                </a:lnTo>
                <a:lnTo>
                  <a:pt x="1476735" y="1175116"/>
                </a:lnTo>
                <a:lnTo>
                  <a:pt x="1485356" y="1180861"/>
                </a:lnTo>
                <a:lnTo>
                  <a:pt x="1496783" y="1187525"/>
                </a:lnTo>
                <a:lnTo>
                  <a:pt x="1503132" y="1191015"/>
                </a:lnTo>
                <a:lnTo>
                  <a:pt x="1509798" y="1194506"/>
                </a:lnTo>
                <a:lnTo>
                  <a:pt x="1516781" y="1197679"/>
                </a:lnTo>
                <a:lnTo>
                  <a:pt x="1523765" y="1200852"/>
                </a:lnTo>
                <a:lnTo>
                  <a:pt x="1531066" y="1203708"/>
                </a:lnTo>
                <a:lnTo>
                  <a:pt x="1538367" y="1206247"/>
                </a:lnTo>
                <a:lnTo>
                  <a:pt x="1545668" y="1208151"/>
                </a:lnTo>
                <a:lnTo>
                  <a:pt x="1552969" y="1209738"/>
                </a:lnTo>
                <a:lnTo>
                  <a:pt x="1560587" y="1210690"/>
                </a:lnTo>
                <a:lnTo>
                  <a:pt x="1567888" y="1211324"/>
                </a:lnTo>
                <a:lnTo>
                  <a:pt x="1572649" y="1210690"/>
                </a:lnTo>
                <a:lnTo>
                  <a:pt x="1577411" y="1210372"/>
                </a:lnTo>
                <a:lnTo>
                  <a:pt x="1581855" y="1209420"/>
                </a:lnTo>
                <a:lnTo>
                  <a:pt x="1586299" y="1208151"/>
                </a:lnTo>
                <a:lnTo>
                  <a:pt x="1590108" y="1206564"/>
                </a:lnTo>
                <a:lnTo>
                  <a:pt x="1593917" y="1204026"/>
                </a:lnTo>
                <a:lnTo>
                  <a:pt x="1597409" y="1201804"/>
                </a:lnTo>
                <a:lnTo>
                  <a:pt x="1600900" y="1198948"/>
                </a:lnTo>
                <a:lnTo>
                  <a:pt x="1601535" y="1197996"/>
                </a:lnTo>
                <a:lnTo>
                  <a:pt x="1601853" y="1197362"/>
                </a:lnTo>
                <a:lnTo>
                  <a:pt x="1602170" y="1195141"/>
                </a:lnTo>
                <a:lnTo>
                  <a:pt x="1602170" y="1191967"/>
                </a:lnTo>
                <a:lnTo>
                  <a:pt x="1601218" y="1188159"/>
                </a:lnTo>
                <a:lnTo>
                  <a:pt x="1599948" y="1183717"/>
                </a:lnTo>
                <a:lnTo>
                  <a:pt x="1597726" y="1178640"/>
                </a:lnTo>
                <a:lnTo>
                  <a:pt x="1595504" y="1173245"/>
                </a:lnTo>
                <a:lnTo>
                  <a:pt x="1592647" y="1167533"/>
                </a:lnTo>
                <a:lnTo>
                  <a:pt x="1589155" y="1161186"/>
                </a:lnTo>
                <a:lnTo>
                  <a:pt x="1585029" y="1154523"/>
                </a:lnTo>
                <a:lnTo>
                  <a:pt x="1580902" y="1147541"/>
                </a:lnTo>
                <a:lnTo>
                  <a:pt x="1576141" y="1140560"/>
                </a:lnTo>
                <a:lnTo>
                  <a:pt x="1570745" y="1132944"/>
                </a:lnTo>
                <a:lnTo>
                  <a:pt x="1565031" y="1125646"/>
                </a:lnTo>
                <a:lnTo>
                  <a:pt x="1559000" y="1118347"/>
                </a:lnTo>
                <a:lnTo>
                  <a:pt x="1552334" y="1111049"/>
                </a:lnTo>
                <a:lnTo>
                  <a:pt x="1550747" y="1109145"/>
                </a:lnTo>
                <a:lnTo>
                  <a:pt x="1549477" y="1106923"/>
                </a:lnTo>
                <a:lnTo>
                  <a:pt x="1548525" y="1105020"/>
                </a:lnTo>
                <a:lnTo>
                  <a:pt x="1548518" y="1105002"/>
                </a:lnTo>
                <a:lnTo>
                  <a:pt x="1288131" y="881697"/>
                </a:lnTo>
                <a:lnTo>
                  <a:pt x="1286218" y="880109"/>
                </a:lnTo>
                <a:lnTo>
                  <a:pt x="1284625" y="878204"/>
                </a:lnTo>
                <a:lnTo>
                  <a:pt x="1283350" y="875982"/>
                </a:lnTo>
                <a:lnTo>
                  <a:pt x="1282394" y="873759"/>
                </a:lnTo>
                <a:lnTo>
                  <a:pt x="1281119" y="871854"/>
                </a:lnTo>
                <a:lnTo>
                  <a:pt x="1280162" y="869314"/>
                </a:lnTo>
                <a:lnTo>
                  <a:pt x="1279844" y="866774"/>
                </a:lnTo>
                <a:lnTo>
                  <a:pt x="1279525" y="864552"/>
                </a:lnTo>
                <a:lnTo>
                  <a:pt x="1279525" y="862012"/>
                </a:lnTo>
                <a:lnTo>
                  <a:pt x="1279525" y="859472"/>
                </a:lnTo>
                <a:lnTo>
                  <a:pt x="1279844" y="857249"/>
                </a:lnTo>
                <a:lnTo>
                  <a:pt x="1280481" y="854709"/>
                </a:lnTo>
                <a:lnTo>
                  <a:pt x="1281437" y="852487"/>
                </a:lnTo>
                <a:lnTo>
                  <a:pt x="1282712" y="849947"/>
                </a:lnTo>
                <a:lnTo>
                  <a:pt x="1283987" y="847724"/>
                </a:lnTo>
                <a:lnTo>
                  <a:pt x="1285581" y="845819"/>
                </a:lnTo>
                <a:lnTo>
                  <a:pt x="1287493" y="843597"/>
                </a:lnTo>
                <a:lnTo>
                  <a:pt x="1289406" y="842009"/>
                </a:lnTo>
                <a:lnTo>
                  <a:pt x="1291637" y="840739"/>
                </a:lnTo>
                <a:lnTo>
                  <a:pt x="1293549" y="839469"/>
                </a:lnTo>
                <a:lnTo>
                  <a:pt x="1296099" y="838517"/>
                </a:lnTo>
                <a:lnTo>
                  <a:pt x="1298330" y="837882"/>
                </a:lnTo>
                <a:lnTo>
                  <a:pt x="1300561" y="837247"/>
                </a:lnTo>
                <a:lnTo>
                  <a:pt x="1303430" y="836929"/>
                </a:lnTo>
                <a:lnTo>
                  <a:pt x="1305661" y="836612"/>
                </a:lnTo>
                <a:lnTo>
                  <a:pt x="1308211" y="836929"/>
                </a:lnTo>
                <a:lnTo>
                  <a:pt x="1310761" y="837247"/>
                </a:lnTo>
                <a:lnTo>
                  <a:pt x="1312992" y="838199"/>
                </a:lnTo>
                <a:lnTo>
                  <a:pt x="1315542" y="839152"/>
                </a:lnTo>
                <a:lnTo>
                  <a:pt x="1317773" y="840104"/>
                </a:lnTo>
                <a:lnTo>
                  <a:pt x="1319685" y="841374"/>
                </a:lnTo>
                <a:lnTo>
                  <a:pt x="1322235" y="842962"/>
                </a:lnTo>
                <a:lnTo>
                  <a:pt x="1599213" y="1080452"/>
                </a:lnTo>
                <a:lnTo>
                  <a:pt x="1601126" y="1082675"/>
                </a:lnTo>
                <a:lnTo>
                  <a:pt x="1602720" y="1084262"/>
                </a:lnTo>
                <a:lnTo>
                  <a:pt x="1603369" y="1085394"/>
                </a:lnTo>
                <a:lnTo>
                  <a:pt x="1603757" y="1085663"/>
                </a:lnTo>
                <a:lnTo>
                  <a:pt x="1609153" y="1089153"/>
                </a:lnTo>
                <a:lnTo>
                  <a:pt x="1614867" y="1092326"/>
                </a:lnTo>
                <a:lnTo>
                  <a:pt x="1621216" y="1095500"/>
                </a:lnTo>
                <a:lnTo>
                  <a:pt x="1627882" y="1098673"/>
                </a:lnTo>
                <a:lnTo>
                  <a:pt x="1634865" y="1101529"/>
                </a:lnTo>
                <a:lnTo>
                  <a:pt x="1642484" y="1104385"/>
                </a:lnTo>
                <a:lnTo>
                  <a:pt x="1650737" y="1106289"/>
                </a:lnTo>
                <a:lnTo>
                  <a:pt x="1658673" y="1107875"/>
                </a:lnTo>
                <a:lnTo>
                  <a:pt x="1667243" y="1109462"/>
                </a:lnTo>
                <a:lnTo>
                  <a:pt x="1676131" y="1109779"/>
                </a:lnTo>
                <a:lnTo>
                  <a:pt x="1680893" y="1109462"/>
                </a:lnTo>
                <a:lnTo>
                  <a:pt x="1685654" y="1109145"/>
                </a:lnTo>
                <a:lnTo>
                  <a:pt x="1690733" y="1108510"/>
                </a:lnTo>
                <a:lnTo>
                  <a:pt x="1695494" y="1107241"/>
                </a:lnTo>
                <a:lnTo>
                  <a:pt x="1700256" y="1105971"/>
                </a:lnTo>
                <a:lnTo>
                  <a:pt x="1705017" y="1104702"/>
                </a:lnTo>
                <a:lnTo>
                  <a:pt x="1709461" y="1102798"/>
                </a:lnTo>
                <a:lnTo>
                  <a:pt x="1713905" y="1100577"/>
                </a:lnTo>
                <a:lnTo>
                  <a:pt x="1718349" y="1098356"/>
                </a:lnTo>
                <a:lnTo>
                  <a:pt x="1722158" y="1095817"/>
                </a:lnTo>
                <a:lnTo>
                  <a:pt x="1725015" y="1092961"/>
                </a:lnTo>
                <a:lnTo>
                  <a:pt x="1726920" y="1090740"/>
                </a:lnTo>
                <a:lnTo>
                  <a:pt x="1728824" y="1088201"/>
                </a:lnTo>
                <a:lnTo>
                  <a:pt x="1729777" y="1085980"/>
                </a:lnTo>
                <a:lnTo>
                  <a:pt x="1730411" y="1083759"/>
                </a:lnTo>
                <a:lnTo>
                  <a:pt x="1730729" y="1081220"/>
                </a:lnTo>
                <a:lnTo>
                  <a:pt x="1731046" y="1078681"/>
                </a:lnTo>
                <a:lnTo>
                  <a:pt x="1731364" y="1075508"/>
                </a:lnTo>
                <a:lnTo>
                  <a:pt x="1731046" y="1072652"/>
                </a:lnTo>
                <a:lnTo>
                  <a:pt x="1730729" y="1069796"/>
                </a:lnTo>
                <a:lnTo>
                  <a:pt x="1729459" y="1063450"/>
                </a:lnTo>
                <a:lnTo>
                  <a:pt x="1727237" y="1056468"/>
                </a:lnTo>
                <a:lnTo>
                  <a:pt x="1724380" y="1049487"/>
                </a:lnTo>
                <a:lnTo>
                  <a:pt x="1721523" y="1042506"/>
                </a:lnTo>
                <a:lnTo>
                  <a:pt x="1717397" y="1035525"/>
                </a:lnTo>
                <a:lnTo>
                  <a:pt x="1713270" y="1028226"/>
                </a:lnTo>
                <a:lnTo>
                  <a:pt x="1708826" y="1021245"/>
                </a:lnTo>
                <a:lnTo>
                  <a:pt x="1704065" y="1014581"/>
                </a:lnTo>
                <a:lnTo>
                  <a:pt x="1699303" y="1008235"/>
                </a:lnTo>
                <a:lnTo>
                  <a:pt x="1694542" y="1001888"/>
                </a:lnTo>
                <a:lnTo>
                  <a:pt x="1685337" y="990781"/>
                </a:lnTo>
                <a:lnTo>
                  <a:pt x="1677083" y="982213"/>
                </a:lnTo>
                <a:lnTo>
                  <a:pt x="1675496" y="980309"/>
                </a:lnTo>
                <a:lnTo>
                  <a:pt x="1674227" y="978406"/>
                </a:lnTo>
                <a:lnTo>
                  <a:pt x="1672005" y="974598"/>
                </a:lnTo>
                <a:lnTo>
                  <a:pt x="1671927" y="974324"/>
                </a:lnTo>
                <a:lnTo>
                  <a:pt x="1444336" y="780150"/>
                </a:lnTo>
                <a:lnTo>
                  <a:pt x="1442107" y="778243"/>
                </a:lnTo>
                <a:lnTo>
                  <a:pt x="1440514" y="776336"/>
                </a:lnTo>
                <a:lnTo>
                  <a:pt x="1439240" y="774429"/>
                </a:lnTo>
                <a:lnTo>
                  <a:pt x="1437966" y="771886"/>
                </a:lnTo>
                <a:lnTo>
                  <a:pt x="1436692" y="769978"/>
                </a:lnTo>
                <a:lnTo>
                  <a:pt x="1436055" y="767753"/>
                </a:lnTo>
                <a:lnTo>
                  <a:pt x="1435418" y="764892"/>
                </a:lnTo>
                <a:lnTo>
                  <a:pt x="1435100" y="762667"/>
                </a:lnTo>
                <a:lnTo>
                  <a:pt x="1435100" y="760442"/>
                </a:lnTo>
                <a:lnTo>
                  <a:pt x="1435418" y="757581"/>
                </a:lnTo>
                <a:lnTo>
                  <a:pt x="1435737" y="755356"/>
                </a:lnTo>
                <a:lnTo>
                  <a:pt x="1436374" y="752813"/>
                </a:lnTo>
                <a:lnTo>
                  <a:pt x="1437329" y="750588"/>
                </a:lnTo>
                <a:lnTo>
                  <a:pt x="1438603" y="748363"/>
                </a:lnTo>
                <a:lnTo>
                  <a:pt x="1439877" y="745820"/>
                </a:lnTo>
                <a:lnTo>
                  <a:pt x="1441470" y="743912"/>
                </a:lnTo>
                <a:lnTo>
                  <a:pt x="1443062" y="742005"/>
                </a:lnTo>
                <a:lnTo>
                  <a:pt x="1445292" y="740098"/>
                </a:lnTo>
                <a:lnTo>
                  <a:pt x="1447203" y="738826"/>
                </a:lnTo>
                <a:lnTo>
                  <a:pt x="1449114" y="737555"/>
                </a:lnTo>
                <a:lnTo>
                  <a:pt x="1451662" y="736601"/>
                </a:lnTo>
                <a:lnTo>
                  <a:pt x="1453891" y="735966"/>
                </a:lnTo>
                <a:lnTo>
                  <a:pt x="1456120" y="735330"/>
                </a:lnTo>
                <a:lnTo>
                  <a:pt x="1458987" y="735012"/>
                </a:lnTo>
                <a:lnTo>
                  <a:pt x="1461216" y="735012"/>
                </a:lnTo>
                <a:lnTo>
                  <a:pt x="1464083" y="735330"/>
                </a:lnTo>
                <a:lnTo>
                  <a:pt x="1466312" y="735648"/>
                </a:lnTo>
                <a:lnTo>
                  <a:pt x="1468542" y="736283"/>
                </a:lnTo>
                <a:lnTo>
                  <a:pt x="1471089" y="736919"/>
                </a:lnTo>
                <a:lnTo>
                  <a:pt x="1473319" y="738191"/>
                </a:lnTo>
                <a:lnTo>
                  <a:pt x="1475548" y="739462"/>
                </a:lnTo>
                <a:lnTo>
                  <a:pt x="1477778" y="741369"/>
                </a:lnTo>
                <a:lnTo>
                  <a:pt x="1720261" y="947946"/>
                </a:lnTo>
                <a:lnTo>
                  <a:pt x="1725967" y="950798"/>
                </a:lnTo>
                <a:lnTo>
                  <a:pt x="1748505" y="962222"/>
                </a:lnTo>
                <a:lnTo>
                  <a:pt x="1760250" y="967934"/>
                </a:lnTo>
                <a:lnTo>
                  <a:pt x="1771043" y="972694"/>
                </a:lnTo>
                <a:lnTo>
                  <a:pt x="1782153" y="976819"/>
                </a:lnTo>
                <a:lnTo>
                  <a:pt x="1787549" y="978723"/>
                </a:lnTo>
                <a:lnTo>
                  <a:pt x="1792628" y="980309"/>
                </a:lnTo>
                <a:lnTo>
                  <a:pt x="1797389" y="981579"/>
                </a:lnTo>
                <a:lnTo>
                  <a:pt x="1802468" y="982531"/>
                </a:lnTo>
                <a:lnTo>
                  <a:pt x="1806912" y="982848"/>
                </a:lnTo>
                <a:lnTo>
                  <a:pt x="1811673" y="983165"/>
                </a:lnTo>
                <a:lnTo>
                  <a:pt x="1814848" y="983165"/>
                </a:lnTo>
                <a:lnTo>
                  <a:pt x="1818974" y="982531"/>
                </a:lnTo>
                <a:lnTo>
                  <a:pt x="1820879" y="981896"/>
                </a:lnTo>
                <a:lnTo>
                  <a:pt x="1823101" y="981261"/>
                </a:lnTo>
                <a:lnTo>
                  <a:pt x="1825640" y="979992"/>
                </a:lnTo>
                <a:lnTo>
                  <a:pt x="1827862" y="977771"/>
                </a:lnTo>
                <a:lnTo>
                  <a:pt x="1829767" y="975867"/>
                </a:lnTo>
                <a:lnTo>
                  <a:pt x="1832306" y="973328"/>
                </a:lnTo>
                <a:lnTo>
                  <a:pt x="1834528" y="969838"/>
                </a:lnTo>
                <a:lnTo>
                  <a:pt x="1836433" y="965395"/>
                </a:lnTo>
                <a:lnTo>
                  <a:pt x="1838972" y="960953"/>
                </a:lnTo>
                <a:lnTo>
                  <a:pt x="1840559" y="955558"/>
                </a:lnTo>
                <a:lnTo>
                  <a:pt x="1842464" y="948894"/>
                </a:lnTo>
                <a:lnTo>
                  <a:pt x="1844369" y="941596"/>
                </a:lnTo>
                <a:lnTo>
                  <a:pt x="1845321" y="935884"/>
                </a:lnTo>
                <a:lnTo>
                  <a:pt x="1845638" y="929854"/>
                </a:lnTo>
                <a:lnTo>
                  <a:pt x="1845321" y="924143"/>
                </a:lnTo>
                <a:lnTo>
                  <a:pt x="1844686" y="918113"/>
                </a:lnTo>
                <a:lnTo>
                  <a:pt x="1843099" y="912401"/>
                </a:lnTo>
                <a:lnTo>
                  <a:pt x="1841194" y="906689"/>
                </a:lnTo>
                <a:lnTo>
                  <a:pt x="1839290" y="901295"/>
                </a:lnTo>
                <a:lnTo>
                  <a:pt x="1836433" y="895900"/>
                </a:lnTo>
                <a:lnTo>
                  <a:pt x="1833576" y="890188"/>
                </a:lnTo>
                <a:lnTo>
                  <a:pt x="1830719" y="884794"/>
                </a:lnTo>
                <a:lnTo>
                  <a:pt x="1823101" y="874005"/>
                </a:lnTo>
                <a:lnTo>
                  <a:pt x="1815483" y="863216"/>
                </a:lnTo>
                <a:lnTo>
                  <a:pt x="1807864" y="852744"/>
                </a:lnTo>
                <a:lnTo>
                  <a:pt x="1798976" y="841320"/>
                </a:lnTo>
                <a:lnTo>
                  <a:pt x="1794850" y="835608"/>
                </a:lnTo>
                <a:lnTo>
                  <a:pt x="1791041" y="829896"/>
                </a:lnTo>
                <a:lnTo>
                  <a:pt x="1783105" y="817520"/>
                </a:lnTo>
                <a:lnTo>
                  <a:pt x="1775487" y="804510"/>
                </a:lnTo>
                <a:lnTo>
                  <a:pt x="1772927" y="799925"/>
                </a:lnTo>
                <a:lnTo>
                  <a:pt x="1762353" y="789648"/>
                </a:lnTo>
                <a:lnTo>
                  <a:pt x="1738534" y="767435"/>
                </a:lnTo>
                <a:lnTo>
                  <a:pt x="1711856" y="742048"/>
                </a:lnTo>
                <a:lnTo>
                  <a:pt x="1682955" y="714758"/>
                </a:lnTo>
                <a:lnTo>
                  <a:pt x="1652148" y="686833"/>
                </a:lnTo>
                <a:lnTo>
                  <a:pt x="1620389" y="659225"/>
                </a:lnTo>
                <a:lnTo>
                  <a:pt x="1588630" y="631935"/>
                </a:lnTo>
                <a:lnTo>
                  <a:pt x="1573385" y="619242"/>
                </a:lnTo>
                <a:lnTo>
                  <a:pt x="1557823" y="606866"/>
                </a:lnTo>
                <a:lnTo>
                  <a:pt x="1542896" y="595125"/>
                </a:lnTo>
                <a:lnTo>
                  <a:pt x="1528605" y="584018"/>
                </a:lnTo>
                <a:lnTo>
                  <a:pt x="1514948" y="574181"/>
                </a:lnTo>
                <a:lnTo>
                  <a:pt x="1501609" y="564661"/>
                </a:lnTo>
                <a:lnTo>
                  <a:pt x="1489223" y="557045"/>
                </a:lnTo>
                <a:lnTo>
                  <a:pt x="1477790" y="550064"/>
                </a:lnTo>
                <a:lnTo>
                  <a:pt x="1466992" y="544669"/>
                </a:lnTo>
                <a:lnTo>
                  <a:pt x="1462228" y="542448"/>
                </a:lnTo>
                <a:lnTo>
                  <a:pt x="1457781" y="540544"/>
                </a:lnTo>
                <a:lnTo>
                  <a:pt x="1453335" y="538957"/>
                </a:lnTo>
                <a:lnTo>
                  <a:pt x="1449206" y="538005"/>
                </a:lnTo>
                <a:lnTo>
                  <a:pt x="1445713" y="537371"/>
                </a:lnTo>
                <a:lnTo>
                  <a:pt x="1442219" y="537371"/>
                </a:lnTo>
                <a:lnTo>
                  <a:pt x="1429516" y="537053"/>
                </a:lnTo>
                <a:lnTo>
                  <a:pt x="1417129" y="536101"/>
                </a:lnTo>
                <a:lnTo>
                  <a:pt x="1393310" y="533563"/>
                </a:lnTo>
                <a:lnTo>
                  <a:pt x="1381559" y="532928"/>
                </a:lnTo>
                <a:lnTo>
                  <a:pt x="1369808" y="532611"/>
                </a:lnTo>
                <a:lnTo>
                  <a:pt x="1363774" y="532928"/>
                </a:lnTo>
                <a:lnTo>
                  <a:pt x="1357740" y="533245"/>
                </a:lnTo>
                <a:lnTo>
                  <a:pt x="1351705" y="533880"/>
                </a:lnTo>
                <a:lnTo>
                  <a:pt x="1345671" y="535149"/>
                </a:lnTo>
                <a:lnTo>
                  <a:pt x="1339637" y="536419"/>
                </a:lnTo>
                <a:lnTo>
                  <a:pt x="1333920" y="538323"/>
                </a:lnTo>
                <a:lnTo>
                  <a:pt x="1327568" y="540227"/>
                </a:lnTo>
                <a:lnTo>
                  <a:pt x="1321534" y="543083"/>
                </a:lnTo>
                <a:lnTo>
                  <a:pt x="1315182" y="546256"/>
                </a:lnTo>
                <a:lnTo>
                  <a:pt x="1308830" y="549746"/>
                </a:lnTo>
                <a:lnTo>
                  <a:pt x="1302161" y="553872"/>
                </a:lnTo>
                <a:lnTo>
                  <a:pt x="1295491" y="558949"/>
                </a:lnTo>
                <a:lnTo>
                  <a:pt x="1288822" y="564344"/>
                </a:lnTo>
                <a:lnTo>
                  <a:pt x="1281517" y="570373"/>
                </a:lnTo>
                <a:lnTo>
                  <a:pt x="1274530" y="577037"/>
                </a:lnTo>
                <a:lnTo>
                  <a:pt x="1267225" y="584653"/>
                </a:lnTo>
                <a:lnTo>
                  <a:pt x="1259921" y="593221"/>
                </a:lnTo>
                <a:lnTo>
                  <a:pt x="1252616" y="602106"/>
                </a:lnTo>
                <a:lnTo>
                  <a:pt x="1244676" y="612260"/>
                </a:lnTo>
                <a:lnTo>
                  <a:pt x="1236737" y="622732"/>
                </a:lnTo>
                <a:lnTo>
                  <a:pt x="1232608" y="628444"/>
                </a:lnTo>
                <a:lnTo>
                  <a:pt x="1228162" y="633839"/>
                </a:lnTo>
                <a:lnTo>
                  <a:pt x="1219269" y="644628"/>
                </a:lnTo>
                <a:lnTo>
                  <a:pt x="1209424" y="654783"/>
                </a:lnTo>
                <a:lnTo>
                  <a:pt x="1199261" y="664937"/>
                </a:lnTo>
                <a:lnTo>
                  <a:pt x="1188145" y="674140"/>
                </a:lnTo>
                <a:lnTo>
                  <a:pt x="1177029" y="683342"/>
                </a:lnTo>
                <a:lnTo>
                  <a:pt x="1165278" y="691593"/>
                </a:lnTo>
                <a:lnTo>
                  <a:pt x="1153845" y="699526"/>
                </a:lnTo>
                <a:lnTo>
                  <a:pt x="1141776" y="706508"/>
                </a:lnTo>
                <a:lnTo>
                  <a:pt x="1129390" y="713171"/>
                </a:lnTo>
                <a:lnTo>
                  <a:pt x="1117322" y="718883"/>
                </a:lnTo>
                <a:lnTo>
                  <a:pt x="1105253" y="724278"/>
                </a:lnTo>
                <a:lnTo>
                  <a:pt x="1093184" y="728403"/>
                </a:lnTo>
                <a:lnTo>
                  <a:pt x="1081433" y="731894"/>
                </a:lnTo>
                <a:lnTo>
                  <a:pt x="1070318" y="734433"/>
                </a:lnTo>
                <a:lnTo>
                  <a:pt x="1064601" y="735385"/>
                </a:lnTo>
                <a:lnTo>
                  <a:pt x="1059202" y="736019"/>
                </a:lnTo>
                <a:lnTo>
                  <a:pt x="1053803" y="736654"/>
                </a:lnTo>
                <a:lnTo>
                  <a:pt x="1048404" y="736971"/>
                </a:lnTo>
                <a:lnTo>
                  <a:pt x="1043322" y="736971"/>
                </a:lnTo>
                <a:lnTo>
                  <a:pt x="1038558" y="736654"/>
                </a:lnTo>
                <a:lnTo>
                  <a:pt x="1033795" y="736019"/>
                </a:lnTo>
                <a:lnTo>
                  <a:pt x="1029031" y="735385"/>
                </a:lnTo>
                <a:lnTo>
                  <a:pt x="1024267" y="734433"/>
                </a:lnTo>
                <a:lnTo>
                  <a:pt x="1020138" y="732846"/>
                </a:lnTo>
                <a:lnTo>
                  <a:pt x="1016009" y="731259"/>
                </a:lnTo>
                <a:lnTo>
                  <a:pt x="1012198" y="729355"/>
                </a:lnTo>
                <a:lnTo>
                  <a:pt x="1008387" y="727134"/>
                </a:lnTo>
                <a:lnTo>
                  <a:pt x="1004894" y="724595"/>
                </a:lnTo>
                <a:lnTo>
                  <a:pt x="1001718" y="722057"/>
                </a:lnTo>
                <a:lnTo>
                  <a:pt x="998542" y="718883"/>
                </a:lnTo>
                <a:lnTo>
                  <a:pt x="996001" y="715710"/>
                </a:lnTo>
                <a:lnTo>
                  <a:pt x="993778" y="711902"/>
                </a:lnTo>
                <a:lnTo>
                  <a:pt x="991237" y="707777"/>
                </a:lnTo>
                <a:lnTo>
                  <a:pt x="989331" y="703652"/>
                </a:lnTo>
                <a:lnTo>
                  <a:pt x="987744" y="698892"/>
                </a:lnTo>
                <a:lnTo>
                  <a:pt x="986473" y="693814"/>
                </a:lnTo>
                <a:lnTo>
                  <a:pt x="985203" y="688420"/>
                </a:lnTo>
                <a:lnTo>
                  <a:pt x="984568" y="683025"/>
                </a:lnTo>
                <a:lnTo>
                  <a:pt x="984250" y="676678"/>
                </a:lnTo>
                <a:lnTo>
                  <a:pt x="984250" y="670332"/>
                </a:lnTo>
                <a:lnTo>
                  <a:pt x="984250" y="663668"/>
                </a:lnTo>
                <a:lnTo>
                  <a:pt x="984885" y="656369"/>
                </a:lnTo>
                <a:lnTo>
                  <a:pt x="986156" y="648753"/>
                </a:lnTo>
                <a:lnTo>
                  <a:pt x="987744" y="641138"/>
                </a:lnTo>
                <a:lnTo>
                  <a:pt x="989331" y="632887"/>
                </a:lnTo>
                <a:lnTo>
                  <a:pt x="991237" y="624002"/>
                </a:lnTo>
                <a:lnTo>
                  <a:pt x="994095" y="615116"/>
                </a:lnTo>
                <a:lnTo>
                  <a:pt x="996954" y="605914"/>
                </a:lnTo>
                <a:lnTo>
                  <a:pt x="1002035" y="594173"/>
                </a:lnTo>
                <a:lnTo>
                  <a:pt x="1007752" y="580845"/>
                </a:lnTo>
                <a:lnTo>
                  <a:pt x="1015692" y="563074"/>
                </a:lnTo>
                <a:lnTo>
                  <a:pt x="1025855" y="542131"/>
                </a:lnTo>
                <a:lnTo>
                  <a:pt x="1037606" y="518648"/>
                </a:lnTo>
                <a:lnTo>
                  <a:pt x="1050627" y="492944"/>
                </a:lnTo>
                <a:lnTo>
                  <a:pt x="1057932" y="479934"/>
                </a:lnTo>
                <a:lnTo>
                  <a:pt x="1065554" y="466606"/>
                </a:lnTo>
                <a:lnTo>
                  <a:pt x="1073176" y="452961"/>
                </a:lnTo>
                <a:lnTo>
                  <a:pt x="1081433" y="439316"/>
                </a:lnTo>
                <a:lnTo>
                  <a:pt x="1090326" y="425988"/>
                </a:lnTo>
                <a:lnTo>
                  <a:pt x="1098901" y="412660"/>
                </a:lnTo>
                <a:lnTo>
                  <a:pt x="1107794" y="399015"/>
                </a:lnTo>
                <a:lnTo>
                  <a:pt x="1117322" y="386321"/>
                </a:lnTo>
                <a:lnTo>
                  <a:pt x="1126532" y="374263"/>
                </a:lnTo>
                <a:lnTo>
                  <a:pt x="1136695" y="362522"/>
                </a:lnTo>
                <a:lnTo>
                  <a:pt x="1146223" y="351098"/>
                </a:lnTo>
                <a:lnTo>
                  <a:pt x="1156703" y="340626"/>
                </a:lnTo>
                <a:lnTo>
                  <a:pt x="1166866" y="331106"/>
                </a:lnTo>
                <a:lnTo>
                  <a:pt x="1177029" y="322538"/>
                </a:lnTo>
                <a:lnTo>
                  <a:pt x="1182428" y="318095"/>
                </a:lnTo>
                <a:lnTo>
                  <a:pt x="1187827" y="314287"/>
                </a:lnTo>
                <a:lnTo>
                  <a:pt x="1193226" y="311114"/>
                </a:lnTo>
                <a:lnTo>
                  <a:pt x="1197990" y="307624"/>
                </a:lnTo>
                <a:lnTo>
                  <a:pt x="1203389" y="304768"/>
                </a:lnTo>
                <a:lnTo>
                  <a:pt x="1208788" y="301912"/>
                </a:lnTo>
                <a:lnTo>
                  <a:pt x="1214187" y="299690"/>
                </a:lnTo>
                <a:lnTo>
                  <a:pt x="1219587" y="297786"/>
                </a:lnTo>
                <a:lnTo>
                  <a:pt x="1233878" y="293026"/>
                </a:lnTo>
                <a:lnTo>
                  <a:pt x="1248805" y="288584"/>
                </a:lnTo>
                <a:lnTo>
                  <a:pt x="1264367" y="284458"/>
                </a:lnTo>
                <a:lnTo>
                  <a:pt x="1279929" y="280651"/>
                </a:lnTo>
                <a:lnTo>
                  <a:pt x="1296126" y="276843"/>
                </a:lnTo>
                <a:lnTo>
                  <a:pt x="1312324" y="273352"/>
                </a:lnTo>
                <a:lnTo>
                  <a:pt x="1329156" y="270179"/>
                </a:lnTo>
                <a:lnTo>
                  <a:pt x="1345989" y="267323"/>
                </a:lnTo>
                <a:lnTo>
                  <a:pt x="1363456" y="264784"/>
                </a:lnTo>
                <a:lnTo>
                  <a:pt x="1380606" y="261928"/>
                </a:lnTo>
                <a:lnTo>
                  <a:pt x="1398391" y="259707"/>
                </a:lnTo>
                <a:lnTo>
                  <a:pt x="1402962" y="259030"/>
                </a:lnTo>
                <a:lnTo>
                  <a:pt x="1213954" y="208886"/>
                </a:lnTo>
                <a:close/>
                <a:moveTo>
                  <a:pt x="1214906" y="157162"/>
                </a:moveTo>
                <a:lnTo>
                  <a:pt x="1219033" y="157479"/>
                </a:lnTo>
                <a:lnTo>
                  <a:pt x="1222842" y="158114"/>
                </a:lnTo>
                <a:lnTo>
                  <a:pt x="1555169" y="246562"/>
                </a:lnTo>
                <a:lnTo>
                  <a:pt x="1581643" y="245744"/>
                </a:lnTo>
                <a:lnTo>
                  <a:pt x="1610544" y="244792"/>
                </a:lnTo>
                <a:lnTo>
                  <a:pt x="1637221" y="244475"/>
                </a:lnTo>
                <a:lnTo>
                  <a:pt x="1661041" y="244792"/>
                </a:lnTo>
                <a:lnTo>
                  <a:pt x="1682002" y="245744"/>
                </a:lnTo>
                <a:lnTo>
                  <a:pt x="1698835" y="246379"/>
                </a:lnTo>
                <a:lnTo>
                  <a:pt x="1713126" y="247648"/>
                </a:lnTo>
                <a:lnTo>
                  <a:pt x="1727418" y="249552"/>
                </a:lnTo>
                <a:lnTo>
                  <a:pt x="1740757" y="252091"/>
                </a:lnTo>
                <a:lnTo>
                  <a:pt x="1754096" y="254947"/>
                </a:lnTo>
                <a:lnTo>
                  <a:pt x="1766799" y="258755"/>
                </a:lnTo>
                <a:lnTo>
                  <a:pt x="1779503" y="262563"/>
                </a:lnTo>
                <a:lnTo>
                  <a:pt x="1791572" y="267323"/>
                </a:lnTo>
                <a:lnTo>
                  <a:pt x="1803323" y="272400"/>
                </a:lnTo>
                <a:lnTo>
                  <a:pt x="1814756" y="277795"/>
                </a:lnTo>
                <a:lnTo>
                  <a:pt x="1826189" y="283506"/>
                </a:lnTo>
                <a:lnTo>
                  <a:pt x="1836988" y="289853"/>
                </a:lnTo>
                <a:lnTo>
                  <a:pt x="1847468" y="296834"/>
                </a:lnTo>
                <a:lnTo>
                  <a:pt x="1857631" y="303816"/>
                </a:lnTo>
                <a:lnTo>
                  <a:pt x="1867477" y="311114"/>
                </a:lnTo>
                <a:lnTo>
                  <a:pt x="1877322" y="318730"/>
                </a:lnTo>
                <a:lnTo>
                  <a:pt x="1886532" y="326981"/>
                </a:lnTo>
                <a:lnTo>
                  <a:pt x="1895742" y="335549"/>
                </a:lnTo>
                <a:lnTo>
                  <a:pt x="1904317" y="344117"/>
                </a:lnTo>
                <a:lnTo>
                  <a:pt x="1912575" y="352684"/>
                </a:lnTo>
                <a:lnTo>
                  <a:pt x="1921150" y="362204"/>
                </a:lnTo>
                <a:lnTo>
                  <a:pt x="1928772" y="371407"/>
                </a:lnTo>
                <a:lnTo>
                  <a:pt x="1936394" y="380927"/>
                </a:lnTo>
                <a:lnTo>
                  <a:pt x="1943699" y="390764"/>
                </a:lnTo>
                <a:lnTo>
                  <a:pt x="1951003" y="400601"/>
                </a:lnTo>
                <a:lnTo>
                  <a:pt x="1957673" y="410439"/>
                </a:lnTo>
                <a:lnTo>
                  <a:pt x="1964342" y="420910"/>
                </a:lnTo>
                <a:lnTo>
                  <a:pt x="1970694" y="431065"/>
                </a:lnTo>
                <a:lnTo>
                  <a:pt x="1976729" y="441537"/>
                </a:lnTo>
                <a:lnTo>
                  <a:pt x="1982445" y="452009"/>
                </a:lnTo>
                <a:lnTo>
                  <a:pt x="1988162" y="462163"/>
                </a:lnTo>
                <a:lnTo>
                  <a:pt x="1993561" y="472635"/>
                </a:lnTo>
                <a:lnTo>
                  <a:pt x="1998643" y="483424"/>
                </a:lnTo>
                <a:lnTo>
                  <a:pt x="2008170" y="504051"/>
                </a:lnTo>
                <a:lnTo>
                  <a:pt x="2017063" y="524677"/>
                </a:lnTo>
                <a:lnTo>
                  <a:pt x="2025003" y="544986"/>
                </a:lnTo>
                <a:lnTo>
                  <a:pt x="2031990" y="564661"/>
                </a:lnTo>
                <a:lnTo>
                  <a:pt x="2038342" y="584018"/>
                </a:lnTo>
                <a:lnTo>
                  <a:pt x="2044058" y="602106"/>
                </a:lnTo>
                <a:lnTo>
                  <a:pt x="2048505" y="619559"/>
                </a:lnTo>
                <a:lnTo>
                  <a:pt x="2052951" y="635426"/>
                </a:lnTo>
                <a:lnTo>
                  <a:pt x="2056762" y="650023"/>
                </a:lnTo>
                <a:lnTo>
                  <a:pt x="2059620" y="663668"/>
                </a:lnTo>
                <a:lnTo>
                  <a:pt x="2064067" y="685246"/>
                </a:lnTo>
                <a:lnTo>
                  <a:pt x="2066290" y="699209"/>
                </a:lnTo>
                <a:lnTo>
                  <a:pt x="2066925" y="703969"/>
                </a:lnTo>
                <a:lnTo>
                  <a:pt x="1845974" y="818319"/>
                </a:lnTo>
                <a:lnTo>
                  <a:pt x="1848495" y="821646"/>
                </a:lnTo>
                <a:lnTo>
                  <a:pt x="1858018" y="834339"/>
                </a:lnTo>
                <a:lnTo>
                  <a:pt x="1862462" y="841003"/>
                </a:lnTo>
                <a:lnTo>
                  <a:pt x="1867541" y="847667"/>
                </a:lnTo>
                <a:lnTo>
                  <a:pt x="1872303" y="854965"/>
                </a:lnTo>
                <a:lnTo>
                  <a:pt x="1877064" y="862264"/>
                </a:lnTo>
                <a:lnTo>
                  <a:pt x="1880873" y="870514"/>
                </a:lnTo>
                <a:lnTo>
                  <a:pt x="1885000" y="878447"/>
                </a:lnTo>
                <a:lnTo>
                  <a:pt x="1888174" y="886698"/>
                </a:lnTo>
                <a:lnTo>
                  <a:pt x="1891348" y="894948"/>
                </a:lnTo>
                <a:lnTo>
                  <a:pt x="1893888" y="904151"/>
                </a:lnTo>
                <a:lnTo>
                  <a:pt x="1895792" y="913036"/>
                </a:lnTo>
                <a:lnTo>
                  <a:pt x="1896427" y="917796"/>
                </a:lnTo>
                <a:lnTo>
                  <a:pt x="1896745" y="922556"/>
                </a:lnTo>
                <a:lnTo>
                  <a:pt x="1897062" y="927316"/>
                </a:lnTo>
                <a:lnTo>
                  <a:pt x="1897062" y="932076"/>
                </a:lnTo>
                <a:lnTo>
                  <a:pt x="1896745" y="937153"/>
                </a:lnTo>
                <a:lnTo>
                  <a:pt x="1896427" y="942230"/>
                </a:lnTo>
                <a:lnTo>
                  <a:pt x="1895475" y="946990"/>
                </a:lnTo>
                <a:lnTo>
                  <a:pt x="1894523" y="952067"/>
                </a:lnTo>
                <a:lnTo>
                  <a:pt x="1892935" y="958414"/>
                </a:lnTo>
                <a:lnTo>
                  <a:pt x="1891666" y="964443"/>
                </a:lnTo>
                <a:lnTo>
                  <a:pt x="1890079" y="969838"/>
                </a:lnTo>
                <a:lnTo>
                  <a:pt x="1887857" y="975232"/>
                </a:lnTo>
                <a:lnTo>
                  <a:pt x="1886269" y="980309"/>
                </a:lnTo>
                <a:lnTo>
                  <a:pt x="1884047" y="985069"/>
                </a:lnTo>
                <a:lnTo>
                  <a:pt x="1881825" y="989512"/>
                </a:lnTo>
                <a:lnTo>
                  <a:pt x="1879603" y="993955"/>
                </a:lnTo>
                <a:lnTo>
                  <a:pt x="1877381" y="997762"/>
                </a:lnTo>
                <a:lnTo>
                  <a:pt x="1874842" y="1001570"/>
                </a:lnTo>
                <a:lnTo>
                  <a:pt x="1872620" y="1004744"/>
                </a:lnTo>
                <a:lnTo>
                  <a:pt x="1870081" y="1008235"/>
                </a:lnTo>
                <a:lnTo>
                  <a:pt x="1867224" y="1011091"/>
                </a:lnTo>
                <a:lnTo>
                  <a:pt x="1864684" y="1013947"/>
                </a:lnTo>
                <a:lnTo>
                  <a:pt x="1858971" y="1019024"/>
                </a:lnTo>
                <a:lnTo>
                  <a:pt x="1852939" y="1022832"/>
                </a:lnTo>
                <a:lnTo>
                  <a:pt x="1847226" y="1026640"/>
                </a:lnTo>
                <a:lnTo>
                  <a:pt x="1841194" y="1029178"/>
                </a:lnTo>
                <a:lnTo>
                  <a:pt x="1834846" y="1031400"/>
                </a:lnTo>
                <a:lnTo>
                  <a:pt x="1828815" y="1032986"/>
                </a:lnTo>
                <a:lnTo>
                  <a:pt x="1822783" y="1033938"/>
                </a:lnTo>
                <a:lnTo>
                  <a:pt x="1817070" y="1034255"/>
                </a:lnTo>
                <a:lnTo>
                  <a:pt x="1811673" y="1034573"/>
                </a:lnTo>
                <a:lnTo>
                  <a:pt x="1806595" y="1034255"/>
                </a:lnTo>
                <a:lnTo>
                  <a:pt x="1801516" y="1033938"/>
                </a:lnTo>
                <a:lnTo>
                  <a:pt x="1796119" y="1033303"/>
                </a:lnTo>
                <a:lnTo>
                  <a:pt x="1791041" y="1032669"/>
                </a:lnTo>
                <a:lnTo>
                  <a:pt x="1781200" y="1030130"/>
                </a:lnTo>
                <a:lnTo>
                  <a:pt x="1770725" y="1027274"/>
                </a:lnTo>
                <a:lnTo>
                  <a:pt x="1773899" y="1034890"/>
                </a:lnTo>
                <a:lnTo>
                  <a:pt x="1776756" y="1042506"/>
                </a:lnTo>
                <a:lnTo>
                  <a:pt x="1778661" y="1050757"/>
                </a:lnTo>
                <a:lnTo>
                  <a:pt x="1780883" y="1058372"/>
                </a:lnTo>
                <a:lnTo>
                  <a:pt x="1781835" y="1066306"/>
                </a:lnTo>
                <a:lnTo>
                  <a:pt x="1782470" y="1074239"/>
                </a:lnTo>
                <a:lnTo>
                  <a:pt x="1782470" y="1081855"/>
                </a:lnTo>
                <a:lnTo>
                  <a:pt x="1781518" y="1090105"/>
                </a:lnTo>
                <a:lnTo>
                  <a:pt x="1780248" y="1096769"/>
                </a:lnTo>
                <a:lnTo>
                  <a:pt x="1779296" y="1099942"/>
                </a:lnTo>
                <a:lnTo>
                  <a:pt x="1777709" y="1103750"/>
                </a:lnTo>
                <a:lnTo>
                  <a:pt x="1776439" y="1107241"/>
                </a:lnTo>
                <a:lnTo>
                  <a:pt x="1774534" y="1111049"/>
                </a:lnTo>
                <a:lnTo>
                  <a:pt x="1772312" y="1115174"/>
                </a:lnTo>
                <a:lnTo>
                  <a:pt x="1770090" y="1118665"/>
                </a:lnTo>
                <a:lnTo>
                  <a:pt x="1767551" y="1122473"/>
                </a:lnTo>
                <a:lnTo>
                  <a:pt x="1764059" y="1125963"/>
                </a:lnTo>
                <a:lnTo>
                  <a:pt x="1760885" y="1129771"/>
                </a:lnTo>
                <a:lnTo>
                  <a:pt x="1756758" y="1133262"/>
                </a:lnTo>
                <a:lnTo>
                  <a:pt x="1752632" y="1137070"/>
                </a:lnTo>
                <a:lnTo>
                  <a:pt x="1747870" y="1140560"/>
                </a:lnTo>
                <a:lnTo>
                  <a:pt x="1742791" y="1143416"/>
                </a:lnTo>
                <a:lnTo>
                  <a:pt x="1737077" y="1146907"/>
                </a:lnTo>
                <a:lnTo>
                  <a:pt x="1729777" y="1150080"/>
                </a:lnTo>
                <a:lnTo>
                  <a:pt x="1722476" y="1152619"/>
                </a:lnTo>
                <a:lnTo>
                  <a:pt x="1714857" y="1155475"/>
                </a:lnTo>
                <a:lnTo>
                  <a:pt x="1707239" y="1157379"/>
                </a:lnTo>
                <a:lnTo>
                  <a:pt x="1699621" y="1158965"/>
                </a:lnTo>
                <a:lnTo>
                  <a:pt x="1691685" y="1160235"/>
                </a:lnTo>
                <a:lnTo>
                  <a:pt x="1683749" y="1160869"/>
                </a:lnTo>
                <a:lnTo>
                  <a:pt x="1676131" y="1161186"/>
                </a:lnTo>
                <a:lnTo>
                  <a:pt x="1667878" y="1160869"/>
                </a:lnTo>
                <a:lnTo>
                  <a:pt x="1659942" y="1160235"/>
                </a:lnTo>
                <a:lnTo>
                  <a:pt x="1652324" y="1158965"/>
                </a:lnTo>
                <a:lnTo>
                  <a:pt x="1644706" y="1157696"/>
                </a:lnTo>
                <a:lnTo>
                  <a:pt x="1646928" y="1163090"/>
                </a:lnTo>
                <a:lnTo>
                  <a:pt x="1648515" y="1168485"/>
                </a:lnTo>
                <a:lnTo>
                  <a:pt x="1650419" y="1173880"/>
                </a:lnTo>
                <a:lnTo>
                  <a:pt x="1651372" y="1179274"/>
                </a:lnTo>
                <a:lnTo>
                  <a:pt x="1652324" y="1184034"/>
                </a:lnTo>
                <a:lnTo>
                  <a:pt x="1652959" y="1189429"/>
                </a:lnTo>
                <a:lnTo>
                  <a:pt x="1653276" y="1194823"/>
                </a:lnTo>
                <a:lnTo>
                  <a:pt x="1653276" y="1199900"/>
                </a:lnTo>
                <a:lnTo>
                  <a:pt x="1652641" y="1204978"/>
                </a:lnTo>
                <a:lnTo>
                  <a:pt x="1651689" y="1209738"/>
                </a:lnTo>
                <a:lnTo>
                  <a:pt x="1650419" y="1214498"/>
                </a:lnTo>
                <a:lnTo>
                  <a:pt x="1648515" y="1219257"/>
                </a:lnTo>
                <a:lnTo>
                  <a:pt x="1646293" y="1223700"/>
                </a:lnTo>
                <a:lnTo>
                  <a:pt x="1643118" y="1228143"/>
                </a:lnTo>
                <a:lnTo>
                  <a:pt x="1639944" y="1232585"/>
                </a:lnTo>
                <a:lnTo>
                  <a:pt x="1635817" y="1236393"/>
                </a:lnTo>
                <a:lnTo>
                  <a:pt x="1632643" y="1239566"/>
                </a:lnTo>
                <a:lnTo>
                  <a:pt x="1628834" y="1242422"/>
                </a:lnTo>
                <a:lnTo>
                  <a:pt x="1625342" y="1245278"/>
                </a:lnTo>
                <a:lnTo>
                  <a:pt x="1621216" y="1247817"/>
                </a:lnTo>
                <a:lnTo>
                  <a:pt x="1617089" y="1250356"/>
                </a:lnTo>
                <a:lnTo>
                  <a:pt x="1613280" y="1252260"/>
                </a:lnTo>
                <a:lnTo>
                  <a:pt x="1609153" y="1254163"/>
                </a:lnTo>
                <a:lnTo>
                  <a:pt x="1604709" y="1255750"/>
                </a:lnTo>
                <a:lnTo>
                  <a:pt x="1600583" y="1257654"/>
                </a:lnTo>
                <a:lnTo>
                  <a:pt x="1596139" y="1258923"/>
                </a:lnTo>
                <a:lnTo>
                  <a:pt x="1591377" y="1259875"/>
                </a:lnTo>
                <a:lnTo>
                  <a:pt x="1587251" y="1260827"/>
                </a:lnTo>
                <a:lnTo>
                  <a:pt x="1582489" y="1261462"/>
                </a:lnTo>
                <a:lnTo>
                  <a:pt x="1577411" y="1261779"/>
                </a:lnTo>
                <a:lnTo>
                  <a:pt x="1572649" y="1262097"/>
                </a:lnTo>
                <a:lnTo>
                  <a:pt x="1567888" y="1262414"/>
                </a:lnTo>
                <a:lnTo>
                  <a:pt x="1558047" y="1261779"/>
                </a:lnTo>
                <a:lnTo>
                  <a:pt x="1548842" y="1260827"/>
                </a:lnTo>
                <a:lnTo>
                  <a:pt x="1539319" y="1259241"/>
                </a:lnTo>
                <a:lnTo>
                  <a:pt x="1530113" y="1257337"/>
                </a:lnTo>
                <a:lnTo>
                  <a:pt x="1520591" y="1254481"/>
                </a:lnTo>
                <a:lnTo>
                  <a:pt x="1512020" y="1251308"/>
                </a:lnTo>
                <a:lnTo>
                  <a:pt x="1503449" y="1247817"/>
                </a:lnTo>
                <a:lnTo>
                  <a:pt x="1494879" y="1244326"/>
                </a:lnTo>
                <a:lnTo>
                  <a:pt x="1495196" y="1249086"/>
                </a:lnTo>
                <a:lnTo>
                  <a:pt x="1495196" y="1253846"/>
                </a:lnTo>
                <a:lnTo>
                  <a:pt x="1495196" y="1258923"/>
                </a:lnTo>
                <a:lnTo>
                  <a:pt x="1494879" y="1264001"/>
                </a:lnTo>
                <a:lnTo>
                  <a:pt x="1494244" y="1268443"/>
                </a:lnTo>
                <a:lnTo>
                  <a:pt x="1493292" y="1273520"/>
                </a:lnTo>
                <a:lnTo>
                  <a:pt x="1492022" y="1278280"/>
                </a:lnTo>
                <a:lnTo>
                  <a:pt x="1490752" y="1283040"/>
                </a:lnTo>
                <a:lnTo>
                  <a:pt x="1487895" y="1289387"/>
                </a:lnTo>
                <a:lnTo>
                  <a:pt x="1484721" y="1295099"/>
                </a:lnTo>
                <a:lnTo>
                  <a:pt x="1480912" y="1300493"/>
                </a:lnTo>
                <a:lnTo>
                  <a:pt x="1477103" y="1305571"/>
                </a:lnTo>
                <a:lnTo>
                  <a:pt x="1472024" y="1310330"/>
                </a:lnTo>
                <a:lnTo>
                  <a:pt x="1466945" y="1314456"/>
                </a:lnTo>
                <a:lnTo>
                  <a:pt x="1460914" y="1317946"/>
                </a:lnTo>
                <a:lnTo>
                  <a:pt x="1454883" y="1321120"/>
                </a:lnTo>
                <a:lnTo>
                  <a:pt x="1449486" y="1323024"/>
                </a:lnTo>
                <a:lnTo>
                  <a:pt x="1443773" y="1324293"/>
                </a:lnTo>
                <a:lnTo>
                  <a:pt x="1438059" y="1325245"/>
                </a:lnTo>
                <a:lnTo>
                  <a:pt x="1432028" y="1325562"/>
                </a:lnTo>
                <a:lnTo>
                  <a:pt x="1425679" y="1325245"/>
                </a:lnTo>
                <a:lnTo>
                  <a:pt x="1418696" y="1324293"/>
                </a:lnTo>
                <a:lnTo>
                  <a:pt x="1411395" y="1323024"/>
                </a:lnTo>
                <a:lnTo>
                  <a:pt x="1404094" y="1321120"/>
                </a:lnTo>
                <a:lnTo>
                  <a:pt x="1396793" y="1318581"/>
                </a:lnTo>
                <a:lnTo>
                  <a:pt x="1389175" y="1315725"/>
                </a:lnTo>
                <a:lnTo>
                  <a:pt x="1381239" y="1312234"/>
                </a:lnTo>
                <a:lnTo>
                  <a:pt x="1372669" y="1308744"/>
                </a:lnTo>
                <a:lnTo>
                  <a:pt x="1364733" y="1304619"/>
                </a:lnTo>
                <a:lnTo>
                  <a:pt x="1356480" y="1299859"/>
                </a:lnTo>
                <a:lnTo>
                  <a:pt x="1347909" y="1295416"/>
                </a:lnTo>
                <a:lnTo>
                  <a:pt x="1339338" y="1290656"/>
                </a:lnTo>
                <a:lnTo>
                  <a:pt x="1322515" y="1279867"/>
                </a:lnTo>
                <a:lnTo>
                  <a:pt x="1313888" y="1274172"/>
                </a:lnTo>
                <a:lnTo>
                  <a:pt x="1313614" y="1274446"/>
                </a:lnTo>
                <a:lnTo>
                  <a:pt x="1311077" y="1277303"/>
                </a:lnTo>
                <a:lnTo>
                  <a:pt x="1307590" y="1280796"/>
                </a:lnTo>
                <a:lnTo>
                  <a:pt x="1303151" y="1284923"/>
                </a:lnTo>
                <a:lnTo>
                  <a:pt x="1297761" y="1289368"/>
                </a:lnTo>
                <a:lnTo>
                  <a:pt x="1291737" y="1293496"/>
                </a:lnTo>
                <a:lnTo>
                  <a:pt x="1285079" y="1297623"/>
                </a:lnTo>
                <a:lnTo>
                  <a:pt x="1280957" y="1299211"/>
                </a:lnTo>
                <a:lnTo>
                  <a:pt x="1277469" y="1301116"/>
                </a:lnTo>
                <a:lnTo>
                  <a:pt x="1273348" y="1302703"/>
                </a:lnTo>
                <a:lnTo>
                  <a:pt x="1268909" y="1303973"/>
                </a:lnTo>
                <a:lnTo>
                  <a:pt x="1264787" y="1305243"/>
                </a:lnTo>
                <a:lnTo>
                  <a:pt x="1260348" y="1305878"/>
                </a:lnTo>
                <a:lnTo>
                  <a:pt x="1255592" y="1306513"/>
                </a:lnTo>
                <a:lnTo>
                  <a:pt x="1251154" y="1306513"/>
                </a:lnTo>
                <a:lnTo>
                  <a:pt x="1246081" y="1306513"/>
                </a:lnTo>
                <a:lnTo>
                  <a:pt x="1241008" y="1306196"/>
                </a:lnTo>
                <a:lnTo>
                  <a:pt x="1235935" y="1305243"/>
                </a:lnTo>
                <a:lnTo>
                  <a:pt x="1230545" y="1303973"/>
                </a:lnTo>
                <a:lnTo>
                  <a:pt x="1225472" y="1302068"/>
                </a:lnTo>
                <a:lnTo>
                  <a:pt x="1220082" y="1299528"/>
                </a:lnTo>
                <a:lnTo>
                  <a:pt x="1214692" y="1296671"/>
                </a:lnTo>
                <a:lnTo>
                  <a:pt x="1208985" y="1293178"/>
                </a:lnTo>
                <a:lnTo>
                  <a:pt x="1201693" y="1287781"/>
                </a:lnTo>
                <a:lnTo>
                  <a:pt x="1195352" y="1283018"/>
                </a:lnTo>
                <a:lnTo>
                  <a:pt x="1189645" y="1277621"/>
                </a:lnTo>
                <a:lnTo>
                  <a:pt x="1184889" y="1272223"/>
                </a:lnTo>
                <a:lnTo>
                  <a:pt x="1180767" y="1266508"/>
                </a:lnTo>
                <a:lnTo>
                  <a:pt x="1177279" y="1261111"/>
                </a:lnTo>
                <a:lnTo>
                  <a:pt x="1174743" y="1255713"/>
                </a:lnTo>
                <a:lnTo>
                  <a:pt x="1172523" y="1250633"/>
                </a:lnTo>
                <a:lnTo>
                  <a:pt x="1171255" y="1245235"/>
                </a:lnTo>
                <a:lnTo>
                  <a:pt x="1170304" y="1239838"/>
                </a:lnTo>
                <a:lnTo>
                  <a:pt x="1169987" y="1234758"/>
                </a:lnTo>
                <a:lnTo>
                  <a:pt x="1169987" y="1229678"/>
                </a:lnTo>
                <a:lnTo>
                  <a:pt x="1170304" y="1224915"/>
                </a:lnTo>
                <a:lnTo>
                  <a:pt x="1170938" y="1219835"/>
                </a:lnTo>
                <a:lnTo>
                  <a:pt x="1172206" y="1215073"/>
                </a:lnTo>
                <a:lnTo>
                  <a:pt x="1173792" y="1210310"/>
                </a:lnTo>
                <a:lnTo>
                  <a:pt x="1175377" y="1206183"/>
                </a:lnTo>
                <a:lnTo>
                  <a:pt x="1177279" y="1201738"/>
                </a:lnTo>
                <a:lnTo>
                  <a:pt x="1179182" y="1197610"/>
                </a:lnTo>
                <a:lnTo>
                  <a:pt x="1181401" y="1193800"/>
                </a:lnTo>
                <a:lnTo>
                  <a:pt x="1185523" y="1186815"/>
                </a:lnTo>
                <a:lnTo>
                  <a:pt x="1188434" y="1183124"/>
                </a:lnTo>
                <a:lnTo>
                  <a:pt x="1179671" y="1178640"/>
                </a:lnTo>
                <a:lnTo>
                  <a:pt x="1146133" y="1161542"/>
                </a:lnTo>
                <a:lnTo>
                  <a:pt x="1139156" y="1169987"/>
                </a:lnTo>
                <a:lnTo>
                  <a:pt x="1130294" y="1180465"/>
                </a:lnTo>
                <a:lnTo>
                  <a:pt x="1122064" y="1189990"/>
                </a:lnTo>
                <a:lnTo>
                  <a:pt x="1113517" y="1198563"/>
                </a:lnTo>
                <a:lnTo>
                  <a:pt x="1105921" y="1206183"/>
                </a:lnTo>
                <a:lnTo>
                  <a:pt x="1098957" y="1212533"/>
                </a:lnTo>
                <a:lnTo>
                  <a:pt x="1092943" y="1217930"/>
                </a:lnTo>
                <a:lnTo>
                  <a:pt x="1087562" y="1221740"/>
                </a:lnTo>
                <a:lnTo>
                  <a:pt x="1068253" y="1234440"/>
                </a:lnTo>
                <a:lnTo>
                  <a:pt x="1058441" y="1240790"/>
                </a:lnTo>
                <a:lnTo>
                  <a:pt x="1048629" y="1246505"/>
                </a:lnTo>
                <a:lnTo>
                  <a:pt x="1038816" y="1251585"/>
                </a:lnTo>
                <a:lnTo>
                  <a:pt x="1033752" y="1253808"/>
                </a:lnTo>
                <a:lnTo>
                  <a:pt x="1028371" y="1256030"/>
                </a:lnTo>
                <a:lnTo>
                  <a:pt x="1023306" y="1257300"/>
                </a:lnTo>
                <a:lnTo>
                  <a:pt x="1018242" y="1258570"/>
                </a:lnTo>
                <a:lnTo>
                  <a:pt x="1013494" y="1259523"/>
                </a:lnTo>
                <a:lnTo>
                  <a:pt x="1008429" y="1260158"/>
                </a:lnTo>
                <a:lnTo>
                  <a:pt x="1003048" y="1260475"/>
                </a:lnTo>
                <a:lnTo>
                  <a:pt x="997984" y="1260158"/>
                </a:lnTo>
                <a:lnTo>
                  <a:pt x="992603" y="1259523"/>
                </a:lnTo>
                <a:lnTo>
                  <a:pt x="987855" y="1258253"/>
                </a:lnTo>
                <a:lnTo>
                  <a:pt x="982790" y="1256665"/>
                </a:lnTo>
                <a:lnTo>
                  <a:pt x="977409" y="1254443"/>
                </a:lnTo>
                <a:lnTo>
                  <a:pt x="972345" y="1251585"/>
                </a:lnTo>
                <a:lnTo>
                  <a:pt x="966964" y="1248093"/>
                </a:lnTo>
                <a:lnTo>
                  <a:pt x="961899" y="1244283"/>
                </a:lnTo>
                <a:lnTo>
                  <a:pt x="956835" y="1239520"/>
                </a:lnTo>
                <a:lnTo>
                  <a:pt x="951454" y="1234123"/>
                </a:lnTo>
                <a:lnTo>
                  <a:pt x="946389" y="1228090"/>
                </a:lnTo>
                <a:lnTo>
                  <a:pt x="941008" y="1221105"/>
                </a:lnTo>
                <a:lnTo>
                  <a:pt x="935943" y="1213485"/>
                </a:lnTo>
                <a:lnTo>
                  <a:pt x="930879" y="1205230"/>
                </a:lnTo>
                <a:lnTo>
                  <a:pt x="925498" y="1196023"/>
                </a:lnTo>
                <a:lnTo>
                  <a:pt x="923915" y="1192530"/>
                </a:lnTo>
                <a:lnTo>
                  <a:pt x="922333" y="1188720"/>
                </a:lnTo>
                <a:lnTo>
                  <a:pt x="921700" y="1184593"/>
                </a:lnTo>
                <a:lnTo>
                  <a:pt x="921067" y="1180783"/>
                </a:lnTo>
                <a:lnTo>
                  <a:pt x="920750" y="1176655"/>
                </a:lnTo>
                <a:lnTo>
                  <a:pt x="921067" y="1172845"/>
                </a:lnTo>
                <a:lnTo>
                  <a:pt x="921700" y="1168400"/>
                </a:lnTo>
                <a:lnTo>
                  <a:pt x="922333" y="1163955"/>
                </a:lnTo>
                <a:lnTo>
                  <a:pt x="923915" y="1159510"/>
                </a:lnTo>
                <a:lnTo>
                  <a:pt x="925181" y="1155065"/>
                </a:lnTo>
                <a:lnTo>
                  <a:pt x="926764" y="1150302"/>
                </a:lnTo>
                <a:lnTo>
                  <a:pt x="928980" y="1145540"/>
                </a:lnTo>
                <a:lnTo>
                  <a:pt x="931512" y="1140777"/>
                </a:lnTo>
                <a:lnTo>
                  <a:pt x="933728" y="1136015"/>
                </a:lnTo>
                <a:lnTo>
                  <a:pt x="939742" y="1126172"/>
                </a:lnTo>
                <a:lnTo>
                  <a:pt x="946389" y="1116330"/>
                </a:lnTo>
                <a:lnTo>
                  <a:pt x="953986" y="1106170"/>
                </a:lnTo>
                <a:lnTo>
                  <a:pt x="962532" y="1096010"/>
                </a:lnTo>
                <a:lnTo>
                  <a:pt x="971078" y="1085850"/>
                </a:lnTo>
                <a:lnTo>
                  <a:pt x="980258" y="1075690"/>
                </a:lnTo>
                <a:lnTo>
                  <a:pt x="981263" y="1074682"/>
                </a:lnTo>
                <a:lnTo>
                  <a:pt x="961294" y="1063855"/>
                </a:lnTo>
                <a:lnTo>
                  <a:pt x="958295" y="1066735"/>
                </a:lnTo>
                <a:lnTo>
                  <a:pt x="950387" y="1074331"/>
                </a:lnTo>
                <a:lnTo>
                  <a:pt x="942480" y="1081610"/>
                </a:lnTo>
                <a:lnTo>
                  <a:pt x="934256" y="1088889"/>
                </a:lnTo>
                <a:lnTo>
                  <a:pt x="926032" y="1095535"/>
                </a:lnTo>
                <a:lnTo>
                  <a:pt x="917808" y="1102181"/>
                </a:lnTo>
                <a:lnTo>
                  <a:pt x="909900" y="1108194"/>
                </a:lnTo>
                <a:lnTo>
                  <a:pt x="901360" y="1113890"/>
                </a:lnTo>
                <a:lnTo>
                  <a:pt x="893452" y="1119270"/>
                </a:lnTo>
                <a:lnTo>
                  <a:pt x="885545" y="1124334"/>
                </a:lnTo>
                <a:lnTo>
                  <a:pt x="877637" y="1128764"/>
                </a:lnTo>
                <a:lnTo>
                  <a:pt x="869413" y="1132562"/>
                </a:lnTo>
                <a:lnTo>
                  <a:pt x="861822" y="1136360"/>
                </a:lnTo>
                <a:lnTo>
                  <a:pt x="854546" y="1139208"/>
                </a:lnTo>
                <a:lnTo>
                  <a:pt x="847271" y="1141740"/>
                </a:lnTo>
                <a:lnTo>
                  <a:pt x="840313" y="1143322"/>
                </a:lnTo>
                <a:lnTo>
                  <a:pt x="833354" y="1144272"/>
                </a:lnTo>
                <a:lnTo>
                  <a:pt x="826712" y="1144588"/>
                </a:lnTo>
                <a:lnTo>
                  <a:pt x="820385" y="1144588"/>
                </a:lnTo>
                <a:lnTo>
                  <a:pt x="814059" y="1143955"/>
                </a:lnTo>
                <a:lnTo>
                  <a:pt x="808049" y="1143322"/>
                </a:lnTo>
                <a:lnTo>
                  <a:pt x="801723" y="1142056"/>
                </a:lnTo>
                <a:lnTo>
                  <a:pt x="795713" y="1140790"/>
                </a:lnTo>
                <a:lnTo>
                  <a:pt x="790020" y="1138575"/>
                </a:lnTo>
                <a:lnTo>
                  <a:pt x="784326" y="1136676"/>
                </a:lnTo>
                <a:lnTo>
                  <a:pt x="778633" y="1134461"/>
                </a:lnTo>
                <a:lnTo>
                  <a:pt x="773256" y="1131929"/>
                </a:lnTo>
                <a:lnTo>
                  <a:pt x="768511" y="1129081"/>
                </a:lnTo>
                <a:lnTo>
                  <a:pt x="763450" y="1125916"/>
                </a:lnTo>
                <a:lnTo>
                  <a:pt x="758706" y="1123068"/>
                </a:lnTo>
                <a:lnTo>
                  <a:pt x="753961" y="1119270"/>
                </a:lnTo>
                <a:lnTo>
                  <a:pt x="750165" y="1115789"/>
                </a:lnTo>
                <a:lnTo>
                  <a:pt x="746053" y="1111991"/>
                </a:lnTo>
                <a:lnTo>
                  <a:pt x="742890" y="1108194"/>
                </a:lnTo>
                <a:lnTo>
                  <a:pt x="739411" y="1103763"/>
                </a:lnTo>
                <a:lnTo>
                  <a:pt x="736564" y="1099332"/>
                </a:lnTo>
                <a:lnTo>
                  <a:pt x="734034" y="1095218"/>
                </a:lnTo>
                <a:lnTo>
                  <a:pt x="731820" y="1090471"/>
                </a:lnTo>
                <a:lnTo>
                  <a:pt x="730238" y="1085724"/>
                </a:lnTo>
                <a:lnTo>
                  <a:pt x="728657" y="1080660"/>
                </a:lnTo>
                <a:lnTo>
                  <a:pt x="727708" y="1076230"/>
                </a:lnTo>
                <a:lnTo>
                  <a:pt x="727391" y="1071166"/>
                </a:lnTo>
                <a:lnTo>
                  <a:pt x="727075" y="1065786"/>
                </a:lnTo>
                <a:lnTo>
                  <a:pt x="727708" y="1060722"/>
                </a:lnTo>
                <a:lnTo>
                  <a:pt x="728657" y="1055659"/>
                </a:lnTo>
                <a:lnTo>
                  <a:pt x="730238" y="1050595"/>
                </a:lnTo>
                <a:lnTo>
                  <a:pt x="732136" y="1045215"/>
                </a:lnTo>
                <a:lnTo>
                  <a:pt x="734666" y="1040152"/>
                </a:lnTo>
                <a:lnTo>
                  <a:pt x="737829" y="1034772"/>
                </a:lnTo>
                <a:lnTo>
                  <a:pt x="741309" y="1029392"/>
                </a:lnTo>
                <a:lnTo>
                  <a:pt x="758389" y="1006922"/>
                </a:lnTo>
                <a:lnTo>
                  <a:pt x="767562" y="994579"/>
                </a:lnTo>
                <a:lnTo>
                  <a:pt x="777368" y="981920"/>
                </a:lnTo>
                <a:lnTo>
                  <a:pt x="788122" y="968628"/>
                </a:lnTo>
                <a:lnTo>
                  <a:pt x="790242" y="966009"/>
                </a:lnTo>
                <a:lnTo>
                  <a:pt x="789233" y="965395"/>
                </a:lnTo>
                <a:lnTo>
                  <a:pt x="776219" y="957145"/>
                </a:lnTo>
                <a:lnTo>
                  <a:pt x="763839" y="949211"/>
                </a:lnTo>
                <a:lnTo>
                  <a:pt x="760189" y="946743"/>
                </a:lnTo>
                <a:lnTo>
                  <a:pt x="757399" y="948372"/>
                </a:lnTo>
                <a:lnTo>
                  <a:pt x="753277" y="949960"/>
                </a:lnTo>
                <a:lnTo>
                  <a:pt x="749473" y="951547"/>
                </a:lnTo>
                <a:lnTo>
                  <a:pt x="745351" y="952817"/>
                </a:lnTo>
                <a:lnTo>
                  <a:pt x="740912" y="954087"/>
                </a:lnTo>
                <a:lnTo>
                  <a:pt x="736473" y="955040"/>
                </a:lnTo>
                <a:lnTo>
                  <a:pt x="732035" y="955357"/>
                </a:lnTo>
                <a:lnTo>
                  <a:pt x="726962" y="955675"/>
                </a:lnTo>
                <a:lnTo>
                  <a:pt x="722206" y="955675"/>
                </a:lnTo>
                <a:lnTo>
                  <a:pt x="717450" y="955040"/>
                </a:lnTo>
                <a:lnTo>
                  <a:pt x="712377" y="954087"/>
                </a:lnTo>
                <a:lnTo>
                  <a:pt x="706987" y="952500"/>
                </a:lnTo>
                <a:lnTo>
                  <a:pt x="701597" y="950912"/>
                </a:lnTo>
                <a:lnTo>
                  <a:pt x="696207" y="948690"/>
                </a:lnTo>
                <a:lnTo>
                  <a:pt x="690817" y="945515"/>
                </a:lnTo>
                <a:lnTo>
                  <a:pt x="685427" y="942340"/>
                </a:lnTo>
                <a:lnTo>
                  <a:pt x="678135" y="936942"/>
                </a:lnTo>
                <a:lnTo>
                  <a:pt x="671477" y="931545"/>
                </a:lnTo>
                <a:lnTo>
                  <a:pt x="666087" y="926147"/>
                </a:lnTo>
                <a:lnTo>
                  <a:pt x="661014" y="920750"/>
                </a:lnTo>
                <a:lnTo>
                  <a:pt x="656892" y="915670"/>
                </a:lnTo>
                <a:lnTo>
                  <a:pt x="653721" y="910272"/>
                </a:lnTo>
                <a:lnTo>
                  <a:pt x="650868" y="904875"/>
                </a:lnTo>
                <a:lnTo>
                  <a:pt x="648966" y="899477"/>
                </a:lnTo>
                <a:lnTo>
                  <a:pt x="647380" y="894080"/>
                </a:lnTo>
                <a:lnTo>
                  <a:pt x="646746" y="889000"/>
                </a:lnTo>
                <a:lnTo>
                  <a:pt x="646112" y="883920"/>
                </a:lnTo>
                <a:lnTo>
                  <a:pt x="646112" y="878522"/>
                </a:lnTo>
                <a:lnTo>
                  <a:pt x="646746" y="873442"/>
                </a:lnTo>
                <a:lnTo>
                  <a:pt x="647380" y="868680"/>
                </a:lnTo>
                <a:lnTo>
                  <a:pt x="648039" y="865599"/>
                </a:lnTo>
                <a:lnTo>
                  <a:pt x="643850" y="862581"/>
                </a:lnTo>
                <a:lnTo>
                  <a:pt x="605442" y="834021"/>
                </a:lnTo>
                <a:lnTo>
                  <a:pt x="588300" y="821011"/>
                </a:lnTo>
                <a:lnTo>
                  <a:pt x="571794" y="808318"/>
                </a:lnTo>
                <a:lnTo>
                  <a:pt x="557192" y="796260"/>
                </a:lnTo>
                <a:lnTo>
                  <a:pt x="543225" y="784836"/>
                </a:lnTo>
                <a:lnTo>
                  <a:pt x="530846" y="774047"/>
                </a:lnTo>
                <a:lnTo>
                  <a:pt x="519736" y="763575"/>
                </a:lnTo>
                <a:lnTo>
                  <a:pt x="509578" y="753738"/>
                </a:lnTo>
                <a:lnTo>
                  <a:pt x="501325" y="744535"/>
                </a:lnTo>
                <a:lnTo>
                  <a:pt x="497516" y="739775"/>
                </a:lnTo>
                <a:lnTo>
                  <a:pt x="494341" y="735650"/>
                </a:lnTo>
                <a:lnTo>
                  <a:pt x="491484" y="731207"/>
                </a:lnTo>
                <a:lnTo>
                  <a:pt x="488627" y="727082"/>
                </a:lnTo>
                <a:lnTo>
                  <a:pt x="486405" y="723274"/>
                </a:lnTo>
                <a:lnTo>
                  <a:pt x="484183" y="719149"/>
                </a:lnTo>
                <a:lnTo>
                  <a:pt x="482596" y="715024"/>
                </a:lnTo>
                <a:lnTo>
                  <a:pt x="481327" y="711533"/>
                </a:lnTo>
                <a:lnTo>
                  <a:pt x="478152" y="699475"/>
                </a:lnTo>
                <a:lnTo>
                  <a:pt x="475613" y="687099"/>
                </a:lnTo>
                <a:lnTo>
                  <a:pt x="473391" y="675040"/>
                </a:lnTo>
                <a:lnTo>
                  <a:pt x="471169" y="662982"/>
                </a:lnTo>
                <a:lnTo>
                  <a:pt x="469899" y="650606"/>
                </a:lnTo>
                <a:lnTo>
                  <a:pt x="468947" y="638865"/>
                </a:lnTo>
                <a:lnTo>
                  <a:pt x="468312" y="626807"/>
                </a:lnTo>
                <a:lnTo>
                  <a:pt x="468312" y="614431"/>
                </a:lnTo>
                <a:lnTo>
                  <a:pt x="468629" y="602372"/>
                </a:lnTo>
                <a:lnTo>
                  <a:pt x="469264" y="589997"/>
                </a:lnTo>
                <a:lnTo>
                  <a:pt x="470217" y="577938"/>
                </a:lnTo>
                <a:lnTo>
                  <a:pt x="471804" y="565562"/>
                </a:lnTo>
                <a:lnTo>
                  <a:pt x="474026" y="553504"/>
                </a:lnTo>
                <a:lnTo>
                  <a:pt x="476248" y="541446"/>
                </a:lnTo>
                <a:lnTo>
                  <a:pt x="479422" y="529704"/>
                </a:lnTo>
                <a:lnTo>
                  <a:pt x="482596" y="517329"/>
                </a:lnTo>
                <a:lnTo>
                  <a:pt x="486405" y="505270"/>
                </a:lnTo>
                <a:lnTo>
                  <a:pt x="490215" y="493212"/>
                </a:lnTo>
                <a:lnTo>
                  <a:pt x="494976" y="481153"/>
                </a:lnTo>
                <a:lnTo>
                  <a:pt x="500055" y="469412"/>
                </a:lnTo>
                <a:lnTo>
                  <a:pt x="505451" y="457354"/>
                </a:lnTo>
                <a:lnTo>
                  <a:pt x="511482" y="445613"/>
                </a:lnTo>
                <a:lnTo>
                  <a:pt x="517831" y="433871"/>
                </a:lnTo>
                <a:lnTo>
                  <a:pt x="524497" y="421813"/>
                </a:lnTo>
                <a:lnTo>
                  <a:pt x="531480" y="410072"/>
                </a:lnTo>
                <a:lnTo>
                  <a:pt x="539099" y="398331"/>
                </a:lnTo>
                <a:lnTo>
                  <a:pt x="547035" y="386590"/>
                </a:lnTo>
                <a:lnTo>
                  <a:pt x="555288" y="375166"/>
                </a:lnTo>
                <a:lnTo>
                  <a:pt x="564176" y="363742"/>
                </a:lnTo>
                <a:lnTo>
                  <a:pt x="573064" y="352001"/>
                </a:lnTo>
                <a:lnTo>
                  <a:pt x="582904" y="340577"/>
                </a:lnTo>
                <a:lnTo>
                  <a:pt x="592744" y="329153"/>
                </a:lnTo>
                <a:lnTo>
                  <a:pt x="608298" y="312970"/>
                </a:lnTo>
                <a:lnTo>
                  <a:pt x="623535" y="297738"/>
                </a:lnTo>
                <a:lnTo>
                  <a:pt x="638454" y="282824"/>
                </a:lnTo>
                <a:lnTo>
                  <a:pt x="653691" y="269496"/>
                </a:lnTo>
                <a:lnTo>
                  <a:pt x="668293" y="256803"/>
                </a:lnTo>
                <a:lnTo>
                  <a:pt x="682577" y="245062"/>
                </a:lnTo>
                <a:lnTo>
                  <a:pt x="695909" y="234590"/>
                </a:lnTo>
                <a:lnTo>
                  <a:pt x="708924" y="224753"/>
                </a:lnTo>
                <a:lnTo>
                  <a:pt x="720668" y="216502"/>
                </a:lnTo>
                <a:lnTo>
                  <a:pt x="731778" y="208886"/>
                </a:lnTo>
                <a:lnTo>
                  <a:pt x="749872" y="196828"/>
                </a:lnTo>
                <a:lnTo>
                  <a:pt x="762252" y="189212"/>
                </a:lnTo>
                <a:lnTo>
                  <a:pt x="767013" y="186039"/>
                </a:lnTo>
                <a:lnTo>
                  <a:pt x="769870" y="184769"/>
                </a:lnTo>
                <a:lnTo>
                  <a:pt x="772727" y="183817"/>
                </a:lnTo>
                <a:lnTo>
                  <a:pt x="775584" y="183183"/>
                </a:lnTo>
                <a:lnTo>
                  <a:pt x="778441" y="182865"/>
                </a:lnTo>
                <a:lnTo>
                  <a:pt x="1214906" y="157162"/>
                </a:lnTo>
                <a:close/>
                <a:moveTo>
                  <a:pt x="2261552" y="58737"/>
                </a:moveTo>
                <a:lnTo>
                  <a:pt x="2505075" y="597852"/>
                </a:lnTo>
                <a:lnTo>
                  <a:pt x="2166937" y="725487"/>
                </a:lnTo>
                <a:lnTo>
                  <a:pt x="2163762" y="705484"/>
                </a:lnTo>
                <a:lnTo>
                  <a:pt x="2160587" y="685799"/>
                </a:lnTo>
                <a:lnTo>
                  <a:pt x="2157095" y="666749"/>
                </a:lnTo>
                <a:lnTo>
                  <a:pt x="2153602" y="647699"/>
                </a:lnTo>
                <a:lnTo>
                  <a:pt x="2149475" y="629284"/>
                </a:lnTo>
                <a:lnTo>
                  <a:pt x="2145030" y="611504"/>
                </a:lnTo>
                <a:lnTo>
                  <a:pt x="2140902" y="594359"/>
                </a:lnTo>
                <a:lnTo>
                  <a:pt x="2136140" y="577214"/>
                </a:lnTo>
                <a:lnTo>
                  <a:pt x="2131060" y="560387"/>
                </a:lnTo>
                <a:lnTo>
                  <a:pt x="2126297" y="544512"/>
                </a:lnTo>
                <a:lnTo>
                  <a:pt x="2121217" y="528954"/>
                </a:lnTo>
                <a:lnTo>
                  <a:pt x="2115820" y="513397"/>
                </a:lnTo>
                <a:lnTo>
                  <a:pt x="2110105" y="498792"/>
                </a:lnTo>
                <a:lnTo>
                  <a:pt x="2104707" y="484187"/>
                </a:lnTo>
                <a:lnTo>
                  <a:pt x="2098675" y="469899"/>
                </a:lnTo>
                <a:lnTo>
                  <a:pt x="2092960" y="456564"/>
                </a:lnTo>
                <a:lnTo>
                  <a:pt x="2086927" y="443229"/>
                </a:lnTo>
                <a:lnTo>
                  <a:pt x="2080577" y="430212"/>
                </a:lnTo>
                <a:lnTo>
                  <a:pt x="2074862" y="417829"/>
                </a:lnTo>
                <a:lnTo>
                  <a:pt x="2068512" y="405764"/>
                </a:lnTo>
                <a:lnTo>
                  <a:pt x="2062162" y="394334"/>
                </a:lnTo>
                <a:lnTo>
                  <a:pt x="2055812" y="382904"/>
                </a:lnTo>
                <a:lnTo>
                  <a:pt x="2049145" y="371792"/>
                </a:lnTo>
                <a:lnTo>
                  <a:pt x="2042795" y="361314"/>
                </a:lnTo>
                <a:lnTo>
                  <a:pt x="2036127" y="350837"/>
                </a:lnTo>
                <a:lnTo>
                  <a:pt x="2029142" y="340994"/>
                </a:lnTo>
                <a:lnTo>
                  <a:pt x="2022792" y="331469"/>
                </a:lnTo>
                <a:lnTo>
                  <a:pt x="2016125" y="321944"/>
                </a:lnTo>
                <a:lnTo>
                  <a:pt x="2002790" y="304799"/>
                </a:lnTo>
                <a:lnTo>
                  <a:pt x="1989772" y="288607"/>
                </a:lnTo>
                <a:lnTo>
                  <a:pt x="1977072" y="273684"/>
                </a:lnTo>
                <a:lnTo>
                  <a:pt x="1964372" y="260349"/>
                </a:lnTo>
                <a:lnTo>
                  <a:pt x="1951990" y="247967"/>
                </a:lnTo>
                <a:lnTo>
                  <a:pt x="1940242" y="236537"/>
                </a:lnTo>
                <a:lnTo>
                  <a:pt x="1928812" y="226377"/>
                </a:lnTo>
                <a:lnTo>
                  <a:pt x="1918017" y="217169"/>
                </a:lnTo>
                <a:lnTo>
                  <a:pt x="1907857" y="209232"/>
                </a:lnTo>
                <a:lnTo>
                  <a:pt x="1898332" y="202247"/>
                </a:lnTo>
                <a:lnTo>
                  <a:pt x="1889760" y="196214"/>
                </a:lnTo>
                <a:lnTo>
                  <a:pt x="1882140" y="191134"/>
                </a:lnTo>
                <a:lnTo>
                  <a:pt x="1875472" y="187007"/>
                </a:lnTo>
                <a:lnTo>
                  <a:pt x="1869757" y="183514"/>
                </a:lnTo>
                <a:lnTo>
                  <a:pt x="1861502" y="179387"/>
                </a:lnTo>
                <a:lnTo>
                  <a:pt x="1858962" y="177799"/>
                </a:lnTo>
                <a:lnTo>
                  <a:pt x="2261552" y="58737"/>
                </a:lnTo>
                <a:close/>
                <a:moveTo>
                  <a:pt x="371173" y="0"/>
                </a:moveTo>
                <a:lnTo>
                  <a:pt x="708025" y="151447"/>
                </a:lnTo>
                <a:lnTo>
                  <a:pt x="701351" y="153352"/>
                </a:lnTo>
                <a:lnTo>
                  <a:pt x="693089" y="155892"/>
                </a:lnTo>
                <a:lnTo>
                  <a:pt x="682284" y="159702"/>
                </a:lnTo>
                <a:lnTo>
                  <a:pt x="668937" y="165100"/>
                </a:lnTo>
                <a:lnTo>
                  <a:pt x="653366" y="172085"/>
                </a:lnTo>
                <a:lnTo>
                  <a:pt x="644468" y="176212"/>
                </a:lnTo>
                <a:lnTo>
                  <a:pt x="635570" y="180657"/>
                </a:lnTo>
                <a:lnTo>
                  <a:pt x="626354" y="186055"/>
                </a:lnTo>
                <a:lnTo>
                  <a:pt x="616185" y="191770"/>
                </a:lnTo>
                <a:lnTo>
                  <a:pt x="606016" y="198120"/>
                </a:lnTo>
                <a:lnTo>
                  <a:pt x="595529" y="204787"/>
                </a:lnTo>
                <a:lnTo>
                  <a:pt x="584724" y="212090"/>
                </a:lnTo>
                <a:lnTo>
                  <a:pt x="573602" y="220345"/>
                </a:lnTo>
                <a:lnTo>
                  <a:pt x="562479" y="228917"/>
                </a:lnTo>
                <a:lnTo>
                  <a:pt x="550721" y="237807"/>
                </a:lnTo>
                <a:lnTo>
                  <a:pt x="538963" y="247967"/>
                </a:lnTo>
                <a:lnTo>
                  <a:pt x="527205" y="258445"/>
                </a:lnTo>
                <a:lnTo>
                  <a:pt x="515129" y="269875"/>
                </a:lnTo>
                <a:lnTo>
                  <a:pt x="503054" y="281940"/>
                </a:lnTo>
                <a:lnTo>
                  <a:pt x="491296" y="294640"/>
                </a:lnTo>
                <a:lnTo>
                  <a:pt x="479220" y="308292"/>
                </a:lnTo>
                <a:lnTo>
                  <a:pt x="467462" y="322580"/>
                </a:lnTo>
                <a:lnTo>
                  <a:pt x="455386" y="337820"/>
                </a:lnTo>
                <a:lnTo>
                  <a:pt x="443628" y="353695"/>
                </a:lnTo>
                <a:lnTo>
                  <a:pt x="431870" y="370840"/>
                </a:lnTo>
                <a:lnTo>
                  <a:pt x="427421" y="378142"/>
                </a:lnTo>
                <a:lnTo>
                  <a:pt x="422654" y="385445"/>
                </a:lnTo>
                <a:lnTo>
                  <a:pt x="418205" y="392747"/>
                </a:lnTo>
                <a:lnTo>
                  <a:pt x="414392" y="400050"/>
                </a:lnTo>
                <a:lnTo>
                  <a:pt x="406447" y="415290"/>
                </a:lnTo>
                <a:lnTo>
                  <a:pt x="399774" y="430530"/>
                </a:lnTo>
                <a:lnTo>
                  <a:pt x="393418" y="446087"/>
                </a:lnTo>
                <a:lnTo>
                  <a:pt x="388015" y="461327"/>
                </a:lnTo>
                <a:lnTo>
                  <a:pt x="383249" y="476567"/>
                </a:lnTo>
                <a:lnTo>
                  <a:pt x="378800" y="492125"/>
                </a:lnTo>
                <a:lnTo>
                  <a:pt x="375304" y="507365"/>
                </a:lnTo>
                <a:lnTo>
                  <a:pt x="371808" y="522287"/>
                </a:lnTo>
                <a:lnTo>
                  <a:pt x="369266" y="537527"/>
                </a:lnTo>
                <a:lnTo>
                  <a:pt x="366724" y="552132"/>
                </a:lnTo>
                <a:lnTo>
                  <a:pt x="365135" y="566737"/>
                </a:lnTo>
                <a:lnTo>
                  <a:pt x="363864" y="581025"/>
                </a:lnTo>
                <a:lnTo>
                  <a:pt x="362910" y="594995"/>
                </a:lnTo>
                <a:lnTo>
                  <a:pt x="362275" y="608330"/>
                </a:lnTo>
                <a:lnTo>
                  <a:pt x="361322" y="621347"/>
                </a:lnTo>
                <a:lnTo>
                  <a:pt x="361322" y="633730"/>
                </a:lnTo>
                <a:lnTo>
                  <a:pt x="361322" y="645795"/>
                </a:lnTo>
                <a:lnTo>
                  <a:pt x="361957" y="656907"/>
                </a:lnTo>
                <a:lnTo>
                  <a:pt x="363228" y="678180"/>
                </a:lnTo>
                <a:lnTo>
                  <a:pt x="364499" y="695642"/>
                </a:lnTo>
                <a:lnTo>
                  <a:pt x="366088" y="710247"/>
                </a:lnTo>
                <a:lnTo>
                  <a:pt x="367359" y="721042"/>
                </a:lnTo>
                <a:lnTo>
                  <a:pt x="369266" y="730250"/>
                </a:lnTo>
                <a:lnTo>
                  <a:pt x="0" y="553720"/>
                </a:lnTo>
                <a:lnTo>
                  <a:pt x="371173"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nvGrpSpPr>
          <p:cNvPr id="10" name="组合 9">
            <a:extLst>
              <a:ext uri="{FF2B5EF4-FFF2-40B4-BE49-F238E27FC236}">
                <a16:creationId xmlns:a16="http://schemas.microsoft.com/office/drawing/2014/main" id="{E0E1FDC1-E120-427C-B649-8899CE6E04C2}"/>
              </a:ext>
            </a:extLst>
          </p:cNvPr>
          <p:cNvGrpSpPr/>
          <p:nvPr/>
        </p:nvGrpSpPr>
        <p:grpSpPr>
          <a:xfrm>
            <a:off x="3445131" y="3344161"/>
            <a:ext cx="6955753" cy="745786"/>
            <a:chOff x="2100158" y="2678523"/>
            <a:chExt cx="6955753" cy="745786"/>
          </a:xfrm>
        </p:grpSpPr>
        <p:sp>
          <p:nvSpPr>
            <p:cNvPr id="11" name="原创设计师QQ598969553        _19">
              <a:extLst>
                <a:ext uri="{FF2B5EF4-FFF2-40B4-BE49-F238E27FC236}">
                  <a16:creationId xmlns:a16="http://schemas.microsoft.com/office/drawing/2014/main" id="{755F5460-53A3-4414-92A2-0ACACD9E9CD0}"/>
                </a:ext>
              </a:extLst>
            </p:cNvPr>
            <p:cNvSpPr/>
            <p:nvPr/>
          </p:nvSpPr>
          <p:spPr>
            <a:xfrm>
              <a:off x="2657931" y="2704734"/>
              <a:ext cx="5025674" cy="629065"/>
            </a:xfrm>
            <a:prstGeom prst="roundRect">
              <a:avLst>
                <a:gd name="adj" fmla="val 50000"/>
              </a:avLst>
            </a:prstGeom>
            <a:solidFill>
              <a:schemeClr val="accent1"/>
            </a:solidFill>
            <a:ln w="12700" cap="flat" cmpd="sng" algn="ctr">
              <a:gradFill flip="none" rotWithShape="1">
                <a:gsLst>
                  <a:gs pos="0">
                    <a:srgbClr val="BE309C">
                      <a:lumMod val="5000"/>
                      <a:lumOff val="95000"/>
                    </a:srgbClr>
                  </a:gs>
                  <a:gs pos="100000">
                    <a:sysClr val="window" lastClr="FFFFFF">
                      <a:lumMod val="65000"/>
                    </a:sysClr>
                  </a:gs>
                </a:gsLst>
                <a:lin ang="13500000" scaled="1"/>
                <a:tileRect/>
              </a:gradFill>
              <a:prstDash val="solid"/>
              <a:miter lim="800000"/>
            </a:ln>
            <a:effectLst>
              <a:innerShdw blurRad="127000" dist="88900" dir="18900000">
                <a:prstClr val="black">
                  <a:alpha val="38000"/>
                </a:prstClr>
              </a:innerShdw>
            </a:effectLst>
          </p:spPr>
          <p:txBody>
            <a:bodyPr anchor="ctr"/>
            <a:lstStyle/>
            <a:p>
              <a:pPr algn="ctr"/>
              <a:endParaRPr lang="zh-CN" altLang="en-US" kern="0">
                <a:solidFill>
                  <a:prstClr val="white"/>
                </a:solidFill>
                <a:latin typeface="Calibri" panose="020F0502020204030204"/>
                <a:ea typeface="宋体" panose="02010600030101010101" pitchFamily="2" charset="-122"/>
              </a:endParaRPr>
            </a:p>
          </p:txBody>
        </p:sp>
        <p:sp>
          <p:nvSpPr>
            <p:cNvPr id="12" name="原创设计师QQ598969553        _20">
              <a:extLst>
                <a:ext uri="{FF2B5EF4-FFF2-40B4-BE49-F238E27FC236}">
                  <a16:creationId xmlns:a16="http://schemas.microsoft.com/office/drawing/2014/main" id="{D5FEF7EA-615B-42F9-B9B2-7C5179ECDC50}"/>
                </a:ext>
              </a:extLst>
            </p:cNvPr>
            <p:cNvSpPr/>
            <p:nvPr/>
          </p:nvSpPr>
          <p:spPr>
            <a:xfrm>
              <a:off x="2100158" y="2688408"/>
              <a:ext cx="6955753" cy="735901"/>
            </a:xfrm>
            <a:prstGeom prst="roundRect">
              <a:avLst>
                <a:gd name="adj" fmla="val 50000"/>
              </a:avLst>
            </a:prstGeom>
            <a:solidFill>
              <a:schemeClr val="bg1">
                <a:lumMod val="85000"/>
              </a:schemeClr>
            </a:solidFill>
            <a:ln w="12700" cap="flat" cmpd="sng" algn="ctr">
              <a:gradFill flip="none" rotWithShape="1">
                <a:gsLst>
                  <a:gs pos="0">
                    <a:srgbClr val="BE309C">
                      <a:lumMod val="5000"/>
                      <a:lumOff val="95000"/>
                    </a:srgbClr>
                  </a:gs>
                  <a:gs pos="100000">
                    <a:sysClr val="window" lastClr="FFFFFF">
                      <a:lumMod val="65000"/>
                    </a:sysClr>
                  </a:gs>
                </a:gsLst>
                <a:lin ang="13500000" scaled="1"/>
                <a:tileRect/>
              </a:gradFill>
              <a:prstDash val="solid"/>
              <a:miter lim="800000"/>
            </a:ln>
            <a:effectLst>
              <a:innerShdw blurRad="127000" dist="88900" dir="18900000">
                <a:prstClr val="black">
                  <a:alpha val="30000"/>
                </a:prstClr>
              </a:innerShdw>
            </a:effectLst>
          </p:spPr>
          <p:txBody>
            <a:bodyPr anchor="ctr"/>
            <a:lstStyle/>
            <a:p>
              <a:pPr algn="ctr"/>
              <a:endParaRPr lang="zh-CN" altLang="en-US" kern="0">
                <a:solidFill>
                  <a:prstClr val="white"/>
                </a:solidFill>
                <a:latin typeface="Calibri" panose="020F0502020204030204"/>
                <a:ea typeface="宋体" panose="02010600030101010101" pitchFamily="2" charset="-122"/>
              </a:endParaRPr>
            </a:p>
          </p:txBody>
        </p:sp>
        <p:sp>
          <p:nvSpPr>
            <p:cNvPr id="13" name="原创设计师QQ598969553        _22">
              <a:extLst>
                <a:ext uri="{FF2B5EF4-FFF2-40B4-BE49-F238E27FC236}">
                  <a16:creationId xmlns:a16="http://schemas.microsoft.com/office/drawing/2014/main" id="{5247A8F5-D185-4779-BFC4-0F3D7DE3908A}"/>
                </a:ext>
              </a:extLst>
            </p:cNvPr>
            <p:cNvSpPr/>
            <p:nvPr/>
          </p:nvSpPr>
          <p:spPr>
            <a:xfrm>
              <a:off x="2100158" y="2678523"/>
              <a:ext cx="826882" cy="681486"/>
            </a:xfrm>
            <a:prstGeom prst="roundRect">
              <a:avLst>
                <a:gd name="adj" fmla="val 50000"/>
              </a:avLst>
            </a:prstGeom>
            <a:gradFill>
              <a:gsLst>
                <a:gs pos="0">
                  <a:schemeClr val="bg1">
                    <a:lumMod val="75000"/>
                  </a:schemeClr>
                </a:gs>
                <a:gs pos="100000">
                  <a:schemeClr val="bg1"/>
                </a:gs>
              </a:gsLst>
              <a:lin ang="2700000" scaled="0"/>
            </a:gradFill>
            <a:ln w="22225">
              <a:gradFill>
                <a:gsLst>
                  <a:gs pos="0">
                    <a:schemeClr val="bg1">
                      <a:lumMod val="65000"/>
                    </a:schemeClr>
                  </a:gs>
                  <a:gs pos="100000">
                    <a:schemeClr val="bg1"/>
                  </a:gs>
                </a:gsLst>
                <a:lin ang="13500000" scaled="0"/>
              </a:gradFill>
            </a:ln>
            <a:effectLst>
              <a:outerShdw blurRad="50800" dist="38100" dir="2700000" sx="97000" sy="97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endParaRPr>
            </a:p>
          </p:txBody>
        </p:sp>
        <p:sp>
          <p:nvSpPr>
            <p:cNvPr id="14" name="原创设计师QQ598969553        _13">
              <a:extLst>
                <a:ext uri="{FF2B5EF4-FFF2-40B4-BE49-F238E27FC236}">
                  <a16:creationId xmlns:a16="http://schemas.microsoft.com/office/drawing/2014/main" id="{347F378C-2B57-46C4-9D79-A585028A27A9}"/>
                </a:ext>
              </a:extLst>
            </p:cNvPr>
            <p:cNvSpPr txBox="1"/>
            <p:nvPr/>
          </p:nvSpPr>
          <p:spPr>
            <a:xfrm>
              <a:off x="2447148" y="2723315"/>
              <a:ext cx="6608763" cy="684793"/>
            </a:xfrm>
            <a:prstGeom prst="rect">
              <a:avLst/>
            </a:prstGeom>
            <a:noFill/>
          </p:spPr>
          <p:txBody>
            <a:bodyPr wrap="square" lIns="68571" tIns="34285" rIns="68571" bIns="34285" rtlCol="0">
              <a:spAutoFit/>
            </a:bodyPr>
            <a:lstStyle/>
            <a:p>
              <a:pPr algn="ctr"/>
              <a:r>
                <a:rPr lang="zh-CN" altLang="en-US" sz="4000" b="1" dirty="0">
                  <a:solidFill>
                    <a:srgbClr val="7030A0"/>
                  </a:solidFill>
                  <a:latin typeface="华文隶书" panose="02010800040101010101" pitchFamily="2" charset="-122"/>
                  <a:ea typeface="华文隶书" panose="02010800040101010101" pitchFamily="2" charset="-122"/>
                </a:rPr>
                <a:t>第</a:t>
              </a:r>
              <a:r>
                <a:rPr lang="en-US" altLang="zh-CN" sz="4000" b="1" dirty="0">
                  <a:solidFill>
                    <a:srgbClr val="7030A0"/>
                  </a:solidFill>
                  <a:latin typeface="华文隶书" panose="02010800040101010101" pitchFamily="2" charset="-122"/>
                  <a:ea typeface="华文隶书" panose="02010800040101010101" pitchFamily="2" charset="-122"/>
                </a:rPr>
                <a:t>7</a:t>
              </a:r>
              <a:r>
                <a:rPr lang="zh-CN" altLang="en-US" sz="4000" b="1" dirty="0">
                  <a:solidFill>
                    <a:srgbClr val="7030A0"/>
                  </a:solidFill>
                  <a:latin typeface="华文隶书" panose="02010800040101010101" pitchFamily="2" charset="-122"/>
                  <a:ea typeface="华文隶书" panose="02010800040101010101" pitchFamily="2" charset="-122"/>
                </a:rPr>
                <a:t>课 软件测试与维护</a:t>
              </a:r>
            </a:p>
          </p:txBody>
        </p:sp>
        <p:pic>
          <p:nvPicPr>
            <p:cNvPr id="15" name="图片 14">
              <a:extLst>
                <a:ext uri="{FF2B5EF4-FFF2-40B4-BE49-F238E27FC236}">
                  <a16:creationId xmlns:a16="http://schemas.microsoft.com/office/drawing/2014/main" id="{C5C62D61-FA80-4DF9-950A-B87918FF228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70939" y="2755343"/>
              <a:ext cx="485319" cy="552398"/>
            </a:xfrm>
            <a:prstGeom prst="rect">
              <a:avLst/>
            </a:prstGeom>
          </p:spPr>
        </p:pic>
      </p:grpSp>
      <p:grpSp>
        <p:nvGrpSpPr>
          <p:cNvPr id="16" name="组合 15">
            <a:extLst>
              <a:ext uri="{FF2B5EF4-FFF2-40B4-BE49-F238E27FC236}">
                <a16:creationId xmlns:a16="http://schemas.microsoft.com/office/drawing/2014/main" id="{A481BBD1-D686-4EC3-87AD-7D475126BDBE}"/>
              </a:ext>
            </a:extLst>
          </p:cNvPr>
          <p:cNvGrpSpPr/>
          <p:nvPr/>
        </p:nvGrpSpPr>
        <p:grpSpPr>
          <a:xfrm>
            <a:off x="1511003" y="1418432"/>
            <a:ext cx="2642554" cy="3244631"/>
            <a:chOff x="-15190" y="877441"/>
            <a:chExt cx="2642554" cy="3244631"/>
          </a:xfrm>
        </p:grpSpPr>
        <p:sp>
          <p:nvSpPr>
            <p:cNvPr id="17" name="原创设计师QQ598969553        _3">
              <a:extLst>
                <a:ext uri="{FF2B5EF4-FFF2-40B4-BE49-F238E27FC236}">
                  <a16:creationId xmlns:a16="http://schemas.microsoft.com/office/drawing/2014/main" id="{D21F1BB3-7D92-4792-9B5C-6AF02EEC39BC}"/>
                </a:ext>
              </a:extLst>
            </p:cNvPr>
            <p:cNvSpPr/>
            <p:nvPr/>
          </p:nvSpPr>
          <p:spPr>
            <a:xfrm>
              <a:off x="-15190" y="1422304"/>
              <a:ext cx="864096" cy="864096"/>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15875">
              <a:gradFill>
                <a:gsLst>
                  <a:gs pos="100000">
                    <a:schemeClr val="bg1">
                      <a:lumMod val="85000"/>
                    </a:schemeClr>
                  </a:gs>
                  <a:gs pos="0">
                    <a:schemeClr val="bg1"/>
                  </a:gs>
                </a:gsLst>
                <a:lin ang="8100000" scaled="0"/>
              </a:grad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18" name="原创设计师QQ598969553        _4">
              <a:extLst>
                <a:ext uri="{FF2B5EF4-FFF2-40B4-BE49-F238E27FC236}">
                  <a16:creationId xmlns:a16="http://schemas.microsoft.com/office/drawing/2014/main" id="{F07AC264-F5E9-4417-9DB7-7271FF35F8A6}"/>
                </a:ext>
              </a:extLst>
            </p:cNvPr>
            <p:cNvSpPr/>
            <p:nvPr/>
          </p:nvSpPr>
          <p:spPr>
            <a:xfrm>
              <a:off x="735038" y="1794195"/>
              <a:ext cx="324000" cy="324000"/>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9525">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19" name="原创设计师QQ598969553        _7">
              <a:extLst>
                <a:ext uri="{FF2B5EF4-FFF2-40B4-BE49-F238E27FC236}">
                  <a16:creationId xmlns:a16="http://schemas.microsoft.com/office/drawing/2014/main" id="{F858090E-9249-4869-B2A5-4F27F7786F63}"/>
                </a:ext>
              </a:extLst>
            </p:cNvPr>
            <p:cNvSpPr/>
            <p:nvPr>
              <p:custDataLst>
                <p:tags r:id="rId6"/>
              </p:custDataLst>
            </p:nvPr>
          </p:nvSpPr>
          <p:spPr>
            <a:xfrm>
              <a:off x="222368" y="2071820"/>
              <a:ext cx="416148" cy="416148"/>
            </a:xfrm>
            <a:prstGeom prst="roundRect">
              <a:avLst/>
            </a:prstGeom>
            <a:solidFill>
              <a:schemeClr val="accent2"/>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1522" tIns="50759" rIns="101522" bIns="50759" anchor="ctr"/>
            <a:lstStyle/>
            <a:p>
              <a:pPr algn="ctr"/>
              <a:endParaRPr lang="en-US">
                <a:solidFill>
                  <a:prstClr val="white"/>
                </a:solidFill>
                <a:sym typeface="+mn-lt"/>
              </a:endParaRPr>
            </a:p>
          </p:txBody>
        </p:sp>
        <p:sp>
          <p:nvSpPr>
            <p:cNvPr id="20" name="原创设计师QQ598969553        _8">
              <a:extLst>
                <a:ext uri="{FF2B5EF4-FFF2-40B4-BE49-F238E27FC236}">
                  <a16:creationId xmlns:a16="http://schemas.microsoft.com/office/drawing/2014/main" id="{5EE3B50E-7617-4265-938B-47B4743E643B}"/>
                </a:ext>
              </a:extLst>
            </p:cNvPr>
            <p:cNvSpPr/>
            <p:nvPr>
              <p:custDataLst>
                <p:tags r:id="rId7"/>
              </p:custDataLst>
            </p:nvPr>
          </p:nvSpPr>
          <p:spPr>
            <a:xfrm>
              <a:off x="1155560" y="2209135"/>
              <a:ext cx="684000" cy="684000"/>
            </a:xfrm>
            <a:prstGeom prst="roundRect">
              <a:avLst/>
            </a:prstGeom>
            <a:solidFill>
              <a:schemeClr val="accent1"/>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1522" tIns="50759" rIns="101522" bIns="50759" anchor="ctr"/>
            <a:lstStyle/>
            <a:p>
              <a:pPr algn="ctr"/>
              <a:endParaRPr lang="en-US">
                <a:solidFill>
                  <a:prstClr val="white"/>
                </a:solidFill>
                <a:sym typeface="+mn-lt"/>
              </a:endParaRPr>
            </a:p>
          </p:txBody>
        </p:sp>
        <p:sp>
          <p:nvSpPr>
            <p:cNvPr id="21" name="原创设计师QQ598969553        _12">
              <a:extLst>
                <a:ext uri="{FF2B5EF4-FFF2-40B4-BE49-F238E27FC236}">
                  <a16:creationId xmlns:a16="http://schemas.microsoft.com/office/drawing/2014/main" id="{6CB8252A-4C38-4CD2-8334-1D8E9A1472F2}"/>
                </a:ext>
              </a:extLst>
            </p:cNvPr>
            <p:cNvSpPr/>
            <p:nvPr/>
          </p:nvSpPr>
          <p:spPr>
            <a:xfrm>
              <a:off x="813930" y="2362959"/>
              <a:ext cx="504000" cy="504000"/>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12700">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22" name="原创设计师QQ598969553        _2">
              <a:extLst>
                <a:ext uri="{FF2B5EF4-FFF2-40B4-BE49-F238E27FC236}">
                  <a16:creationId xmlns:a16="http://schemas.microsoft.com/office/drawing/2014/main" id="{D16CEBF2-91E1-4F03-ADE1-1879CF00D767}"/>
                </a:ext>
              </a:extLst>
            </p:cNvPr>
            <p:cNvSpPr/>
            <p:nvPr>
              <p:custDataLst>
                <p:tags r:id="rId8"/>
              </p:custDataLst>
            </p:nvPr>
          </p:nvSpPr>
          <p:spPr>
            <a:xfrm>
              <a:off x="1742359" y="2238926"/>
              <a:ext cx="468000" cy="468000"/>
            </a:xfrm>
            <a:prstGeom prst="roundRect">
              <a:avLst/>
            </a:prstGeom>
            <a:solidFill>
              <a:schemeClr val="accent2"/>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1522" tIns="50759" rIns="101522" bIns="50759" anchor="ctr"/>
            <a:lstStyle/>
            <a:p>
              <a:pPr algn="ctr"/>
              <a:endParaRPr lang="en-US">
                <a:solidFill>
                  <a:prstClr val="white"/>
                </a:solidFill>
                <a:sym typeface="+mn-lt"/>
              </a:endParaRPr>
            </a:p>
          </p:txBody>
        </p:sp>
        <p:pic>
          <p:nvPicPr>
            <p:cNvPr id="23" name="Picture 2" descr="http://5b0988e595225.cdn.sohucs.com/images/20190219/f3a402494eb0474497152383da61a09f.jpeg">
              <a:extLst>
                <a:ext uri="{FF2B5EF4-FFF2-40B4-BE49-F238E27FC236}">
                  <a16:creationId xmlns:a16="http://schemas.microsoft.com/office/drawing/2014/main" id="{265DA2EA-85A5-4482-97A1-CD0D6517E440}"/>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46954" y="2633908"/>
              <a:ext cx="896391" cy="75487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https://dss1.bdstatic.com/70cFvXSh_Q1YnxGkpoWK1HF6hhy/it/u=3791414560,428814771&amp;fm=26&amp;gp=0.jpg">
              <a:extLst>
                <a:ext uri="{FF2B5EF4-FFF2-40B4-BE49-F238E27FC236}">
                  <a16:creationId xmlns:a16="http://schemas.microsoft.com/office/drawing/2014/main" id="{8384ADAA-AEC8-4922-9A40-3AE155CDEC7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472303" y="1326803"/>
              <a:ext cx="1155061" cy="774970"/>
            </a:xfrm>
            <a:prstGeom prst="rect">
              <a:avLst/>
            </a:prstGeom>
            <a:noFill/>
            <a:extLst>
              <a:ext uri="{909E8E84-426E-40DD-AFC4-6F175D3DCCD1}">
                <a14:hiddenFill xmlns:a14="http://schemas.microsoft.com/office/drawing/2010/main">
                  <a:solidFill>
                    <a:srgbClr val="FFFFFF"/>
                  </a:solidFill>
                </a14:hiddenFill>
              </a:ext>
            </a:extLst>
          </p:spPr>
        </p:pic>
        <p:sp>
          <p:nvSpPr>
            <p:cNvPr id="25" name="原创设计师QQ598969553        _10">
              <a:extLst>
                <a:ext uri="{FF2B5EF4-FFF2-40B4-BE49-F238E27FC236}">
                  <a16:creationId xmlns:a16="http://schemas.microsoft.com/office/drawing/2014/main" id="{FA9BC894-45E9-45E4-BDE3-83F1F9534989}"/>
                </a:ext>
              </a:extLst>
            </p:cNvPr>
            <p:cNvSpPr/>
            <p:nvPr/>
          </p:nvSpPr>
          <p:spPr>
            <a:xfrm>
              <a:off x="537106" y="2969694"/>
              <a:ext cx="1348695" cy="1152378"/>
            </a:xfrm>
            <a:prstGeom prst="round2DiagRect">
              <a:avLst/>
            </a:prstGeom>
            <a:gradFill flip="none" rotWithShape="1">
              <a:gsLst>
                <a:gs pos="50000">
                  <a:schemeClr val="bg1">
                    <a:lumMod val="95000"/>
                  </a:schemeClr>
                </a:gs>
                <a:gs pos="100000">
                  <a:schemeClr val="bg1">
                    <a:lumMod val="75000"/>
                  </a:schemeClr>
                </a:gs>
                <a:gs pos="0">
                  <a:schemeClr val="bg1"/>
                </a:gs>
              </a:gsLst>
              <a:lin ang="18900000" scaled="0"/>
              <a:tileRect/>
            </a:gradFill>
            <a:ln w="22225">
              <a:gradFill>
                <a:gsLst>
                  <a:gs pos="100000">
                    <a:schemeClr val="bg1">
                      <a:lumMod val="85000"/>
                    </a:schemeClr>
                  </a:gs>
                  <a:gs pos="0">
                    <a:schemeClr val="bg1"/>
                  </a:gs>
                </a:gsLst>
                <a:lin ang="8100000" scaled="0"/>
              </a:grad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26" name="Rectangle 4">
              <a:extLst>
                <a:ext uri="{FF2B5EF4-FFF2-40B4-BE49-F238E27FC236}">
                  <a16:creationId xmlns:a16="http://schemas.microsoft.com/office/drawing/2014/main" id="{6ADFE7F2-8C62-4193-BC46-722296806DFE}"/>
                </a:ext>
              </a:extLst>
            </p:cNvPr>
            <p:cNvSpPr/>
            <p:nvPr/>
          </p:nvSpPr>
          <p:spPr>
            <a:xfrm>
              <a:off x="952379" y="877441"/>
              <a:ext cx="652837" cy="840195"/>
            </a:xfrm>
            <a:prstGeom prst="rect">
              <a:avLst/>
            </a:prstGeom>
            <a:blipFill dpi="0" rotWithShape="1">
              <a:blip r:embed="rId1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原创设计师QQ598969553        _5">
              <a:extLst>
                <a:ext uri="{FF2B5EF4-FFF2-40B4-BE49-F238E27FC236}">
                  <a16:creationId xmlns:a16="http://schemas.microsoft.com/office/drawing/2014/main" id="{0E723D06-8B38-4C39-BDFC-806C30CFC290}"/>
                </a:ext>
              </a:extLst>
            </p:cNvPr>
            <p:cNvSpPr/>
            <p:nvPr/>
          </p:nvSpPr>
          <p:spPr>
            <a:xfrm>
              <a:off x="1083067" y="1517962"/>
              <a:ext cx="396000" cy="396000"/>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9525">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28" name="原创设计师QQ598969553        _17">
              <a:extLst>
                <a:ext uri="{FF2B5EF4-FFF2-40B4-BE49-F238E27FC236}">
                  <a16:creationId xmlns:a16="http://schemas.microsoft.com/office/drawing/2014/main" id="{0B79FCC7-58B3-4D3C-8EFC-3FD50D90C640}"/>
                </a:ext>
              </a:extLst>
            </p:cNvPr>
            <p:cNvSpPr/>
            <p:nvPr/>
          </p:nvSpPr>
          <p:spPr>
            <a:xfrm>
              <a:off x="1737313" y="1192612"/>
              <a:ext cx="324000" cy="324000"/>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9525">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grpSp>
      <p:pic>
        <p:nvPicPr>
          <p:cNvPr id="29" name="原创设计师QQ598969553        _23">
            <a:extLst>
              <a:ext uri="{FF2B5EF4-FFF2-40B4-BE49-F238E27FC236}">
                <a16:creationId xmlns:a16="http://schemas.microsoft.com/office/drawing/2014/main" id="{95981B6D-1655-4548-9E5F-6625D6FDCBD8}"/>
              </a:ext>
            </a:extLst>
          </p:cNvPr>
          <p:cNvPicPr>
            <a:picLocks noChangeAspect="1"/>
          </p:cNvPicPr>
          <p:nvPr/>
        </p:nvPicPr>
        <p:blipFill>
          <a:blip r:embed="rId15">
            <a:extLst>
              <a:ext uri="{28A0092B-C50C-407E-A947-70E740481C1C}">
                <a14:useLocalDpi xmlns:a14="http://schemas.microsoft.com/office/drawing/2010/main"/>
              </a:ext>
            </a:extLst>
          </a:blip>
          <a:stretch>
            <a:fillRect/>
          </a:stretch>
        </p:blipFill>
        <p:spPr>
          <a:xfrm>
            <a:off x="3744267" y="3697180"/>
            <a:ext cx="928570" cy="2652149"/>
          </a:xfrm>
          <a:prstGeom prst="rect">
            <a:avLst/>
          </a:prstGeom>
        </p:spPr>
      </p:pic>
    </p:spTree>
    <p:extLst>
      <p:ext uri="{BB962C8B-B14F-4D97-AF65-F5344CB8AC3E}">
        <p14:creationId xmlns:p14="http://schemas.microsoft.com/office/powerpoint/2010/main" val="2969288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D5E03F60-B630-479D-9C3A-3BB1513BDE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564" y="1673913"/>
            <a:ext cx="2377834" cy="4856464"/>
          </a:xfrm>
          <a:prstGeom prst="rect">
            <a:avLst/>
          </a:prstGeom>
          <a:solidFill>
            <a:srgbClr val="7030A0"/>
          </a:solidFill>
          <a:ln>
            <a:noFill/>
          </a:ln>
        </p:spPr>
      </p:pic>
      <p:grpSp>
        <p:nvGrpSpPr>
          <p:cNvPr id="3" name="组合 2">
            <a:extLst>
              <a:ext uri="{FF2B5EF4-FFF2-40B4-BE49-F238E27FC236}">
                <a16:creationId xmlns:a16="http://schemas.microsoft.com/office/drawing/2014/main" id="{D8A8BCF1-A498-4C88-89FA-DD76198F1D3F}"/>
              </a:ext>
            </a:extLst>
          </p:cNvPr>
          <p:cNvGrpSpPr/>
          <p:nvPr/>
        </p:nvGrpSpPr>
        <p:grpSpPr>
          <a:xfrm>
            <a:off x="2462209" y="1803783"/>
            <a:ext cx="1608190" cy="1498822"/>
            <a:chOff x="346473" y="496025"/>
            <a:chExt cx="1344215" cy="1252800"/>
          </a:xfrm>
          <a:solidFill>
            <a:srgbClr val="7030A0"/>
          </a:solidFill>
        </p:grpSpPr>
        <p:sp>
          <p:nvSpPr>
            <p:cNvPr id="4" name="六边形 19">
              <a:extLst>
                <a:ext uri="{FF2B5EF4-FFF2-40B4-BE49-F238E27FC236}">
                  <a16:creationId xmlns:a16="http://schemas.microsoft.com/office/drawing/2014/main" id="{10BB8837-7285-4903-86F6-7FCCE2177250}"/>
                </a:ext>
              </a:extLst>
            </p:cNvPr>
            <p:cNvSpPr>
              <a:spLocks noChangeArrowheads="1"/>
            </p:cNvSpPr>
            <p:nvPr/>
          </p:nvSpPr>
          <p:spPr bwMode="auto">
            <a:xfrm rot="16200000">
              <a:off x="392180" y="496751"/>
              <a:ext cx="1252800" cy="1251347"/>
            </a:xfrm>
            <a:prstGeom prst="chord">
              <a:avLst>
                <a:gd name="adj1" fmla="val 21039823"/>
                <a:gd name="adj2" fmla="val 16726182"/>
              </a:avLst>
            </a:prstGeom>
            <a:grp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5" name="矩形 24">
              <a:extLst>
                <a:ext uri="{FF2B5EF4-FFF2-40B4-BE49-F238E27FC236}">
                  <a16:creationId xmlns:a16="http://schemas.microsoft.com/office/drawing/2014/main" id="{E804ABEF-8E9F-4247-A2F1-56692111349E}"/>
                </a:ext>
              </a:extLst>
            </p:cNvPr>
            <p:cNvSpPr>
              <a:spLocks noChangeArrowheads="1"/>
            </p:cNvSpPr>
            <p:nvPr/>
          </p:nvSpPr>
          <p:spPr bwMode="auto">
            <a:xfrm>
              <a:off x="346473" y="846473"/>
              <a:ext cx="1344215" cy="544367"/>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grpSp>
      <p:sp>
        <p:nvSpPr>
          <p:cNvPr id="6" name="TextBox 4">
            <a:extLst>
              <a:ext uri="{FF2B5EF4-FFF2-40B4-BE49-F238E27FC236}">
                <a16:creationId xmlns:a16="http://schemas.microsoft.com/office/drawing/2014/main" id="{7B4E60B7-D1B2-47A8-81D2-FC9AD42D6A90}"/>
              </a:ext>
            </a:extLst>
          </p:cNvPr>
          <p:cNvSpPr txBox="1"/>
          <p:nvPr/>
        </p:nvSpPr>
        <p:spPr>
          <a:xfrm>
            <a:off x="7393971" y="414330"/>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sp>
        <p:nvSpPr>
          <p:cNvPr id="7" name="任意多边形 25">
            <a:extLst>
              <a:ext uri="{FF2B5EF4-FFF2-40B4-BE49-F238E27FC236}">
                <a16:creationId xmlns:a16="http://schemas.microsoft.com/office/drawing/2014/main" id="{51FEDE68-D6F2-4A23-AA9F-DAE30EBE72CE}"/>
              </a:ext>
            </a:extLst>
          </p:cNvPr>
          <p:cNvSpPr/>
          <p:nvPr/>
        </p:nvSpPr>
        <p:spPr bwMode="auto">
          <a:xfrm rot="8100000" flipV="1">
            <a:off x="4495140" y="1754764"/>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8" name="文本框 7">
            <a:extLst>
              <a:ext uri="{FF2B5EF4-FFF2-40B4-BE49-F238E27FC236}">
                <a16:creationId xmlns:a16="http://schemas.microsoft.com/office/drawing/2014/main" id="{31769260-6A1F-4870-B924-0AE442E0BF9D}"/>
              </a:ext>
            </a:extLst>
          </p:cNvPr>
          <p:cNvSpPr txBox="1">
            <a:spLocks noChangeArrowheads="1"/>
          </p:cNvSpPr>
          <p:nvPr/>
        </p:nvSpPr>
        <p:spPr bwMode="auto">
          <a:xfrm>
            <a:off x="4571013" y="1790665"/>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9" name="任意多边形 29">
            <a:extLst>
              <a:ext uri="{FF2B5EF4-FFF2-40B4-BE49-F238E27FC236}">
                <a16:creationId xmlns:a16="http://schemas.microsoft.com/office/drawing/2014/main" id="{6D906C99-10BB-4164-A802-A923ABAE8F94}"/>
              </a:ext>
            </a:extLst>
          </p:cNvPr>
          <p:cNvSpPr/>
          <p:nvPr/>
        </p:nvSpPr>
        <p:spPr bwMode="auto">
          <a:xfrm rot="8100000" flipV="1">
            <a:off x="4473538" y="5937389"/>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0" name="文本框 42">
            <a:extLst>
              <a:ext uri="{FF2B5EF4-FFF2-40B4-BE49-F238E27FC236}">
                <a16:creationId xmlns:a16="http://schemas.microsoft.com/office/drawing/2014/main" id="{1321A226-2E38-4907-96DC-4BCBA3DE7D62}"/>
              </a:ext>
            </a:extLst>
          </p:cNvPr>
          <p:cNvSpPr txBox="1">
            <a:spLocks noChangeArrowheads="1"/>
          </p:cNvSpPr>
          <p:nvPr/>
        </p:nvSpPr>
        <p:spPr bwMode="auto">
          <a:xfrm>
            <a:off x="4531121" y="5982147"/>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11" name="任意多边形 31">
            <a:extLst>
              <a:ext uri="{FF2B5EF4-FFF2-40B4-BE49-F238E27FC236}">
                <a16:creationId xmlns:a16="http://schemas.microsoft.com/office/drawing/2014/main" id="{D5D3BA53-612E-4B0A-91AA-EE71F0931C0C}"/>
              </a:ext>
            </a:extLst>
          </p:cNvPr>
          <p:cNvSpPr/>
          <p:nvPr/>
        </p:nvSpPr>
        <p:spPr bwMode="auto">
          <a:xfrm rot="8100000" flipV="1">
            <a:off x="4473026" y="4936896"/>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2" name="文本框 45">
            <a:extLst>
              <a:ext uri="{FF2B5EF4-FFF2-40B4-BE49-F238E27FC236}">
                <a16:creationId xmlns:a16="http://schemas.microsoft.com/office/drawing/2014/main" id="{206E79CB-EE75-47E8-9BCC-B9D01C2845E1}"/>
              </a:ext>
            </a:extLst>
          </p:cNvPr>
          <p:cNvSpPr txBox="1">
            <a:spLocks noChangeArrowheads="1"/>
          </p:cNvSpPr>
          <p:nvPr/>
        </p:nvSpPr>
        <p:spPr bwMode="auto">
          <a:xfrm>
            <a:off x="4530609" y="4938381"/>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13" name="任意多边形 33">
            <a:extLst>
              <a:ext uri="{FF2B5EF4-FFF2-40B4-BE49-F238E27FC236}">
                <a16:creationId xmlns:a16="http://schemas.microsoft.com/office/drawing/2014/main" id="{54A910A8-F4D0-48A9-9C4E-0CF4B7288495}"/>
              </a:ext>
            </a:extLst>
          </p:cNvPr>
          <p:cNvSpPr/>
          <p:nvPr/>
        </p:nvSpPr>
        <p:spPr bwMode="auto">
          <a:xfrm rot="8100000" flipV="1">
            <a:off x="4472387" y="3883763"/>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4" name="文本框 48">
            <a:extLst>
              <a:ext uri="{FF2B5EF4-FFF2-40B4-BE49-F238E27FC236}">
                <a16:creationId xmlns:a16="http://schemas.microsoft.com/office/drawing/2014/main" id="{C92AB1F2-96BC-48D9-8BC8-28CAE8E29A58}"/>
              </a:ext>
            </a:extLst>
          </p:cNvPr>
          <p:cNvSpPr txBox="1">
            <a:spLocks noChangeArrowheads="1"/>
          </p:cNvSpPr>
          <p:nvPr/>
        </p:nvSpPr>
        <p:spPr bwMode="auto">
          <a:xfrm>
            <a:off x="4530591" y="3925799"/>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15" name="圆角矩形 35">
            <a:extLst>
              <a:ext uri="{FF2B5EF4-FFF2-40B4-BE49-F238E27FC236}">
                <a16:creationId xmlns:a16="http://schemas.microsoft.com/office/drawing/2014/main" id="{0C0936E5-6ED0-446E-A085-5B4A8921ED00}"/>
              </a:ext>
            </a:extLst>
          </p:cNvPr>
          <p:cNvSpPr/>
          <p:nvPr/>
        </p:nvSpPr>
        <p:spPr>
          <a:xfrm>
            <a:off x="5594098" y="3857666"/>
            <a:ext cx="4371738" cy="563692"/>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en-US" altLang="zh-CN" sz="2000" b="1" kern="100" dirty="0">
                <a:solidFill>
                  <a:schemeClr val="bg1"/>
                </a:solidFill>
                <a:latin typeface="+mj-ea"/>
                <a:ea typeface="+mj-ea"/>
                <a:cs typeface="Times New Roman" panose="02020603050405020304" pitchFamily="18" charset="0"/>
              </a:rPr>
              <a:t>Google</a:t>
            </a:r>
            <a:r>
              <a:rPr lang="zh-CN" altLang="en-US" sz="2000" b="1" kern="100" dirty="0">
                <a:solidFill>
                  <a:schemeClr val="bg1"/>
                </a:solidFill>
                <a:latin typeface="+mj-ea"/>
                <a:ea typeface="+mj-ea"/>
                <a:cs typeface="Times New Roman" panose="02020603050405020304" pitchFamily="18" charset="0"/>
              </a:rPr>
              <a:t>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体会现实</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6" name="圆角矩形 36">
            <a:extLst>
              <a:ext uri="{FF2B5EF4-FFF2-40B4-BE49-F238E27FC236}">
                <a16:creationId xmlns:a16="http://schemas.microsoft.com/office/drawing/2014/main" id="{0DDA4C80-1852-4835-98B7-464EF27E1871}"/>
              </a:ext>
            </a:extLst>
          </p:cNvPr>
          <p:cNvSpPr/>
          <p:nvPr/>
        </p:nvSpPr>
        <p:spPr>
          <a:xfrm>
            <a:off x="5594098" y="4891112"/>
            <a:ext cx="4372249" cy="553734"/>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软件测试那些事</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7" name="圆角矩形 37">
            <a:extLst>
              <a:ext uri="{FF2B5EF4-FFF2-40B4-BE49-F238E27FC236}">
                <a16:creationId xmlns:a16="http://schemas.microsoft.com/office/drawing/2014/main" id="{41B4DB51-DDC7-4E6B-A091-79A4E0B42B8E}"/>
              </a:ext>
            </a:extLst>
          </p:cNvPr>
          <p:cNvSpPr/>
          <p:nvPr/>
        </p:nvSpPr>
        <p:spPr>
          <a:xfrm>
            <a:off x="5594610" y="5864250"/>
            <a:ext cx="4371737" cy="565386"/>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ea typeface="+mj-ea"/>
                <a:cs typeface="Times New Roman" panose="02020603050405020304" pitchFamily="18" charset="0"/>
              </a:rPr>
              <a:t>软件测试与维护</a:t>
            </a:r>
            <a:endParaRPr lang="zh-CN" altLang="en-US" sz="2000" dirty="0">
              <a:solidFill>
                <a:schemeClr val="bg1"/>
              </a:solidFill>
              <a:latin typeface="+mj-ea"/>
              <a:ea typeface="+mj-ea"/>
              <a:cs typeface="Arial Unicode MS" panose="020B0604020202020204" pitchFamily="34" charset="-122"/>
            </a:endParaRPr>
          </a:p>
        </p:txBody>
      </p:sp>
      <p:sp>
        <p:nvSpPr>
          <p:cNvPr id="18" name="圆角矩形 38">
            <a:extLst>
              <a:ext uri="{FF2B5EF4-FFF2-40B4-BE49-F238E27FC236}">
                <a16:creationId xmlns:a16="http://schemas.microsoft.com/office/drawing/2014/main" id="{347B6E3C-B2F7-405A-B808-BC22054181BA}"/>
              </a:ext>
            </a:extLst>
          </p:cNvPr>
          <p:cNvSpPr/>
          <p:nvPr/>
        </p:nvSpPr>
        <p:spPr>
          <a:xfrm>
            <a:off x="5616849" y="1728718"/>
            <a:ext cx="4349498" cy="563692"/>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ea typeface="+mj-ea"/>
                <a:cs typeface="Times New Roman" panose="02020603050405020304" pitchFamily="18" charset="0"/>
              </a:rPr>
              <a:t>项目质量管理与软件测试维护</a:t>
            </a:r>
            <a:endParaRPr lang="zh-CN" altLang="en-US" sz="2000" dirty="0">
              <a:solidFill>
                <a:schemeClr val="bg1"/>
              </a:solidFill>
              <a:latin typeface="+mj-ea"/>
              <a:ea typeface="+mj-ea"/>
              <a:cs typeface="Arial Unicode MS" panose="020B0604020202020204" pitchFamily="34" charset="-122"/>
            </a:endParaRPr>
          </a:p>
        </p:txBody>
      </p:sp>
      <p:sp>
        <p:nvSpPr>
          <p:cNvPr id="19" name="任意多边形 39">
            <a:extLst>
              <a:ext uri="{FF2B5EF4-FFF2-40B4-BE49-F238E27FC236}">
                <a16:creationId xmlns:a16="http://schemas.microsoft.com/office/drawing/2014/main" id="{BA4D9687-DFD2-4E14-8873-87DE18BDD75E}"/>
              </a:ext>
            </a:extLst>
          </p:cNvPr>
          <p:cNvSpPr/>
          <p:nvPr/>
        </p:nvSpPr>
        <p:spPr bwMode="auto">
          <a:xfrm rot="8100000" flipV="1">
            <a:off x="4495138" y="2781432"/>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0" name="文本框 48">
            <a:extLst>
              <a:ext uri="{FF2B5EF4-FFF2-40B4-BE49-F238E27FC236}">
                <a16:creationId xmlns:a16="http://schemas.microsoft.com/office/drawing/2014/main" id="{C6AA3151-8E98-4D6A-BDDE-6D51A1BA6498}"/>
              </a:ext>
            </a:extLst>
          </p:cNvPr>
          <p:cNvSpPr txBox="1">
            <a:spLocks noChangeArrowheads="1"/>
          </p:cNvSpPr>
          <p:nvPr/>
        </p:nvSpPr>
        <p:spPr bwMode="auto">
          <a:xfrm>
            <a:off x="4553342" y="2823468"/>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21" name="圆角矩形 41">
            <a:extLst>
              <a:ext uri="{FF2B5EF4-FFF2-40B4-BE49-F238E27FC236}">
                <a16:creationId xmlns:a16="http://schemas.microsoft.com/office/drawing/2014/main" id="{754A4B01-499A-464B-896E-65970A5562C1}"/>
              </a:ext>
            </a:extLst>
          </p:cNvPr>
          <p:cNvSpPr/>
          <p:nvPr/>
        </p:nvSpPr>
        <p:spPr>
          <a:xfrm>
            <a:off x="5616849" y="2755335"/>
            <a:ext cx="4371738" cy="563692"/>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微软软件测试之道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追寻经典</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Tree>
    <p:extLst>
      <p:ext uri="{BB962C8B-B14F-4D97-AF65-F5344CB8AC3E}">
        <p14:creationId xmlns:p14="http://schemas.microsoft.com/office/powerpoint/2010/main" val="2129716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4D3C76F4-3FF8-4EC8-92EE-9AB2FF5203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8950" y="1648746"/>
            <a:ext cx="2377834" cy="4856464"/>
          </a:xfrm>
          <a:prstGeom prst="rect">
            <a:avLst/>
          </a:prstGeom>
          <a:solidFill>
            <a:srgbClr val="7030A0"/>
          </a:solidFill>
          <a:ln>
            <a:noFill/>
          </a:ln>
        </p:spPr>
      </p:pic>
      <p:grpSp>
        <p:nvGrpSpPr>
          <p:cNvPr id="3" name="组合 2">
            <a:extLst>
              <a:ext uri="{FF2B5EF4-FFF2-40B4-BE49-F238E27FC236}">
                <a16:creationId xmlns:a16="http://schemas.microsoft.com/office/drawing/2014/main" id="{E37C2E4F-B159-4809-A3B5-DDD3721B4258}"/>
              </a:ext>
            </a:extLst>
          </p:cNvPr>
          <p:cNvGrpSpPr/>
          <p:nvPr/>
        </p:nvGrpSpPr>
        <p:grpSpPr>
          <a:xfrm>
            <a:off x="2168595" y="1778616"/>
            <a:ext cx="1608190" cy="1498822"/>
            <a:chOff x="346473" y="496025"/>
            <a:chExt cx="1344215" cy="1252800"/>
          </a:xfrm>
          <a:solidFill>
            <a:srgbClr val="7030A0"/>
          </a:solidFill>
        </p:grpSpPr>
        <p:sp>
          <p:nvSpPr>
            <p:cNvPr id="4" name="六边形 19">
              <a:extLst>
                <a:ext uri="{FF2B5EF4-FFF2-40B4-BE49-F238E27FC236}">
                  <a16:creationId xmlns:a16="http://schemas.microsoft.com/office/drawing/2014/main" id="{FA97A0EC-D431-4578-87ED-C97A8A7047E9}"/>
                </a:ext>
              </a:extLst>
            </p:cNvPr>
            <p:cNvSpPr>
              <a:spLocks noChangeArrowheads="1"/>
            </p:cNvSpPr>
            <p:nvPr/>
          </p:nvSpPr>
          <p:spPr bwMode="auto">
            <a:xfrm rot="16200000">
              <a:off x="392180" y="496751"/>
              <a:ext cx="1252800" cy="1251347"/>
            </a:xfrm>
            <a:prstGeom prst="chord">
              <a:avLst>
                <a:gd name="adj1" fmla="val 21039823"/>
                <a:gd name="adj2" fmla="val 16726182"/>
              </a:avLst>
            </a:prstGeom>
            <a:grp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5" name="矩形 24">
              <a:extLst>
                <a:ext uri="{FF2B5EF4-FFF2-40B4-BE49-F238E27FC236}">
                  <a16:creationId xmlns:a16="http://schemas.microsoft.com/office/drawing/2014/main" id="{539A9038-FCBF-434A-98BC-3FA08E0A1A45}"/>
                </a:ext>
              </a:extLst>
            </p:cNvPr>
            <p:cNvSpPr>
              <a:spLocks noChangeArrowheads="1"/>
            </p:cNvSpPr>
            <p:nvPr/>
          </p:nvSpPr>
          <p:spPr bwMode="auto">
            <a:xfrm>
              <a:off x="346473" y="846473"/>
              <a:ext cx="1344215" cy="544367"/>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grpSp>
      <p:sp>
        <p:nvSpPr>
          <p:cNvPr id="6" name="TextBox 4">
            <a:extLst>
              <a:ext uri="{FF2B5EF4-FFF2-40B4-BE49-F238E27FC236}">
                <a16:creationId xmlns:a16="http://schemas.microsoft.com/office/drawing/2014/main" id="{9BE94F26-B5E7-4234-A90A-886FBA8E3C40}"/>
              </a:ext>
            </a:extLst>
          </p:cNvPr>
          <p:cNvSpPr txBox="1"/>
          <p:nvPr/>
        </p:nvSpPr>
        <p:spPr>
          <a:xfrm>
            <a:off x="7100357" y="389163"/>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sp>
        <p:nvSpPr>
          <p:cNvPr id="7" name="任意多边形 26">
            <a:extLst>
              <a:ext uri="{FF2B5EF4-FFF2-40B4-BE49-F238E27FC236}">
                <a16:creationId xmlns:a16="http://schemas.microsoft.com/office/drawing/2014/main" id="{359B843C-5FE3-4D0D-B6C4-1DA43F52F4B2}"/>
              </a:ext>
            </a:extLst>
          </p:cNvPr>
          <p:cNvSpPr/>
          <p:nvPr/>
        </p:nvSpPr>
        <p:spPr bwMode="auto">
          <a:xfrm rot="8100000" flipV="1">
            <a:off x="4201526" y="1729597"/>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8" name="文本框 7">
            <a:extLst>
              <a:ext uri="{FF2B5EF4-FFF2-40B4-BE49-F238E27FC236}">
                <a16:creationId xmlns:a16="http://schemas.microsoft.com/office/drawing/2014/main" id="{65FC3B15-4E91-471A-A715-71183C9D6CE4}"/>
              </a:ext>
            </a:extLst>
          </p:cNvPr>
          <p:cNvSpPr txBox="1">
            <a:spLocks noChangeArrowheads="1"/>
          </p:cNvSpPr>
          <p:nvPr/>
        </p:nvSpPr>
        <p:spPr bwMode="auto">
          <a:xfrm>
            <a:off x="4277399" y="1765498"/>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9" name="任意多边形 28">
            <a:extLst>
              <a:ext uri="{FF2B5EF4-FFF2-40B4-BE49-F238E27FC236}">
                <a16:creationId xmlns:a16="http://schemas.microsoft.com/office/drawing/2014/main" id="{0D8DFCAE-5C24-486E-9763-10BA201B3AF5}"/>
              </a:ext>
            </a:extLst>
          </p:cNvPr>
          <p:cNvSpPr/>
          <p:nvPr/>
        </p:nvSpPr>
        <p:spPr bwMode="auto">
          <a:xfrm rot="8100000" flipV="1">
            <a:off x="4179924" y="5912222"/>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0" name="文本框 42">
            <a:extLst>
              <a:ext uri="{FF2B5EF4-FFF2-40B4-BE49-F238E27FC236}">
                <a16:creationId xmlns:a16="http://schemas.microsoft.com/office/drawing/2014/main" id="{A44D8E39-05AF-46BD-BF7A-78315B4A60EC}"/>
              </a:ext>
            </a:extLst>
          </p:cNvPr>
          <p:cNvSpPr txBox="1">
            <a:spLocks noChangeArrowheads="1"/>
          </p:cNvSpPr>
          <p:nvPr/>
        </p:nvSpPr>
        <p:spPr bwMode="auto">
          <a:xfrm>
            <a:off x="4237507" y="5956980"/>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11" name="任意多边形 30">
            <a:extLst>
              <a:ext uri="{FF2B5EF4-FFF2-40B4-BE49-F238E27FC236}">
                <a16:creationId xmlns:a16="http://schemas.microsoft.com/office/drawing/2014/main" id="{BA5591D5-45BD-4394-8A8F-730A6963476B}"/>
              </a:ext>
            </a:extLst>
          </p:cNvPr>
          <p:cNvSpPr/>
          <p:nvPr/>
        </p:nvSpPr>
        <p:spPr bwMode="auto">
          <a:xfrm rot="8100000" flipV="1">
            <a:off x="4179412" y="4911729"/>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2" name="文本框 45">
            <a:extLst>
              <a:ext uri="{FF2B5EF4-FFF2-40B4-BE49-F238E27FC236}">
                <a16:creationId xmlns:a16="http://schemas.microsoft.com/office/drawing/2014/main" id="{94A5F911-A800-4A57-9CA9-F57988875D95}"/>
              </a:ext>
            </a:extLst>
          </p:cNvPr>
          <p:cNvSpPr txBox="1">
            <a:spLocks noChangeArrowheads="1"/>
          </p:cNvSpPr>
          <p:nvPr/>
        </p:nvSpPr>
        <p:spPr bwMode="auto">
          <a:xfrm>
            <a:off x="4236995" y="4913214"/>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13" name="任意多边形 32">
            <a:extLst>
              <a:ext uri="{FF2B5EF4-FFF2-40B4-BE49-F238E27FC236}">
                <a16:creationId xmlns:a16="http://schemas.microsoft.com/office/drawing/2014/main" id="{5A6C3011-DF72-4755-B3E1-47A36BE176BD}"/>
              </a:ext>
            </a:extLst>
          </p:cNvPr>
          <p:cNvSpPr/>
          <p:nvPr/>
        </p:nvSpPr>
        <p:spPr bwMode="auto">
          <a:xfrm rot="8100000" flipV="1">
            <a:off x="4178773" y="3858596"/>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4" name="文本框 48">
            <a:extLst>
              <a:ext uri="{FF2B5EF4-FFF2-40B4-BE49-F238E27FC236}">
                <a16:creationId xmlns:a16="http://schemas.microsoft.com/office/drawing/2014/main" id="{6F3DE865-6B03-402A-A748-62D48F53C5C8}"/>
              </a:ext>
            </a:extLst>
          </p:cNvPr>
          <p:cNvSpPr txBox="1">
            <a:spLocks noChangeArrowheads="1"/>
          </p:cNvSpPr>
          <p:nvPr/>
        </p:nvSpPr>
        <p:spPr bwMode="auto">
          <a:xfrm>
            <a:off x="4236977" y="3900632"/>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15" name="圆角矩形 34">
            <a:extLst>
              <a:ext uri="{FF2B5EF4-FFF2-40B4-BE49-F238E27FC236}">
                <a16:creationId xmlns:a16="http://schemas.microsoft.com/office/drawing/2014/main" id="{083018FE-E4C4-48C0-A3DF-22FDD500227D}"/>
              </a:ext>
            </a:extLst>
          </p:cNvPr>
          <p:cNvSpPr/>
          <p:nvPr/>
        </p:nvSpPr>
        <p:spPr>
          <a:xfrm>
            <a:off x="5300484" y="3832499"/>
            <a:ext cx="437173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en-US" altLang="zh-CN" sz="2000" b="1" kern="100" dirty="0">
                <a:solidFill>
                  <a:schemeClr val="bg1"/>
                </a:solidFill>
                <a:latin typeface="+mj-ea"/>
                <a:ea typeface="+mj-ea"/>
                <a:cs typeface="Times New Roman" panose="02020603050405020304" pitchFamily="18" charset="0"/>
              </a:rPr>
              <a:t>Google</a:t>
            </a:r>
            <a:r>
              <a:rPr lang="zh-CN" altLang="en-US" sz="2000" b="1" kern="100" dirty="0">
                <a:solidFill>
                  <a:schemeClr val="bg1"/>
                </a:solidFill>
                <a:latin typeface="+mj-ea"/>
                <a:ea typeface="+mj-ea"/>
                <a:cs typeface="Times New Roman" panose="02020603050405020304" pitchFamily="18" charset="0"/>
              </a:rPr>
              <a:t>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体会现实</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6" name="圆角矩形 35">
            <a:extLst>
              <a:ext uri="{FF2B5EF4-FFF2-40B4-BE49-F238E27FC236}">
                <a16:creationId xmlns:a16="http://schemas.microsoft.com/office/drawing/2014/main" id="{86454C91-3413-49AE-9EF9-E7C7C8FF7975}"/>
              </a:ext>
            </a:extLst>
          </p:cNvPr>
          <p:cNvSpPr/>
          <p:nvPr/>
        </p:nvSpPr>
        <p:spPr>
          <a:xfrm>
            <a:off x="5300484" y="4865945"/>
            <a:ext cx="4372249" cy="55373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软件测试那些事</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7" name="圆角矩形 36">
            <a:extLst>
              <a:ext uri="{FF2B5EF4-FFF2-40B4-BE49-F238E27FC236}">
                <a16:creationId xmlns:a16="http://schemas.microsoft.com/office/drawing/2014/main" id="{677AE7D1-E1EF-4520-A93C-38966003715D}"/>
              </a:ext>
            </a:extLst>
          </p:cNvPr>
          <p:cNvSpPr/>
          <p:nvPr/>
        </p:nvSpPr>
        <p:spPr>
          <a:xfrm>
            <a:off x="5300996" y="5839083"/>
            <a:ext cx="4371737" cy="565386"/>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ea typeface="+mj-ea"/>
                <a:cs typeface="Times New Roman" panose="02020603050405020304" pitchFamily="18" charset="0"/>
              </a:rPr>
              <a:t>软件测试与维护</a:t>
            </a:r>
            <a:endParaRPr lang="zh-CN" altLang="en-US" sz="2000" dirty="0">
              <a:solidFill>
                <a:schemeClr val="bg1"/>
              </a:solidFill>
              <a:latin typeface="+mj-ea"/>
              <a:ea typeface="+mj-ea"/>
              <a:cs typeface="Arial Unicode MS" panose="020B0604020202020204" pitchFamily="34" charset="-122"/>
            </a:endParaRPr>
          </a:p>
        </p:txBody>
      </p:sp>
      <p:sp>
        <p:nvSpPr>
          <p:cNvPr id="18" name="圆角矩形 37">
            <a:extLst>
              <a:ext uri="{FF2B5EF4-FFF2-40B4-BE49-F238E27FC236}">
                <a16:creationId xmlns:a16="http://schemas.microsoft.com/office/drawing/2014/main" id="{82024A64-364F-4AC5-B5E5-B747172FBD0A}"/>
              </a:ext>
            </a:extLst>
          </p:cNvPr>
          <p:cNvSpPr/>
          <p:nvPr/>
        </p:nvSpPr>
        <p:spPr>
          <a:xfrm>
            <a:off x="5323235" y="1703551"/>
            <a:ext cx="4349498" cy="563692"/>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cs typeface="Times New Roman" panose="02020603050405020304" pitchFamily="18" charset="0"/>
              </a:rPr>
              <a:t>项目质量管理与软件测试维护</a:t>
            </a:r>
            <a:endParaRPr lang="zh-CN" altLang="en-US" sz="2000" dirty="0">
              <a:solidFill>
                <a:schemeClr val="bg1"/>
              </a:solidFill>
              <a:latin typeface="+mj-ea"/>
              <a:cs typeface="Arial Unicode MS" panose="020B0604020202020204" pitchFamily="34" charset="-122"/>
            </a:endParaRPr>
          </a:p>
        </p:txBody>
      </p:sp>
      <p:sp>
        <p:nvSpPr>
          <p:cNvPr id="19" name="任意多边形 38">
            <a:extLst>
              <a:ext uri="{FF2B5EF4-FFF2-40B4-BE49-F238E27FC236}">
                <a16:creationId xmlns:a16="http://schemas.microsoft.com/office/drawing/2014/main" id="{84BB230D-8C0C-4655-9F37-7C6397187E63}"/>
              </a:ext>
            </a:extLst>
          </p:cNvPr>
          <p:cNvSpPr/>
          <p:nvPr/>
        </p:nvSpPr>
        <p:spPr bwMode="auto">
          <a:xfrm rot="8100000" flipV="1">
            <a:off x="4201524" y="2756265"/>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0" name="文本框 48">
            <a:extLst>
              <a:ext uri="{FF2B5EF4-FFF2-40B4-BE49-F238E27FC236}">
                <a16:creationId xmlns:a16="http://schemas.microsoft.com/office/drawing/2014/main" id="{3BD40820-ED71-4C58-99B3-7854D010B631}"/>
              </a:ext>
            </a:extLst>
          </p:cNvPr>
          <p:cNvSpPr txBox="1">
            <a:spLocks noChangeArrowheads="1"/>
          </p:cNvSpPr>
          <p:nvPr/>
        </p:nvSpPr>
        <p:spPr bwMode="auto">
          <a:xfrm>
            <a:off x="4259728" y="2798301"/>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21" name="圆角矩形 40">
            <a:extLst>
              <a:ext uri="{FF2B5EF4-FFF2-40B4-BE49-F238E27FC236}">
                <a16:creationId xmlns:a16="http://schemas.microsoft.com/office/drawing/2014/main" id="{C3E69C33-8E76-43AB-990F-E445C90C1F17}"/>
              </a:ext>
            </a:extLst>
          </p:cNvPr>
          <p:cNvSpPr/>
          <p:nvPr/>
        </p:nvSpPr>
        <p:spPr>
          <a:xfrm>
            <a:off x="5323235" y="2730168"/>
            <a:ext cx="437173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微软软件测试之道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追寻经典</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Tree>
    <p:extLst>
      <p:ext uri="{BB962C8B-B14F-4D97-AF65-F5344CB8AC3E}">
        <p14:creationId xmlns:p14="http://schemas.microsoft.com/office/powerpoint/2010/main" val="1851845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E58335B-CD0C-4760-A26F-18690ED7F8EA}"/>
              </a:ext>
            </a:extLst>
          </p:cNvPr>
          <p:cNvSpPr/>
          <p:nvPr/>
        </p:nvSpPr>
        <p:spPr>
          <a:xfrm>
            <a:off x="6303641" y="303084"/>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文本框 4">
            <a:extLst>
              <a:ext uri="{FF2B5EF4-FFF2-40B4-BE49-F238E27FC236}">
                <a16:creationId xmlns:a16="http://schemas.microsoft.com/office/drawing/2014/main" id="{F562F5DF-E49C-4A71-B14F-E3F8936C4953}"/>
              </a:ext>
            </a:extLst>
          </p:cNvPr>
          <p:cNvSpPr txBox="1"/>
          <p:nvPr/>
        </p:nvSpPr>
        <p:spPr>
          <a:xfrm>
            <a:off x="4671024" y="1255254"/>
            <a:ext cx="2646878" cy="461665"/>
          </a:xfrm>
          <a:prstGeom prst="rect">
            <a:avLst/>
          </a:prstGeom>
          <a:noFill/>
        </p:spPr>
        <p:txBody>
          <a:bodyPr wrap="none" rtlCol="0">
            <a:spAutoFit/>
          </a:bodyPr>
          <a:lstStyle/>
          <a:p>
            <a:r>
              <a:rPr lang="zh-CN" altLang="en-US" sz="2400" dirty="0">
                <a:latin typeface="华文仿宋" panose="02010600040101010101" pitchFamily="2" charset="-122"/>
                <a:ea typeface="华文仿宋" panose="02010600040101010101" pitchFamily="2" charset="-122"/>
              </a:rPr>
              <a:t>软件项目质量管理</a:t>
            </a:r>
          </a:p>
        </p:txBody>
      </p:sp>
      <p:sp>
        <p:nvSpPr>
          <p:cNvPr id="7" name="文本框 6">
            <a:extLst>
              <a:ext uri="{FF2B5EF4-FFF2-40B4-BE49-F238E27FC236}">
                <a16:creationId xmlns:a16="http://schemas.microsoft.com/office/drawing/2014/main" id="{69A061E1-66E5-4DC6-8E65-FD3112BFF558}"/>
              </a:ext>
            </a:extLst>
          </p:cNvPr>
          <p:cNvSpPr txBox="1"/>
          <p:nvPr/>
        </p:nvSpPr>
        <p:spPr>
          <a:xfrm>
            <a:off x="1677625" y="2424610"/>
            <a:ext cx="3801041" cy="1200329"/>
          </a:xfrm>
          <a:prstGeom prst="rect">
            <a:avLst/>
          </a:prstGeom>
          <a:noFill/>
        </p:spPr>
        <p:txBody>
          <a:bodyPr wrap="none" rtlCol="0">
            <a:spAutoFit/>
          </a:bodyPr>
          <a:lstStyle/>
          <a:p>
            <a:r>
              <a:rPr lang="zh-CN" altLang="en-US" sz="2400" dirty="0">
                <a:latin typeface="华文仿宋" panose="02010600040101010101" pitchFamily="2" charset="-122"/>
                <a:ea typeface="华文仿宋" panose="02010600040101010101" pitchFamily="2" charset="-122"/>
              </a:rPr>
              <a:t>项目管理三要素</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成本、进度、质量</a:t>
            </a:r>
          </a:p>
        </p:txBody>
      </p:sp>
      <p:sp>
        <p:nvSpPr>
          <p:cNvPr id="9" name="文本框 8">
            <a:extLst>
              <a:ext uri="{FF2B5EF4-FFF2-40B4-BE49-F238E27FC236}">
                <a16:creationId xmlns:a16="http://schemas.microsoft.com/office/drawing/2014/main" id="{1767883B-C56D-4D6F-9CC3-72B1767BAAF6}"/>
              </a:ext>
            </a:extLst>
          </p:cNvPr>
          <p:cNvSpPr txBox="1"/>
          <p:nvPr/>
        </p:nvSpPr>
        <p:spPr>
          <a:xfrm>
            <a:off x="1677625" y="4228513"/>
            <a:ext cx="4185761" cy="1200329"/>
          </a:xfrm>
          <a:prstGeom prst="rect">
            <a:avLst/>
          </a:prstGeom>
          <a:noFill/>
        </p:spPr>
        <p:txBody>
          <a:bodyPr wrap="none" rtlCol="0">
            <a:spAutoFit/>
          </a:bodyPr>
          <a:lstStyle/>
          <a:p>
            <a:r>
              <a:rPr lang="zh-CN" altLang="en-US" sz="2400" dirty="0">
                <a:solidFill>
                  <a:srgbClr val="7030A0"/>
                </a:solidFill>
                <a:latin typeface="华文仿宋" panose="02010600040101010101" pitchFamily="2" charset="-122"/>
                <a:ea typeface="华文仿宋" panose="02010600040101010101" pitchFamily="2" charset="-122"/>
              </a:rPr>
              <a:t>现状：前期关注成本</a:t>
            </a:r>
            <a:r>
              <a:rPr lang="en-US" altLang="zh-CN" sz="2400" dirty="0">
                <a:solidFill>
                  <a:srgbClr val="7030A0"/>
                </a:solidFill>
                <a:latin typeface="华文仿宋" panose="02010600040101010101" pitchFamily="2" charset="-122"/>
                <a:ea typeface="华文仿宋" panose="02010600040101010101" pitchFamily="2" charset="-122"/>
              </a:rPr>
              <a:t>;</a:t>
            </a:r>
          </a:p>
          <a:p>
            <a:r>
              <a:rPr lang="en-US" altLang="zh-CN" sz="2400" dirty="0">
                <a:solidFill>
                  <a:srgbClr val="7030A0"/>
                </a:solidFill>
                <a:latin typeface="华文仿宋" panose="02010600040101010101" pitchFamily="2" charset="-122"/>
                <a:ea typeface="华文仿宋" panose="02010600040101010101" pitchFamily="2" charset="-122"/>
              </a:rPr>
              <a:t>            </a:t>
            </a:r>
            <a:r>
              <a:rPr lang="zh-CN" altLang="en-US" sz="2400" dirty="0">
                <a:solidFill>
                  <a:srgbClr val="7030A0"/>
                </a:solidFill>
                <a:latin typeface="华文仿宋" panose="02010600040101010101" pitchFamily="2" charset="-122"/>
                <a:ea typeface="华文仿宋" panose="02010600040101010101" pitchFamily="2" charset="-122"/>
              </a:rPr>
              <a:t>中期关注进度</a:t>
            </a:r>
            <a:r>
              <a:rPr lang="en-US" altLang="zh-CN" sz="2400" dirty="0">
                <a:solidFill>
                  <a:srgbClr val="7030A0"/>
                </a:solidFill>
                <a:latin typeface="华文仿宋" panose="02010600040101010101" pitchFamily="2" charset="-122"/>
                <a:ea typeface="华文仿宋" panose="02010600040101010101" pitchFamily="2" charset="-122"/>
              </a:rPr>
              <a:t>;</a:t>
            </a:r>
          </a:p>
          <a:p>
            <a:r>
              <a:rPr lang="en-US" altLang="zh-CN" sz="2400" dirty="0">
                <a:solidFill>
                  <a:srgbClr val="7030A0"/>
                </a:solidFill>
                <a:latin typeface="华文仿宋" panose="02010600040101010101" pitchFamily="2" charset="-122"/>
                <a:ea typeface="华文仿宋" panose="02010600040101010101" pitchFamily="2" charset="-122"/>
              </a:rPr>
              <a:t>            </a:t>
            </a:r>
            <a:r>
              <a:rPr lang="zh-CN" altLang="en-US" sz="2400" dirty="0">
                <a:solidFill>
                  <a:srgbClr val="7030A0"/>
                </a:solidFill>
                <a:latin typeface="华文仿宋" panose="02010600040101010101" pitchFamily="2" charset="-122"/>
                <a:ea typeface="华文仿宋" panose="02010600040101010101" pitchFamily="2" charset="-122"/>
              </a:rPr>
              <a:t>到快结束了关心质量。</a:t>
            </a:r>
          </a:p>
        </p:txBody>
      </p:sp>
      <p:pic>
        <p:nvPicPr>
          <p:cNvPr id="11" name="图片 10">
            <a:extLst>
              <a:ext uri="{FF2B5EF4-FFF2-40B4-BE49-F238E27FC236}">
                <a16:creationId xmlns:a16="http://schemas.microsoft.com/office/drawing/2014/main" id="{CCA85268-1D9C-45F0-BAE0-CA15E9223F05}"/>
              </a:ext>
            </a:extLst>
          </p:cNvPr>
          <p:cNvPicPr>
            <a:picLocks noChangeAspect="1"/>
          </p:cNvPicPr>
          <p:nvPr/>
        </p:nvPicPr>
        <p:blipFill>
          <a:blip r:embed="rId2"/>
          <a:stretch>
            <a:fillRect/>
          </a:stretch>
        </p:blipFill>
        <p:spPr>
          <a:xfrm>
            <a:off x="6757140" y="2018706"/>
            <a:ext cx="4219575" cy="4086225"/>
          </a:xfrm>
          <a:prstGeom prst="rect">
            <a:avLst/>
          </a:prstGeom>
        </p:spPr>
      </p:pic>
      <p:pic>
        <p:nvPicPr>
          <p:cNvPr id="13" name="Picture 2" descr="https://dss1.bdstatic.com/70cFvXSh_Q1YnxGkpoWK1HF6hhy/it/u=1768485628,188064243&amp;fm=26&amp;gp=0.jpg">
            <a:extLst>
              <a:ext uri="{FF2B5EF4-FFF2-40B4-BE49-F238E27FC236}">
                <a16:creationId xmlns:a16="http://schemas.microsoft.com/office/drawing/2014/main" id="{2665F6B8-23E1-4A3C-BA5B-0A4B3E842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547" y="214375"/>
            <a:ext cx="2510155" cy="180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500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BCC2AEB-551B-45F4-8252-235AE40DE077}"/>
              </a:ext>
            </a:extLst>
          </p:cNvPr>
          <p:cNvSpPr/>
          <p:nvPr/>
        </p:nvSpPr>
        <p:spPr>
          <a:xfrm>
            <a:off x="5464742" y="479252"/>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文本框 4">
            <a:extLst>
              <a:ext uri="{FF2B5EF4-FFF2-40B4-BE49-F238E27FC236}">
                <a16:creationId xmlns:a16="http://schemas.microsoft.com/office/drawing/2014/main" id="{ED60C491-B339-4D01-8CA0-1ACDA2090759}"/>
              </a:ext>
            </a:extLst>
          </p:cNvPr>
          <p:cNvSpPr txBox="1"/>
          <p:nvPr/>
        </p:nvSpPr>
        <p:spPr>
          <a:xfrm>
            <a:off x="2936533" y="1163920"/>
            <a:ext cx="5570756" cy="523220"/>
          </a:xfrm>
          <a:prstGeom prst="rect">
            <a:avLst/>
          </a:prstGeom>
          <a:noFill/>
        </p:spPr>
        <p:txBody>
          <a:bodyPr wrap="none" rtlCol="0">
            <a:spAutoFit/>
          </a:bodyPr>
          <a:lstStyle/>
          <a:p>
            <a:r>
              <a:rPr lang="zh-CN" altLang="en-US" sz="2800" dirty="0">
                <a:latin typeface="华文仿宋" panose="02010600040101010101" pitchFamily="2" charset="-122"/>
                <a:ea typeface="华文仿宋" panose="02010600040101010101" pitchFamily="2" charset="-122"/>
              </a:rPr>
              <a:t>软件项目需要什么样的质量管理？</a:t>
            </a:r>
          </a:p>
        </p:txBody>
      </p:sp>
      <p:sp>
        <p:nvSpPr>
          <p:cNvPr id="7" name="文本框 6">
            <a:extLst>
              <a:ext uri="{FF2B5EF4-FFF2-40B4-BE49-F238E27FC236}">
                <a16:creationId xmlns:a16="http://schemas.microsoft.com/office/drawing/2014/main" id="{5AB17AE5-9372-4B4A-91DD-CC8E3143339B}"/>
              </a:ext>
            </a:extLst>
          </p:cNvPr>
          <p:cNvSpPr txBox="1"/>
          <p:nvPr/>
        </p:nvSpPr>
        <p:spPr>
          <a:xfrm>
            <a:off x="1535636" y="2154650"/>
            <a:ext cx="4823756" cy="3539430"/>
          </a:xfrm>
          <a:prstGeom prst="rect">
            <a:avLst/>
          </a:prstGeom>
          <a:noFill/>
        </p:spPr>
        <p:txBody>
          <a:bodyPr wrap="none" rtlCol="0">
            <a:spAutoFit/>
          </a:bodyPr>
          <a:lstStyle/>
          <a:p>
            <a:r>
              <a:rPr lang="zh-CN" altLang="en-US" sz="2800" dirty="0">
                <a:solidFill>
                  <a:srgbClr val="7030A0"/>
                </a:solidFill>
                <a:latin typeface="华文仿宋" panose="02010600040101010101" pitchFamily="2" charset="-122"/>
                <a:ea typeface="华文仿宋" panose="02010600040101010101" pitchFamily="2" charset="-122"/>
              </a:rPr>
              <a:t>质量管理是组织的生命线。</a:t>
            </a:r>
            <a:endParaRPr lang="en-US" altLang="zh-CN" sz="2800" dirty="0">
              <a:solidFill>
                <a:srgbClr val="7030A0"/>
              </a:solidFill>
              <a:latin typeface="华文仿宋" panose="02010600040101010101" pitchFamily="2" charset="-122"/>
              <a:ea typeface="华文仿宋" panose="02010600040101010101" pitchFamily="2" charset="-122"/>
            </a:endParaRPr>
          </a:p>
          <a:p>
            <a:endParaRPr lang="en-US" altLang="zh-CN" sz="2800" dirty="0">
              <a:solidFill>
                <a:srgbClr val="7030A0"/>
              </a:solidFill>
              <a:latin typeface="华文仿宋" panose="02010600040101010101" pitchFamily="2" charset="-122"/>
              <a:ea typeface="华文仿宋" panose="02010600040101010101" pitchFamily="2" charset="-122"/>
            </a:endParaRPr>
          </a:p>
          <a:p>
            <a:r>
              <a:rPr lang="zh-CN" altLang="en-US" sz="2800" dirty="0">
                <a:solidFill>
                  <a:srgbClr val="7030A0"/>
                </a:solidFill>
                <a:latin typeface="华文仿宋" panose="02010600040101010101" pitchFamily="2" charset="-122"/>
                <a:ea typeface="华文仿宋" panose="02010600040101010101" pitchFamily="2" charset="-122"/>
              </a:rPr>
              <a:t>（</a:t>
            </a:r>
            <a:r>
              <a:rPr lang="en-US" altLang="zh-CN" sz="2800" dirty="0">
                <a:solidFill>
                  <a:srgbClr val="7030A0"/>
                </a:solidFill>
                <a:latin typeface="华文仿宋" panose="02010600040101010101" pitchFamily="2" charset="-122"/>
                <a:ea typeface="华文仿宋" panose="02010600040101010101" pitchFamily="2" charset="-122"/>
              </a:rPr>
              <a:t>1</a:t>
            </a:r>
            <a:r>
              <a:rPr lang="zh-CN" altLang="en-US" sz="2800" dirty="0">
                <a:solidFill>
                  <a:srgbClr val="7030A0"/>
                </a:solidFill>
                <a:latin typeface="华文仿宋" panose="02010600040101010101" pitchFamily="2" charset="-122"/>
                <a:ea typeface="华文仿宋" panose="02010600040101010101" pitchFamily="2" charset="-122"/>
              </a:rPr>
              <a:t>）分清</a:t>
            </a:r>
            <a:r>
              <a:rPr lang="en-US" altLang="zh-CN" sz="2800" dirty="0">
                <a:solidFill>
                  <a:srgbClr val="7030A0"/>
                </a:solidFill>
                <a:latin typeface="华文仿宋" panose="02010600040101010101" pitchFamily="2" charset="-122"/>
                <a:ea typeface="华文仿宋" panose="02010600040101010101" pitchFamily="2" charset="-122"/>
              </a:rPr>
              <a:t>QA</a:t>
            </a:r>
            <a:r>
              <a:rPr lang="zh-CN" altLang="en-US" sz="2800" dirty="0">
                <a:solidFill>
                  <a:srgbClr val="7030A0"/>
                </a:solidFill>
                <a:latin typeface="华文仿宋" panose="02010600040101010101" pitchFamily="2" charset="-122"/>
                <a:ea typeface="华文仿宋" panose="02010600040101010101" pitchFamily="2" charset="-122"/>
              </a:rPr>
              <a:t>与</a:t>
            </a:r>
            <a:r>
              <a:rPr lang="en-US" altLang="zh-CN" sz="2800" dirty="0">
                <a:solidFill>
                  <a:srgbClr val="7030A0"/>
                </a:solidFill>
                <a:latin typeface="华文仿宋" panose="02010600040101010101" pitchFamily="2" charset="-122"/>
                <a:ea typeface="华文仿宋" panose="02010600040101010101" pitchFamily="2" charset="-122"/>
              </a:rPr>
              <a:t>QC</a:t>
            </a:r>
            <a:r>
              <a:rPr lang="zh-CN" altLang="en-US" sz="2800" dirty="0">
                <a:solidFill>
                  <a:srgbClr val="7030A0"/>
                </a:solidFill>
                <a:latin typeface="华文仿宋" panose="02010600040101010101" pitchFamily="2" charset="-122"/>
                <a:ea typeface="华文仿宋" panose="02010600040101010101" pitchFamily="2" charset="-122"/>
              </a:rPr>
              <a:t>；</a:t>
            </a:r>
            <a:endParaRPr lang="en-US" altLang="zh-CN" sz="2800" dirty="0">
              <a:solidFill>
                <a:srgbClr val="7030A0"/>
              </a:solidFill>
              <a:latin typeface="华文仿宋" panose="02010600040101010101" pitchFamily="2" charset="-122"/>
              <a:ea typeface="华文仿宋" panose="02010600040101010101" pitchFamily="2" charset="-122"/>
            </a:endParaRPr>
          </a:p>
          <a:p>
            <a:endParaRPr lang="en-US" altLang="zh-CN" sz="2800" dirty="0">
              <a:solidFill>
                <a:srgbClr val="7030A0"/>
              </a:solidFill>
              <a:latin typeface="华文仿宋" panose="02010600040101010101" pitchFamily="2" charset="-122"/>
              <a:ea typeface="华文仿宋" panose="02010600040101010101" pitchFamily="2" charset="-122"/>
            </a:endParaRPr>
          </a:p>
          <a:p>
            <a:r>
              <a:rPr lang="zh-CN" altLang="en-US" sz="2800" dirty="0">
                <a:solidFill>
                  <a:srgbClr val="7030A0"/>
                </a:solidFill>
                <a:latin typeface="华文仿宋" panose="02010600040101010101" pitchFamily="2" charset="-122"/>
                <a:ea typeface="华文仿宋" panose="02010600040101010101" pitchFamily="2" charset="-122"/>
              </a:rPr>
              <a:t>（</a:t>
            </a:r>
            <a:r>
              <a:rPr lang="en-US" altLang="zh-CN" sz="2800" dirty="0">
                <a:solidFill>
                  <a:srgbClr val="7030A0"/>
                </a:solidFill>
                <a:latin typeface="华文仿宋" panose="02010600040101010101" pitchFamily="2" charset="-122"/>
                <a:ea typeface="华文仿宋" panose="02010600040101010101" pitchFamily="2" charset="-122"/>
              </a:rPr>
              <a:t>2</a:t>
            </a:r>
            <a:r>
              <a:rPr lang="zh-CN" altLang="en-US" sz="2800" dirty="0">
                <a:solidFill>
                  <a:srgbClr val="7030A0"/>
                </a:solidFill>
                <a:latin typeface="华文仿宋" panose="02010600040101010101" pitchFamily="2" charset="-122"/>
                <a:ea typeface="华文仿宋" panose="02010600040101010101" pitchFamily="2" charset="-122"/>
              </a:rPr>
              <a:t>）</a:t>
            </a:r>
            <a:r>
              <a:rPr lang="en-US" altLang="zh-CN" sz="2800" dirty="0">
                <a:solidFill>
                  <a:srgbClr val="7030A0"/>
                </a:solidFill>
                <a:latin typeface="华文仿宋" panose="02010600040101010101" pitchFamily="2" charset="-122"/>
                <a:ea typeface="华文仿宋" panose="02010600040101010101" pitchFamily="2" charset="-122"/>
              </a:rPr>
              <a:t>QA</a:t>
            </a:r>
            <a:r>
              <a:rPr lang="zh-CN" altLang="en-US" sz="2800" dirty="0">
                <a:solidFill>
                  <a:srgbClr val="7030A0"/>
                </a:solidFill>
                <a:latin typeface="华文仿宋" panose="02010600040101010101" pitchFamily="2" charset="-122"/>
                <a:ea typeface="华文仿宋" panose="02010600040101010101" pitchFamily="2" charset="-122"/>
              </a:rPr>
              <a:t>部门的矩阵组织；</a:t>
            </a:r>
            <a:endParaRPr lang="en-US" altLang="zh-CN" sz="2800" dirty="0">
              <a:solidFill>
                <a:srgbClr val="7030A0"/>
              </a:solidFill>
              <a:latin typeface="华文仿宋" panose="02010600040101010101" pitchFamily="2" charset="-122"/>
              <a:ea typeface="华文仿宋" panose="02010600040101010101" pitchFamily="2" charset="-122"/>
            </a:endParaRPr>
          </a:p>
          <a:p>
            <a:endParaRPr lang="en-US" altLang="zh-CN" sz="2800" dirty="0">
              <a:solidFill>
                <a:srgbClr val="7030A0"/>
              </a:solidFill>
              <a:latin typeface="华文仿宋" panose="02010600040101010101" pitchFamily="2" charset="-122"/>
              <a:ea typeface="华文仿宋" panose="02010600040101010101" pitchFamily="2" charset="-122"/>
            </a:endParaRPr>
          </a:p>
          <a:p>
            <a:r>
              <a:rPr lang="zh-CN" altLang="en-US" sz="2800" dirty="0">
                <a:solidFill>
                  <a:srgbClr val="7030A0"/>
                </a:solidFill>
                <a:latin typeface="华文仿宋" panose="02010600040101010101" pitchFamily="2" charset="-122"/>
                <a:ea typeface="华文仿宋" panose="02010600040101010101" pitchFamily="2" charset="-122"/>
              </a:rPr>
              <a:t>（</a:t>
            </a:r>
            <a:r>
              <a:rPr lang="en-US" altLang="zh-CN" sz="2800" dirty="0">
                <a:solidFill>
                  <a:srgbClr val="7030A0"/>
                </a:solidFill>
                <a:latin typeface="华文仿宋" panose="02010600040101010101" pitchFamily="2" charset="-122"/>
                <a:ea typeface="华文仿宋" panose="02010600040101010101" pitchFamily="2" charset="-122"/>
              </a:rPr>
              <a:t>3</a:t>
            </a:r>
            <a:r>
              <a:rPr lang="zh-CN" altLang="en-US" sz="2800" dirty="0">
                <a:solidFill>
                  <a:srgbClr val="7030A0"/>
                </a:solidFill>
                <a:latin typeface="华文仿宋" panose="02010600040101010101" pitchFamily="2" charset="-122"/>
                <a:ea typeface="华文仿宋" panose="02010600040101010101" pitchFamily="2" charset="-122"/>
              </a:rPr>
              <a:t>）</a:t>
            </a:r>
            <a:r>
              <a:rPr lang="en-US" altLang="zh-CN" sz="2800" dirty="0">
                <a:solidFill>
                  <a:srgbClr val="7030A0"/>
                </a:solidFill>
                <a:latin typeface="华文仿宋" panose="02010600040101010101" pitchFamily="2" charset="-122"/>
                <a:ea typeface="华文仿宋" panose="02010600040101010101" pitchFamily="2" charset="-122"/>
              </a:rPr>
              <a:t>QA</a:t>
            </a:r>
            <a:r>
              <a:rPr lang="zh-CN" altLang="en-US" sz="2800" dirty="0">
                <a:solidFill>
                  <a:srgbClr val="7030A0"/>
                </a:solidFill>
                <a:latin typeface="华文仿宋" panose="02010600040101010101" pitchFamily="2" charset="-122"/>
                <a:ea typeface="华文仿宋" panose="02010600040101010101" pitchFamily="2" charset="-122"/>
              </a:rPr>
              <a:t>项目质量保证的角色</a:t>
            </a:r>
            <a:endParaRPr lang="en-US" altLang="zh-CN" sz="2800" dirty="0">
              <a:solidFill>
                <a:srgbClr val="7030A0"/>
              </a:solidFill>
              <a:latin typeface="华文仿宋" panose="02010600040101010101" pitchFamily="2" charset="-122"/>
              <a:ea typeface="华文仿宋" panose="02010600040101010101" pitchFamily="2" charset="-122"/>
            </a:endParaRPr>
          </a:p>
          <a:p>
            <a:endParaRPr lang="zh-CN" altLang="en-US" sz="2800" dirty="0">
              <a:solidFill>
                <a:srgbClr val="7030A0"/>
              </a:solidFill>
              <a:latin typeface="华文仿宋" panose="02010600040101010101" pitchFamily="2" charset="-122"/>
              <a:ea typeface="华文仿宋" panose="02010600040101010101" pitchFamily="2" charset="-122"/>
            </a:endParaRPr>
          </a:p>
        </p:txBody>
      </p:sp>
      <p:pic>
        <p:nvPicPr>
          <p:cNvPr id="9" name="图片 8">
            <a:extLst>
              <a:ext uri="{FF2B5EF4-FFF2-40B4-BE49-F238E27FC236}">
                <a16:creationId xmlns:a16="http://schemas.microsoft.com/office/drawing/2014/main" id="{48A2BBEC-B68A-42D0-8656-734C114B567E}"/>
              </a:ext>
            </a:extLst>
          </p:cNvPr>
          <p:cNvPicPr>
            <a:picLocks noChangeAspect="1"/>
          </p:cNvPicPr>
          <p:nvPr/>
        </p:nvPicPr>
        <p:blipFill>
          <a:blip r:embed="rId2"/>
          <a:stretch>
            <a:fillRect/>
          </a:stretch>
        </p:blipFill>
        <p:spPr>
          <a:xfrm>
            <a:off x="7421344" y="1999114"/>
            <a:ext cx="3446813" cy="4153852"/>
          </a:xfrm>
          <a:prstGeom prst="rect">
            <a:avLst/>
          </a:prstGeom>
        </p:spPr>
      </p:pic>
      <p:sp>
        <p:nvSpPr>
          <p:cNvPr id="11" name="文本框 10">
            <a:extLst>
              <a:ext uri="{FF2B5EF4-FFF2-40B4-BE49-F238E27FC236}">
                <a16:creationId xmlns:a16="http://schemas.microsoft.com/office/drawing/2014/main" id="{6AF81B39-7F45-4832-AE3F-212B425402DF}"/>
              </a:ext>
            </a:extLst>
          </p:cNvPr>
          <p:cNvSpPr txBox="1"/>
          <p:nvPr/>
        </p:nvSpPr>
        <p:spPr>
          <a:xfrm>
            <a:off x="3782918" y="6152966"/>
            <a:ext cx="3877985" cy="461665"/>
          </a:xfrm>
          <a:prstGeom prst="rect">
            <a:avLst/>
          </a:prstGeom>
          <a:noFill/>
        </p:spPr>
        <p:txBody>
          <a:bodyPr wrap="none" rtlCol="0">
            <a:spAutoFit/>
          </a:bodyPr>
          <a:lstStyle/>
          <a:p>
            <a:r>
              <a:rPr lang="zh-CN" altLang="en-US" sz="2400" dirty="0">
                <a:latin typeface="华文仿宋" panose="02010600040101010101" pitchFamily="2" charset="-122"/>
                <a:ea typeface="华文仿宋" panose="02010600040101010101" pitchFamily="2" charset="-122"/>
              </a:rPr>
              <a:t>税务代码表的错误应用示例</a:t>
            </a:r>
          </a:p>
        </p:txBody>
      </p:sp>
    </p:spTree>
    <p:extLst>
      <p:ext uri="{BB962C8B-B14F-4D97-AF65-F5344CB8AC3E}">
        <p14:creationId xmlns:p14="http://schemas.microsoft.com/office/powerpoint/2010/main" val="165968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655B4FC-AECF-416C-B8FA-116CE25CC867}"/>
              </a:ext>
            </a:extLst>
          </p:cNvPr>
          <p:cNvSpPr/>
          <p:nvPr/>
        </p:nvSpPr>
        <p:spPr>
          <a:xfrm>
            <a:off x="5959692" y="319862"/>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文本框 4">
            <a:extLst>
              <a:ext uri="{FF2B5EF4-FFF2-40B4-BE49-F238E27FC236}">
                <a16:creationId xmlns:a16="http://schemas.microsoft.com/office/drawing/2014/main" id="{9B5D7211-84F4-4AAB-86ED-F0BC7D214384}"/>
              </a:ext>
            </a:extLst>
          </p:cNvPr>
          <p:cNvSpPr txBox="1"/>
          <p:nvPr/>
        </p:nvSpPr>
        <p:spPr>
          <a:xfrm>
            <a:off x="2344607" y="1874342"/>
            <a:ext cx="1986441" cy="461665"/>
          </a:xfrm>
          <a:prstGeom prst="rect">
            <a:avLst/>
          </a:prstGeom>
          <a:noFill/>
        </p:spPr>
        <p:txBody>
          <a:bodyPr wrap="none" rtlCol="0">
            <a:spAutoFit/>
          </a:bodyPr>
          <a:lstStyle/>
          <a:p>
            <a:r>
              <a:rPr lang="zh-CN" altLang="en-US" sz="2400" dirty="0">
                <a:latin typeface="华文仿宋" panose="02010600040101010101" pitchFamily="2" charset="-122"/>
                <a:ea typeface="华文仿宋" panose="02010600040101010101" pitchFamily="2" charset="-122"/>
              </a:rPr>
              <a:t>分清</a:t>
            </a:r>
            <a:r>
              <a:rPr lang="en-US" altLang="zh-CN" sz="2400" dirty="0">
                <a:latin typeface="华文仿宋" panose="02010600040101010101" pitchFamily="2" charset="-122"/>
                <a:ea typeface="华文仿宋" panose="02010600040101010101" pitchFamily="2" charset="-122"/>
              </a:rPr>
              <a:t>QA</a:t>
            </a:r>
            <a:r>
              <a:rPr lang="zh-CN" altLang="en-US" sz="2400" dirty="0">
                <a:latin typeface="华文仿宋" panose="02010600040101010101" pitchFamily="2" charset="-122"/>
                <a:ea typeface="华文仿宋" panose="02010600040101010101" pitchFamily="2" charset="-122"/>
              </a:rPr>
              <a:t>与</a:t>
            </a:r>
            <a:r>
              <a:rPr lang="en-US" altLang="zh-CN" sz="2400" dirty="0">
                <a:latin typeface="华文仿宋" panose="02010600040101010101" pitchFamily="2" charset="-122"/>
                <a:ea typeface="华文仿宋" panose="02010600040101010101" pitchFamily="2" charset="-122"/>
              </a:rPr>
              <a:t>QC</a:t>
            </a:r>
          </a:p>
        </p:txBody>
      </p:sp>
      <p:sp>
        <p:nvSpPr>
          <p:cNvPr id="7" name="文本框 6">
            <a:extLst>
              <a:ext uri="{FF2B5EF4-FFF2-40B4-BE49-F238E27FC236}">
                <a16:creationId xmlns:a16="http://schemas.microsoft.com/office/drawing/2014/main" id="{CB35FC68-F3B8-452A-A9AA-C8793979CC85}"/>
              </a:ext>
            </a:extLst>
          </p:cNvPr>
          <p:cNvSpPr txBox="1"/>
          <p:nvPr/>
        </p:nvSpPr>
        <p:spPr>
          <a:xfrm>
            <a:off x="2344607" y="2450287"/>
            <a:ext cx="6094938" cy="830997"/>
          </a:xfrm>
          <a:prstGeom prst="rect">
            <a:avLst/>
          </a:prstGeom>
          <a:noFill/>
        </p:spPr>
        <p:txBody>
          <a:bodyPr wrap="none" rtlCol="0">
            <a:spAutoFit/>
          </a:bodyPr>
          <a:lstStyle/>
          <a:p>
            <a:r>
              <a:rPr lang="en-US" altLang="zh-CN" sz="2400" dirty="0">
                <a:solidFill>
                  <a:srgbClr val="FF9900"/>
                </a:solidFill>
              </a:rPr>
              <a:t>QC</a:t>
            </a:r>
            <a:r>
              <a:rPr lang="zh-CN" altLang="en-US" sz="2400" dirty="0">
                <a:solidFill>
                  <a:srgbClr val="FF9900"/>
                </a:solidFill>
              </a:rPr>
              <a:t>：</a:t>
            </a:r>
            <a:r>
              <a:rPr lang="en-US" altLang="zh-CN" sz="2400" dirty="0">
                <a:solidFill>
                  <a:srgbClr val="FF9900"/>
                </a:solidFill>
              </a:rPr>
              <a:t>Quality Control               </a:t>
            </a:r>
            <a:r>
              <a:rPr lang="zh-CN" altLang="en-US" sz="2400" dirty="0">
                <a:solidFill>
                  <a:srgbClr val="FF9900"/>
                </a:solidFill>
              </a:rPr>
              <a:t>质量控制</a:t>
            </a:r>
            <a:endParaRPr lang="en-US" altLang="zh-CN" sz="2400" dirty="0">
              <a:solidFill>
                <a:srgbClr val="FF9900"/>
              </a:solidFill>
            </a:endParaRPr>
          </a:p>
          <a:p>
            <a:r>
              <a:rPr lang="en-US" altLang="zh-CN" sz="2400" dirty="0">
                <a:solidFill>
                  <a:srgbClr val="FF9900"/>
                </a:solidFill>
              </a:rPr>
              <a:t>QC</a:t>
            </a:r>
            <a:r>
              <a:rPr lang="zh-CN" altLang="en-US" sz="2400" dirty="0">
                <a:solidFill>
                  <a:srgbClr val="FF9900"/>
                </a:solidFill>
              </a:rPr>
              <a:t>：重点关注对产品和成果的检验和测试；</a:t>
            </a:r>
            <a:endParaRPr lang="en-US" altLang="zh-CN" sz="2400" dirty="0">
              <a:solidFill>
                <a:srgbClr val="FF9900"/>
              </a:solidFill>
            </a:endParaRPr>
          </a:p>
        </p:txBody>
      </p:sp>
      <p:sp>
        <p:nvSpPr>
          <p:cNvPr id="9" name="文本框 8">
            <a:extLst>
              <a:ext uri="{FF2B5EF4-FFF2-40B4-BE49-F238E27FC236}">
                <a16:creationId xmlns:a16="http://schemas.microsoft.com/office/drawing/2014/main" id="{9CFB261A-9B4D-4A5F-B930-D8C279F74B7D}"/>
              </a:ext>
            </a:extLst>
          </p:cNvPr>
          <p:cNvSpPr txBox="1"/>
          <p:nvPr/>
        </p:nvSpPr>
        <p:spPr>
          <a:xfrm>
            <a:off x="4455867" y="3648819"/>
            <a:ext cx="5040291" cy="1200329"/>
          </a:xfrm>
          <a:prstGeom prst="rect">
            <a:avLst/>
          </a:prstGeom>
          <a:noFill/>
        </p:spPr>
        <p:txBody>
          <a:bodyPr wrap="none" rtlCol="0">
            <a:spAutoFit/>
          </a:bodyPr>
          <a:lstStyle/>
          <a:p>
            <a:r>
              <a:rPr lang="en-US" altLang="zh-CN" sz="2400" dirty="0">
                <a:solidFill>
                  <a:srgbClr val="FF0000"/>
                </a:solidFill>
              </a:rPr>
              <a:t>QA</a:t>
            </a:r>
            <a:r>
              <a:rPr lang="zh-CN" altLang="en-US" sz="2400" dirty="0">
                <a:solidFill>
                  <a:srgbClr val="FF0000"/>
                </a:solidFill>
              </a:rPr>
              <a:t>：</a:t>
            </a:r>
            <a:r>
              <a:rPr lang="en-US" altLang="zh-CN" sz="2400" dirty="0">
                <a:solidFill>
                  <a:srgbClr val="FF0000"/>
                </a:solidFill>
              </a:rPr>
              <a:t>Quality Assurance          </a:t>
            </a:r>
            <a:r>
              <a:rPr lang="zh-CN" altLang="en-US" sz="2400" dirty="0">
                <a:solidFill>
                  <a:srgbClr val="FF0000"/>
                </a:solidFill>
              </a:rPr>
              <a:t>质量保证</a:t>
            </a:r>
          </a:p>
          <a:p>
            <a:r>
              <a:rPr lang="en-US" altLang="zh-CN" sz="2400" dirty="0">
                <a:solidFill>
                  <a:srgbClr val="FF0000"/>
                </a:solidFill>
              </a:rPr>
              <a:t>QA</a:t>
            </a:r>
            <a:r>
              <a:rPr lang="zh-CN" altLang="en-US" sz="2400" dirty="0">
                <a:solidFill>
                  <a:srgbClr val="FF0000"/>
                </a:solidFill>
              </a:rPr>
              <a:t>：重点关注过程改进。</a:t>
            </a:r>
            <a:endParaRPr lang="en-US" altLang="zh-CN" sz="2400" dirty="0">
              <a:solidFill>
                <a:srgbClr val="FF0000"/>
              </a:solidFill>
            </a:endParaRPr>
          </a:p>
          <a:p>
            <a:endParaRPr lang="en-US" altLang="zh-CN" sz="2400" dirty="0">
              <a:solidFill>
                <a:srgbClr val="FF0000"/>
              </a:solidFill>
            </a:endParaRPr>
          </a:p>
        </p:txBody>
      </p:sp>
      <p:pic>
        <p:nvPicPr>
          <p:cNvPr id="11" name="Picture 2" descr="https://dss0.bdstatic.com/70cFuHSh_Q1YnxGkpoWK1HF6hhy/it/u=2339891608,3254784556&amp;fm=26&amp;gp=0.jpg">
            <a:extLst>
              <a:ext uri="{FF2B5EF4-FFF2-40B4-BE49-F238E27FC236}">
                <a16:creationId xmlns:a16="http://schemas.microsoft.com/office/drawing/2014/main" id="{F55D8746-FDF7-4A45-AF96-E9BCCA5018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9545" y="2126438"/>
            <a:ext cx="1850204" cy="120263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https://dss1.bdstatic.com/70cFvXSh_Q1YnxGkpoWK1HF6hhy/it/u=3481512693,584507248&amp;fm=26&amp;gp=0.jpg">
            <a:extLst>
              <a:ext uri="{FF2B5EF4-FFF2-40B4-BE49-F238E27FC236}">
                <a16:creationId xmlns:a16="http://schemas.microsoft.com/office/drawing/2014/main" id="{9B10F232-C7E6-4858-87AE-87033003BB7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8280" y="3258525"/>
            <a:ext cx="1577341" cy="1410056"/>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a:extLst>
              <a:ext uri="{FF2B5EF4-FFF2-40B4-BE49-F238E27FC236}">
                <a16:creationId xmlns:a16="http://schemas.microsoft.com/office/drawing/2014/main" id="{9F713FF4-F43A-49B8-AF91-8D731914A0E8}"/>
              </a:ext>
            </a:extLst>
          </p:cNvPr>
          <p:cNvSpPr/>
          <p:nvPr/>
        </p:nvSpPr>
        <p:spPr>
          <a:xfrm>
            <a:off x="2560104" y="4712443"/>
            <a:ext cx="7729645" cy="1938992"/>
          </a:xfrm>
          <a:prstGeom prst="rect">
            <a:avLst/>
          </a:prstGeom>
        </p:spPr>
        <p:txBody>
          <a:bodyPr wrap="square">
            <a:spAutoFit/>
          </a:bodyPr>
          <a:lstStyle/>
          <a:p>
            <a:r>
              <a:rPr lang="zh-CN" altLang="en-US" sz="2400" dirty="0"/>
              <a:t>          软件质量管理不能只关注软件质量控制（软件测试）；国内很多公司，对软件质量管理的定义就是软件测试，软件测试只是软件质量管理的一部分，更重要的是软件质量保证。通过软件质量保证，使质量管理真正与软件设计开发融为一体。</a:t>
            </a:r>
          </a:p>
        </p:txBody>
      </p:sp>
      <p:sp>
        <p:nvSpPr>
          <p:cNvPr id="17" name="矩形 16">
            <a:extLst>
              <a:ext uri="{FF2B5EF4-FFF2-40B4-BE49-F238E27FC236}">
                <a16:creationId xmlns:a16="http://schemas.microsoft.com/office/drawing/2014/main" id="{4A8D6B5F-11C0-4339-AF1B-A758C14F3362}"/>
              </a:ext>
            </a:extLst>
          </p:cNvPr>
          <p:cNvSpPr/>
          <p:nvPr/>
        </p:nvSpPr>
        <p:spPr>
          <a:xfrm>
            <a:off x="4265621" y="1177440"/>
            <a:ext cx="5020926" cy="523220"/>
          </a:xfrm>
          <a:prstGeom prst="rect">
            <a:avLst/>
          </a:prstGeom>
        </p:spPr>
        <p:txBody>
          <a:bodyPr wrap="none">
            <a:spAutoFit/>
          </a:bodyPr>
          <a:lstStyle/>
          <a:p>
            <a:r>
              <a:rPr lang="zh-CN" altLang="en-US" sz="2800" b="1" dirty="0">
                <a:latin typeface="华文仿宋" panose="02010600040101010101" pitchFamily="2" charset="-122"/>
                <a:ea typeface="华文仿宋" panose="02010600040101010101" pitchFamily="2" charset="-122"/>
              </a:rPr>
              <a:t>质量管理是组织的生命线（</a:t>
            </a:r>
            <a:r>
              <a:rPr lang="en-US" altLang="zh-CN" sz="2800" b="1" dirty="0">
                <a:latin typeface="华文仿宋" panose="02010600040101010101" pitchFamily="2" charset="-122"/>
                <a:ea typeface="华文仿宋" panose="02010600040101010101" pitchFamily="2" charset="-122"/>
              </a:rPr>
              <a:t>1</a:t>
            </a:r>
            <a:r>
              <a:rPr lang="zh-CN" altLang="en-US" sz="2800" b="1" dirty="0">
                <a:latin typeface="华文仿宋" panose="02010600040101010101" pitchFamily="2" charset="-122"/>
                <a:ea typeface="华文仿宋" panose="02010600040101010101" pitchFamily="2" charset="-122"/>
              </a:rPr>
              <a:t>）</a:t>
            </a:r>
            <a:endParaRPr lang="en-US" altLang="zh-CN" sz="28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3826405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BCD862C-1BD1-4DE2-AA0C-A02B3CD0B714}"/>
              </a:ext>
            </a:extLst>
          </p:cNvPr>
          <p:cNvSpPr/>
          <p:nvPr/>
        </p:nvSpPr>
        <p:spPr>
          <a:xfrm>
            <a:off x="6916037" y="254693"/>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矩形 4">
            <a:extLst>
              <a:ext uri="{FF2B5EF4-FFF2-40B4-BE49-F238E27FC236}">
                <a16:creationId xmlns:a16="http://schemas.microsoft.com/office/drawing/2014/main" id="{48FF6F58-4CDB-40E0-9B14-40C10AC203A5}"/>
              </a:ext>
            </a:extLst>
          </p:cNvPr>
          <p:cNvSpPr/>
          <p:nvPr/>
        </p:nvSpPr>
        <p:spPr>
          <a:xfrm>
            <a:off x="3787449" y="895080"/>
            <a:ext cx="5020926" cy="523220"/>
          </a:xfrm>
          <a:prstGeom prst="rect">
            <a:avLst/>
          </a:prstGeom>
        </p:spPr>
        <p:txBody>
          <a:bodyPr wrap="none">
            <a:spAutoFit/>
          </a:bodyPr>
          <a:lstStyle/>
          <a:p>
            <a:r>
              <a:rPr lang="zh-CN" altLang="en-US" sz="2800" b="1" dirty="0">
                <a:latin typeface="华文仿宋" panose="02010600040101010101" pitchFamily="2" charset="-122"/>
                <a:ea typeface="华文仿宋" panose="02010600040101010101" pitchFamily="2" charset="-122"/>
              </a:rPr>
              <a:t>质量管理是组织的生命线（</a:t>
            </a:r>
            <a:r>
              <a:rPr lang="en-US" altLang="zh-CN" sz="2800" b="1" dirty="0">
                <a:latin typeface="华文仿宋" panose="02010600040101010101" pitchFamily="2" charset="-122"/>
                <a:ea typeface="华文仿宋" panose="02010600040101010101" pitchFamily="2" charset="-122"/>
              </a:rPr>
              <a:t>2</a:t>
            </a:r>
            <a:r>
              <a:rPr lang="zh-CN" altLang="en-US" sz="2800" b="1" dirty="0">
                <a:latin typeface="华文仿宋" panose="02010600040101010101" pitchFamily="2" charset="-122"/>
                <a:ea typeface="华文仿宋" panose="02010600040101010101" pitchFamily="2" charset="-122"/>
              </a:rPr>
              <a:t>）</a:t>
            </a:r>
            <a:endParaRPr lang="en-US" altLang="zh-CN" sz="2800" b="1" dirty="0">
              <a:latin typeface="华文仿宋" panose="02010600040101010101" pitchFamily="2" charset="-122"/>
              <a:ea typeface="华文仿宋" panose="02010600040101010101" pitchFamily="2" charset="-122"/>
            </a:endParaRPr>
          </a:p>
        </p:txBody>
      </p:sp>
      <p:sp>
        <p:nvSpPr>
          <p:cNvPr id="7" name="矩形 6">
            <a:extLst>
              <a:ext uri="{FF2B5EF4-FFF2-40B4-BE49-F238E27FC236}">
                <a16:creationId xmlns:a16="http://schemas.microsoft.com/office/drawing/2014/main" id="{8294EE0B-4829-4F4D-9028-52E39CBB02E0}"/>
              </a:ext>
            </a:extLst>
          </p:cNvPr>
          <p:cNvSpPr/>
          <p:nvPr/>
        </p:nvSpPr>
        <p:spPr>
          <a:xfrm>
            <a:off x="1428659" y="1651152"/>
            <a:ext cx="2784737" cy="461665"/>
          </a:xfrm>
          <a:prstGeom prst="rect">
            <a:avLst/>
          </a:prstGeom>
        </p:spPr>
        <p:txBody>
          <a:bodyPr wrap="none">
            <a:spAutoFit/>
          </a:bodyPr>
          <a:lstStyle/>
          <a:p>
            <a:r>
              <a:rPr lang="en-US" altLang="zh-CN" sz="2400" dirty="0">
                <a:latin typeface="华文仿宋" panose="02010600040101010101" pitchFamily="2" charset="-122"/>
                <a:ea typeface="华文仿宋" panose="02010600040101010101" pitchFamily="2" charset="-122"/>
              </a:rPr>
              <a:t>QA</a:t>
            </a:r>
            <a:r>
              <a:rPr lang="zh-CN" altLang="en-US" sz="2400" dirty="0">
                <a:latin typeface="华文仿宋" panose="02010600040101010101" pitchFamily="2" charset="-122"/>
                <a:ea typeface="华文仿宋" panose="02010600040101010101" pitchFamily="2" charset="-122"/>
              </a:rPr>
              <a:t>部门的矩阵组织</a:t>
            </a:r>
            <a:endParaRPr lang="en-US" altLang="zh-CN" sz="2400" dirty="0">
              <a:latin typeface="华文仿宋" panose="02010600040101010101" pitchFamily="2" charset="-122"/>
              <a:ea typeface="华文仿宋" panose="02010600040101010101" pitchFamily="2" charset="-122"/>
            </a:endParaRPr>
          </a:p>
        </p:txBody>
      </p:sp>
      <p:sp>
        <p:nvSpPr>
          <p:cNvPr id="9" name="矩形 8">
            <a:extLst>
              <a:ext uri="{FF2B5EF4-FFF2-40B4-BE49-F238E27FC236}">
                <a16:creationId xmlns:a16="http://schemas.microsoft.com/office/drawing/2014/main" id="{9727AC7C-9914-489C-8EA8-AF0F98EEA83F}"/>
              </a:ext>
            </a:extLst>
          </p:cNvPr>
          <p:cNvSpPr/>
          <p:nvPr/>
        </p:nvSpPr>
        <p:spPr>
          <a:xfrm>
            <a:off x="1724860" y="2807335"/>
            <a:ext cx="7891370" cy="3170099"/>
          </a:xfrm>
          <a:prstGeom prst="rect">
            <a:avLst/>
          </a:prstGeom>
        </p:spPr>
        <p:txBody>
          <a:bodyPr wrap="square">
            <a:spAutoFit/>
          </a:bodyPr>
          <a:lstStyle/>
          <a:p>
            <a:r>
              <a:rPr lang="zh-CN" altLang="en-US" sz="2000" dirty="0">
                <a:latin typeface="华文仿宋" panose="02010600040101010101" pitchFamily="2" charset="-122"/>
                <a:ea typeface="华文仿宋" panose="02010600040101010101" pitchFamily="2" charset="-122"/>
              </a:rPr>
              <a:t>        多数公司项目组织方式为矩阵形</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式。在矩阵组织中，</a:t>
            </a:r>
            <a:r>
              <a:rPr lang="en-US" altLang="zh-CN" sz="2000" dirty="0">
                <a:latin typeface="华文仿宋" panose="02010600040101010101" pitchFamily="2" charset="-122"/>
                <a:ea typeface="华文仿宋" panose="02010600040101010101" pitchFamily="2" charset="-122"/>
              </a:rPr>
              <a:t>QA</a:t>
            </a:r>
            <a:r>
              <a:rPr lang="zh-CN" altLang="en-US" sz="2000" dirty="0">
                <a:latin typeface="华文仿宋" panose="02010600040101010101" pitchFamily="2" charset="-122"/>
                <a:ea typeface="华文仿宋" panose="02010600040101010101" pitchFamily="2" charset="-122"/>
              </a:rPr>
              <a:t>人员往往被</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指派到各个项目组合业务部门，在管</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理上向</a:t>
            </a:r>
            <a:r>
              <a:rPr lang="en-US" altLang="zh-CN" sz="2000" dirty="0">
                <a:latin typeface="华文仿宋" panose="02010600040101010101" pitchFamily="2" charset="-122"/>
                <a:ea typeface="华文仿宋" panose="02010600040101010101" pitchFamily="2" charset="-122"/>
              </a:rPr>
              <a:t>QA</a:t>
            </a:r>
            <a:r>
              <a:rPr lang="zh-CN" altLang="en-US" sz="2000" dirty="0">
                <a:latin typeface="华文仿宋" panose="02010600040101010101" pitchFamily="2" charset="-122"/>
                <a:ea typeface="华文仿宋" panose="02010600040101010101" pitchFamily="2" charset="-122"/>
              </a:rPr>
              <a:t>经理报告、业务上向项目</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经理和职能部门经理汇报。在此情况</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下，</a:t>
            </a:r>
            <a:r>
              <a:rPr lang="en-US" altLang="zh-CN" sz="2000" dirty="0">
                <a:latin typeface="华文仿宋" panose="02010600040101010101" pitchFamily="2" charset="-122"/>
                <a:ea typeface="华文仿宋" panose="02010600040101010101" pitchFamily="2" charset="-122"/>
              </a:rPr>
              <a:t>QA</a:t>
            </a:r>
            <a:r>
              <a:rPr lang="zh-CN" altLang="en-US" sz="2000" dirty="0">
                <a:latin typeface="华文仿宋" panose="02010600040101010101" pitchFamily="2" charset="-122"/>
                <a:ea typeface="华文仿宋" panose="02010600040101010101" pitchFamily="2" charset="-122"/>
              </a:rPr>
              <a:t>人员直接参与项目的具体工</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作，更容易发现工程中的问题，为实</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施过程改进提供了帮助。</a:t>
            </a:r>
            <a:endParaRPr lang="en-US" altLang="zh-CN" sz="2000" dirty="0">
              <a:latin typeface="华文仿宋" panose="02010600040101010101" pitchFamily="2" charset="-122"/>
              <a:ea typeface="华文仿宋" panose="02010600040101010101" pitchFamily="2" charset="-122"/>
            </a:endParaRPr>
          </a:p>
          <a:p>
            <a:r>
              <a:rPr lang="en-US" altLang="zh-CN" sz="2000" dirty="0">
                <a:latin typeface="华文仿宋" panose="02010600040101010101" pitchFamily="2" charset="-122"/>
                <a:ea typeface="华文仿宋" panose="02010600040101010101" pitchFamily="2" charset="-122"/>
              </a:rPr>
              <a:t>        </a:t>
            </a:r>
            <a:r>
              <a:rPr lang="zh-CN" altLang="en-US" sz="2000" dirty="0">
                <a:latin typeface="华文仿宋" panose="02010600040101010101" pitchFamily="2" charset="-122"/>
                <a:ea typeface="华文仿宋" panose="02010600040101010101" pitchFamily="2" charset="-122"/>
              </a:rPr>
              <a:t>这种组织对</a:t>
            </a:r>
            <a:r>
              <a:rPr lang="en-US" altLang="zh-CN" sz="2000" dirty="0">
                <a:latin typeface="华文仿宋" panose="02010600040101010101" pitchFamily="2" charset="-122"/>
                <a:ea typeface="华文仿宋" panose="02010600040101010101" pitchFamily="2" charset="-122"/>
              </a:rPr>
              <a:t>QA</a:t>
            </a:r>
            <a:r>
              <a:rPr lang="zh-CN" altLang="en-US" sz="2000" dirty="0">
                <a:latin typeface="华文仿宋" panose="02010600040101010101" pitchFamily="2" charset="-122"/>
                <a:ea typeface="华文仿宋" panose="02010600040101010101" pitchFamily="2" charset="-122"/>
              </a:rPr>
              <a:t>的要求非常高，要熟悉软件测试与过程管理的体例、方法和策略，需要较高的综合素质、业务能力和项目经验。</a:t>
            </a:r>
          </a:p>
        </p:txBody>
      </p:sp>
      <p:pic>
        <p:nvPicPr>
          <p:cNvPr id="11" name="Picture 2" descr="http://www.mianfeiwendang.com/pic/1bca24f07a21289f814c65ab23f89734c5aebb9d/1-770-jpg_6_0_______-1208-0-0-1208.jpg">
            <a:extLst>
              <a:ext uri="{FF2B5EF4-FFF2-40B4-BE49-F238E27FC236}">
                <a16:creationId xmlns:a16="http://schemas.microsoft.com/office/drawing/2014/main" id="{EDE1E714-2CC8-48CC-B60A-A00BB62C7A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7477" y="2335794"/>
            <a:ext cx="4264733" cy="2718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952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8F82B1A-FEE5-42F7-95F3-CC6AE1D3D2D9}"/>
              </a:ext>
            </a:extLst>
          </p:cNvPr>
          <p:cNvSpPr/>
          <p:nvPr/>
        </p:nvSpPr>
        <p:spPr>
          <a:xfrm>
            <a:off x="6161028" y="227583"/>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矩形 4">
            <a:extLst>
              <a:ext uri="{FF2B5EF4-FFF2-40B4-BE49-F238E27FC236}">
                <a16:creationId xmlns:a16="http://schemas.microsoft.com/office/drawing/2014/main" id="{B06F9A04-E43C-4E64-A63E-25D1A9A3AD23}"/>
              </a:ext>
            </a:extLst>
          </p:cNvPr>
          <p:cNvSpPr/>
          <p:nvPr/>
        </p:nvSpPr>
        <p:spPr>
          <a:xfrm>
            <a:off x="4466957" y="1085161"/>
            <a:ext cx="5020926" cy="523220"/>
          </a:xfrm>
          <a:prstGeom prst="rect">
            <a:avLst/>
          </a:prstGeom>
        </p:spPr>
        <p:txBody>
          <a:bodyPr wrap="none">
            <a:spAutoFit/>
          </a:bodyPr>
          <a:lstStyle/>
          <a:p>
            <a:r>
              <a:rPr lang="zh-CN" altLang="en-US" sz="2800" b="1" dirty="0">
                <a:latin typeface="华文仿宋" panose="02010600040101010101" pitchFamily="2" charset="-122"/>
                <a:ea typeface="华文仿宋" panose="02010600040101010101" pitchFamily="2" charset="-122"/>
              </a:rPr>
              <a:t>质量管理是组织的生命线（</a:t>
            </a:r>
            <a:r>
              <a:rPr lang="en-US" altLang="zh-CN" sz="2800" b="1" dirty="0">
                <a:latin typeface="华文仿宋" panose="02010600040101010101" pitchFamily="2" charset="-122"/>
                <a:ea typeface="华文仿宋" panose="02010600040101010101" pitchFamily="2" charset="-122"/>
              </a:rPr>
              <a:t>3</a:t>
            </a:r>
            <a:r>
              <a:rPr lang="zh-CN" altLang="en-US" sz="2800" b="1" dirty="0">
                <a:latin typeface="华文仿宋" panose="02010600040101010101" pitchFamily="2" charset="-122"/>
                <a:ea typeface="华文仿宋" panose="02010600040101010101" pitchFamily="2" charset="-122"/>
              </a:rPr>
              <a:t>）</a:t>
            </a:r>
            <a:endParaRPr lang="en-US" altLang="zh-CN" sz="2800" b="1" dirty="0">
              <a:latin typeface="华文仿宋" panose="02010600040101010101" pitchFamily="2" charset="-122"/>
              <a:ea typeface="华文仿宋" panose="02010600040101010101" pitchFamily="2" charset="-122"/>
            </a:endParaRPr>
          </a:p>
        </p:txBody>
      </p:sp>
      <p:sp>
        <p:nvSpPr>
          <p:cNvPr id="7" name="矩形 6">
            <a:extLst>
              <a:ext uri="{FF2B5EF4-FFF2-40B4-BE49-F238E27FC236}">
                <a16:creationId xmlns:a16="http://schemas.microsoft.com/office/drawing/2014/main" id="{FB6E1020-A0D0-4251-9B03-C8C7C7C5C775}"/>
              </a:ext>
            </a:extLst>
          </p:cNvPr>
          <p:cNvSpPr/>
          <p:nvPr/>
        </p:nvSpPr>
        <p:spPr>
          <a:xfrm>
            <a:off x="2321751" y="1728920"/>
            <a:ext cx="3400290" cy="461665"/>
          </a:xfrm>
          <a:prstGeom prst="rect">
            <a:avLst/>
          </a:prstGeom>
        </p:spPr>
        <p:txBody>
          <a:bodyPr wrap="none">
            <a:spAutoFit/>
          </a:bodyPr>
          <a:lstStyle/>
          <a:p>
            <a:r>
              <a:rPr lang="en-US" altLang="zh-CN" sz="2400" dirty="0">
                <a:latin typeface="华文仿宋" panose="02010600040101010101" pitchFamily="2" charset="-122"/>
                <a:ea typeface="华文仿宋" panose="02010600040101010101" pitchFamily="2" charset="-122"/>
              </a:rPr>
              <a:t>QA</a:t>
            </a:r>
            <a:r>
              <a:rPr lang="zh-CN" altLang="en-US" sz="2400" dirty="0">
                <a:latin typeface="华文仿宋" panose="02010600040101010101" pitchFamily="2" charset="-122"/>
                <a:ea typeface="华文仿宋" panose="02010600040101010101" pitchFamily="2" charset="-122"/>
              </a:rPr>
              <a:t>项目质量管理的角色</a:t>
            </a:r>
            <a:endParaRPr lang="en-US" altLang="zh-CN" sz="2400" dirty="0">
              <a:latin typeface="华文仿宋" panose="02010600040101010101" pitchFamily="2" charset="-122"/>
              <a:ea typeface="华文仿宋" panose="02010600040101010101" pitchFamily="2" charset="-122"/>
            </a:endParaRPr>
          </a:p>
        </p:txBody>
      </p:sp>
      <p:sp>
        <p:nvSpPr>
          <p:cNvPr id="9" name="矩形 8">
            <a:extLst>
              <a:ext uri="{FF2B5EF4-FFF2-40B4-BE49-F238E27FC236}">
                <a16:creationId xmlns:a16="http://schemas.microsoft.com/office/drawing/2014/main" id="{0C90975B-D904-43A9-8548-270112D2871D}"/>
              </a:ext>
            </a:extLst>
          </p:cNvPr>
          <p:cNvSpPr/>
          <p:nvPr/>
        </p:nvSpPr>
        <p:spPr>
          <a:xfrm>
            <a:off x="2494109" y="2381221"/>
            <a:ext cx="7891370" cy="4278094"/>
          </a:xfrm>
          <a:prstGeom prst="rect">
            <a:avLst/>
          </a:prstGeom>
        </p:spPr>
        <p:txBody>
          <a:bodyPr wrap="square">
            <a:spAutoFit/>
          </a:bodyPr>
          <a:lstStyle/>
          <a:p>
            <a:r>
              <a:rPr lang="zh-CN" altLang="en-US" sz="2400" b="1" dirty="0">
                <a:solidFill>
                  <a:srgbClr val="C00000"/>
                </a:solidFill>
                <a:latin typeface="华文仿宋" panose="02010600040101010101" pitchFamily="2" charset="-122"/>
                <a:ea typeface="华文仿宋" panose="02010600040101010101" pitchFamily="2" charset="-122"/>
              </a:rPr>
              <a:t>作为警察的角色</a:t>
            </a:r>
            <a:endParaRPr lang="en-US" altLang="zh-CN" sz="2400" b="1" dirty="0">
              <a:solidFill>
                <a:srgbClr val="C00000"/>
              </a:solidFill>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        以业务流程为依据，需要及时发现和</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报告项目的问题，有选择地参加项目的技</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术评审，对交付成果和过程记进行定期或</a:t>
            </a:r>
            <a:endParaRPr lang="en-US" altLang="zh-CN" sz="2000" dirty="0">
              <a:latin typeface="华文仿宋" panose="02010600040101010101" pitchFamily="2" charset="-122"/>
              <a:ea typeface="华文仿宋" panose="02010600040101010101" pitchFamily="2" charset="-122"/>
            </a:endParaRPr>
          </a:p>
          <a:p>
            <a:r>
              <a:rPr lang="zh-CN" altLang="en-US" sz="2000" dirty="0">
                <a:latin typeface="华文仿宋" panose="02010600040101010101" pitchFamily="2" charset="-122"/>
                <a:ea typeface="华文仿宋" panose="02010600040101010101" pitchFamily="2" charset="-122"/>
              </a:rPr>
              <a:t>不定期的审计和评审；</a:t>
            </a:r>
            <a:endParaRPr lang="en-US" altLang="zh-CN" sz="2000" dirty="0">
              <a:latin typeface="华文仿宋" panose="02010600040101010101" pitchFamily="2" charset="-122"/>
              <a:ea typeface="华文仿宋" panose="02010600040101010101" pitchFamily="2" charset="-122"/>
            </a:endParaRPr>
          </a:p>
          <a:p>
            <a:r>
              <a:rPr lang="zh-CN" altLang="en-US" sz="2400" b="1" dirty="0">
                <a:solidFill>
                  <a:srgbClr val="C00000"/>
                </a:solidFill>
                <a:latin typeface="华文仿宋" panose="02010600040101010101" pitchFamily="2" charset="-122"/>
                <a:ea typeface="华文仿宋" panose="02010600040101010101" pitchFamily="2" charset="-122"/>
              </a:rPr>
              <a:t>作为教师的角色</a:t>
            </a:r>
            <a:endParaRPr lang="en-US" altLang="zh-CN" sz="2400" b="1" dirty="0">
              <a:solidFill>
                <a:srgbClr val="C00000"/>
              </a:solidFill>
              <a:latin typeface="华文仿宋" panose="02010600040101010101" pitchFamily="2" charset="-122"/>
              <a:ea typeface="华文仿宋" panose="02010600040101010101" pitchFamily="2" charset="-122"/>
            </a:endParaRPr>
          </a:p>
          <a:p>
            <a:r>
              <a:rPr lang="en-US" altLang="zh-CN" sz="2000" dirty="0">
                <a:latin typeface="华文仿宋" panose="02010600040101010101" pitchFamily="2" charset="-122"/>
                <a:ea typeface="华文仿宋" panose="02010600040101010101" pitchFamily="2" charset="-122"/>
              </a:rPr>
              <a:t>        </a:t>
            </a:r>
            <a:r>
              <a:rPr lang="zh-CN" altLang="en-US" sz="2000" dirty="0">
                <a:latin typeface="华文仿宋" panose="02010600040101010101" pitchFamily="2" charset="-122"/>
                <a:ea typeface="华文仿宋" panose="02010600040101010101" pitchFamily="2" charset="-122"/>
              </a:rPr>
              <a:t>质量保证辅助项目经理制定项目计划，包括对质量体系中的标准过程进行适当的剪裁，帮助项目进行估算，设定质量目标等。对项目成员进行过程和规范的培训，并在项目过程中对他们进行指导等；</a:t>
            </a:r>
            <a:endParaRPr lang="en-US" altLang="zh-CN" sz="2000" dirty="0">
              <a:latin typeface="华文仿宋" panose="02010600040101010101" pitchFamily="2" charset="-122"/>
              <a:ea typeface="华文仿宋" panose="02010600040101010101" pitchFamily="2" charset="-122"/>
            </a:endParaRPr>
          </a:p>
          <a:p>
            <a:r>
              <a:rPr lang="zh-CN" altLang="en-US" sz="2400" b="1" dirty="0">
                <a:solidFill>
                  <a:srgbClr val="C00000"/>
                </a:solidFill>
                <a:latin typeface="华文仿宋" panose="02010600040101010101" pitchFamily="2" charset="-122"/>
                <a:ea typeface="华文仿宋" panose="02010600040101010101" pitchFamily="2" charset="-122"/>
              </a:rPr>
              <a:t>作为医生的角色</a:t>
            </a:r>
            <a:endParaRPr lang="en-US" altLang="zh-CN" sz="2400" b="1" dirty="0">
              <a:solidFill>
                <a:srgbClr val="C00000"/>
              </a:solidFill>
              <a:latin typeface="华文仿宋" panose="02010600040101010101" pitchFamily="2" charset="-122"/>
              <a:ea typeface="华文仿宋" panose="02010600040101010101" pitchFamily="2" charset="-122"/>
            </a:endParaRPr>
          </a:p>
          <a:p>
            <a:r>
              <a:rPr lang="en-US" altLang="zh-CN" sz="2000" dirty="0">
                <a:latin typeface="华文仿宋" panose="02010600040101010101" pitchFamily="2" charset="-122"/>
                <a:ea typeface="华文仿宋" panose="02010600040101010101" pitchFamily="2" charset="-122"/>
              </a:rPr>
              <a:t>        </a:t>
            </a:r>
            <a:r>
              <a:rPr lang="zh-CN" altLang="en-US" sz="2000" dirty="0">
                <a:latin typeface="华文仿宋" panose="02010600040101010101" pitchFamily="2" charset="-122"/>
                <a:ea typeface="华文仿宋" panose="02010600040101010101" pitchFamily="2" charset="-122"/>
              </a:rPr>
              <a:t>质量保证人员应该在项目中对度量过程的数据进行收集、统计和分析，从而对项目进行诊断，帮助分析问题原因，并给出过程改进的处方。</a:t>
            </a:r>
            <a:endParaRPr lang="en-US" altLang="zh-CN" sz="2000" dirty="0">
              <a:latin typeface="华文仿宋" panose="02010600040101010101" pitchFamily="2" charset="-122"/>
              <a:ea typeface="华文仿宋" panose="02010600040101010101" pitchFamily="2" charset="-122"/>
            </a:endParaRPr>
          </a:p>
        </p:txBody>
      </p:sp>
      <p:pic>
        <p:nvPicPr>
          <p:cNvPr id="11" name="图片 10">
            <a:extLst>
              <a:ext uri="{FF2B5EF4-FFF2-40B4-BE49-F238E27FC236}">
                <a16:creationId xmlns:a16="http://schemas.microsoft.com/office/drawing/2014/main" id="{D016BF9E-32AF-4F93-88F1-8717E17ECB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7086" y="2141999"/>
            <a:ext cx="3230465" cy="1978660"/>
          </a:xfrm>
          <a:prstGeom prst="rect">
            <a:avLst/>
          </a:prstGeom>
        </p:spPr>
      </p:pic>
    </p:spTree>
    <p:extLst>
      <p:ext uri="{BB962C8B-B14F-4D97-AF65-F5344CB8AC3E}">
        <p14:creationId xmlns:p14="http://schemas.microsoft.com/office/powerpoint/2010/main" val="1692775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51A75C4-A243-451F-B9C4-3D42C4DDC99A}"/>
              </a:ext>
            </a:extLst>
          </p:cNvPr>
          <p:cNvSpPr/>
          <p:nvPr/>
        </p:nvSpPr>
        <p:spPr>
          <a:xfrm>
            <a:off x="6202973" y="428919"/>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矩形 4">
            <a:extLst>
              <a:ext uri="{FF2B5EF4-FFF2-40B4-BE49-F238E27FC236}">
                <a16:creationId xmlns:a16="http://schemas.microsoft.com/office/drawing/2014/main" id="{F0A471D2-D884-40B0-8C13-0EF571F96618}"/>
              </a:ext>
            </a:extLst>
          </p:cNvPr>
          <p:cNvSpPr/>
          <p:nvPr/>
        </p:nvSpPr>
        <p:spPr>
          <a:xfrm>
            <a:off x="3144864" y="1309357"/>
            <a:ext cx="7646645" cy="523220"/>
          </a:xfrm>
          <a:prstGeom prst="rect">
            <a:avLst/>
          </a:prstGeom>
        </p:spPr>
        <p:txBody>
          <a:bodyPr wrap="none">
            <a:spAutoFit/>
          </a:bodyPr>
          <a:lstStyle/>
          <a:p>
            <a:r>
              <a:rPr lang="zh-CN" altLang="en-US" sz="2800" b="1" dirty="0">
                <a:latin typeface="华文仿宋" panose="02010600040101010101" pitchFamily="2" charset="-122"/>
                <a:ea typeface="华文仿宋" panose="02010600040101010101" pitchFamily="2" charset="-122"/>
              </a:rPr>
              <a:t>质量管理的理想与宗旨</a:t>
            </a:r>
            <a:r>
              <a:rPr lang="en-US" altLang="zh-CN" sz="2800" b="1" dirty="0">
                <a:latin typeface="华文仿宋" panose="02010600040101010101" pitchFamily="2" charset="-122"/>
                <a:ea typeface="华文仿宋" panose="02010600040101010101" pitchFamily="2" charset="-122"/>
              </a:rPr>
              <a:t>-</a:t>
            </a:r>
            <a:r>
              <a:rPr lang="zh-CN" altLang="en-US" sz="2800" b="1" dirty="0">
                <a:latin typeface="华文仿宋" panose="02010600040101010101" pitchFamily="2" charset="-122"/>
                <a:ea typeface="华文仿宋" panose="02010600040101010101" pitchFamily="2" charset="-122"/>
              </a:rPr>
              <a:t>扁鹊三兄弟的医术（</a:t>
            </a:r>
            <a:r>
              <a:rPr lang="en-US" altLang="zh-CN" sz="2800" b="1" dirty="0">
                <a:latin typeface="华文仿宋" panose="02010600040101010101" pitchFamily="2" charset="-122"/>
                <a:ea typeface="华文仿宋" panose="02010600040101010101" pitchFamily="2" charset="-122"/>
              </a:rPr>
              <a:t>1</a:t>
            </a:r>
            <a:r>
              <a:rPr lang="zh-CN" altLang="en-US" sz="2800" b="1" dirty="0">
                <a:latin typeface="华文仿宋" panose="02010600040101010101" pitchFamily="2" charset="-122"/>
                <a:ea typeface="华文仿宋" panose="02010600040101010101" pitchFamily="2" charset="-122"/>
              </a:rPr>
              <a:t>）</a:t>
            </a:r>
            <a:endParaRPr lang="en-US" altLang="zh-CN" sz="2800" b="1" dirty="0">
              <a:latin typeface="华文仿宋" panose="02010600040101010101" pitchFamily="2" charset="-122"/>
              <a:ea typeface="华文仿宋" panose="02010600040101010101" pitchFamily="2" charset="-122"/>
            </a:endParaRPr>
          </a:p>
        </p:txBody>
      </p:sp>
      <p:pic>
        <p:nvPicPr>
          <p:cNvPr id="7" name="Picture 2" descr="https://ss1.baidu.com/6ONXsjip0QIZ8tyhnq/it/u=3727300840,1351348910&amp;fm=173&amp;app=49&amp;f=JPEG?w=322&amp;h=182&amp;s=55A8BF550E534CD048BCF86403005063">
            <a:extLst>
              <a:ext uri="{FF2B5EF4-FFF2-40B4-BE49-F238E27FC236}">
                <a16:creationId xmlns:a16="http://schemas.microsoft.com/office/drawing/2014/main" id="{01680599-73BE-45DA-BFED-57194409E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855" y="1950598"/>
            <a:ext cx="2730536" cy="154334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7CC810A6-FBBE-403D-90EE-AD6E62899B31}"/>
              </a:ext>
            </a:extLst>
          </p:cNvPr>
          <p:cNvSpPr/>
          <p:nvPr/>
        </p:nvSpPr>
        <p:spPr>
          <a:xfrm>
            <a:off x="5023583" y="1950598"/>
            <a:ext cx="5767926" cy="461665"/>
          </a:xfrm>
          <a:prstGeom prst="rect">
            <a:avLst/>
          </a:prstGeom>
        </p:spPr>
        <p:txBody>
          <a:bodyPr wrap="none">
            <a:spAutoFit/>
          </a:bodyPr>
          <a:lstStyle/>
          <a:p>
            <a:r>
              <a:rPr lang="en-US"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鶡（</a:t>
            </a:r>
            <a:r>
              <a:rPr lang="en-US" altLang="zh-CN" sz="2400" dirty="0"/>
              <a:t>[</a:t>
            </a:r>
            <a:r>
              <a:rPr lang="en-US" altLang="zh-CN" sz="2400" dirty="0" err="1"/>
              <a:t>hé</a:t>
            </a:r>
            <a:r>
              <a:rPr lang="en-US" altLang="zh-CN" sz="2400" dirty="0"/>
              <a:t>]</a:t>
            </a:r>
            <a:r>
              <a:rPr lang="zh-CN" altLang="en-US" sz="2400" dirty="0">
                <a:latin typeface="仿宋" panose="02010609060101010101" pitchFamily="49" charset="-122"/>
                <a:ea typeface="仿宋" panose="02010609060101010101" pitchFamily="49" charset="-122"/>
              </a:rPr>
              <a:t>）冠子</a:t>
            </a:r>
            <a:r>
              <a:rPr lang="en-US"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卷下</a:t>
            </a:r>
            <a:r>
              <a:rPr lang="en-US"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世贤第十六</a:t>
            </a:r>
            <a:r>
              <a:rPr lang="en-US" altLang="zh-CN" sz="2400" dirty="0">
                <a:latin typeface="仿宋" panose="02010609060101010101" pitchFamily="49" charset="-122"/>
                <a:ea typeface="仿宋" panose="02010609060101010101" pitchFamily="49" charset="-122"/>
              </a:rPr>
              <a:t>》</a:t>
            </a:r>
            <a:endParaRPr lang="zh-CN" altLang="en-US" sz="2400" dirty="0"/>
          </a:p>
        </p:txBody>
      </p:sp>
      <p:sp>
        <p:nvSpPr>
          <p:cNvPr id="11" name="矩形 10">
            <a:extLst>
              <a:ext uri="{FF2B5EF4-FFF2-40B4-BE49-F238E27FC236}">
                <a16:creationId xmlns:a16="http://schemas.microsoft.com/office/drawing/2014/main" id="{98A150DC-E66F-46C6-840B-83632EFAE755}"/>
              </a:ext>
            </a:extLst>
          </p:cNvPr>
          <p:cNvSpPr/>
          <p:nvPr/>
        </p:nvSpPr>
        <p:spPr>
          <a:xfrm>
            <a:off x="4890171" y="2530284"/>
            <a:ext cx="5414376" cy="1200329"/>
          </a:xfrm>
          <a:prstGeom prst="rect">
            <a:avLst/>
          </a:prstGeom>
        </p:spPr>
        <p:txBody>
          <a:bodyPr wrap="square">
            <a:spAutoFit/>
          </a:bodyPr>
          <a:lstStyle/>
          <a:p>
            <a:r>
              <a:rPr lang="zh-CN" altLang="en-US" sz="2400" dirty="0">
                <a:latin typeface="仿宋" panose="02010609060101010101" pitchFamily="49" charset="-122"/>
                <a:ea typeface="仿宋" panose="02010609060101010101" pitchFamily="49" charset="-122"/>
              </a:rPr>
              <a:t>    魏文王之问扁鹊耶？曰：“子昆弟三人其孰最善为医？”扁鹊曰：“长兄最善，中兄次之，扁鹊最为下。”</a:t>
            </a:r>
            <a:endParaRPr lang="en-US" altLang="zh-CN" sz="2400" dirty="0">
              <a:latin typeface="仿宋" panose="02010609060101010101" pitchFamily="49" charset="-122"/>
              <a:ea typeface="仿宋" panose="02010609060101010101" pitchFamily="49" charset="-122"/>
            </a:endParaRPr>
          </a:p>
        </p:txBody>
      </p:sp>
      <p:sp>
        <p:nvSpPr>
          <p:cNvPr id="13" name="矩形 12">
            <a:extLst>
              <a:ext uri="{FF2B5EF4-FFF2-40B4-BE49-F238E27FC236}">
                <a16:creationId xmlns:a16="http://schemas.microsoft.com/office/drawing/2014/main" id="{554E4013-2B7B-4141-B46C-06124BD944CC}"/>
              </a:ext>
            </a:extLst>
          </p:cNvPr>
          <p:cNvSpPr/>
          <p:nvPr/>
        </p:nvSpPr>
        <p:spPr>
          <a:xfrm>
            <a:off x="2273945" y="3860423"/>
            <a:ext cx="8183880" cy="2308324"/>
          </a:xfrm>
          <a:prstGeom prst="rect">
            <a:avLst/>
          </a:prstGeom>
        </p:spPr>
        <p:txBody>
          <a:bodyPr wrap="square">
            <a:spAutoFit/>
          </a:bodyPr>
          <a:lstStyle/>
          <a:p>
            <a:r>
              <a:rPr lang="zh-CN" altLang="en-US" sz="2400" dirty="0">
                <a:latin typeface="仿宋" panose="02010609060101010101" pitchFamily="49" charset="-122"/>
                <a:ea typeface="仿宋" panose="02010609060101010101" pitchFamily="49" charset="-122"/>
              </a:rPr>
              <a:t>    魏文侯曰：“可得闻邪？”    </a:t>
            </a:r>
            <a:endParaRPr lang="en-US" altLang="zh-CN" sz="2400" dirty="0">
              <a:latin typeface="仿宋" panose="02010609060101010101" pitchFamily="49" charset="-122"/>
              <a:ea typeface="仿宋" panose="02010609060101010101" pitchFamily="49" charset="-122"/>
            </a:endParaRPr>
          </a:p>
          <a:p>
            <a:r>
              <a:rPr lang="en-US" altLang="zh-CN" sz="2400" dirty="0">
                <a:latin typeface="仿宋" panose="02010609060101010101" pitchFamily="49" charset="-122"/>
                <a:ea typeface="仿宋" panose="02010609060101010101" pitchFamily="49" charset="-122"/>
              </a:rPr>
              <a:t>    </a:t>
            </a:r>
            <a:r>
              <a:rPr lang="zh-CN" altLang="en-US" sz="2400" dirty="0">
                <a:latin typeface="仿宋" panose="02010609060101010101" pitchFamily="49" charset="-122"/>
                <a:ea typeface="仿宋" panose="02010609060101010101" pitchFamily="49" charset="-122"/>
              </a:rPr>
              <a:t>扁鹊曰：“长兄于病视神，未有形而除之，故名不出于家。中兄治病，其在毫毛，故名不出于闾。若扁鹊者，镵血脉，投毒药，副肌肤，闲而名出闻于诸侯。”</a:t>
            </a:r>
            <a:endParaRPr lang="en-US" altLang="zh-CN" sz="2400" dirty="0">
              <a:latin typeface="仿宋" panose="02010609060101010101" pitchFamily="49" charset="-122"/>
              <a:ea typeface="仿宋" panose="02010609060101010101" pitchFamily="49" charset="-122"/>
            </a:endParaRPr>
          </a:p>
          <a:p>
            <a:r>
              <a:rPr lang="en-US" altLang="zh-CN" sz="2400" dirty="0">
                <a:latin typeface="仿宋" panose="02010609060101010101" pitchFamily="49" charset="-122"/>
                <a:ea typeface="仿宋" panose="02010609060101010101" pitchFamily="49" charset="-122"/>
              </a:rPr>
              <a:t>    </a:t>
            </a:r>
            <a:r>
              <a:rPr lang="zh-CN" altLang="en-US" sz="2400" dirty="0">
                <a:latin typeface="仿宋" panose="02010609060101010101" pitchFamily="49" charset="-122"/>
                <a:ea typeface="仿宋" panose="02010609060101010101" pitchFamily="49" charset="-122"/>
              </a:rPr>
              <a:t>魏文侯曰：“善。使管子行医术以扁鹊之道，曰桓公几能成其霸乎！”</a:t>
            </a:r>
            <a:endParaRPr lang="en-US" altLang="zh-CN" sz="2400" dirty="0">
              <a:solidFill>
                <a:srgbClr val="333333"/>
              </a:solidFill>
              <a:latin typeface="华文仿宋" panose="02010600040101010101" pitchFamily="2" charset="-122"/>
              <a:ea typeface="华文仿宋" panose="02010600040101010101" pitchFamily="2" charset="-122"/>
            </a:endParaRPr>
          </a:p>
        </p:txBody>
      </p:sp>
      <p:pic>
        <p:nvPicPr>
          <p:cNvPr id="15" name="图片 14">
            <a:extLst>
              <a:ext uri="{FF2B5EF4-FFF2-40B4-BE49-F238E27FC236}">
                <a16:creationId xmlns:a16="http://schemas.microsoft.com/office/drawing/2014/main" id="{D4A04952-1969-44FD-A55B-A00D22B050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306972" cy="1486268"/>
          </a:xfrm>
          <a:prstGeom prst="rect">
            <a:avLst/>
          </a:prstGeom>
        </p:spPr>
      </p:pic>
    </p:spTree>
    <p:extLst>
      <p:ext uri="{BB962C8B-B14F-4D97-AF65-F5344CB8AC3E}">
        <p14:creationId xmlns:p14="http://schemas.microsoft.com/office/powerpoint/2010/main" val="3026025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A6353021-5890-4F3B-ABDE-CE6DD4126711}"/>
              </a:ext>
            </a:extLst>
          </p:cNvPr>
          <p:cNvSpPr/>
          <p:nvPr/>
        </p:nvSpPr>
        <p:spPr>
          <a:xfrm>
            <a:off x="6244918" y="479253"/>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17" name="矩形 16">
            <a:extLst>
              <a:ext uri="{FF2B5EF4-FFF2-40B4-BE49-F238E27FC236}">
                <a16:creationId xmlns:a16="http://schemas.microsoft.com/office/drawing/2014/main" id="{5DB6E771-3ECC-45AC-AF5D-7083ED3C1101}"/>
              </a:ext>
            </a:extLst>
          </p:cNvPr>
          <p:cNvSpPr/>
          <p:nvPr/>
        </p:nvSpPr>
        <p:spPr>
          <a:xfrm>
            <a:off x="3488113" y="1289573"/>
            <a:ext cx="7646645" cy="523220"/>
          </a:xfrm>
          <a:prstGeom prst="rect">
            <a:avLst/>
          </a:prstGeom>
        </p:spPr>
        <p:txBody>
          <a:bodyPr wrap="none">
            <a:spAutoFit/>
          </a:bodyPr>
          <a:lstStyle/>
          <a:p>
            <a:r>
              <a:rPr lang="zh-CN" altLang="en-US" sz="2800" b="1" dirty="0">
                <a:latin typeface="华文仿宋" panose="02010600040101010101" pitchFamily="2" charset="-122"/>
                <a:ea typeface="华文仿宋" panose="02010600040101010101" pitchFamily="2" charset="-122"/>
              </a:rPr>
              <a:t>质量管理的理想与宗旨</a:t>
            </a:r>
            <a:r>
              <a:rPr lang="en-US" altLang="zh-CN" sz="2800" b="1" dirty="0">
                <a:latin typeface="华文仿宋" panose="02010600040101010101" pitchFamily="2" charset="-122"/>
                <a:ea typeface="华文仿宋" panose="02010600040101010101" pitchFamily="2" charset="-122"/>
              </a:rPr>
              <a:t>-</a:t>
            </a:r>
            <a:r>
              <a:rPr lang="zh-CN" altLang="en-US" sz="2800" b="1" dirty="0">
                <a:latin typeface="华文仿宋" panose="02010600040101010101" pitchFamily="2" charset="-122"/>
                <a:ea typeface="华文仿宋" panose="02010600040101010101" pitchFamily="2" charset="-122"/>
              </a:rPr>
              <a:t>扁鹊三兄弟的医术（</a:t>
            </a:r>
            <a:r>
              <a:rPr lang="en-US" altLang="zh-CN" sz="2800" b="1" dirty="0">
                <a:latin typeface="华文仿宋" panose="02010600040101010101" pitchFamily="2" charset="-122"/>
                <a:ea typeface="华文仿宋" panose="02010600040101010101" pitchFamily="2" charset="-122"/>
              </a:rPr>
              <a:t>2</a:t>
            </a:r>
            <a:r>
              <a:rPr lang="zh-CN" altLang="en-US" sz="2800" b="1" dirty="0">
                <a:latin typeface="华文仿宋" panose="02010600040101010101" pitchFamily="2" charset="-122"/>
                <a:ea typeface="华文仿宋" panose="02010600040101010101" pitchFamily="2" charset="-122"/>
              </a:rPr>
              <a:t>）</a:t>
            </a:r>
            <a:endParaRPr lang="en-US" altLang="zh-CN" sz="2800" b="1" dirty="0">
              <a:latin typeface="华文仿宋" panose="02010600040101010101" pitchFamily="2" charset="-122"/>
              <a:ea typeface="华文仿宋" panose="02010600040101010101" pitchFamily="2" charset="-122"/>
            </a:endParaRPr>
          </a:p>
        </p:txBody>
      </p:sp>
      <p:sp>
        <p:nvSpPr>
          <p:cNvPr id="19" name="矩形 18">
            <a:extLst>
              <a:ext uri="{FF2B5EF4-FFF2-40B4-BE49-F238E27FC236}">
                <a16:creationId xmlns:a16="http://schemas.microsoft.com/office/drawing/2014/main" id="{F8D7B055-6CF8-49CA-9E6F-01762A26B5D5}"/>
              </a:ext>
            </a:extLst>
          </p:cNvPr>
          <p:cNvSpPr/>
          <p:nvPr/>
        </p:nvSpPr>
        <p:spPr>
          <a:xfrm>
            <a:off x="4454553" y="1990641"/>
            <a:ext cx="7402357" cy="1015663"/>
          </a:xfrm>
          <a:prstGeom prst="rect">
            <a:avLst/>
          </a:prstGeom>
        </p:spPr>
        <p:txBody>
          <a:bodyPr wrap="square">
            <a:spAutoFit/>
          </a:bodyPr>
          <a:lstStyle/>
          <a:p>
            <a:r>
              <a:rPr lang="zh-CN" altLang="en-US" sz="2000" dirty="0">
                <a:solidFill>
                  <a:srgbClr val="333333"/>
                </a:solidFill>
                <a:latin typeface="华文仿宋" panose="02010600040101010101" pitchFamily="2" charset="-122"/>
                <a:ea typeface="华文仿宋" panose="02010600040101010101" pitchFamily="2" charset="-122"/>
              </a:rPr>
              <a:t>        一天，魏文王问扁鹊一个问题，他说：“你们家兄弟三人的医术都很棒，那么到底哪一位的水平才是最高的呢？”扁鹊说：“大哥的医术最好，二哥的医术排名第二，而我则是最差的。”</a:t>
            </a:r>
            <a:endParaRPr lang="en-US" altLang="zh-CN" sz="2000" dirty="0">
              <a:solidFill>
                <a:srgbClr val="333333"/>
              </a:solidFill>
              <a:latin typeface="华文仿宋" panose="02010600040101010101" pitchFamily="2" charset="-122"/>
              <a:ea typeface="华文仿宋" panose="02010600040101010101" pitchFamily="2" charset="-122"/>
            </a:endParaRPr>
          </a:p>
        </p:txBody>
      </p:sp>
      <p:pic>
        <p:nvPicPr>
          <p:cNvPr id="21" name="图片 20">
            <a:extLst>
              <a:ext uri="{FF2B5EF4-FFF2-40B4-BE49-F238E27FC236}">
                <a16:creationId xmlns:a16="http://schemas.microsoft.com/office/drawing/2014/main" id="{F11184FA-5666-4A6C-A0D1-373D0DCAFD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06972" cy="1486268"/>
          </a:xfrm>
          <a:prstGeom prst="rect">
            <a:avLst/>
          </a:prstGeom>
        </p:spPr>
      </p:pic>
      <p:pic>
        <p:nvPicPr>
          <p:cNvPr id="23" name="图片 22">
            <a:extLst>
              <a:ext uri="{FF2B5EF4-FFF2-40B4-BE49-F238E27FC236}">
                <a16:creationId xmlns:a16="http://schemas.microsoft.com/office/drawing/2014/main" id="{5D8E77B3-CEF5-4371-9634-A784FFD2B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463" y="1941015"/>
            <a:ext cx="3655017" cy="1658869"/>
          </a:xfrm>
          <a:prstGeom prst="rect">
            <a:avLst/>
          </a:prstGeom>
        </p:spPr>
      </p:pic>
      <p:sp>
        <p:nvSpPr>
          <p:cNvPr id="25" name="文本框 24">
            <a:extLst>
              <a:ext uri="{FF2B5EF4-FFF2-40B4-BE49-F238E27FC236}">
                <a16:creationId xmlns:a16="http://schemas.microsoft.com/office/drawing/2014/main" id="{E7D58C83-1B60-4983-B98B-20D5FDFB66DE}"/>
              </a:ext>
            </a:extLst>
          </p:cNvPr>
          <p:cNvSpPr txBox="1"/>
          <p:nvPr/>
        </p:nvSpPr>
        <p:spPr>
          <a:xfrm>
            <a:off x="218114" y="3739393"/>
            <a:ext cx="11434194" cy="2862322"/>
          </a:xfrm>
          <a:prstGeom prst="rect">
            <a:avLst/>
          </a:prstGeom>
          <a:noFill/>
        </p:spPr>
        <p:txBody>
          <a:bodyPr wrap="square">
            <a:spAutoFit/>
          </a:bodyPr>
          <a:lstStyle/>
          <a:p>
            <a:r>
              <a:rPr lang="zh-CN" altLang="en-US" sz="2000" dirty="0">
                <a:solidFill>
                  <a:srgbClr val="333333"/>
                </a:solidFill>
                <a:latin typeface="华文仿宋" panose="02010600040101010101" pitchFamily="2" charset="-122"/>
                <a:ea typeface="华文仿宋" panose="02010600040101010101" pitchFamily="2" charset="-122"/>
              </a:rPr>
              <a:t>魏文王非常疑惑，他又问道：“那为什么医术最差的你却如此出名呢？”</a:t>
            </a:r>
            <a:endParaRPr lang="en-US" altLang="zh-CN" sz="2000" dirty="0">
              <a:solidFill>
                <a:srgbClr val="333333"/>
              </a:solidFill>
              <a:latin typeface="华文仿宋" panose="02010600040101010101" pitchFamily="2" charset="-122"/>
              <a:ea typeface="华文仿宋" panose="02010600040101010101" pitchFamily="2" charset="-122"/>
            </a:endParaRPr>
          </a:p>
          <a:p>
            <a:r>
              <a:rPr lang="en-US" altLang="zh-CN" sz="2000" dirty="0">
                <a:solidFill>
                  <a:srgbClr val="333333"/>
                </a:solidFill>
                <a:latin typeface="华文仿宋" panose="02010600040101010101" pitchFamily="2" charset="-122"/>
                <a:ea typeface="华文仿宋" panose="02010600040101010101" pitchFamily="2" charset="-122"/>
              </a:rPr>
              <a:t>        </a:t>
            </a:r>
            <a:r>
              <a:rPr lang="zh-CN" altLang="en-US" sz="2000" dirty="0">
                <a:solidFill>
                  <a:srgbClr val="333333"/>
                </a:solidFill>
                <a:latin typeface="华文仿宋" panose="02010600040101010101" pitchFamily="2" charset="-122"/>
                <a:ea typeface="华文仿宋" panose="02010600040101010101" pitchFamily="2" charset="-122"/>
              </a:rPr>
              <a:t>扁鹊又回答说：“大哥主要是在病人的病情发作之前对她们进行治疗，所以在大多数情况下，人们是不知道他可以提前铲除病因，因此大哥的名气根本没有办法让很多人知道。而二哥治病主要是在病人刚刚发作的时候，很多人都认为他仅仅可以治那些很轻的小病，因此他的名气也不是很大。而我跟他们两个不同，我治病主要是在人们病情都极其严重的时候，很多人都可以看见我在经脉上放血，穿针在皮肤上，做很多大的手术，所以大家都认为我的医术最为高明，所以名气很大。”</a:t>
            </a:r>
            <a:endParaRPr lang="en-US" altLang="zh-CN" sz="2000" dirty="0">
              <a:solidFill>
                <a:srgbClr val="333333"/>
              </a:solidFill>
              <a:latin typeface="华文仿宋" panose="02010600040101010101" pitchFamily="2" charset="-122"/>
              <a:ea typeface="华文仿宋" panose="02010600040101010101" pitchFamily="2" charset="-122"/>
            </a:endParaRPr>
          </a:p>
          <a:p>
            <a:r>
              <a:rPr lang="en-US" altLang="zh-CN" sz="2000" dirty="0">
                <a:solidFill>
                  <a:srgbClr val="333333"/>
                </a:solidFill>
                <a:latin typeface="华文仿宋" panose="02010600040101010101" pitchFamily="2" charset="-122"/>
                <a:ea typeface="华文仿宋" panose="02010600040101010101" pitchFamily="2" charset="-122"/>
              </a:rPr>
              <a:t>        </a:t>
            </a:r>
            <a:r>
              <a:rPr lang="zh-CN" altLang="en-US" sz="2000" dirty="0">
                <a:solidFill>
                  <a:srgbClr val="333333"/>
                </a:solidFill>
                <a:latin typeface="华文仿宋" panose="02010600040101010101" pitchFamily="2" charset="-122"/>
                <a:ea typeface="华文仿宋" panose="02010600040101010101" pitchFamily="2" charset="-122"/>
              </a:rPr>
              <a:t>这个故事告诉我们，最好的方式是善于调理</a:t>
            </a:r>
            <a:r>
              <a:rPr lang="zh-CN" altLang="en-US" sz="2000" dirty="0">
                <a:latin typeface="华文仿宋" panose="02010600040101010101" pitchFamily="2" charset="-122"/>
                <a:ea typeface="华文仿宋" panose="02010600040101010101" pitchFamily="2" charset="-122"/>
              </a:rPr>
              <a:t>、养生，根本不生病，这是最高层次的系统思考的智慧，精通系统之道，顺势而为，游刃有余。次一级的智慧是提前预见并采取措施，将问题消除在萌芽状态，不使其发作。最低层次的才是遇到问题解决问题。</a:t>
            </a:r>
            <a:endParaRPr lang="zh-CN" altLang="en-US" sz="2000" dirty="0"/>
          </a:p>
        </p:txBody>
      </p:sp>
    </p:spTree>
    <p:extLst>
      <p:ext uri="{BB962C8B-B14F-4D97-AF65-F5344CB8AC3E}">
        <p14:creationId xmlns:p14="http://schemas.microsoft.com/office/powerpoint/2010/main" val="3722237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s://pics2.baidu.com/feed/80cb39dbb6fd5266c1626cd31c6c382fd5073620.jpeg?token=9dbf64762dd4e535a652ebc6bb879859&amp;s=1918E01109D059C044696DD60100C0B2">
            <a:extLst>
              <a:ext uri="{FF2B5EF4-FFF2-40B4-BE49-F238E27FC236}">
                <a16:creationId xmlns:a16="http://schemas.microsoft.com/office/drawing/2014/main" id="{72FFC350-4924-4FC3-AF69-E3FD3BB31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076" y="161520"/>
            <a:ext cx="2865826" cy="1776338"/>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5EAD87CD-D1C3-4DBA-BBA4-F92D80C0B50D}"/>
              </a:ext>
            </a:extLst>
          </p:cNvPr>
          <p:cNvSpPr/>
          <p:nvPr/>
        </p:nvSpPr>
        <p:spPr>
          <a:xfrm>
            <a:off x="7007751" y="319862"/>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9" name="矩形 8">
            <a:extLst>
              <a:ext uri="{FF2B5EF4-FFF2-40B4-BE49-F238E27FC236}">
                <a16:creationId xmlns:a16="http://schemas.microsoft.com/office/drawing/2014/main" id="{23549546-C61F-453C-8E29-3F94F35B75A7}"/>
              </a:ext>
            </a:extLst>
          </p:cNvPr>
          <p:cNvSpPr/>
          <p:nvPr/>
        </p:nvSpPr>
        <p:spPr>
          <a:xfrm>
            <a:off x="3291736" y="1676248"/>
            <a:ext cx="7646645" cy="523220"/>
          </a:xfrm>
          <a:prstGeom prst="rect">
            <a:avLst/>
          </a:prstGeom>
        </p:spPr>
        <p:txBody>
          <a:bodyPr wrap="none">
            <a:spAutoFit/>
          </a:bodyPr>
          <a:lstStyle/>
          <a:p>
            <a:r>
              <a:rPr lang="zh-CN" altLang="en-US" sz="2800" b="1" dirty="0">
                <a:latin typeface="华文仿宋" panose="02010600040101010101" pitchFamily="2" charset="-122"/>
                <a:ea typeface="华文仿宋" panose="02010600040101010101" pitchFamily="2" charset="-122"/>
              </a:rPr>
              <a:t>质量管理的理想与宗旨</a:t>
            </a:r>
            <a:r>
              <a:rPr lang="en-US" altLang="zh-CN" sz="2800" b="1" dirty="0">
                <a:latin typeface="华文仿宋" panose="02010600040101010101" pitchFamily="2" charset="-122"/>
                <a:ea typeface="华文仿宋" panose="02010600040101010101" pitchFamily="2" charset="-122"/>
              </a:rPr>
              <a:t>-</a:t>
            </a:r>
            <a:r>
              <a:rPr lang="zh-CN" altLang="en-US" sz="2800" b="1" dirty="0">
                <a:latin typeface="华文仿宋" panose="02010600040101010101" pitchFamily="2" charset="-122"/>
                <a:ea typeface="华文仿宋" panose="02010600040101010101" pitchFamily="2" charset="-122"/>
              </a:rPr>
              <a:t>扁鹊三兄弟的医术（</a:t>
            </a:r>
            <a:r>
              <a:rPr lang="en-US" altLang="zh-CN" sz="2800" b="1" dirty="0">
                <a:latin typeface="华文仿宋" panose="02010600040101010101" pitchFamily="2" charset="-122"/>
                <a:ea typeface="华文仿宋" panose="02010600040101010101" pitchFamily="2" charset="-122"/>
              </a:rPr>
              <a:t>3</a:t>
            </a:r>
            <a:r>
              <a:rPr lang="zh-CN" altLang="en-US" sz="2800" b="1" dirty="0">
                <a:latin typeface="华文仿宋" panose="02010600040101010101" pitchFamily="2" charset="-122"/>
                <a:ea typeface="华文仿宋" panose="02010600040101010101" pitchFamily="2" charset="-122"/>
              </a:rPr>
              <a:t>）</a:t>
            </a:r>
            <a:endParaRPr lang="en-US" altLang="zh-CN" sz="2800" b="1" dirty="0">
              <a:latin typeface="华文仿宋" panose="02010600040101010101" pitchFamily="2" charset="-122"/>
              <a:ea typeface="华文仿宋" panose="02010600040101010101" pitchFamily="2" charset="-122"/>
            </a:endParaRPr>
          </a:p>
        </p:txBody>
      </p:sp>
      <p:sp>
        <p:nvSpPr>
          <p:cNvPr id="11" name="矩形 10">
            <a:extLst>
              <a:ext uri="{FF2B5EF4-FFF2-40B4-BE49-F238E27FC236}">
                <a16:creationId xmlns:a16="http://schemas.microsoft.com/office/drawing/2014/main" id="{7B569CFC-58F9-41D2-B5A7-850BD51906DA}"/>
              </a:ext>
            </a:extLst>
          </p:cNvPr>
          <p:cNvSpPr/>
          <p:nvPr/>
        </p:nvSpPr>
        <p:spPr>
          <a:xfrm>
            <a:off x="1610686" y="2633468"/>
            <a:ext cx="9628808" cy="3416320"/>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        从质量管理的角度分析这个故事。它告诉我们，最好的质量管理方式是善于调理，协调。精通质量管理之道，顺势而为，游刃有余，根本不出现质量问题，这是质量管理的理想和宗旨，我们简单认为是质量管理的系统协调层；</a:t>
            </a:r>
            <a:endParaRPr lang="en-US" altLang="zh-CN" sz="2400" dirty="0">
              <a:latin typeface="华文仿宋" panose="02010600040101010101" pitchFamily="2" charset="-122"/>
              <a:ea typeface="华文仿宋" panose="02010600040101010101" pitchFamily="2" charset="-122"/>
            </a:endParaRPr>
          </a:p>
          <a:p>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次一层次的质量管理是提前预见并采取措施，将问题尽量消除在萌芽状态，不会产生更大的质量问题，我们简单认为是质量管理的模式预测层，这是当前质量管理应用的高层次表现；</a:t>
            </a:r>
            <a:endParaRPr lang="en-US" altLang="zh-CN" sz="2400" dirty="0">
              <a:latin typeface="华文仿宋" panose="02010600040101010101" pitchFamily="2" charset="-122"/>
              <a:ea typeface="华文仿宋" panose="02010600040101010101" pitchFamily="2" charset="-122"/>
            </a:endParaRPr>
          </a:p>
          <a:p>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第三层次是遇见问题，解决问题，毫无预见，我们简单认为是质量管理的现象反映层。</a:t>
            </a:r>
          </a:p>
        </p:txBody>
      </p:sp>
    </p:spTree>
    <p:extLst>
      <p:ext uri="{BB962C8B-B14F-4D97-AF65-F5344CB8AC3E}">
        <p14:creationId xmlns:p14="http://schemas.microsoft.com/office/powerpoint/2010/main" val="709990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A322B6D-AE73-46DF-A8CA-3E944C85BC02}"/>
              </a:ext>
            </a:extLst>
          </p:cNvPr>
          <p:cNvSpPr/>
          <p:nvPr/>
        </p:nvSpPr>
        <p:spPr>
          <a:xfrm>
            <a:off x="6228140" y="756089"/>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7" name="矩形 6">
            <a:extLst>
              <a:ext uri="{FF2B5EF4-FFF2-40B4-BE49-F238E27FC236}">
                <a16:creationId xmlns:a16="http://schemas.microsoft.com/office/drawing/2014/main" id="{8187178F-94F4-4E89-80C8-360BAC373A32}"/>
              </a:ext>
            </a:extLst>
          </p:cNvPr>
          <p:cNvSpPr/>
          <p:nvPr/>
        </p:nvSpPr>
        <p:spPr>
          <a:xfrm>
            <a:off x="3361566" y="2732458"/>
            <a:ext cx="7782560" cy="2677656"/>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从质量管理的角度来看，这个小故事的大道理在于</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        事后控制不如事中控制，事中控制不如事前控制。</a:t>
            </a:r>
            <a:endParaRPr lang="en-US" altLang="zh-CN" sz="2400" dirty="0">
              <a:latin typeface="华文仿宋" panose="02010600040101010101" pitchFamily="2" charset="-122"/>
              <a:ea typeface="华文仿宋" panose="02010600040101010101" pitchFamily="2" charset="-122"/>
            </a:endParaRPr>
          </a:p>
          <a:p>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工作中要转变观念，从“被动”转化为“主动”，从“消防员”转化为“安检员”。</a:t>
            </a:r>
            <a:endParaRPr lang="en-US" altLang="zh-CN" sz="2400" dirty="0">
              <a:latin typeface="华文仿宋" panose="02010600040101010101" pitchFamily="2" charset="-122"/>
              <a:ea typeface="华文仿宋" panose="02010600040101010101" pitchFamily="2" charset="-122"/>
            </a:endParaRPr>
          </a:p>
          <a:p>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要以积极态度对待工作，不忽视任何小概率事件，主动拒绝一切错误的做法，防患于未然。</a:t>
            </a:r>
          </a:p>
        </p:txBody>
      </p:sp>
      <p:sp>
        <p:nvSpPr>
          <p:cNvPr id="9" name="矩形 8">
            <a:extLst>
              <a:ext uri="{FF2B5EF4-FFF2-40B4-BE49-F238E27FC236}">
                <a16:creationId xmlns:a16="http://schemas.microsoft.com/office/drawing/2014/main" id="{010226A3-955F-4222-A752-F65BE95D7E77}"/>
              </a:ext>
            </a:extLst>
          </p:cNvPr>
          <p:cNvSpPr/>
          <p:nvPr/>
        </p:nvSpPr>
        <p:spPr>
          <a:xfrm>
            <a:off x="2892143" y="1529089"/>
            <a:ext cx="7646645" cy="523220"/>
          </a:xfrm>
          <a:prstGeom prst="rect">
            <a:avLst/>
          </a:prstGeom>
        </p:spPr>
        <p:txBody>
          <a:bodyPr wrap="none">
            <a:spAutoFit/>
          </a:bodyPr>
          <a:lstStyle/>
          <a:p>
            <a:r>
              <a:rPr lang="zh-CN" altLang="en-US" sz="2800" b="1" dirty="0">
                <a:latin typeface="华文仿宋" panose="02010600040101010101" pitchFamily="2" charset="-122"/>
                <a:ea typeface="华文仿宋" panose="02010600040101010101" pitchFamily="2" charset="-122"/>
              </a:rPr>
              <a:t>质量管理的理想与宗旨</a:t>
            </a:r>
            <a:r>
              <a:rPr lang="en-US" altLang="zh-CN" sz="2800" b="1" dirty="0">
                <a:latin typeface="华文仿宋" panose="02010600040101010101" pitchFamily="2" charset="-122"/>
                <a:ea typeface="华文仿宋" panose="02010600040101010101" pitchFamily="2" charset="-122"/>
              </a:rPr>
              <a:t>-</a:t>
            </a:r>
            <a:r>
              <a:rPr lang="zh-CN" altLang="en-US" sz="2800" b="1" dirty="0">
                <a:latin typeface="华文仿宋" panose="02010600040101010101" pitchFamily="2" charset="-122"/>
                <a:ea typeface="华文仿宋" panose="02010600040101010101" pitchFamily="2" charset="-122"/>
              </a:rPr>
              <a:t>扁鹊三兄弟的医术（</a:t>
            </a:r>
            <a:r>
              <a:rPr lang="en-US" altLang="zh-CN" sz="2800" b="1" dirty="0">
                <a:latin typeface="华文仿宋" panose="02010600040101010101" pitchFamily="2" charset="-122"/>
                <a:ea typeface="华文仿宋" panose="02010600040101010101" pitchFamily="2" charset="-122"/>
              </a:rPr>
              <a:t>4</a:t>
            </a:r>
            <a:r>
              <a:rPr lang="zh-CN" altLang="en-US" sz="2800" b="1" dirty="0">
                <a:latin typeface="华文仿宋" panose="02010600040101010101" pitchFamily="2" charset="-122"/>
                <a:ea typeface="华文仿宋" panose="02010600040101010101" pitchFamily="2" charset="-122"/>
              </a:rPr>
              <a:t>）</a:t>
            </a:r>
            <a:endParaRPr lang="en-US" altLang="zh-CN" sz="2800" b="1" dirty="0">
              <a:latin typeface="华文仿宋" panose="02010600040101010101" pitchFamily="2" charset="-122"/>
              <a:ea typeface="华文仿宋" panose="02010600040101010101" pitchFamily="2" charset="-122"/>
            </a:endParaRPr>
          </a:p>
        </p:txBody>
      </p:sp>
      <p:pic>
        <p:nvPicPr>
          <p:cNvPr id="11" name="图片 10">
            <a:extLst>
              <a:ext uri="{FF2B5EF4-FFF2-40B4-BE49-F238E27FC236}">
                <a16:creationId xmlns:a16="http://schemas.microsoft.com/office/drawing/2014/main" id="{5AFF216D-B07F-4661-8F63-518B21840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1" y="1790699"/>
            <a:ext cx="2416134" cy="1685925"/>
          </a:xfrm>
          <a:prstGeom prst="rect">
            <a:avLst/>
          </a:prstGeom>
        </p:spPr>
      </p:pic>
    </p:spTree>
    <p:extLst>
      <p:ext uri="{BB962C8B-B14F-4D97-AF65-F5344CB8AC3E}">
        <p14:creationId xmlns:p14="http://schemas.microsoft.com/office/powerpoint/2010/main" val="3451981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B473A5D-E263-4D53-9123-741C702C089E}"/>
              </a:ext>
            </a:extLst>
          </p:cNvPr>
          <p:cNvSpPr/>
          <p:nvPr/>
        </p:nvSpPr>
        <p:spPr>
          <a:xfrm>
            <a:off x="6848925" y="219194"/>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矩形 4">
            <a:extLst>
              <a:ext uri="{FF2B5EF4-FFF2-40B4-BE49-F238E27FC236}">
                <a16:creationId xmlns:a16="http://schemas.microsoft.com/office/drawing/2014/main" id="{A1B94D8C-F6ED-4918-9990-044130EE43A9}"/>
              </a:ext>
            </a:extLst>
          </p:cNvPr>
          <p:cNvSpPr/>
          <p:nvPr/>
        </p:nvSpPr>
        <p:spPr>
          <a:xfrm>
            <a:off x="5672956" y="1168212"/>
            <a:ext cx="3416320" cy="523220"/>
          </a:xfrm>
          <a:prstGeom prst="rect">
            <a:avLst/>
          </a:prstGeom>
        </p:spPr>
        <p:txBody>
          <a:bodyPr wrap="none">
            <a:spAutoFit/>
          </a:bodyPr>
          <a:lstStyle/>
          <a:p>
            <a:r>
              <a:rPr lang="zh-CN" altLang="en-US" sz="2800" b="1" dirty="0">
                <a:latin typeface="华文仿宋" panose="02010600040101010101" pitchFamily="2" charset="-122"/>
                <a:ea typeface="华文仿宋" panose="02010600040101010101" pitchFamily="2" charset="-122"/>
              </a:rPr>
              <a:t>质量管理的三个层次</a:t>
            </a:r>
            <a:endParaRPr lang="en-US" altLang="zh-CN" sz="2800" b="1" dirty="0">
              <a:latin typeface="华文仿宋" panose="02010600040101010101" pitchFamily="2" charset="-122"/>
              <a:ea typeface="华文仿宋" panose="02010600040101010101" pitchFamily="2" charset="-122"/>
            </a:endParaRPr>
          </a:p>
        </p:txBody>
      </p:sp>
      <p:sp>
        <p:nvSpPr>
          <p:cNvPr id="7" name="矩形 6">
            <a:extLst>
              <a:ext uri="{FF2B5EF4-FFF2-40B4-BE49-F238E27FC236}">
                <a16:creationId xmlns:a16="http://schemas.microsoft.com/office/drawing/2014/main" id="{75DE9958-911F-469F-BAF8-0D630FB9278B}"/>
              </a:ext>
            </a:extLst>
          </p:cNvPr>
          <p:cNvSpPr/>
          <p:nvPr/>
        </p:nvSpPr>
        <p:spPr>
          <a:xfrm>
            <a:off x="1340979" y="1846500"/>
            <a:ext cx="10403607" cy="3477875"/>
          </a:xfrm>
          <a:prstGeom prst="rect">
            <a:avLst/>
          </a:prstGeom>
        </p:spPr>
        <p:txBody>
          <a:bodyPr wrap="square">
            <a:spAutoFit/>
          </a:bodyPr>
          <a:lstStyle/>
          <a:p>
            <a:r>
              <a:rPr lang="zh-CN" altLang="en-US" sz="2000" dirty="0">
                <a:latin typeface="仿宋" panose="02010609060101010101" pitchFamily="49" charset="-122"/>
                <a:ea typeface="仿宋" panose="02010609060101010101" pitchFamily="49" charset="-122"/>
              </a:rPr>
              <a:t>现象反应层、模式预测层、系统协调层</a:t>
            </a:r>
            <a:endParaRPr lang="en-US" altLang="zh-CN" sz="2000" dirty="0">
              <a:latin typeface="仿宋" panose="02010609060101010101" pitchFamily="49" charset="-122"/>
              <a:ea typeface="仿宋" panose="02010609060101010101" pitchFamily="49" charset="-122"/>
            </a:endParaRPr>
          </a:p>
          <a:p>
            <a:endParaRPr lang="en-US" altLang="zh-CN" sz="2000"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现象反应层：主要关注每天发生的事情，发现火灾，消防队赶去灭火，遇到问题解决问题，往往关注的是事件现象。在此层次，只是对事件做出反应，没有控制事件本身的发生；</a:t>
            </a:r>
            <a:endParaRPr lang="en-US" altLang="zh-CN" dirty="0">
              <a:latin typeface="仿宋" panose="02010609060101010101" pitchFamily="49" charset="-122"/>
              <a:ea typeface="仿宋" panose="02010609060101010101" pitchFamily="49" charset="-122"/>
            </a:endParaRPr>
          </a:p>
          <a:p>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模式预测层：关心、关注所发生事件的模式，寻找事件发生的规律。例如，研究发生火灾的环境等相关因素，预测可能发生火灾的地点、位置，便于安排不同专业级的消防队工作，以便发生火灾时，能够及时准确调度，并扑灭。</a:t>
            </a:r>
            <a:endParaRPr lang="en-US" altLang="zh-CN" dirty="0">
              <a:latin typeface="仿宋" panose="02010609060101010101" pitchFamily="49" charset="-122"/>
              <a:ea typeface="仿宋" panose="02010609060101010101" pitchFamily="49" charset="-122"/>
            </a:endParaRPr>
          </a:p>
          <a:p>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系统协调层：关注导致事件模式（规律性）的根源（发生此类事件的根本原因），找到预防事件的方法，开始面向未来。关注建立新的模式取代低效的旧模式，建立新系统取代旧系统，它是真正面向未来的。</a:t>
            </a:r>
            <a:endParaRPr lang="en-US" altLang="zh-CN"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416042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5E78600-DD14-4B58-A838-823E2114155B}"/>
              </a:ext>
            </a:extLst>
          </p:cNvPr>
          <p:cNvSpPr/>
          <p:nvPr/>
        </p:nvSpPr>
        <p:spPr>
          <a:xfrm>
            <a:off x="7050261" y="210805"/>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矩形 4">
            <a:extLst>
              <a:ext uri="{FF2B5EF4-FFF2-40B4-BE49-F238E27FC236}">
                <a16:creationId xmlns:a16="http://schemas.microsoft.com/office/drawing/2014/main" id="{FB9992A8-5E7E-4E57-A299-AB6B38A9A75E}"/>
              </a:ext>
            </a:extLst>
          </p:cNvPr>
          <p:cNvSpPr/>
          <p:nvPr/>
        </p:nvSpPr>
        <p:spPr>
          <a:xfrm>
            <a:off x="679508" y="2073633"/>
            <a:ext cx="10723787" cy="1569660"/>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        软件测试与维护，表面上看是要发现软件中的错误，予以改正；从项目管理角度看，实则是质量管理的一部分，除了质量控制和质量保证外，还有一个重要的工作是要总结错误产生原因，以利后续不要在出现类似错误。多数情况下，我们只注重解决表面问题，忘记了记住教训，不再犯错误的原则。</a:t>
            </a:r>
          </a:p>
        </p:txBody>
      </p:sp>
      <p:pic>
        <p:nvPicPr>
          <p:cNvPr id="7" name="Picture 25" descr="C:\Users\user\AppData\Local\Microsoft\Windows\Temporary Internet Files\Content.IE5\BRFJ06TV\MCj04114760000[1].wmf">
            <a:extLst>
              <a:ext uri="{FF2B5EF4-FFF2-40B4-BE49-F238E27FC236}">
                <a16:creationId xmlns:a16="http://schemas.microsoft.com/office/drawing/2014/main" id="{A26376E5-8A0A-49DE-A5B4-1D2173CDA6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63824" y="456274"/>
            <a:ext cx="16002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9C19BE95-C968-4012-8D74-BC03288E00B1}"/>
              </a:ext>
            </a:extLst>
          </p:cNvPr>
          <p:cNvSpPr txBox="1"/>
          <p:nvPr/>
        </p:nvSpPr>
        <p:spPr>
          <a:xfrm>
            <a:off x="6204744" y="1189699"/>
            <a:ext cx="2698175" cy="523220"/>
          </a:xfrm>
          <a:prstGeom prst="rect">
            <a:avLst/>
          </a:prstGeom>
          <a:noFill/>
        </p:spPr>
        <p:txBody>
          <a:bodyPr wrap="none" rtlCol="0">
            <a:spAutoFit/>
          </a:bodyPr>
          <a:lstStyle/>
          <a:p>
            <a:r>
              <a:rPr lang="zh-CN" altLang="en-US" sz="2800" b="1" dirty="0">
                <a:latin typeface="+mj-ea"/>
                <a:ea typeface="+mj-ea"/>
              </a:rPr>
              <a:t>软件测试的宗旨</a:t>
            </a:r>
          </a:p>
        </p:txBody>
      </p:sp>
      <p:sp>
        <p:nvSpPr>
          <p:cNvPr id="11" name="矩形 10">
            <a:extLst>
              <a:ext uri="{FF2B5EF4-FFF2-40B4-BE49-F238E27FC236}">
                <a16:creationId xmlns:a16="http://schemas.microsoft.com/office/drawing/2014/main" id="{620ABF02-6B25-466B-9CAB-245D76CA2880}"/>
              </a:ext>
            </a:extLst>
          </p:cNvPr>
          <p:cNvSpPr/>
          <p:nvPr/>
        </p:nvSpPr>
        <p:spPr>
          <a:xfrm>
            <a:off x="1638799" y="4004007"/>
            <a:ext cx="9627616" cy="1569660"/>
          </a:xfrm>
          <a:prstGeom prst="rect">
            <a:avLst/>
          </a:prstGeom>
        </p:spPr>
        <p:txBody>
          <a:bodyPr wrap="square">
            <a:spAutoFit/>
          </a:bodyPr>
          <a:lstStyle/>
          <a:p>
            <a:pPr marL="342900" indent="-342900">
              <a:buFont typeface="Wingdings" panose="05000000000000000000" pitchFamily="2" charset="2"/>
              <a:buChar char="l"/>
            </a:pPr>
            <a:r>
              <a:rPr lang="zh-CN" altLang="en-US" sz="2400" dirty="0">
                <a:solidFill>
                  <a:srgbClr val="7030A0"/>
                </a:solidFill>
                <a:latin typeface="华文仿宋" panose="02010600040101010101" pitchFamily="2" charset="-122"/>
                <a:ea typeface="华文仿宋" panose="02010600040101010101" pitchFamily="2" charset="-122"/>
              </a:rPr>
              <a:t>做好经验教训总结，在自己和他人的错误中学习，不重复犯错是成功的基础；</a:t>
            </a:r>
            <a:endParaRPr lang="en-US" altLang="zh-CN" sz="2400" dirty="0">
              <a:solidFill>
                <a:srgbClr val="7030A0"/>
              </a:solidFill>
              <a:latin typeface="华文仿宋" panose="02010600040101010101" pitchFamily="2" charset="-122"/>
              <a:ea typeface="华文仿宋" panose="02010600040101010101" pitchFamily="2" charset="-122"/>
            </a:endParaRPr>
          </a:p>
          <a:p>
            <a:pPr marL="342900" indent="-342900">
              <a:buFont typeface="Wingdings" panose="05000000000000000000" pitchFamily="2" charset="2"/>
              <a:buChar char="l"/>
            </a:pPr>
            <a:r>
              <a:rPr lang="zh-CN" altLang="en-US" sz="2400" dirty="0">
                <a:solidFill>
                  <a:srgbClr val="7030A0"/>
                </a:solidFill>
                <a:latin typeface="华文仿宋" panose="02010600040101010101" pitchFamily="2" charset="-122"/>
                <a:ea typeface="华文仿宋" panose="02010600040101010101" pitchFamily="2" charset="-122"/>
              </a:rPr>
              <a:t>软件错误可以分为两大类：</a:t>
            </a:r>
            <a:r>
              <a:rPr lang="zh-CN" altLang="en-US" sz="2400" dirty="0">
                <a:solidFill>
                  <a:srgbClr val="C00000"/>
                </a:solidFill>
                <a:latin typeface="华文仿宋" panose="02010600040101010101" pitchFamily="2" charset="-122"/>
                <a:ea typeface="华文仿宋" panose="02010600040101010101" pitchFamily="2" charset="-122"/>
              </a:rPr>
              <a:t>无知之错，无能之错</a:t>
            </a:r>
            <a:r>
              <a:rPr lang="zh-CN" altLang="en-US" sz="2400" dirty="0">
                <a:solidFill>
                  <a:srgbClr val="7030A0"/>
                </a:solidFill>
                <a:latin typeface="华文仿宋" panose="02010600040101010101" pitchFamily="2" charset="-122"/>
                <a:ea typeface="华文仿宋" panose="02010600040101010101" pitchFamily="2" charset="-122"/>
              </a:rPr>
              <a:t>。</a:t>
            </a:r>
            <a:endParaRPr lang="en-US" altLang="zh-CN" sz="2400" dirty="0">
              <a:solidFill>
                <a:srgbClr val="7030A0"/>
              </a:solidFill>
              <a:latin typeface="华文仿宋" panose="02010600040101010101" pitchFamily="2" charset="-122"/>
              <a:ea typeface="华文仿宋" panose="02010600040101010101" pitchFamily="2" charset="-122"/>
            </a:endParaRPr>
          </a:p>
          <a:p>
            <a:pPr marL="342900" indent="-342900">
              <a:buFont typeface="Wingdings" panose="05000000000000000000" pitchFamily="2" charset="2"/>
              <a:buChar char="l"/>
            </a:pPr>
            <a:r>
              <a:rPr lang="zh-CN" altLang="en-US" sz="2400" dirty="0">
                <a:solidFill>
                  <a:srgbClr val="7030A0"/>
                </a:solidFill>
                <a:latin typeface="华文仿宋" panose="02010600040101010101" pitchFamily="2" charset="-122"/>
                <a:ea typeface="华文仿宋" panose="02010600040101010101" pitchFamily="2" charset="-122"/>
              </a:rPr>
              <a:t>“无知之错”通过学习可以弥补；无能之错不能原谅。</a:t>
            </a:r>
          </a:p>
        </p:txBody>
      </p:sp>
    </p:spTree>
    <p:extLst>
      <p:ext uri="{BB962C8B-B14F-4D97-AF65-F5344CB8AC3E}">
        <p14:creationId xmlns:p14="http://schemas.microsoft.com/office/powerpoint/2010/main" val="439463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4EBE3D0-E855-4DC3-B94C-B671EB4B6C31}"/>
              </a:ext>
            </a:extLst>
          </p:cNvPr>
          <p:cNvSpPr txBox="1"/>
          <p:nvPr/>
        </p:nvSpPr>
        <p:spPr>
          <a:xfrm>
            <a:off x="4684715" y="1286315"/>
            <a:ext cx="3070071" cy="523220"/>
          </a:xfrm>
          <a:prstGeom prst="rect">
            <a:avLst/>
          </a:prstGeom>
          <a:noFill/>
        </p:spPr>
        <p:txBody>
          <a:bodyPr wrap="none" rtlCol="0">
            <a:spAutoFit/>
          </a:bodyPr>
          <a:lstStyle/>
          <a:p>
            <a:r>
              <a:rPr lang="zh-CN" altLang="en-US" sz="2800" b="1" dirty="0">
                <a:latin typeface="+mj-ea"/>
                <a:ea typeface="+mj-ea"/>
              </a:rPr>
              <a:t>从错误中学会进步</a:t>
            </a:r>
          </a:p>
        </p:txBody>
      </p:sp>
      <p:sp>
        <p:nvSpPr>
          <p:cNvPr id="5" name="矩形 4">
            <a:extLst>
              <a:ext uri="{FF2B5EF4-FFF2-40B4-BE49-F238E27FC236}">
                <a16:creationId xmlns:a16="http://schemas.microsoft.com/office/drawing/2014/main" id="{824EC6C0-BBE7-42C6-B712-25B795FE81B0}"/>
              </a:ext>
            </a:extLst>
          </p:cNvPr>
          <p:cNvSpPr/>
          <p:nvPr/>
        </p:nvSpPr>
        <p:spPr>
          <a:xfrm>
            <a:off x="1393047" y="2289156"/>
            <a:ext cx="9405906" cy="3416320"/>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        总结经验教训的目的是了解哪些工</a:t>
            </a:r>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作做得不好，需要改进；在自己和他人</a:t>
            </a:r>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的错误中学习，不重复犯错误时成功的</a:t>
            </a:r>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基础。然而，这个过程经常会被忽略。</a:t>
            </a:r>
            <a:endParaRPr lang="en-US" altLang="zh-CN" sz="2400" dirty="0">
              <a:latin typeface="华文仿宋" panose="02010600040101010101" pitchFamily="2" charset="-122"/>
              <a:ea typeface="华文仿宋" panose="02010600040101010101" pitchFamily="2" charset="-122"/>
            </a:endParaRPr>
          </a:p>
          <a:p>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很多项目总结发现，相同的错误一直的发生。</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pPr marL="342900" indent="-342900">
              <a:buFont typeface="Wingdings" panose="05000000000000000000" pitchFamily="2" charset="2"/>
              <a:buChar char="p"/>
            </a:pPr>
            <a:r>
              <a:rPr lang="zh-CN" altLang="en-US" sz="2400" dirty="0">
                <a:latin typeface="华文仿宋" panose="02010600040101010101" pitchFamily="2" charset="-122"/>
                <a:ea typeface="华文仿宋" panose="02010600040101010101" pitchFamily="2" charset="-122"/>
              </a:rPr>
              <a:t>出现问题，是可以理解的；</a:t>
            </a:r>
            <a:endParaRPr lang="en-US" altLang="zh-CN" sz="2400" dirty="0">
              <a:latin typeface="华文仿宋" panose="02010600040101010101" pitchFamily="2" charset="-122"/>
              <a:ea typeface="华文仿宋" panose="02010600040101010101" pitchFamily="2" charset="-122"/>
            </a:endParaRPr>
          </a:p>
          <a:p>
            <a:pPr marL="342900" indent="-342900">
              <a:buFont typeface="Wingdings" panose="05000000000000000000" pitchFamily="2" charset="2"/>
              <a:buChar char="p"/>
            </a:pPr>
            <a:r>
              <a:rPr lang="zh-CN" altLang="en-US" sz="2400" dirty="0">
                <a:latin typeface="华文仿宋" panose="02010600040101010101" pitchFamily="2" charset="-122"/>
                <a:ea typeface="华文仿宋" panose="02010600040101010101" pitchFamily="2" charset="-122"/>
              </a:rPr>
              <a:t>相同的问题，出现两次是很不幸的；</a:t>
            </a:r>
            <a:endParaRPr lang="en-US" altLang="zh-CN" sz="2400" dirty="0">
              <a:latin typeface="华文仿宋" panose="02010600040101010101" pitchFamily="2" charset="-122"/>
              <a:ea typeface="华文仿宋" panose="02010600040101010101" pitchFamily="2" charset="-122"/>
            </a:endParaRPr>
          </a:p>
          <a:p>
            <a:pPr marL="342900" indent="-342900">
              <a:buFont typeface="Wingdings" panose="05000000000000000000" pitchFamily="2" charset="2"/>
              <a:buChar char="p"/>
            </a:pPr>
            <a:r>
              <a:rPr lang="zh-CN" altLang="en-US" sz="2400" dirty="0">
                <a:latin typeface="华文仿宋" panose="02010600040101010101" pitchFamily="2" charset="-122"/>
                <a:ea typeface="华文仿宋" panose="02010600040101010101" pitchFamily="2" charset="-122"/>
              </a:rPr>
              <a:t>同样的问题，出现三次，是不可理喻的。</a:t>
            </a:r>
          </a:p>
        </p:txBody>
      </p:sp>
      <p:pic>
        <p:nvPicPr>
          <p:cNvPr id="7" name="Picture 2" descr="https://dss2.bdstatic.com/70cFvnSh_Q1YnxGkpoWK1HF6hhy/it/u=2983590204,398079152&amp;fm=26&amp;gp=0.jpg">
            <a:extLst>
              <a:ext uri="{FF2B5EF4-FFF2-40B4-BE49-F238E27FC236}">
                <a16:creationId xmlns:a16="http://schemas.microsoft.com/office/drawing/2014/main" id="{EB7EF640-D87A-4B1F-AA5E-4C789B1E1B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2740" y="1809535"/>
            <a:ext cx="3220085" cy="188309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2F5D15BD-8094-49E8-89B1-7B4B5873B59F}"/>
              </a:ext>
            </a:extLst>
          </p:cNvPr>
          <p:cNvSpPr/>
          <p:nvPr/>
        </p:nvSpPr>
        <p:spPr>
          <a:xfrm>
            <a:off x="6219751" y="345029"/>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Tree>
    <p:extLst>
      <p:ext uri="{BB962C8B-B14F-4D97-AF65-F5344CB8AC3E}">
        <p14:creationId xmlns:p14="http://schemas.microsoft.com/office/powerpoint/2010/main" val="655841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9D2B6C0-384B-45A9-84F5-8DE638E26E3E}"/>
              </a:ext>
            </a:extLst>
          </p:cNvPr>
          <p:cNvSpPr/>
          <p:nvPr/>
        </p:nvSpPr>
        <p:spPr>
          <a:xfrm>
            <a:off x="7008316" y="227583"/>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文本框 4">
            <a:extLst>
              <a:ext uri="{FF2B5EF4-FFF2-40B4-BE49-F238E27FC236}">
                <a16:creationId xmlns:a16="http://schemas.microsoft.com/office/drawing/2014/main" id="{45EB7681-2D88-49F6-AAE0-A8DE7B67C039}"/>
              </a:ext>
            </a:extLst>
          </p:cNvPr>
          <p:cNvSpPr txBox="1"/>
          <p:nvPr/>
        </p:nvSpPr>
        <p:spPr>
          <a:xfrm>
            <a:off x="4102596" y="809220"/>
            <a:ext cx="3251211" cy="523220"/>
          </a:xfrm>
          <a:prstGeom prst="rect">
            <a:avLst/>
          </a:prstGeom>
          <a:noFill/>
        </p:spPr>
        <p:txBody>
          <a:bodyPr wrap="none" rtlCol="0">
            <a:spAutoFit/>
          </a:bodyPr>
          <a:lstStyle/>
          <a:p>
            <a:r>
              <a:rPr lang="zh-CN" altLang="en-US" sz="2800" b="1" dirty="0">
                <a:latin typeface="+mj-ea"/>
                <a:ea typeface="+mj-ea"/>
              </a:rPr>
              <a:t>无知之错</a:t>
            </a:r>
            <a:r>
              <a:rPr lang="en-US" altLang="zh-CN" sz="2800" b="1" dirty="0">
                <a:latin typeface="+mj-ea"/>
                <a:ea typeface="+mj-ea"/>
              </a:rPr>
              <a:t>&amp;</a:t>
            </a:r>
            <a:r>
              <a:rPr lang="zh-CN" altLang="en-US" sz="2800" b="1" dirty="0">
                <a:latin typeface="+mj-ea"/>
                <a:ea typeface="+mj-ea"/>
              </a:rPr>
              <a:t>无能之错</a:t>
            </a:r>
          </a:p>
        </p:txBody>
      </p:sp>
      <p:sp>
        <p:nvSpPr>
          <p:cNvPr id="7" name="矩形 6">
            <a:extLst>
              <a:ext uri="{FF2B5EF4-FFF2-40B4-BE49-F238E27FC236}">
                <a16:creationId xmlns:a16="http://schemas.microsoft.com/office/drawing/2014/main" id="{E3A53628-03C3-4952-853D-6594F670E662}"/>
              </a:ext>
            </a:extLst>
          </p:cNvPr>
          <p:cNvSpPr/>
          <p:nvPr/>
        </p:nvSpPr>
        <p:spPr>
          <a:xfrm>
            <a:off x="879611" y="1571008"/>
            <a:ext cx="10862739" cy="1938992"/>
          </a:xfrm>
          <a:prstGeom prst="rect">
            <a:avLst/>
          </a:prstGeom>
        </p:spPr>
        <p:txBody>
          <a:bodyPr wrap="square">
            <a:spAutoFit/>
          </a:bodyPr>
          <a:lstStyle/>
          <a:p>
            <a:r>
              <a:rPr lang="zh-CN" altLang="en-US" sz="2000" dirty="0">
                <a:latin typeface="华文仿宋" panose="02010600040101010101" pitchFamily="2" charset="-122"/>
                <a:ea typeface="华文仿宋" panose="02010600040101010101" pitchFamily="2" charset="-122"/>
              </a:rPr>
              <a:t>        无知之错被称为“必然的谬误”，也就是说，人们所做的事情完全超出自己的能力范围。从而导致的错误。</a:t>
            </a:r>
            <a:endParaRPr lang="en-US" altLang="zh-CN" sz="2000" dirty="0">
              <a:latin typeface="华文仿宋" panose="02010600040101010101" pitchFamily="2" charset="-122"/>
              <a:ea typeface="华文仿宋" panose="02010600040101010101" pitchFamily="2" charset="-122"/>
            </a:endParaRPr>
          </a:p>
          <a:p>
            <a:r>
              <a:rPr lang="en-US" altLang="zh-CN" sz="2000" dirty="0">
                <a:latin typeface="华文仿宋" panose="02010600040101010101" pitchFamily="2" charset="-122"/>
                <a:ea typeface="华文仿宋" panose="02010600040101010101" pitchFamily="2" charset="-122"/>
              </a:rPr>
              <a:t>        </a:t>
            </a:r>
            <a:r>
              <a:rPr lang="zh-CN" altLang="en-US" sz="2000" dirty="0">
                <a:latin typeface="华文仿宋" panose="02010600040101010101" pitchFamily="2" charset="-122"/>
                <a:ea typeface="华文仿宋" panose="02010600040101010101" pitchFamily="2" charset="-122"/>
              </a:rPr>
              <a:t>人类并非全知全能，即便是得到先进科技的支持，我们的能力也是有限的。关于世界和宇宙，其中很大部分是我们无法理解也无法掌控的。因为没有掌控所有的知识。</a:t>
            </a:r>
            <a:endParaRPr lang="en-US" altLang="zh-CN" sz="2000" dirty="0">
              <a:latin typeface="华文仿宋" panose="02010600040101010101" pitchFamily="2" charset="-122"/>
              <a:ea typeface="华文仿宋" panose="02010600040101010101" pitchFamily="2" charset="-122"/>
            </a:endParaRPr>
          </a:p>
          <a:p>
            <a:endParaRPr lang="en-US" altLang="zh-CN" sz="2000" dirty="0">
              <a:latin typeface="华文仿宋" panose="02010600040101010101" pitchFamily="2" charset="-122"/>
              <a:ea typeface="华文仿宋" panose="02010600040101010101" pitchFamily="2" charset="-122"/>
            </a:endParaRPr>
          </a:p>
          <a:p>
            <a:r>
              <a:rPr lang="en-US" altLang="zh-CN" sz="2000" dirty="0">
                <a:latin typeface="华文仿宋" panose="02010600040101010101" pitchFamily="2" charset="-122"/>
                <a:ea typeface="华文仿宋" panose="02010600040101010101" pitchFamily="2" charset="-122"/>
              </a:rPr>
              <a:t>        </a:t>
            </a:r>
          </a:p>
        </p:txBody>
      </p:sp>
      <p:sp>
        <p:nvSpPr>
          <p:cNvPr id="9" name="矩形 8">
            <a:extLst>
              <a:ext uri="{FF2B5EF4-FFF2-40B4-BE49-F238E27FC236}">
                <a16:creationId xmlns:a16="http://schemas.microsoft.com/office/drawing/2014/main" id="{6F28076B-91FB-4B37-8AD9-C53EA755BC16}"/>
              </a:ext>
            </a:extLst>
          </p:cNvPr>
          <p:cNvSpPr/>
          <p:nvPr/>
        </p:nvSpPr>
        <p:spPr>
          <a:xfrm>
            <a:off x="879611" y="5452195"/>
            <a:ext cx="10588419" cy="707886"/>
          </a:xfrm>
          <a:prstGeom prst="rect">
            <a:avLst/>
          </a:prstGeom>
        </p:spPr>
        <p:txBody>
          <a:bodyPr wrap="square">
            <a:spAutoFit/>
          </a:bodyPr>
          <a:lstStyle/>
          <a:p>
            <a:r>
              <a:rPr lang="en-US" altLang="zh-CN" sz="2000" dirty="0">
                <a:solidFill>
                  <a:srgbClr val="333333"/>
                </a:solidFill>
                <a:latin typeface="华文仿宋" panose="02010600040101010101" pitchFamily="2" charset="-122"/>
                <a:ea typeface="华文仿宋" panose="02010600040101010101" pitchFamily="2" charset="-122"/>
              </a:rPr>
              <a:t>        1912</a:t>
            </a:r>
            <a:r>
              <a:rPr lang="zh-CN" altLang="en-US" sz="2000" dirty="0">
                <a:solidFill>
                  <a:srgbClr val="333333"/>
                </a:solidFill>
                <a:latin typeface="华文仿宋" panose="02010600040101010101" pitchFamily="2" charset="-122"/>
                <a:ea typeface="华文仿宋" panose="02010600040101010101" pitchFamily="2" charset="-122"/>
              </a:rPr>
              <a:t>年，一支探险队来到南极探险。他们所用的汽油桶都是用锡焊的，在南极的冰天雪地中，焊锡变成了粉末般的灰锡，汽油都漏光内，以至使这支探险队全队覆没在南极！</a:t>
            </a:r>
            <a:endParaRPr lang="zh-CN" altLang="en-US" sz="2000" dirty="0">
              <a:latin typeface="华文仿宋" panose="02010600040101010101" pitchFamily="2" charset="-122"/>
              <a:ea typeface="华文仿宋" panose="02010600040101010101" pitchFamily="2" charset="-122"/>
            </a:endParaRPr>
          </a:p>
        </p:txBody>
      </p:sp>
      <p:pic>
        <p:nvPicPr>
          <p:cNvPr id="11" name="Picture 2" descr="https://iknow-pic.cdn.bcebos.com/a6efce1b9d16fdfa74ec40b7b58f8c5495ee7be3?x-bce-process=image/resize,m_lfit,w_600,h_800,limit_1">
            <a:extLst>
              <a:ext uri="{FF2B5EF4-FFF2-40B4-BE49-F238E27FC236}">
                <a16:creationId xmlns:a16="http://schemas.microsoft.com/office/drawing/2014/main" id="{B0697BFC-946C-486F-B55F-8CA1B71F57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611" y="3301173"/>
            <a:ext cx="2196357" cy="1637856"/>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6123E52F-51B2-4635-9C3A-B05C240FC1A4}"/>
              </a:ext>
            </a:extLst>
          </p:cNvPr>
          <p:cNvSpPr/>
          <p:nvPr/>
        </p:nvSpPr>
        <p:spPr>
          <a:xfrm>
            <a:off x="3380763" y="3200505"/>
            <a:ext cx="8087267" cy="1631216"/>
          </a:xfrm>
          <a:prstGeom prst="rect">
            <a:avLst/>
          </a:prstGeom>
        </p:spPr>
        <p:txBody>
          <a:bodyPr wrap="square">
            <a:spAutoFit/>
          </a:bodyPr>
          <a:lstStyle/>
          <a:p>
            <a:r>
              <a:rPr lang="zh-CN" altLang="en-US" sz="2000" dirty="0">
                <a:solidFill>
                  <a:srgbClr val="333333"/>
                </a:solidFill>
                <a:latin typeface="华文仿宋" panose="02010600040101010101" pitchFamily="2" charset="-122"/>
                <a:ea typeface="华文仿宋" panose="02010600040101010101" pitchFamily="2" charset="-122"/>
              </a:rPr>
              <a:t>       锡有两种晶体：在</a:t>
            </a:r>
            <a:r>
              <a:rPr lang="en-US" altLang="zh-CN" sz="2000" dirty="0">
                <a:solidFill>
                  <a:srgbClr val="333333"/>
                </a:solidFill>
                <a:latin typeface="华文仿宋" panose="02010600040101010101" pitchFamily="2" charset="-122"/>
                <a:ea typeface="华文仿宋" panose="02010600040101010101" pitchFamily="2" charset="-122"/>
              </a:rPr>
              <a:t>13.2℃</a:t>
            </a:r>
            <a:r>
              <a:rPr lang="zh-CN" altLang="en-US" sz="2000" dirty="0">
                <a:solidFill>
                  <a:srgbClr val="333333"/>
                </a:solidFill>
                <a:latin typeface="华文仿宋" panose="02010600040101010101" pitchFamily="2" charset="-122"/>
                <a:ea typeface="华文仿宋" panose="02010600040101010101" pitchFamily="2" charset="-122"/>
              </a:rPr>
              <a:t>以上，锡就是普通的这种白锡。在</a:t>
            </a:r>
            <a:r>
              <a:rPr lang="en-US" altLang="zh-CN" sz="2000" dirty="0">
                <a:solidFill>
                  <a:srgbClr val="333333"/>
                </a:solidFill>
                <a:latin typeface="华文仿宋" panose="02010600040101010101" pitchFamily="2" charset="-122"/>
                <a:ea typeface="华文仿宋" panose="02010600040101010101" pitchFamily="2" charset="-122"/>
              </a:rPr>
              <a:t>13.2℃</a:t>
            </a:r>
            <a:r>
              <a:rPr lang="zh-CN" altLang="en-US" sz="2000" dirty="0">
                <a:solidFill>
                  <a:srgbClr val="333333"/>
                </a:solidFill>
                <a:latin typeface="华文仿宋" panose="02010600040101010101" pitchFamily="2" charset="-122"/>
                <a:ea typeface="华文仿宋" panose="02010600040101010101" pitchFamily="2" charset="-122"/>
              </a:rPr>
              <a:t>以下时，它会变成灰锡。灰锡与白锡完成两样，灰锡是粉末状的。在温度稍低于</a:t>
            </a:r>
            <a:r>
              <a:rPr lang="en-US" altLang="zh-CN" sz="2000" dirty="0">
                <a:solidFill>
                  <a:srgbClr val="333333"/>
                </a:solidFill>
                <a:latin typeface="华文仿宋" panose="02010600040101010101" pitchFamily="2" charset="-122"/>
                <a:ea typeface="华文仿宋" panose="02010600040101010101" pitchFamily="2" charset="-122"/>
              </a:rPr>
              <a:t>13.2℃</a:t>
            </a:r>
            <a:r>
              <a:rPr lang="zh-CN" altLang="en-US" sz="2000" dirty="0">
                <a:solidFill>
                  <a:srgbClr val="333333"/>
                </a:solidFill>
                <a:latin typeface="华文仿宋" panose="02010600040101010101" pitchFamily="2" charset="-122"/>
                <a:ea typeface="华文仿宋" panose="02010600040101010101" pitchFamily="2" charset="-122"/>
              </a:rPr>
              <a:t>时，这种转变的速度是比较慢的，所以即使在冬天，锡器放在屋里也不会变成一堆粉末。但是，温度越低，这种转变越快，在－</a:t>
            </a:r>
            <a:r>
              <a:rPr lang="en-US" altLang="zh-CN" sz="2000" dirty="0">
                <a:solidFill>
                  <a:srgbClr val="333333"/>
                </a:solidFill>
                <a:latin typeface="华文仿宋" panose="02010600040101010101" pitchFamily="2" charset="-122"/>
                <a:ea typeface="华文仿宋" panose="02010600040101010101" pitchFamily="2" charset="-122"/>
              </a:rPr>
              <a:t>48℃</a:t>
            </a:r>
            <a:r>
              <a:rPr lang="zh-CN" altLang="en-US" sz="2000" dirty="0">
                <a:solidFill>
                  <a:srgbClr val="333333"/>
                </a:solidFill>
                <a:latin typeface="华文仿宋" panose="02010600040101010101" pitchFamily="2" charset="-122"/>
                <a:ea typeface="华文仿宋" panose="02010600040101010101" pitchFamily="2" charset="-122"/>
              </a:rPr>
              <a:t>时，这种转变简直达到了最高点，一块白锡很快就会变成一堆灰锡。</a:t>
            </a:r>
            <a:endParaRPr lang="zh-CN" altLang="en-US" sz="2000" b="0" i="0" dirty="0">
              <a:solidFill>
                <a:srgbClr val="333333"/>
              </a:solidFill>
              <a:effectLst/>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4171516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3C2E92C-6B06-4B25-A14B-9F72AB2D93AB}"/>
              </a:ext>
            </a:extLst>
          </p:cNvPr>
          <p:cNvSpPr txBox="1"/>
          <p:nvPr/>
        </p:nvSpPr>
        <p:spPr>
          <a:xfrm>
            <a:off x="5664755" y="837739"/>
            <a:ext cx="3251211" cy="523220"/>
          </a:xfrm>
          <a:prstGeom prst="rect">
            <a:avLst/>
          </a:prstGeom>
          <a:noFill/>
        </p:spPr>
        <p:txBody>
          <a:bodyPr wrap="none" rtlCol="0">
            <a:spAutoFit/>
          </a:bodyPr>
          <a:lstStyle/>
          <a:p>
            <a:r>
              <a:rPr lang="zh-CN" altLang="en-US" sz="2800" b="1" dirty="0">
                <a:latin typeface="+mj-ea"/>
                <a:ea typeface="+mj-ea"/>
              </a:rPr>
              <a:t>无知之错</a:t>
            </a:r>
            <a:r>
              <a:rPr lang="en-US" altLang="zh-CN" sz="2800" b="1" dirty="0">
                <a:latin typeface="+mj-ea"/>
                <a:ea typeface="+mj-ea"/>
              </a:rPr>
              <a:t>&amp;</a:t>
            </a:r>
            <a:r>
              <a:rPr lang="zh-CN" altLang="en-US" sz="2800" b="1" dirty="0">
                <a:latin typeface="+mj-ea"/>
                <a:ea typeface="+mj-ea"/>
              </a:rPr>
              <a:t>无能之错</a:t>
            </a:r>
          </a:p>
        </p:txBody>
      </p:sp>
      <p:sp>
        <p:nvSpPr>
          <p:cNvPr id="5" name="矩形 4">
            <a:extLst>
              <a:ext uri="{FF2B5EF4-FFF2-40B4-BE49-F238E27FC236}">
                <a16:creationId xmlns:a16="http://schemas.microsoft.com/office/drawing/2014/main" id="{79C4C667-61CC-49DB-8DEB-A45721E362C0}"/>
              </a:ext>
            </a:extLst>
          </p:cNvPr>
          <p:cNvSpPr/>
          <p:nvPr/>
        </p:nvSpPr>
        <p:spPr>
          <a:xfrm>
            <a:off x="1308683" y="1383617"/>
            <a:ext cx="10344322" cy="1631216"/>
          </a:xfrm>
          <a:prstGeom prst="rect">
            <a:avLst/>
          </a:prstGeom>
        </p:spPr>
        <p:txBody>
          <a:bodyPr wrap="square">
            <a:spAutoFit/>
          </a:bodyPr>
          <a:lstStyle/>
          <a:p>
            <a:r>
              <a:rPr lang="en-US" altLang="zh-CN" sz="2000" dirty="0">
                <a:latin typeface="华文仿宋" panose="02010600040101010101" pitchFamily="2" charset="-122"/>
                <a:ea typeface="华文仿宋" panose="02010600040101010101" pitchFamily="2" charset="-122"/>
              </a:rPr>
              <a:t>        </a:t>
            </a:r>
            <a:r>
              <a:rPr lang="zh-CN" altLang="en-US" sz="2000" dirty="0">
                <a:latin typeface="华文仿宋" panose="02010600040101010101" pitchFamily="2" charset="-122"/>
                <a:ea typeface="华文仿宋" panose="02010600040101010101" pitchFamily="2" charset="-122"/>
              </a:rPr>
              <a:t>无能之错是指人们并非因为没有掌握相关的知识，而是没有正确地使用这些知识而导致的错误。一些项目错误众所周知，但是很多知识没有被正确地使用，总结的经验教训（甚至没有总结）没有切实落实，导致廷议错误重复发生。我们在项目中遇到的多数是无能之错。也就是如何持续地、正确地运用我们所掌握的知识，所积累的经验教训。对项目而言，在众多项目管理方法的选项中选择最有效的手段非常困难。</a:t>
            </a:r>
            <a:endParaRPr lang="en-US" altLang="zh-CN" sz="2000" dirty="0">
              <a:latin typeface="华文仿宋" panose="02010600040101010101" pitchFamily="2" charset="-122"/>
              <a:ea typeface="华文仿宋" panose="02010600040101010101" pitchFamily="2" charset="-122"/>
            </a:endParaRPr>
          </a:p>
        </p:txBody>
      </p:sp>
      <p:sp>
        <p:nvSpPr>
          <p:cNvPr id="7" name="矩形 6">
            <a:extLst>
              <a:ext uri="{FF2B5EF4-FFF2-40B4-BE49-F238E27FC236}">
                <a16:creationId xmlns:a16="http://schemas.microsoft.com/office/drawing/2014/main" id="{EE1244E7-6CB1-4D30-BFFD-D0A5420CFDEC}"/>
              </a:ext>
            </a:extLst>
          </p:cNvPr>
          <p:cNvSpPr/>
          <p:nvPr/>
        </p:nvSpPr>
        <p:spPr>
          <a:xfrm>
            <a:off x="7033483" y="353417"/>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pic>
        <p:nvPicPr>
          <p:cNvPr id="9" name="Picture 4" descr="https://timgsa.baidu.com/timg?image&amp;quality=80&amp;size=b9999_10000&amp;sec=1588676879640&amp;di=fb21e7c6ad3e7b1c78721433e1f28cd7&amp;imgtype=0&amp;src=http%3A%2F%2Fimg.redocn.com%2Fsheji%2F20160115%2Fzhongguodongfanghangkongfeijijichangqifei_5762006.jpg">
            <a:extLst>
              <a:ext uri="{FF2B5EF4-FFF2-40B4-BE49-F238E27FC236}">
                <a16:creationId xmlns:a16="http://schemas.microsoft.com/office/drawing/2014/main" id="{DF9A4177-6BC4-4E3A-8754-B6F1121745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782" y="3295449"/>
            <a:ext cx="1497872" cy="2587574"/>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1D7CD58D-4F26-42A5-8722-13E9B4EC31FB}"/>
              </a:ext>
            </a:extLst>
          </p:cNvPr>
          <p:cNvSpPr/>
          <p:nvPr/>
        </p:nvSpPr>
        <p:spPr>
          <a:xfrm>
            <a:off x="4521754" y="3322609"/>
            <a:ext cx="8511540" cy="400110"/>
          </a:xfrm>
          <a:prstGeom prst="rect">
            <a:avLst/>
          </a:prstGeom>
        </p:spPr>
        <p:txBody>
          <a:bodyPr wrap="square">
            <a:spAutoFit/>
          </a:bodyPr>
          <a:lstStyle/>
          <a:p>
            <a:r>
              <a:rPr lang="en-US" altLang="zh-CN" sz="2000" dirty="0">
                <a:latin typeface="华文仿宋" panose="02010600040101010101" pitchFamily="2" charset="-122"/>
                <a:ea typeface="华文仿宋" panose="02010600040101010101" pitchFamily="2" charset="-122"/>
              </a:rPr>
              <a:t>        </a:t>
            </a:r>
            <a:endParaRPr lang="zh-CN" altLang="en-US" sz="2000" dirty="0">
              <a:latin typeface="华文仿宋" panose="02010600040101010101" pitchFamily="2" charset="-122"/>
              <a:ea typeface="华文仿宋" panose="02010600040101010101" pitchFamily="2" charset="-122"/>
            </a:endParaRPr>
          </a:p>
        </p:txBody>
      </p:sp>
      <p:sp>
        <p:nvSpPr>
          <p:cNvPr id="13" name="矩形 12">
            <a:extLst>
              <a:ext uri="{FF2B5EF4-FFF2-40B4-BE49-F238E27FC236}">
                <a16:creationId xmlns:a16="http://schemas.microsoft.com/office/drawing/2014/main" id="{A82DDEE9-2DF2-4710-9470-B155217A974D}"/>
              </a:ext>
            </a:extLst>
          </p:cNvPr>
          <p:cNvSpPr/>
          <p:nvPr/>
        </p:nvSpPr>
        <p:spPr>
          <a:xfrm>
            <a:off x="3221372" y="3246599"/>
            <a:ext cx="8305800" cy="2585323"/>
          </a:xfrm>
          <a:prstGeom prst="rect">
            <a:avLst/>
          </a:prstGeom>
        </p:spPr>
        <p:txBody>
          <a:bodyPr wrap="square">
            <a:spAutoFit/>
          </a:bodyPr>
          <a:lstStyle/>
          <a:p>
            <a:r>
              <a:rPr lang="en-US" altLang="zh-CN" dirty="0">
                <a:latin typeface="华文仿宋" panose="02010600040101010101" pitchFamily="2" charset="-122"/>
                <a:ea typeface="华文仿宋" panose="02010600040101010101" pitchFamily="2" charset="-122"/>
              </a:rPr>
              <a:t>1935</a:t>
            </a:r>
            <a:r>
              <a:rPr lang="zh-CN" altLang="en-US" dirty="0">
                <a:latin typeface="华文仿宋" panose="02010600040101010101" pitchFamily="2" charset="-122"/>
                <a:ea typeface="华文仿宋" panose="02010600040101010101" pitchFamily="2" charset="-122"/>
              </a:rPr>
              <a:t>年，美国举办远程轰炸机飞行比赛，被称为飞行堡垒的</a:t>
            </a:r>
            <a:r>
              <a:rPr lang="en-US" altLang="zh-CN" dirty="0">
                <a:latin typeface="华文仿宋" panose="02010600040101010101" pitchFamily="2" charset="-122"/>
                <a:ea typeface="华文仿宋" panose="02010600040101010101" pitchFamily="2" charset="-122"/>
              </a:rPr>
              <a:t>299</a:t>
            </a:r>
            <a:r>
              <a:rPr lang="zh-CN" altLang="en-US" dirty="0">
                <a:latin typeface="华文仿宋" panose="02010600040101010101" pitchFamily="2" charset="-122"/>
                <a:ea typeface="华文仿宋" panose="02010600040101010101" pitchFamily="2" charset="-122"/>
              </a:rPr>
              <a:t>型轰炸机呼啸着冲向跑道尽头，略一抬头便腾空而起，以大仰角迅速爬升至近</a:t>
            </a:r>
            <a:r>
              <a:rPr lang="en-US" altLang="zh-CN" dirty="0">
                <a:latin typeface="华文仿宋" panose="02010600040101010101" pitchFamily="2" charset="-122"/>
                <a:ea typeface="华文仿宋" panose="02010600040101010101" pitchFamily="2" charset="-122"/>
              </a:rPr>
              <a:t>100</a:t>
            </a:r>
            <a:r>
              <a:rPr lang="zh-CN" altLang="en-US" dirty="0">
                <a:latin typeface="华文仿宋" panose="02010600040101010101" pitchFamily="2" charset="-122"/>
                <a:ea typeface="华文仿宋" panose="02010600040101010101" pitchFamily="2" charset="-122"/>
              </a:rPr>
              <a:t>米的高度。但突然之间，飞机醉汉般倒向一侧，失速坠地爆炸起火，</a:t>
            </a:r>
            <a:r>
              <a:rPr lang="en-US" altLang="zh-CN" dirty="0">
                <a:latin typeface="华文仿宋" panose="02010600040101010101" pitchFamily="2" charset="-122"/>
                <a:ea typeface="华文仿宋" panose="02010600040101010101" pitchFamily="2" charset="-122"/>
              </a:rPr>
              <a:t>5</a:t>
            </a:r>
            <a:r>
              <a:rPr lang="zh-CN" altLang="en-US" dirty="0">
                <a:latin typeface="华文仿宋" panose="02010600040101010101" pitchFamily="2" charset="-122"/>
                <a:ea typeface="华文仿宋" panose="02010600040101010101" pitchFamily="2" charset="-122"/>
              </a:rPr>
              <a:t>名机组人员两人遇难。哪儿出问题了？</a:t>
            </a:r>
          </a:p>
          <a:p>
            <a:r>
              <a:rPr lang="zh-CN" altLang="en-US" dirty="0">
                <a:latin typeface="华文仿宋" panose="02010600040101010101" pitchFamily="2" charset="-122"/>
                <a:ea typeface="华文仿宋" panose="02010600040101010101" pitchFamily="2" charset="-122"/>
              </a:rPr>
              <a:t>        后来检查发现，没有任何机械故障，只是飞行员登机后忘记了一个简单的工作</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解锁方向舵。就是说，在方向舵还锁着的时候，他就启动了飞机。</a:t>
            </a:r>
          </a:p>
          <a:p>
            <a:r>
              <a:rPr lang="zh-CN" altLang="en-US" dirty="0">
                <a:latin typeface="华文仿宋" panose="02010600040101010101" pitchFamily="2" charset="-122"/>
                <a:ea typeface="华文仿宋" panose="02010600040101010101" pitchFamily="2" charset="-122"/>
              </a:rPr>
              <a:t>        飞机是超级复杂的机器，飞行员上机后要做几十项操作，一架飞机才能起飞。几十项操作，漏掉个一项两项不正常吗？可是，就是这漏掉的一项操作，毁了一架飞机、两个飞行员。</a:t>
            </a:r>
          </a:p>
        </p:txBody>
      </p:sp>
    </p:spTree>
    <p:extLst>
      <p:ext uri="{BB962C8B-B14F-4D97-AF65-F5344CB8AC3E}">
        <p14:creationId xmlns:p14="http://schemas.microsoft.com/office/powerpoint/2010/main" val="2590982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63AC470-E7F9-4E3A-80AF-D1443318430B}"/>
              </a:ext>
            </a:extLst>
          </p:cNvPr>
          <p:cNvSpPr/>
          <p:nvPr/>
        </p:nvSpPr>
        <p:spPr>
          <a:xfrm>
            <a:off x="3030940" y="2046138"/>
            <a:ext cx="8443172" cy="400110"/>
          </a:xfrm>
          <a:prstGeom prst="rect">
            <a:avLst/>
          </a:prstGeom>
        </p:spPr>
        <p:txBody>
          <a:bodyPr wrap="square">
            <a:spAutoFit/>
          </a:bodyPr>
          <a:lstStyle/>
          <a:p>
            <a:r>
              <a:rPr lang="zh-CN" altLang="en-US" sz="2000" dirty="0">
                <a:solidFill>
                  <a:srgbClr val="404040"/>
                </a:solidFill>
                <a:latin typeface="华文仿宋" panose="02010600040101010101" pitchFamily="2" charset="-122"/>
                <a:ea typeface="华文仿宋" panose="02010600040101010101" pitchFamily="2" charset="-122"/>
              </a:rPr>
              <a:t>        </a:t>
            </a:r>
            <a:endParaRPr lang="zh-CN" altLang="en-US" sz="2000" b="0" i="0" dirty="0">
              <a:solidFill>
                <a:srgbClr val="404040"/>
              </a:solidFill>
              <a:effectLst/>
              <a:latin typeface="华文仿宋" panose="02010600040101010101" pitchFamily="2" charset="-122"/>
              <a:ea typeface="华文仿宋" panose="02010600040101010101" pitchFamily="2" charset="-122"/>
            </a:endParaRPr>
          </a:p>
        </p:txBody>
      </p:sp>
      <p:sp>
        <p:nvSpPr>
          <p:cNvPr id="7" name="文本框 6">
            <a:extLst>
              <a:ext uri="{FF2B5EF4-FFF2-40B4-BE49-F238E27FC236}">
                <a16:creationId xmlns:a16="http://schemas.microsoft.com/office/drawing/2014/main" id="{46FEDD91-D4BB-416A-896B-CB01485AE24D}"/>
              </a:ext>
            </a:extLst>
          </p:cNvPr>
          <p:cNvSpPr txBox="1"/>
          <p:nvPr/>
        </p:nvSpPr>
        <p:spPr>
          <a:xfrm>
            <a:off x="5538990" y="1288079"/>
            <a:ext cx="3251211" cy="523220"/>
          </a:xfrm>
          <a:prstGeom prst="rect">
            <a:avLst/>
          </a:prstGeom>
          <a:noFill/>
        </p:spPr>
        <p:txBody>
          <a:bodyPr wrap="none" rtlCol="0">
            <a:spAutoFit/>
          </a:bodyPr>
          <a:lstStyle/>
          <a:p>
            <a:r>
              <a:rPr lang="zh-CN" altLang="en-US" sz="2800" b="1" dirty="0">
                <a:latin typeface="+mj-ea"/>
                <a:ea typeface="+mj-ea"/>
              </a:rPr>
              <a:t>无知之错</a:t>
            </a:r>
            <a:r>
              <a:rPr lang="en-US" altLang="zh-CN" sz="2800" b="1" dirty="0">
                <a:latin typeface="+mj-ea"/>
                <a:ea typeface="+mj-ea"/>
              </a:rPr>
              <a:t>&amp;</a:t>
            </a:r>
            <a:r>
              <a:rPr lang="zh-CN" altLang="en-US" sz="2800" b="1" dirty="0">
                <a:latin typeface="+mj-ea"/>
                <a:ea typeface="+mj-ea"/>
              </a:rPr>
              <a:t>无能之错</a:t>
            </a:r>
          </a:p>
        </p:txBody>
      </p:sp>
      <p:sp>
        <p:nvSpPr>
          <p:cNvPr id="9" name="矩形 8">
            <a:extLst>
              <a:ext uri="{FF2B5EF4-FFF2-40B4-BE49-F238E27FC236}">
                <a16:creationId xmlns:a16="http://schemas.microsoft.com/office/drawing/2014/main" id="{A3929928-AC06-4360-9A34-B6CD68C46AAB}"/>
              </a:ext>
            </a:extLst>
          </p:cNvPr>
          <p:cNvSpPr/>
          <p:nvPr/>
        </p:nvSpPr>
        <p:spPr>
          <a:xfrm>
            <a:off x="6991538" y="370196"/>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pic>
        <p:nvPicPr>
          <p:cNvPr id="11" name="Picture 4" descr="https://ss3.bdstatic.com/70cFv8Sh_Q1YnxGkpoWK1HF6hhy/it/u=1813166779,1763467172&amp;fm=26&amp;gp=0.jpg">
            <a:extLst>
              <a:ext uri="{FF2B5EF4-FFF2-40B4-BE49-F238E27FC236}">
                <a16:creationId xmlns:a16="http://schemas.microsoft.com/office/drawing/2014/main" id="{512A4189-E26E-41B3-871D-1F3740BB7D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8766" y="1958937"/>
            <a:ext cx="3224280" cy="3733717"/>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587B66AF-0E24-46A4-8EEF-CEB841E83D11}"/>
              </a:ext>
            </a:extLst>
          </p:cNvPr>
          <p:cNvSpPr/>
          <p:nvPr/>
        </p:nvSpPr>
        <p:spPr>
          <a:xfrm>
            <a:off x="1273801" y="4321685"/>
            <a:ext cx="6438474" cy="1323439"/>
          </a:xfrm>
          <a:prstGeom prst="rect">
            <a:avLst/>
          </a:prstGeom>
        </p:spPr>
        <p:txBody>
          <a:bodyPr wrap="square">
            <a:spAutoFit/>
          </a:bodyPr>
          <a:lstStyle/>
          <a:p>
            <a:r>
              <a:rPr lang="zh-CN" altLang="en-US" sz="2000" dirty="0">
                <a:solidFill>
                  <a:srgbClr val="404040"/>
                </a:solidFill>
                <a:latin typeface="华文仿宋" panose="02010600040101010101" pitchFamily="2" charset="-122"/>
                <a:ea typeface="华文仿宋" panose="02010600040101010101" pitchFamily="2" charset="-122"/>
              </a:rPr>
              <a:t>        人的一生中会犯很多错误，只有少部分是无知之错，绝大部分是无能之错。只要学会列清单，养成列清单的好习惯，就能避免无能之错，极大地降低人生中的差错率。</a:t>
            </a:r>
            <a:endParaRPr lang="zh-CN" altLang="en-US" sz="2000" dirty="0">
              <a:latin typeface="华文仿宋" panose="02010600040101010101" pitchFamily="2" charset="-122"/>
              <a:ea typeface="华文仿宋" panose="02010600040101010101" pitchFamily="2" charset="-122"/>
            </a:endParaRPr>
          </a:p>
        </p:txBody>
      </p:sp>
      <p:sp>
        <p:nvSpPr>
          <p:cNvPr id="15" name="矩形 14">
            <a:extLst>
              <a:ext uri="{FF2B5EF4-FFF2-40B4-BE49-F238E27FC236}">
                <a16:creationId xmlns:a16="http://schemas.microsoft.com/office/drawing/2014/main" id="{FA744887-7159-4D61-B7DA-48192326B46C}"/>
              </a:ext>
            </a:extLst>
          </p:cNvPr>
          <p:cNvSpPr/>
          <p:nvPr/>
        </p:nvSpPr>
        <p:spPr>
          <a:xfrm>
            <a:off x="1226495" y="1864524"/>
            <a:ext cx="6533086" cy="1938992"/>
          </a:xfrm>
          <a:prstGeom prst="rect">
            <a:avLst/>
          </a:prstGeom>
        </p:spPr>
        <p:txBody>
          <a:bodyPr wrap="square">
            <a:spAutoFit/>
          </a:bodyPr>
          <a:lstStyle/>
          <a:p>
            <a:r>
              <a:rPr lang="zh-CN" altLang="en-US" sz="2000" dirty="0">
                <a:solidFill>
                  <a:srgbClr val="404040"/>
                </a:solidFill>
                <a:latin typeface="华文仿宋" panose="02010600040101010101" pitchFamily="2" charset="-122"/>
                <a:ea typeface="华文仿宋" panose="02010600040101010101" pitchFamily="2" charset="-122"/>
              </a:rPr>
              <a:t>        那么，现在的飞行员是怎么做到零失误的呢？</a:t>
            </a:r>
            <a:endParaRPr lang="en-US" altLang="zh-CN" sz="2000" dirty="0">
              <a:solidFill>
                <a:srgbClr val="404040"/>
              </a:solidFill>
              <a:latin typeface="华文仿宋" panose="02010600040101010101" pitchFamily="2" charset="-122"/>
              <a:ea typeface="华文仿宋" panose="02010600040101010101" pitchFamily="2" charset="-122"/>
            </a:endParaRPr>
          </a:p>
          <a:p>
            <a:r>
              <a:rPr lang="en-US" altLang="zh-CN" sz="2000" dirty="0">
                <a:solidFill>
                  <a:srgbClr val="404040"/>
                </a:solidFill>
                <a:latin typeface="华文仿宋" panose="02010600040101010101" pitchFamily="2" charset="-122"/>
                <a:ea typeface="华文仿宋" panose="02010600040101010101" pitchFamily="2" charset="-122"/>
              </a:rPr>
              <a:t>        </a:t>
            </a:r>
            <a:r>
              <a:rPr lang="zh-CN" altLang="en-US" sz="2000" dirty="0">
                <a:solidFill>
                  <a:srgbClr val="404040"/>
                </a:solidFill>
                <a:latin typeface="华文仿宋" panose="02010600040101010101" pitchFamily="2" charset="-122"/>
                <a:ea typeface="华文仿宋" panose="02010600040101010101" pitchFamily="2" charset="-122"/>
              </a:rPr>
              <a:t>方法也简单，航空公司为每个飞行员配了一个清单，上面列着必须操作的所有步骤，他只要按照清单一件一件做好就不会出错。</a:t>
            </a:r>
          </a:p>
          <a:p>
            <a:r>
              <a:rPr lang="zh-CN" altLang="en-US" sz="2000" dirty="0">
                <a:solidFill>
                  <a:srgbClr val="404040"/>
                </a:solidFill>
                <a:latin typeface="华文仿宋" panose="02010600040101010101" pitchFamily="2" charset="-122"/>
                <a:ea typeface="华文仿宋" panose="02010600040101010101" pitchFamily="2" charset="-122"/>
              </a:rPr>
              <a:t>       </a:t>
            </a:r>
            <a:endParaRPr lang="en-US" altLang="zh-CN" sz="2000" dirty="0">
              <a:solidFill>
                <a:srgbClr val="404040"/>
              </a:solidFill>
              <a:latin typeface="华文仿宋" panose="02010600040101010101" pitchFamily="2" charset="-122"/>
              <a:ea typeface="华文仿宋" panose="02010600040101010101" pitchFamily="2" charset="-122"/>
            </a:endParaRPr>
          </a:p>
          <a:p>
            <a:r>
              <a:rPr lang="en-US" altLang="zh-CN" sz="2000" dirty="0">
                <a:solidFill>
                  <a:srgbClr val="404040"/>
                </a:solidFill>
                <a:latin typeface="华文仿宋" panose="02010600040101010101" pitchFamily="2" charset="-122"/>
                <a:ea typeface="华文仿宋" panose="02010600040101010101" pitchFamily="2" charset="-122"/>
              </a:rPr>
              <a:t>        </a:t>
            </a:r>
            <a:r>
              <a:rPr lang="zh-CN" altLang="en-US" sz="2000" dirty="0">
                <a:solidFill>
                  <a:srgbClr val="404040"/>
                </a:solidFill>
                <a:latin typeface="华文仿宋" panose="02010600040101010101" pitchFamily="2" charset="-122"/>
                <a:ea typeface="华文仿宋" panose="02010600040101010101" pitchFamily="2" charset="-122"/>
              </a:rPr>
              <a:t> 没想到吧，解决问题就这么简单。</a:t>
            </a:r>
          </a:p>
        </p:txBody>
      </p:sp>
    </p:spTree>
    <p:extLst>
      <p:ext uri="{BB962C8B-B14F-4D97-AF65-F5344CB8AC3E}">
        <p14:creationId xmlns:p14="http://schemas.microsoft.com/office/powerpoint/2010/main" val="230700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8F2D1AF-9FD2-4877-844A-B4F51A6958F2}"/>
              </a:ext>
            </a:extLst>
          </p:cNvPr>
          <p:cNvSpPr/>
          <p:nvPr/>
        </p:nvSpPr>
        <p:spPr>
          <a:xfrm>
            <a:off x="7251597" y="219194"/>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文本框 4">
            <a:extLst>
              <a:ext uri="{FF2B5EF4-FFF2-40B4-BE49-F238E27FC236}">
                <a16:creationId xmlns:a16="http://schemas.microsoft.com/office/drawing/2014/main" id="{F1FD0B88-3BF2-4667-8AFD-32423CC060CF}"/>
              </a:ext>
            </a:extLst>
          </p:cNvPr>
          <p:cNvSpPr txBox="1"/>
          <p:nvPr/>
        </p:nvSpPr>
        <p:spPr>
          <a:xfrm>
            <a:off x="4198685" y="1058147"/>
            <a:ext cx="3794629" cy="523220"/>
          </a:xfrm>
          <a:prstGeom prst="rect">
            <a:avLst/>
          </a:prstGeom>
          <a:noFill/>
        </p:spPr>
        <p:txBody>
          <a:bodyPr wrap="none" rtlCol="0">
            <a:spAutoFit/>
          </a:bodyPr>
          <a:lstStyle/>
          <a:p>
            <a:r>
              <a:rPr lang="zh-CN" altLang="en-US" sz="2800" b="1" dirty="0">
                <a:latin typeface="+mj-ea"/>
                <a:ea typeface="+mj-ea"/>
              </a:rPr>
              <a:t>无知之错</a:t>
            </a:r>
            <a:r>
              <a:rPr lang="en-US" altLang="zh-CN" sz="2800" b="1" dirty="0">
                <a:latin typeface="+mj-ea"/>
                <a:ea typeface="+mj-ea"/>
              </a:rPr>
              <a:t>&amp;</a:t>
            </a:r>
            <a:r>
              <a:rPr lang="zh-CN" altLang="en-US" sz="2800" b="1" dirty="0">
                <a:latin typeface="+mj-ea"/>
                <a:ea typeface="+mj-ea"/>
              </a:rPr>
              <a:t>无能之错</a:t>
            </a:r>
            <a:r>
              <a:rPr lang="en-US" altLang="zh-CN" sz="2800" b="1" dirty="0">
                <a:latin typeface="+mj-ea"/>
                <a:ea typeface="+mj-ea"/>
              </a:rPr>
              <a:t>(2)</a:t>
            </a:r>
            <a:endParaRPr lang="zh-CN" altLang="en-US" sz="2800" b="1" dirty="0">
              <a:latin typeface="+mj-ea"/>
              <a:ea typeface="+mj-ea"/>
            </a:endParaRPr>
          </a:p>
        </p:txBody>
      </p:sp>
      <p:sp>
        <p:nvSpPr>
          <p:cNvPr id="7" name="矩形 6">
            <a:extLst>
              <a:ext uri="{FF2B5EF4-FFF2-40B4-BE49-F238E27FC236}">
                <a16:creationId xmlns:a16="http://schemas.microsoft.com/office/drawing/2014/main" id="{F1361909-9218-42FD-902C-5980DFD70F96}"/>
              </a:ext>
            </a:extLst>
          </p:cNvPr>
          <p:cNvSpPr/>
          <p:nvPr/>
        </p:nvSpPr>
        <p:spPr>
          <a:xfrm>
            <a:off x="794157" y="2143214"/>
            <a:ext cx="10603684" cy="3046988"/>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无知之错可以原谅，无能之错不能被原谅。</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无能之错的源头在于经验教训总结不足。</a:t>
            </a:r>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        虽然每一个项目都是独特的，但是以前的项目和新项目之间也一定存在诸多相同之处。如果个人、项目或组织在遇到问题的第一次就学会了如何处理，形成自己的经验教训总结，就位避免事情的重复发生奠定基础。如果个人和公司都有良好的“问题记忆”，则先前的不好经历或许就不会再次发生。</a:t>
            </a:r>
            <a:endParaRPr lang="en-US" altLang="zh-CN" sz="2400" dirty="0">
              <a:latin typeface="华文仿宋" panose="02010600040101010101" pitchFamily="2" charset="-122"/>
              <a:ea typeface="华文仿宋" panose="02010600040101010101" pitchFamily="2" charset="-122"/>
            </a:endParaRPr>
          </a:p>
          <a:p>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然而，在许多项目上，这个过程却是项目生命周期中做的最差的环节之一。</a:t>
            </a:r>
          </a:p>
        </p:txBody>
      </p:sp>
    </p:spTree>
    <p:extLst>
      <p:ext uri="{BB962C8B-B14F-4D97-AF65-F5344CB8AC3E}">
        <p14:creationId xmlns:p14="http://schemas.microsoft.com/office/powerpoint/2010/main" val="98031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EEB5E45-6A1D-42CF-8E30-77C274C57C5C}"/>
              </a:ext>
            </a:extLst>
          </p:cNvPr>
          <p:cNvSpPr/>
          <p:nvPr/>
        </p:nvSpPr>
        <p:spPr>
          <a:xfrm>
            <a:off x="6823758" y="210805"/>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文本框 4">
            <a:extLst>
              <a:ext uri="{FF2B5EF4-FFF2-40B4-BE49-F238E27FC236}">
                <a16:creationId xmlns:a16="http://schemas.microsoft.com/office/drawing/2014/main" id="{73918EBB-84F0-44A9-B4FF-B2371DCBBC09}"/>
              </a:ext>
            </a:extLst>
          </p:cNvPr>
          <p:cNvSpPr txBox="1"/>
          <p:nvPr/>
        </p:nvSpPr>
        <p:spPr>
          <a:xfrm>
            <a:off x="4019149" y="1023775"/>
            <a:ext cx="4153701" cy="523220"/>
          </a:xfrm>
          <a:prstGeom prst="rect">
            <a:avLst/>
          </a:prstGeom>
          <a:noFill/>
        </p:spPr>
        <p:txBody>
          <a:bodyPr wrap="none" rtlCol="0">
            <a:spAutoFit/>
          </a:bodyPr>
          <a:lstStyle/>
          <a:p>
            <a:r>
              <a:rPr lang="zh-CN" altLang="en-US" sz="2800" b="1" dirty="0">
                <a:latin typeface="+mj-ea"/>
                <a:ea typeface="+mj-ea"/>
              </a:rPr>
              <a:t>无知之错</a:t>
            </a:r>
            <a:r>
              <a:rPr lang="en-US" altLang="zh-CN" sz="2800" b="1" dirty="0">
                <a:latin typeface="+mj-ea"/>
                <a:ea typeface="+mj-ea"/>
              </a:rPr>
              <a:t>&amp;</a:t>
            </a:r>
            <a:r>
              <a:rPr lang="zh-CN" altLang="en-US" sz="2800" b="1" dirty="0">
                <a:latin typeface="+mj-ea"/>
                <a:ea typeface="+mj-ea"/>
              </a:rPr>
              <a:t>无能之错（</a:t>
            </a:r>
            <a:r>
              <a:rPr lang="en-US" altLang="zh-CN" sz="2800" b="1" dirty="0">
                <a:latin typeface="+mj-ea"/>
                <a:ea typeface="+mj-ea"/>
              </a:rPr>
              <a:t>3</a:t>
            </a:r>
            <a:r>
              <a:rPr lang="zh-CN" altLang="en-US" sz="2800" b="1" dirty="0">
                <a:latin typeface="+mj-ea"/>
                <a:ea typeface="+mj-ea"/>
              </a:rPr>
              <a:t>）</a:t>
            </a:r>
          </a:p>
        </p:txBody>
      </p:sp>
      <p:sp>
        <p:nvSpPr>
          <p:cNvPr id="7" name="矩形 6">
            <a:extLst>
              <a:ext uri="{FF2B5EF4-FFF2-40B4-BE49-F238E27FC236}">
                <a16:creationId xmlns:a16="http://schemas.microsoft.com/office/drawing/2014/main" id="{B2DB7538-3283-404C-8844-3986C114CA9B}"/>
              </a:ext>
            </a:extLst>
          </p:cNvPr>
          <p:cNvSpPr/>
          <p:nvPr/>
        </p:nvSpPr>
        <p:spPr>
          <a:xfrm>
            <a:off x="1786855" y="2156295"/>
            <a:ext cx="9184629" cy="3416320"/>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无知之错可以原谅，无能之错不能被原谅。</a:t>
            </a:r>
            <a:endParaRPr lang="en-US" altLang="zh-CN" sz="2400" dirty="0">
              <a:latin typeface="华文仿宋" panose="02010600040101010101" pitchFamily="2" charset="-122"/>
              <a:ea typeface="华文仿宋" panose="02010600040101010101" pitchFamily="2" charset="-122"/>
            </a:endParaRPr>
          </a:p>
          <a:p>
            <a:endParaRPr lang="en-US" altLang="zh-CN" sz="2400" dirty="0"/>
          </a:p>
          <a:p>
            <a:r>
              <a:rPr lang="zh-CN" altLang="en-US" sz="2400" dirty="0">
                <a:solidFill>
                  <a:srgbClr val="7030A0"/>
                </a:solidFill>
                <a:latin typeface="华文仿宋" panose="02010600040101010101" pitchFamily="2" charset="-122"/>
                <a:ea typeface="华文仿宋" panose="02010600040101010101" pitchFamily="2" charset="-122"/>
              </a:rPr>
              <a:t>人们不做经验教训总结的主要原因如下：</a:t>
            </a:r>
            <a:endParaRPr lang="en-US" altLang="zh-CN" sz="2400" dirty="0">
              <a:solidFill>
                <a:srgbClr val="7030A0"/>
              </a:solidFill>
              <a:latin typeface="华文仿宋" panose="02010600040101010101" pitchFamily="2" charset="-122"/>
              <a:ea typeface="华文仿宋" panose="02010600040101010101" pitchFamily="2" charset="-122"/>
            </a:endParaRPr>
          </a:p>
          <a:p>
            <a:endParaRPr lang="en-US" altLang="zh-CN" sz="2400" dirty="0">
              <a:solidFill>
                <a:srgbClr val="7030A0"/>
              </a:solidFill>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a:t>
            </a:r>
            <a:r>
              <a:rPr lang="en-US" altLang="zh-CN" sz="2400" dirty="0">
                <a:solidFill>
                  <a:srgbClr val="7030A0"/>
                </a:solidFill>
                <a:latin typeface="华文仿宋" panose="02010600040101010101" pitchFamily="2" charset="-122"/>
                <a:ea typeface="华文仿宋" panose="02010600040101010101" pitchFamily="2" charset="-122"/>
              </a:rPr>
              <a:t>1</a:t>
            </a:r>
            <a:r>
              <a:rPr lang="zh-CN" altLang="en-US" sz="2400" dirty="0">
                <a:solidFill>
                  <a:srgbClr val="7030A0"/>
                </a:solidFill>
                <a:latin typeface="华文仿宋" panose="02010600040101010101" pitchFamily="2" charset="-122"/>
                <a:ea typeface="华文仿宋" panose="02010600040101010101" pitchFamily="2" charset="-122"/>
              </a:rPr>
              <a:t>）没有在内心中真正认可经验教训总结的重要性；</a:t>
            </a:r>
            <a:endParaRPr lang="en-US" altLang="zh-CN" sz="2400" dirty="0">
              <a:solidFill>
                <a:srgbClr val="7030A0"/>
              </a:solidFill>
              <a:latin typeface="华文仿宋" panose="02010600040101010101" pitchFamily="2" charset="-122"/>
              <a:ea typeface="华文仿宋" panose="02010600040101010101" pitchFamily="2" charset="-122"/>
            </a:endParaRPr>
          </a:p>
          <a:p>
            <a:endParaRPr lang="en-US" altLang="zh-CN" sz="2400" dirty="0">
              <a:solidFill>
                <a:srgbClr val="7030A0"/>
              </a:solidFill>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a:t>
            </a:r>
            <a:r>
              <a:rPr lang="en-US" altLang="zh-CN" sz="2400" dirty="0">
                <a:solidFill>
                  <a:srgbClr val="7030A0"/>
                </a:solidFill>
                <a:latin typeface="华文仿宋" panose="02010600040101010101" pitchFamily="2" charset="-122"/>
                <a:ea typeface="华文仿宋" panose="02010600040101010101" pitchFamily="2" charset="-122"/>
              </a:rPr>
              <a:t>2</a:t>
            </a:r>
            <a:r>
              <a:rPr lang="zh-CN" altLang="en-US" sz="2400" dirty="0">
                <a:solidFill>
                  <a:srgbClr val="7030A0"/>
                </a:solidFill>
                <a:latin typeface="华文仿宋" panose="02010600040101010101" pitchFamily="2" charset="-122"/>
                <a:ea typeface="华文仿宋" panose="02010600040101010101" pitchFamily="2" charset="-122"/>
              </a:rPr>
              <a:t>）不愿意面对某些方面需要改进的事实；</a:t>
            </a:r>
            <a:endParaRPr lang="en-US" altLang="zh-CN" sz="2400" dirty="0">
              <a:solidFill>
                <a:srgbClr val="7030A0"/>
              </a:solidFill>
              <a:latin typeface="华文仿宋" panose="02010600040101010101" pitchFamily="2" charset="-122"/>
              <a:ea typeface="华文仿宋" panose="02010600040101010101" pitchFamily="2" charset="-122"/>
            </a:endParaRPr>
          </a:p>
          <a:p>
            <a:endParaRPr lang="en-US" altLang="zh-CN" sz="2400" dirty="0">
              <a:solidFill>
                <a:srgbClr val="7030A0"/>
              </a:solidFill>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a:t>
            </a:r>
            <a:r>
              <a:rPr lang="en-US" altLang="zh-CN" sz="2400" dirty="0">
                <a:solidFill>
                  <a:srgbClr val="7030A0"/>
                </a:solidFill>
                <a:latin typeface="华文仿宋" panose="02010600040101010101" pitchFamily="2" charset="-122"/>
                <a:ea typeface="华文仿宋" panose="02010600040101010101" pitchFamily="2" charset="-122"/>
              </a:rPr>
              <a:t>3</a:t>
            </a:r>
            <a:r>
              <a:rPr lang="zh-CN" altLang="en-US" sz="2400" dirty="0">
                <a:solidFill>
                  <a:srgbClr val="7030A0"/>
                </a:solidFill>
                <a:latin typeface="华文仿宋" panose="02010600040101010101" pitchFamily="2" charset="-122"/>
                <a:ea typeface="华文仿宋" panose="02010600040101010101" pitchFamily="2" charset="-122"/>
              </a:rPr>
              <a:t>）“牛人”们不屑于经验教训文档的撰写。</a:t>
            </a:r>
            <a:endParaRPr lang="en-US" altLang="zh-CN" sz="2400" dirty="0">
              <a:solidFill>
                <a:srgbClr val="7030A0"/>
              </a:solidFill>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267407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F937171-61AA-472F-A8B9-C8A33B9E98DF}"/>
              </a:ext>
            </a:extLst>
          </p:cNvPr>
          <p:cNvSpPr/>
          <p:nvPr/>
        </p:nvSpPr>
        <p:spPr>
          <a:xfrm>
            <a:off x="6697924" y="521198"/>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文本框 4">
            <a:extLst>
              <a:ext uri="{FF2B5EF4-FFF2-40B4-BE49-F238E27FC236}">
                <a16:creationId xmlns:a16="http://schemas.microsoft.com/office/drawing/2014/main" id="{5CA750C2-3CF1-45A0-857F-E3D945A4EEE5}"/>
              </a:ext>
            </a:extLst>
          </p:cNvPr>
          <p:cNvSpPr txBox="1"/>
          <p:nvPr/>
        </p:nvSpPr>
        <p:spPr>
          <a:xfrm>
            <a:off x="5533909" y="1543640"/>
            <a:ext cx="3794629" cy="523220"/>
          </a:xfrm>
          <a:prstGeom prst="rect">
            <a:avLst/>
          </a:prstGeom>
          <a:noFill/>
        </p:spPr>
        <p:txBody>
          <a:bodyPr wrap="none" rtlCol="0">
            <a:spAutoFit/>
          </a:bodyPr>
          <a:lstStyle/>
          <a:p>
            <a:r>
              <a:rPr lang="zh-CN" altLang="en-US" sz="2800" b="1" dirty="0">
                <a:latin typeface="+mj-ea"/>
                <a:ea typeface="+mj-ea"/>
              </a:rPr>
              <a:t>无知之错</a:t>
            </a:r>
            <a:r>
              <a:rPr lang="en-US" altLang="zh-CN" sz="2800" b="1" dirty="0">
                <a:latin typeface="+mj-ea"/>
                <a:ea typeface="+mj-ea"/>
              </a:rPr>
              <a:t>&amp;</a:t>
            </a:r>
            <a:r>
              <a:rPr lang="zh-CN" altLang="en-US" sz="2800" b="1" dirty="0">
                <a:latin typeface="+mj-ea"/>
                <a:ea typeface="+mj-ea"/>
              </a:rPr>
              <a:t>无能之错</a:t>
            </a:r>
            <a:r>
              <a:rPr lang="en-US" altLang="zh-CN" sz="2800" b="1" dirty="0">
                <a:latin typeface="+mj-ea"/>
                <a:ea typeface="+mj-ea"/>
              </a:rPr>
              <a:t>(4)</a:t>
            </a:r>
            <a:endParaRPr lang="zh-CN" altLang="en-US" sz="2800" b="1" dirty="0">
              <a:latin typeface="+mj-ea"/>
              <a:ea typeface="+mj-ea"/>
            </a:endParaRPr>
          </a:p>
        </p:txBody>
      </p:sp>
      <p:sp>
        <p:nvSpPr>
          <p:cNvPr id="7" name="矩形 6">
            <a:extLst>
              <a:ext uri="{FF2B5EF4-FFF2-40B4-BE49-F238E27FC236}">
                <a16:creationId xmlns:a16="http://schemas.microsoft.com/office/drawing/2014/main" id="{36B2D2E3-95BE-42A5-A6FF-169AF8EC26C6}"/>
              </a:ext>
            </a:extLst>
          </p:cNvPr>
          <p:cNvSpPr/>
          <p:nvPr/>
        </p:nvSpPr>
        <p:spPr>
          <a:xfrm>
            <a:off x="2783467" y="2627637"/>
            <a:ext cx="7828914" cy="3046988"/>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无知之错可以原谅，无能之错不能被原谅。</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经验教训总结不足造成两个严重的影响：</a:t>
            </a:r>
            <a:endParaRPr lang="en-US" altLang="zh-CN" sz="2400" dirty="0">
              <a:solidFill>
                <a:srgbClr val="7030A0"/>
              </a:solidFill>
              <a:latin typeface="华文仿宋" panose="02010600040101010101" pitchFamily="2" charset="-122"/>
              <a:ea typeface="华文仿宋" panose="02010600040101010101" pitchFamily="2" charset="-122"/>
            </a:endParaRPr>
          </a:p>
          <a:p>
            <a:endParaRPr lang="en-US" altLang="zh-CN" sz="2400" dirty="0">
              <a:solidFill>
                <a:srgbClr val="7030A0"/>
              </a:solidFill>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a:t>
            </a:r>
            <a:r>
              <a:rPr lang="en-US" altLang="zh-CN" sz="2400" dirty="0">
                <a:solidFill>
                  <a:srgbClr val="7030A0"/>
                </a:solidFill>
                <a:latin typeface="华文仿宋" panose="02010600040101010101" pitchFamily="2" charset="-122"/>
                <a:ea typeface="华文仿宋" panose="02010600040101010101" pitchFamily="2" charset="-122"/>
              </a:rPr>
              <a:t>1</a:t>
            </a:r>
            <a:r>
              <a:rPr lang="zh-CN" altLang="en-US" sz="2400" dirty="0">
                <a:solidFill>
                  <a:srgbClr val="7030A0"/>
                </a:solidFill>
                <a:latin typeface="华文仿宋" panose="02010600040101010101" pitchFamily="2" charset="-122"/>
                <a:ea typeface="华文仿宋" panose="02010600040101010101" pitchFamily="2" charset="-122"/>
              </a:rPr>
              <a:t>）重复发明轮子，做无用功；</a:t>
            </a:r>
            <a:endParaRPr lang="en-US" altLang="zh-CN" sz="2400" dirty="0">
              <a:solidFill>
                <a:srgbClr val="7030A0"/>
              </a:solidFill>
              <a:latin typeface="华文仿宋" panose="02010600040101010101" pitchFamily="2" charset="-122"/>
              <a:ea typeface="华文仿宋" panose="02010600040101010101" pitchFamily="2" charset="-122"/>
            </a:endParaRPr>
          </a:p>
          <a:p>
            <a:endParaRPr lang="en-US" altLang="zh-CN" sz="2400" dirty="0">
              <a:solidFill>
                <a:srgbClr val="7030A0"/>
              </a:solidFill>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a:t>
            </a:r>
            <a:r>
              <a:rPr lang="en-US" altLang="zh-CN" sz="2400" dirty="0">
                <a:solidFill>
                  <a:srgbClr val="7030A0"/>
                </a:solidFill>
                <a:latin typeface="华文仿宋" panose="02010600040101010101" pitchFamily="2" charset="-122"/>
                <a:ea typeface="华文仿宋" panose="02010600040101010101" pitchFamily="2" charset="-122"/>
              </a:rPr>
              <a:t>2</a:t>
            </a:r>
            <a:r>
              <a:rPr lang="zh-CN" altLang="en-US" sz="2400" dirty="0">
                <a:solidFill>
                  <a:srgbClr val="7030A0"/>
                </a:solidFill>
                <a:latin typeface="华文仿宋" panose="02010600040101010101" pitchFamily="2" charset="-122"/>
                <a:ea typeface="华文仿宋" panose="02010600040101010101" pitchFamily="2" charset="-122"/>
              </a:rPr>
              <a:t>）怀疑项目管理的价值</a:t>
            </a:r>
            <a:endParaRPr lang="en-US" altLang="zh-CN" sz="2400" dirty="0">
              <a:solidFill>
                <a:srgbClr val="7030A0"/>
              </a:solidFill>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938385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43FEEC8-C0AB-46C2-8D1B-59FE30E0496A}"/>
              </a:ext>
            </a:extLst>
          </p:cNvPr>
          <p:cNvSpPr/>
          <p:nvPr/>
        </p:nvSpPr>
        <p:spPr>
          <a:xfrm>
            <a:off x="7142540" y="269528"/>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文本框 4">
            <a:extLst>
              <a:ext uri="{FF2B5EF4-FFF2-40B4-BE49-F238E27FC236}">
                <a16:creationId xmlns:a16="http://schemas.microsoft.com/office/drawing/2014/main" id="{5EFC79C2-3D7E-42B2-A8B2-1C3E8D4A504A}"/>
              </a:ext>
            </a:extLst>
          </p:cNvPr>
          <p:cNvSpPr txBox="1"/>
          <p:nvPr/>
        </p:nvSpPr>
        <p:spPr>
          <a:xfrm>
            <a:off x="5868848" y="1109860"/>
            <a:ext cx="3251211" cy="523220"/>
          </a:xfrm>
          <a:prstGeom prst="rect">
            <a:avLst/>
          </a:prstGeom>
          <a:noFill/>
        </p:spPr>
        <p:txBody>
          <a:bodyPr wrap="none" rtlCol="0">
            <a:spAutoFit/>
          </a:bodyPr>
          <a:lstStyle/>
          <a:p>
            <a:r>
              <a:rPr lang="zh-CN" altLang="en-US" sz="2800" b="1" dirty="0">
                <a:latin typeface="+mj-ea"/>
                <a:ea typeface="+mj-ea"/>
              </a:rPr>
              <a:t>无知之错</a:t>
            </a:r>
            <a:r>
              <a:rPr lang="en-US" altLang="zh-CN" sz="2800" b="1" dirty="0">
                <a:latin typeface="+mj-ea"/>
                <a:ea typeface="+mj-ea"/>
              </a:rPr>
              <a:t>&amp;</a:t>
            </a:r>
            <a:r>
              <a:rPr lang="zh-CN" altLang="en-US" sz="2800" b="1" dirty="0">
                <a:latin typeface="+mj-ea"/>
                <a:ea typeface="+mj-ea"/>
              </a:rPr>
              <a:t>无能之错</a:t>
            </a:r>
          </a:p>
        </p:txBody>
      </p:sp>
      <p:sp>
        <p:nvSpPr>
          <p:cNvPr id="7" name="矩形 6">
            <a:extLst>
              <a:ext uri="{FF2B5EF4-FFF2-40B4-BE49-F238E27FC236}">
                <a16:creationId xmlns:a16="http://schemas.microsoft.com/office/drawing/2014/main" id="{164B0C78-0C31-4F2B-A5C3-903B1DB8C7E7}"/>
              </a:ext>
            </a:extLst>
          </p:cNvPr>
          <p:cNvSpPr/>
          <p:nvPr/>
        </p:nvSpPr>
        <p:spPr>
          <a:xfrm>
            <a:off x="1073791" y="1827938"/>
            <a:ext cx="9983206" cy="4154984"/>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无知之错可以原谅，无能之错不能被原谅。</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经验教训总结要点：</a:t>
            </a:r>
            <a:endParaRPr lang="en-US" altLang="zh-CN" sz="2400" dirty="0">
              <a:solidFill>
                <a:srgbClr val="7030A0"/>
              </a:solidFill>
              <a:latin typeface="华文仿宋" panose="02010600040101010101" pitchFamily="2" charset="-122"/>
              <a:ea typeface="华文仿宋" panose="02010600040101010101" pitchFamily="2" charset="-122"/>
            </a:endParaRPr>
          </a:p>
          <a:p>
            <a:endParaRPr lang="en-US" altLang="zh-CN" sz="2400" dirty="0">
              <a:solidFill>
                <a:srgbClr val="7030A0"/>
              </a:solidFill>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a:t>
            </a:r>
            <a:r>
              <a:rPr lang="en-US" altLang="zh-CN" sz="2400" dirty="0">
                <a:solidFill>
                  <a:srgbClr val="7030A0"/>
                </a:solidFill>
                <a:latin typeface="华文仿宋" panose="02010600040101010101" pitchFamily="2" charset="-122"/>
                <a:ea typeface="华文仿宋" panose="02010600040101010101" pitchFamily="2" charset="-122"/>
              </a:rPr>
              <a:t>1</a:t>
            </a:r>
            <a:r>
              <a:rPr lang="zh-CN" altLang="en-US" sz="2400" dirty="0">
                <a:solidFill>
                  <a:srgbClr val="7030A0"/>
                </a:solidFill>
                <a:latin typeface="华文仿宋" panose="02010600040101010101" pitchFamily="2" charset="-122"/>
                <a:ea typeface="华文仿宋" panose="02010600040101010101" pitchFamily="2" charset="-122"/>
              </a:rPr>
              <a:t>）经验教训总结要务实，过程和程序等管理方面的总结比技术总结更有意义；</a:t>
            </a:r>
            <a:endParaRPr lang="en-US" altLang="zh-CN" sz="2400" dirty="0">
              <a:solidFill>
                <a:srgbClr val="7030A0"/>
              </a:solidFill>
              <a:latin typeface="华文仿宋" panose="02010600040101010101" pitchFamily="2" charset="-122"/>
              <a:ea typeface="华文仿宋" panose="02010600040101010101" pitchFamily="2" charset="-122"/>
            </a:endParaRPr>
          </a:p>
          <a:p>
            <a:endParaRPr lang="en-US" altLang="zh-CN" sz="2400" dirty="0">
              <a:solidFill>
                <a:srgbClr val="7030A0"/>
              </a:solidFill>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a:t>
            </a:r>
            <a:r>
              <a:rPr lang="en-US" altLang="zh-CN" sz="2400" dirty="0">
                <a:solidFill>
                  <a:srgbClr val="7030A0"/>
                </a:solidFill>
                <a:latin typeface="华文仿宋" panose="02010600040101010101" pitchFamily="2" charset="-122"/>
                <a:ea typeface="华文仿宋" panose="02010600040101010101" pitchFamily="2" charset="-122"/>
              </a:rPr>
              <a:t>2</a:t>
            </a:r>
            <a:r>
              <a:rPr lang="zh-CN" altLang="en-US" sz="2400" dirty="0">
                <a:solidFill>
                  <a:srgbClr val="7030A0"/>
                </a:solidFill>
                <a:latin typeface="华文仿宋" panose="02010600040101010101" pitchFamily="2" charset="-122"/>
                <a:ea typeface="华文仿宋" panose="02010600040101010101" pitchFamily="2" charset="-122"/>
              </a:rPr>
              <a:t>）知识的确能拯救我们，但也让我们不堪重负，复杂性导致我们总在吃二遍苦，受二茬罪；</a:t>
            </a:r>
            <a:endParaRPr lang="en-US" altLang="zh-CN" sz="2400" dirty="0">
              <a:solidFill>
                <a:srgbClr val="7030A0"/>
              </a:solidFill>
              <a:latin typeface="华文仿宋" panose="02010600040101010101" pitchFamily="2" charset="-122"/>
              <a:ea typeface="华文仿宋" panose="02010600040101010101" pitchFamily="2" charset="-122"/>
            </a:endParaRPr>
          </a:p>
          <a:p>
            <a:endParaRPr lang="en-US" altLang="zh-CN" sz="2400" dirty="0">
              <a:solidFill>
                <a:srgbClr val="7030A0"/>
              </a:solidFill>
              <a:latin typeface="华文仿宋" panose="02010600040101010101" pitchFamily="2" charset="-122"/>
              <a:ea typeface="华文仿宋" panose="02010600040101010101" pitchFamily="2" charset="-122"/>
            </a:endParaRPr>
          </a:p>
          <a:p>
            <a:r>
              <a:rPr lang="zh-CN" altLang="en-US" sz="2400" dirty="0">
                <a:solidFill>
                  <a:srgbClr val="7030A0"/>
                </a:solidFill>
                <a:latin typeface="华文仿宋" panose="02010600040101010101" pitchFamily="2" charset="-122"/>
                <a:ea typeface="华文仿宋" panose="02010600040101010101" pitchFamily="2" charset="-122"/>
              </a:rPr>
              <a:t>（</a:t>
            </a:r>
            <a:r>
              <a:rPr lang="en-US" altLang="zh-CN" sz="2400" dirty="0">
                <a:solidFill>
                  <a:srgbClr val="7030A0"/>
                </a:solidFill>
                <a:latin typeface="华文仿宋" panose="02010600040101010101" pitchFamily="2" charset="-122"/>
                <a:ea typeface="华文仿宋" panose="02010600040101010101" pitchFamily="2" charset="-122"/>
              </a:rPr>
              <a:t>3</a:t>
            </a:r>
            <a:r>
              <a:rPr lang="zh-CN" altLang="en-US" sz="2400" dirty="0">
                <a:solidFill>
                  <a:srgbClr val="7030A0"/>
                </a:solidFill>
                <a:latin typeface="华文仿宋" panose="02010600040101010101" pitchFamily="2" charset="-122"/>
                <a:ea typeface="华文仿宋" panose="02010600040101010101" pitchFamily="2" charset="-122"/>
              </a:rPr>
              <a:t>）让经验教训发挥作用需要方法和工具，一份务实的检查表很重要。</a:t>
            </a:r>
            <a:endParaRPr lang="en-US" altLang="zh-CN" sz="2400" dirty="0">
              <a:solidFill>
                <a:srgbClr val="7030A0"/>
              </a:solidFill>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3376263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562573B-FF90-4512-A71C-21002B05453E}"/>
              </a:ext>
            </a:extLst>
          </p:cNvPr>
          <p:cNvSpPr/>
          <p:nvPr/>
        </p:nvSpPr>
        <p:spPr>
          <a:xfrm>
            <a:off x="6832147" y="353417"/>
            <a:ext cx="4673074"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01 </a:t>
            </a:r>
            <a:r>
              <a:rPr lang="zh-CN" altLang="en-US" sz="2400" b="1" kern="100" dirty="0">
                <a:latin typeface="+mj-ea"/>
                <a:cs typeface="Times New Roman" panose="02020603050405020304" pitchFamily="18" charset="0"/>
              </a:rPr>
              <a:t>项目质量管理与软件测试维护</a:t>
            </a:r>
            <a:endParaRPr lang="zh-CN" altLang="en-US" sz="2400" dirty="0">
              <a:latin typeface="+mj-ea"/>
              <a:cs typeface="Arial Unicode MS" panose="020B0604020202020204" pitchFamily="34" charset="-122"/>
            </a:endParaRPr>
          </a:p>
        </p:txBody>
      </p:sp>
      <p:sp>
        <p:nvSpPr>
          <p:cNvPr id="5" name="文本框 4">
            <a:extLst>
              <a:ext uri="{FF2B5EF4-FFF2-40B4-BE49-F238E27FC236}">
                <a16:creationId xmlns:a16="http://schemas.microsoft.com/office/drawing/2014/main" id="{1B4A589C-C34F-4A4A-ACC4-4E8864B63911}"/>
              </a:ext>
            </a:extLst>
          </p:cNvPr>
          <p:cNvSpPr txBox="1"/>
          <p:nvPr/>
        </p:nvSpPr>
        <p:spPr>
          <a:xfrm>
            <a:off x="1057014" y="2321163"/>
            <a:ext cx="9424314" cy="2246769"/>
          </a:xfrm>
          <a:prstGeom prst="rect">
            <a:avLst/>
          </a:prstGeom>
          <a:noFill/>
        </p:spPr>
        <p:txBody>
          <a:bodyPr wrap="square" rtlCol="0">
            <a:spAutoFit/>
          </a:bodyPr>
          <a:lstStyle/>
          <a:p>
            <a:r>
              <a:rPr lang="zh-CN" altLang="en-US" sz="2800" dirty="0">
                <a:latin typeface="华文仿宋" panose="02010600040101010101" pitchFamily="2" charset="-122"/>
                <a:ea typeface="华文仿宋" panose="02010600040101010101" pitchFamily="2" charset="-122"/>
              </a:rPr>
              <a:t>本节要点</a:t>
            </a:r>
            <a:endParaRPr lang="en-US" altLang="zh-CN" sz="2800" dirty="0">
              <a:latin typeface="华文仿宋" panose="02010600040101010101" pitchFamily="2" charset="-122"/>
              <a:ea typeface="华文仿宋" panose="02010600040101010101" pitchFamily="2" charset="-122"/>
            </a:endParaRPr>
          </a:p>
          <a:p>
            <a:endParaRPr lang="en-US" altLang="zh-CN" sz="2800" dirty="0">
              <a:latin typeface="华文仿宋" panose="02010600040101010101" pitchFamily="2" charset="-122"/>
              <a:ea typeface="华文仿宋" panose="02010600040101010101" pitchFamily="2" charset="-122"/>
            </a:endParaRPr>
          </a:p>
          <a:p>
            <a:r>
              <a:rPr lang="en-US" altLang="zh-CN" sz="2800" dirty="0">
                <a:latin typeface="华文仿宋" panose="02010600040101010101" pitchFamily="2" charset="-122"/>
                <a:ea typeface="华文仿宋" panose="02010600040101010101" pitchFamily="2" charset="-122"/>
              </a:rPr>
              <a:t>1 </a:t>
            </a:r>
            <a:r>
              <a:rPr lang="zh-CN" altLang="en-US" sz="2800" dirty="0">
                <a:latin typeface="华文仿宋" panose="02010600040101010101" pitchFamily="2" charset="-122"/>
                <a:ea typeface="华文仿宋" panose="02010600040101010101" pitchFamily="2" charset="-122"/>
              </a:rPr>
              <a:t>质量管理的宗旨：    当扁鹊的大哥。</a:t>
            </a:r>
            <a:endParaRPr lang="en-US" altLang="zh-CN" sz="2800" dirty="0">
              <a:latin typeface="华文仿宋" panose="02010600040101010101" pitchFamily="2" charset="-122"/>
              <a:ea typeface="华文仿宋" panose="02010600040101010101" pitchFamily="2" charset="-122"/>
            </a:endParaRPr>
          </a:p>
          <a:p>
            <a:r>
              <a:rPr lang="en-US" altLang="zh-CN" sz="2800" dirty="0">
                <a:latin typeface="华文仿宋" panose="02010600040101010101" pitchFamily="2" charset="-122"/>
                <a:ea typeface="华文仿宋" panose="02010600040101010101" pitchFamily="2" charset="-122"/>
              </a:rPr>
              <a:t>                          </a:t>
            </a:r>
          </a:p>
          <a:p>
            <a:r>
              <a:rPr lang="en-US" altLang="zh-CN" sz="2800" dirty="0">
                <a:latin typeface="华文仿宋" panose="02010600040101010101" pitchFamily="2" charset="-122"/>
                <a:ea typeface="华文仿宋" panose="02010600040101010101" pitchFamily="2" charset="-122"/>
              </a:rPr>
              <a:t>2 </a:t>
            </a:r>
            <a:r>
              <a:rPr lang="zh-CN" altLang="en-US" sz="2800" dirty="0">
                <a:latin typeface="华文仿宋" panose="02010600040101010101" pitchFamily="2" charset="-122"/>
                <a:ea typeface="华文仿宋" panose="02010600040101010101" pitchFamily="2" charset="-122"/>
              </a:rPr>
              <a:t>软件测试维护要旨：消除无能之错，减少无知之错。</a:t>
            </a:r>
          </a:p>
        </p:txBody>
      </p:sp>
    </p:spTree>
    <p:extLst>
      <p:ext uri="{BB962C8B-B14F-4D97-AF65-F5344CB8AC3E}">
        <p14:creationId xmlns:p14="http://schemas.microsoft.com/office/powerpoint/2010/main" val="38762976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1086293C-2216-45B2-B094-459B32A652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4568" y="1699080"/>
            <a:ext cx="2377834" cy="4856464"/>
          </a:xfrm>
          <a:prstGeom prst="rect">
            <a:avLst/>
          </a:prstGeom>
          <a:solidFill>
            <a:srgbClr val="7030A0"/>
          </a:solidFill>
          <a:ln>
            <a:noFill/>
          </a:ln>
        </p:spPr>
      </p:pic>
      <p:grpSp>
        <p:nvGrpSpPr>
          <p:cNvPr id="3" name="组合 2">
            <a:extLst>
              <a:ext uri="{FF2B5EF4-FFF2-40B4-BE49-F238E27FC236}">
                <a16:creationId xmlns:a16="http://schemas.microsoft.com/office/drawing/2014/main" id="{8A4068F6-0C41-4051-8BCE-7385B49EB702}"/>
              </a:ext>
            </a:extLst>
          </p:cNvPr>
          <p:cNvGrpSpPr/>
          <p:nvPr/>
        </p:nvGrpSpPr>
        <p:grpSpPr>
          <a:xfrm>
            <a:off x="2764213" y="1828950"/>
            <a:ext cx="1608190" cy="1498822"/>
            <a:chOff x="346473" y="496025"/>
            <a:chExt cx="1344215" cy="1252800"/>
          </a:xfrm>
          <a:solidFill>
            <a:srgbClr val="7030A0"/>
          </a:solidFill>
        </p:grpSpPr>
        <p:sp>
          <p:nvSpPr>
            <p:cNvPr id="4" name="六边形 19">
              <a:extLst>
                <a:ext uri="{FF2B5EF4-FFF2-40B4-BE49-F238E27FC236}">
                  <a16:creationId xmlns:a16="http://schemas.microsoft.com/office/drawing/2014/main" id="{FC8C5673-3AFA-4B33-9E6F-AE30C4EA9A17}"/>
                </a:ext>
              </a:extLst>
            </p:cNvPr>
            <p:cNvSpPr>
              <a:spLocks noChangeArrowheads="1"/>
            </p:cNvSpPr>
            <p:nvPr/>
          </p:nvSpPr>
          <p:spPr bwMode="auto">
            <a:xfrm rot="16200000">
              <a:off x="392180" y="496751"/>
              <a:ext cx="1252800" cy="1251347"/>
            </a:xfrm>
            <a:prstGeom prst="chord">
              <a:avLst>
                <a:gd name="adj1" fmla="val 21039823"/>
                <a:gd name="adj2" fmla="val 16726182"/>
              </a:avLst>
            </a:prstGeom>
            <a:grp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5" name="矩形 24">
              <a:extLst>
                <a:ext uri="{FF2B5EF4-FFF2-40B4-BE49-F238E27FC236}">
                  <a16:creationId xmlns:a16="http://schemas.microsoft.com/office/drawing/2014/main" id="{7681623B-5821-4ABA-B0B6-4775D751E65D}"/>
                </a:ext>
              </a:extLst>
            </p:cNvPr>
            <p:cNvSpPr>
              <a:spLocks noChangeArrowheads="1"/>
            </p:cNvSpPr>
            <p:nvPr/>
          </p:nvSpPr>
          <p:spPr bwMode="auto">
            <a:xfrm>
              <a:off x="346473" y="846473"/>
              <a:ext cx="1344215" cy="544367"/>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grpSp>
      <p:sp>
        <p:nvSpPr>
          <p:cNvPr id="6" name="TextBox 4">
            <a:extLst>
              <a:ext uri="{FF2B5EF4-FFF2-40B4-BE49-F238E27FC236}">
                <a16:creationId xmlns:a16="http://schemas.microsoft.com/office/drawing/2014/main" id="{4D8CEB99-229D-40B4-B37B-B2C286BB1186}"/>
              </a:ext>
            </a:extLst>
          </p:cNvPr>
          <p:cNvSpPr txBox="1"/>
          <p:nvPr/>
        </p:nvSpPr>
        <p:spPr>
          <a:xfrm>
            <a:off x="7695975" y="439497"/>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sp>
        <p:nvSpPr>
          <p:cNvPr id="7" name="任意多边形 26">
            <a:extLst>
              <a:ext uri="{FF2B5EF4-FFF2-40B4-BE49-F238E27FC236}">
                <a16:creationId xmlns:a16="http://schemas.microsoft.com/office/drawing/2014/main" id="{76BA06B2-E86F-4FDC-A651-B7644D1479FD}"/>
              </a:ext>
            </a:extLst>
          </p:cNvPr>
          <p:cNvSpPr/>
          <p:nvPr/>
        </p:nvSpPr>
        <p:spPr bwMode="auto">
          <a:xfrm rot="8100000" flipV="1">
            <a:off x="4797144" y="1779931"/>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8" name="文本框 7">
            <a:extLst>
              <a:ext uri="{FF2B5EF4-FFF2-40B4-BE49-F238E27FC236}">
                <a16:creationId xmlns:a16="http://schemas.microsoft.com/office/drawing/2014/main" id="{42DD6F1F-E2BC-47AE-8E16-2DCBFE16306B}"/>
              </a:ext>
            </a:extLst>
          </p:cNvPr>
          <p:cNvSpPr txBox="1">
            <a:spLocks noChangeArrowheads="1"/>
          </p:cNvSpPr>
          <p:nvPr/>
        </p:nvSpPr>
        <p:spPr bwMode="auto">
          <a:xfrm>
            <a:off x="4873017" y="1815832"/>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9" name="任意多边形 28">
            <a:extLst>
              <a:ext uri="{FF2B5EF4-FFF2-40B4-BE49-F238E27FC236}">
                <a16:creationId xmlns:a16="http://schemas.microsoft.com/office/drawing/2014/main" id="{97EDD4CE-7D65-4EEA-BE16-339E08C7303B}"/>
              </a:ext>
            </a:extLst>
          </p:cNvPr>
          <p:cNvSpPr/>
          <p:nvPr/>
        </p:nvSpPr>
        <p:spPr bwMode="auto">
          <a:xfrm rot="8100000" flipV="1">
            <a:off x="4775542" y="5962556"/>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0" name="文本框 42">
            <a:extLst>
              <a:ext uri="{FF2B5EF4-FFF2-40B4-BE49-F238E27FC236}">
                <a16:creationId xmlns:a16="http://schemas.microsoft.com/office/drawing/2014/main" id="{1D5783BF-E047-48C5-8A11-CDA3E102CC56}"/>
              </a:ext>
            </a:extLst>
          </p:cNvPr>
          <p:cNvSpPr txBox="1">
            <a:spLocks noChangeArrowheads="1"/>
          </p:cNvSpPr>
          <p:nvPr/>
        </p:nvSpPr>
        <p:spPr bwMode="auto">
          <a:xfrm>
            <a:off x="4833125" y="6007314"/>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11" name="任意多边形 30">
            <a:extLst>
              <a:ext uri="{FF2B5EF4-FFF2-40B4-BE49-F238E27FC236}">
                <a16:creationId xmlns:a16="http://schemas.microsoft.com/office/drawing/2014/main" id="{2E688A47-3059-47DB-8AC0-7B1F6F83D5F8}"/>
              </a:ext>
            </a:extLst>
          </p:cNvPr>
          <p:cNvSpPr/>
          <p:nvPr/>
        </p:nvSpPr>
        <p:spPr bwMode="auto">
          <a:xfrm rot="8100000" flipV="1">
            <a:off x="4775030" y="4962063"/>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2" name="文本框 45">
            <a:extLst>
              <a:ext uri="{FF2B5EF4-FFF2-40B4-BE49-F238E27FC236}">
                <a16:creationId xmlns:a16="http://schemas.microsoft.com/office/drawing/2014/main" id="{D74636DE-8665-430D-AE8E-7919317C6EED}"/>
              </a:ext>
            </a:extLst>
          </p:cNvPr>
          <p:cNvSpPr txBox="1">
            <a:spLocks noChangeArrowheads="1"/>
          </p:cNvSpPr>
          <p:nvPr/>
        </p:nvSpPr>
        <p:spPr bwMode="auto">
          <a:xfrm>
            <a:off x="4832613" y="4963548"/>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13" name="任意多边形 32">
            <a:extLst>
              <a:ext uri="{FF2B5EF4-FFF2-40B4-BE49-F238E27FC236}">
                <a16:creationId xmlns:a16="http://schemas.microsoft.com/office/drawing/2014/main" id="{8897B8F0-0E51-404D-B3DE-6262D271BF0C}"/>
              </a:ext>
            </a:extLst>
          </p:cNvPr>
          <p:cNvSpPr/>
          <p:nvPr/>
        </p:nvSpPr>
        <p:spPr bwMode="auto">
          <a:xfrm rot="8100000" flipV="1">
            <a:off x="4774391" y="3908930"/>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4" name="文本框 48">
            <a:extLst>
              <a:ext uri="{FF2B5EF4-FFF2-40B4-BE49-F238E27FC236}">
                <a16:creationId xmlns:a16="http://schemas.microsoft.com/office/drawing/2014/main" id="{51C1F515-701A-4E36-B476-1076D0C2A288}"/>
              </a:ext>
            </a:extLst>
          </p:cNvPr>
          <p:cNvSpPr txBox="1">
            <a:spLocks noChangeArrowheads="1"/>
          </p:cNvSpPr>
          <p:nvPr/>
        </p:nvSpPr>
        <p:spPr bwMode="auto">
          <a:xfrm>
            <a:off x="4832595" y="3950966"/>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15" name="圆角矩形 34">
            <a:extLst>
              <a:ext uri="{FF2B5EF4-FFF2-40B4-BE49-F238E27FC236}">
                <a16:creationId xmlns:a16="http://schemas.microsoft.com/office/drawing/2014/main" id="{B6ED9B22-34AB-4D2D-AFBA-22D0609B0766}"/>
              </a:ext>
            </a:extLst>
          </p:cNvPr>
          <p:cNvSpPr/>
          <p:nvPr/>
        </p:nvSpPr>
        <p:spPr>
          <a:xfrm>
            <a:off x="5896102" y="3882833"/>
            <a:ext cx="437173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en-US" altLang="zh-CN" sz="2000" b="1" kern="100" dirty="0">
                <a:solidFill>
                  <a:schemeClr val="bg1"/>
                </a:solidFill>
                <a:latin typeface="+mj-ea"/>
                <a:ea typeface="+mj-ea"/>
                <a:cs typeface="Times New Roman" panose="02020603050405020304" pitchFamily="18" charset="0"/>
              </a:rPr>
              <a:t>Google</a:t>
            </a:r>
            <a:r>
              <a:rPr lang="zh-CN" altLang="en-US" sz="2000" b="1" kern="100" dirty="0">
                <a:solidFill>
                  <a:schemeClr val="bg1"/>
                </a:solidFill>
                <a:latin typeface="+mj-ea"/>
                <a:ea typeface="+mj-ea"/>
                <a:cs typeface="Times New Roman" panose="02020603050405020304" pitchFamily="18" charset="0"/>
              </a:rPr>
              <a:t>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体会现实</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6" name="圆角矩形 35">
            <a:extLst>
              <a:ext uri="{FF2B5EF4-FFF2-40B4-BE49-F238E27FC236}">
                <a16:creationId xmlns:a16="http://schemas.microsoft.com/office/drawing/2014/main" id="{D6C9D7CC-1F53-40A6-9159-153B9DF0AA98}"/>
              </a:ext>
            </a:extLst>
          </p:cNvPr>
          <p:cNvSpPr/>
          <p:nvPr/>
        </p:nvSpPr>
        <p:spPr>
          <a:xfrm>
            <a:off x="5896102" y="4916279"/>
            <a:ext cx="4372249" cy="55373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软件测试那些事</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7" name="圆角矩形 36">
            <a:extLst>
              <a:ext uri="{FF2B5EF4-FFF2-40B4-BE49-F238E27FC236}">
                <a16:creationId xmlns:a16="http://schemas.microsoft.com/office/drawing/2014/main" id="{A105909E-1264-4E83-A8BF-DC1ABADB1CFC}"/>
              </a:ext>
            </a:extLst>
          </p:cNvPr>
          <p:cNvSpPr/>
          <p:nvPr/>
        </p:nvSpPr>
        <p:spPr>
          <a:xfrm>
            <a:off x="5896614" y="5889417"/>
            <a:ext cx="4371737" cy="565386"/>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ea typeface="+mj-ea"/>
                <a:cs typeface="Times New Roman" panose="02020603050405020304" pitchFamily="18" charset="0"/>
              </a:rPr>
              <a:t>软件测试与维护</a:t>
            </a:r>
            <a:endParaRPr lang="zh-CN" altLang="en-US" sz="2000" dirty="0">
              <a:solidFill>
                <a:schemeClr val="bg1"/>
              </a:solidFill>
              <a:latin typeface="+mj-ea"/>
              <a:ea typeface="+mj-ea"/>
              <a:cs typeface="Arial Unicode MS" panose="020B0604020202020204" pitchFamily="34" charset="-122"/>
            </a:endParaRPr>
          </a:p>
        </p:txBody>
      </p:sp>
      <p:sp>
        <p:nvSpPr>
          <p:cNvPr id="18" name="圆角矩形 37">
            <a:extLst>
              <a:ext uri="{FF2B5EF4-FFF2-40B4-BE49-F238E27FC236}">
                <a16:creationId xmlns:a16="http://schemas.microsoft.com/office/drawing/2014/main" id="{C53F64C2-D41B-441B-90A4-7B0B9E1635CF}"/>
              </a:ext>
            </a:extLst>
          </p:cNvPr>
          <p:cNvSpPr/>
          <p:nvPr/>
        </p:nvSpPr>
        <p:spPr>
          <a:xfrm>
            <a:off x="5918853" y="1753885"/>
            <a:ext cx="434949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cs typeface="Times New Roman" panose="02020603050405020304" pitchFamily="18" charset="0"/>
              </a:rPr>
              <a:t>项目质量管理与软件测试维护</a:t>
            </a:r>
            <a:endParaRPr lang="zh-CN" altLang="en-US" sz="2000" dirty="0">
              <a:solidFill>
                <a:schemeClr val="bg1"/>
              </a:solidFill>
              <a:latin typeface="+mj-ea"/>
              <a:cs typeface="Arial Unicode MS" panose="020B0604020202020204" pitchFamily="34" charset="-122"/>
            </a:endParaRPr>
          </a:p>
        </p:txBody>
      </p:sp>
      <p:sp>
        <p:nvSpPr>
          <p:cNvPr id="19" name="任意多边形 38">
            <a:extLst>
              <a:ext uri="{FF2B5EF4-FFF2-40B4-BE49-F238E27FC236}">
                <a16:creationId xmlns:a16="http://schemas.microsoft.com/office/drawing/2014/main" id="{2F598941-14AC-4117-AA55-681BBFCE29BB}"/>
              </a:ext>
            </a:extLst>
          </p:cNvPr>
          <p:cNvSpPr/>
          <p:nvPr/>
        </p:nvSpPr>
        <p:spPr bwMode="auto">
          <a:xfrm rot="8100000" flipV="1">
            <a:off x="4797142" y="2806599"/>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0" name="文本框 48">
            <a:extLst>
              <a:ext uri="{FF2B5EF4-FFF2-40B4-BE49-F238E27FC236}">
                <a16:creationId xmlns:a16="http://schemas.microsoft.com/office/drawing/2014/main" id="{833BEB2D-2590-42D2-9DC4-E964B296327B}"/>
              </a:ext>
            </a:extLst>
          </p:cNvPr>
          <p:cNvSpPr txBox="1">
            <a:spLocks noChangeArrowheads="1"/>
          </p:cNvSpPr>
          <p:nvPr/>
        </p:nvSpPr>
        <p:spPr bwMode="auto">
          <a:xfrm>
            <a:off x="4855346" y="2848635"/>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21" name="圆角矩形 40">
            <a:extLst>
              <a:ext uri="{FF2B5EF4-FFF2-40B4-BE49-F238E27FC236}">
                <a16:creationId xmlns:a16="http://schemas.microsoft.com/office/drawing/2014/main" id="{DCF92A6C-8641-4AD6-97F8-8FDE4A7FF90B}"/>
              </a:ext>
            </a:extLst>
          </p:cNvPr>
          <p:cNvSpPr/>
          <p:nvPr/>
        </p:nvSpPr>
        <p:spPr>
          <a:xfrm>
            <a:off x="5918853" y="2780502"/>
            <a:ext cx="4371738" cy="563692"/>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微软软件测试之道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追寻经典</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Tree>
    <p:extLst>
      <p:ext uri="{BB962C8B-B14F-4D97-AF65-F5344CB8AC3E}">
        <p14:creationId xmlns:p14="http://schemas.microsoft.com/office/powerpoint/2010/main" val="3975040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A0A4948-D687-4D9B-988F-536458C8A600}"/>
              </a:ext>
            </a:extLst>
          </p:cNvPr>
          <p:cNvSpPr/>
          <p:nvPr/>
        </p:nvSpPr>
        <p:spPr>
          <a:xfrm>
            <a:off x="6954976" y="345798"/>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5" name="矩形 4">
            <a:extLst>
              <a:ext uri="{FF2B5EF4-FFF2-40B4-BE49-F238E27FC236}">
                <a16:creationId xmlns:a16="http://schemas.microsoft.com/office/drawing/2014/main" id="{84805E0E-AE60-4451-A248-505B40CAC245}"/>
              </a:ext>
            </a:extLst>
          </p:cNvPr>
          <p:cNvSpPr/>
          <p:nvPr/>
        </p:nvSpPr>
        <p:spPr>
          <a:xfrm>
            <a:off x="4303780" y="1251982"/>
            <a:ext cx="6660285" cy="646331"/>
          </a:xfrm>
          <a:prstGeom prst="rect">
            <a:avLst/>
          </a:prstGeom>
        </p:spPr>
        <p:txBody>
          <a:bodyPr wrap="none">
            <a:spAutoFit/>
          </a:bodyPr>
          <a:lstStyle/>
          <a:p>
            <a:r>
              <a:rPr lang="en-US" altLang="zh-CN" sz="3600" dirty="0"/>
              <a:t>How we test software at Microsoft</a:t>
            </a:r>
            <a:endParaRPr lang="zh-CN" altLang="en-US" sz="3600" dirty="0"/>
          </a:p>
        </p:txBody>
      </p:sp>
      <p:pic>
        <p:nvPicPr>
          <p:cNvPr id="7" name="Picture 4" descr="https://dss0.bdstatic.com/70cFuHSh_Q1YnxGkpoWK1HF6hhy/it/u=1419379953,410157379&amp;fm=26&amp;gp=0.jpg">
            <a:extLst>
              <a:ext uri="{FF2B5EF4-FFF2-40B4-BE49-F238E27FC236}">
                <a16:creationId xmlns:a16="http://schemas.microsoft.com/office/drawing/2014/main" id="{7BB9443C-47C8-4A8B-A03F-AC5C47DFE7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5344" y="2083382"/>
            <a:ext cx="3317269" cy="2035134"/>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AB6181E1-BF43-4BF8-BC60-284EAA13FC00}"/>
              </a:ext>
            </a:extLst>
          </p:cNvPr>
          <p:cNvSpPr/>
          <p:nvPr/>
        </p:nvSpPr>
        <p:spPr>
          <a:xfrm>
            <a:off x="1149292" y="2028500"/>
            <a:ext cx="6822746" cy="4154984"/>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微软的软件测试</a:t>
            </a:r>
            <a:r>
              <a:rPr lang="en-US" altLang="zh-CN" sz="2400" dirty="0">
                <a:latin typeface="华文仿宋" panose="02010600040101010101" pitchFamily="2" charset="-122"/>
                <a:ea typeface="华文仿宋" panose="02010600040101010101" pitchFamily="2" charset="-122"/>
              </a:rPr>
              <a:t>80%</a:t>
            </a:r>
            <a:r>
              <a:rPr lang="zh-CN" altLang="en-US" sz="2400" dirty="0">
                <a:latin typeface="华文仿宋" panose="02010600040101010101" pitchFamily="2" charset="-122"/>
                <a:ea typeface="华文仿宋" panose="02010600040101010101" pitchFamily="2" charset="-122"/>
              </a:rPr>
              <a:t>－</a:t>
            </a:r>
            <a:r>
              <a:rPr lang="en-US" altLang="zh-CN" sz="2400" dirty="0">
                <a:latin typeface="华文仿宋" panose="02010600040101010101" pitchFamily="2" charset="-122"/>
                <a:ea typeface="华文仿宋" panose="02010600040101010101" pitchFamily="2" charset="-122"/>
              </a:rPr>
              <a:t>90%</a:t>
            </a:r>
            <a:r>
              <a:rPr lang="zh-CN" altLang="en-US" sz="2400" dirty="0">
                <a:latin typeface="华文仿宋" panose="02010600040101010101" pitchFamily="2" charset="-122"/>
                <a:ea typeface="华文仿宋" panose="02010600040101010101" pitchFamily="2" charset="-122"/>
              </a:rPr>
              <a:t>都是自动化的。</a:t>
            </a:r>
            <a:r>
              <a:rPr lang="en-US" altLang="zh-CN" sz="2400" dirty="0">
                <a:solidFill>
                  <a:schemeClr val="tx2"/>
                </a:solidFill>
              </a:rPr>
              <a:t>(</a:t>
            </a:r>
            <a:r>
              <a:rPr lang="zh-CN" altLang="en-US" sz="2400" dirty="0">
                <a:solidFill>
                  <a:schemeClr val="tx2"/>
                </a:solidFill>
              </a:rPr>
              <a:t>所谓自动化，就是由测试工程师写出测试程序来运行测试案例，而并非人们所想象的人工点、点、点的那种测试方式。</a:t>
            </a:r>
            <a:r>
              <a:rPr lang="en-US" altLang="zh-CN" sz="2400" dirty="0">
                <a:solidFill>
                  <a:schemeClr val="tx2"/>
                </a:solidFill>
              </a:rPr>
              <a:t>)</a:t>
            </a:r>
          </a:p>
          <a:p>
            <a:endParaRPr lang="en-US" altLang="zh-CN" sz="2400" dirty="0">
              <a:solidFill>
                <a:schemeClr val="tx2"/>
              </a:solidFill>
            </a:endParaRPr>
          </a:p>
          <a:p>
            <a:endParaRPr lang="en-US" altLang="zh-CN" sz="2400" dirty="0">
              <a:solidFill>
                <a:schemeClr val="tx2"/>
              </a:solidFill>
            </a:endParaRPr>
          </a:p>
          <a:p>
            <a:r>
              <a:rPr lang="zh-CN" altLang="en-US" sz="2400" dirty="0"/>
              <a:t>每个产品的测试都包含了基本的测试，如功能测试、压力测试、代码覆盖率校验、插入测试、与其他产品交互的测试，还有全球化和本地化测试。在测试用例上，几乎永远是越多越全面越好。</a:t>
            </a:r>
          </a:p>
          <a:p>
            <a:endParaRPr lang="en-US" altLang="zh-CN" sz="2400" dirty="0">
              <a:solidFill>
                <a:schemeClr val="tx2"/>
              </a:solidFill>
            </a:endParaRPr>
          </a:p>
        </p:txBody>
      </p:sp>
      <p:sp>
        <p:nvSpPr>
          <p:cNvPr id="11" name="矩形 10">
            <a:extLst>
              <a:ext uri="{FF2B5EF4-FFF2-40B4-BE49-F238E27FC236}">
                <a16:creationId xmlns:a16="http://schemas.microsoft.com/office/drawing/2014/main" id="{E25A83E8-4BB6-4ABA-BBF1-F8F310A352AB}"/>
              </a:ext>
            </a:extLst>
          </p:cNvPr>
          <p:cNvSpPr/>
          <p:nvPr/>
        </p:nvSpPr>
        <p:spPr>
          <a:xfrm>
            <a:off x="8278304" y="4637969"/>
            <a:ext cx="3351350" cy="1569660"/>
          </a:xfrm>
          <a:prstGeom prst="rect">
            <a:avLst/>
          </a:prstGeom>
        </p:spPr>
        <p:txBody>
          <a:bodyPr wrap="square">
            <a:spAutoFit/>
          </a:bodyPr>
          <a:lstStyle/>
          <a:p>
            <a:r>
              <a:rPr lang="zh-CN" altLang="en-US" sz="2400" dirty="0">
                <a:solidFill>
                  <a:srgbClr val="7030A0"/>
                </a:solidFill>
                <a:latin typeface="华文楷体" panose="02010600040101010101" pitchFamily="2" charset="-122"/>
                <a:ea typeface="华文楷体" panose="02010600040101010101" pitchFamily="2" charset="-122"/>
              </a:rPr>
              <a:t>“很多人都认为微软是一家软件开发公司， 而事实上，我们是一家软件测试公司”。 </a:t>
            </a:r>
          </a:p>
        </p:txBody>
      </p:sp>
    </p:spTree>
    <p:extLst>
      <p:ext uri="{BB962C8B-B14F-4D97-AF65-F5344CB8AC3E}">
        <p14:creationId xmlns:p14="http://schemas.microsoft.com/office/powerpoint/2010/main" val="2288085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8E53C65-D3AC-4743-97E8-EA6183528748}"/>
              </a:ext>
            </a:extLst>
          </p:cNvPr>
          <p:cNvSpPr/>
          <p:nvPr/>
        </p:nvSpPr>
        <p:spPr>
          <a:xfrm>
            <a:off x="6879475" y="312242"/>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9704F1E0-CE43-474F-B433-7D0AB1352557}"/>
              </a:ext>
            </a:extLst>
          </p:cNvPr>
          <p:cNvSpPr>
            <a:spLocks noGrp="1" noChangeArrowheads="1"/>
          </p:cNvSpPr>
          <p:nvPr>
            <p:ph type="title"/>
          </p:nvPr>
        </p:nvSpPr>
        <p:spPr>
          <a:xfrm>
            <a:off x="2896546" y="1297338"/>
            <a:ext cx="7631113" cy="585788"/>
          </a:xfrm>
        </p:spPr>
        <p:txBody>
          <a:bodyPr>
            <a:normAutofit/>
          </a:bodyPr>
          <a:lstStyle/>
          <a:p>
            <a:r>
              <a:rPr lang="zh-CN" altLang="en-US" sz="3200" dirty="0">
                <a:solidFill>
                  <a:schemeClr val="tx1"/>
                </a:solidFill>
                <a:effectLst/>
                <a:latin typeface="华文仿宋" panose="02010600040101010101" pitchFamily="2" charset="-122"/>
                <a:ea typeface="华文仿宋" panose="02010600040101010101" pitchFamily="2" charset="-122"/>
              </a:rPr>
              <a:t>什么是软件测试？</a:t>
            </a:r>
            <a:r>
              <a:rPr lang="en-US" altLang="zh-CN" sz="3200" dirty="0">
                <a:solidFill>
                  <a:schemeClr val="tx1"/>
                </a:solidFill>
                <a:effectLst/>
                <a:latin typeface="华文仿宋" panose="02010600040101010101" pitchFamily="2" charset="-122"/>
                <a:ea typeface="华文仿宋" panose="02010600040101010101" pitchFamily="2" charset="-122"/>
              </a:rPr>
              <a:t>--</a:t>
            </a:r>
            <a:r>
              <a:rPr lang="zh-CN" altLang="en-US" sz="3200" dirty="0">
                <a:solidFill>
                  <a:schemeClr val="tx1"/>
                </a:solidFill>
                <a:effectLst/>
                <a:latin typeface="华文仿宋" panose="02010600040101010101" pitchFamily="2" charset="-122"/>
                <a:ea typeface="华文仿宋" panose="02010600040101010101" pitchFamily="2" charset="-122"/>
              </a:rPr>
              <a:t>两种经典理念</a:t>
            </a:r>
          </a:p>
        </p:txBody>
      </p:sp>
      <p:sp>
        <p:nvSpPr>
          <p:cNvPr id="4" name="Rectangle 3">
            <a:extLst>
              <a:ext uri="{FF2B5EF4-FFF2-40B4-BE49-F238E27FC236}">
                <a16:creationId xmlns:a16="http://schemas.microsoft.com/office/drawing/2014/main" id="{3DE638C7-2EE9-4729-91FD-B56492C08FA6}"/>
              </a:ext>
            </a:extLst>
          </p:cNvPr>
          <p:cNvSpPr txBox="1">
            <a:spLocks noChangeArrowheads="1"/>
          </p:cNvSpPr>
          <p:nvPr/>
        </p:nvSpPr>
        <p:spPr>
          <a:xfrm>
            <a:off x="933522" y="1963038"/>
            <a:ext cx="10752342" cy="452088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Arial" panose="020B0604020202020204" pitchFamily="34" charset="0"/>
              </a:rPr>
              <a:t>验证软件是“工作的”</a:t>
            </a:r>
          </a:p>
          <a:p>
            <a:pPr lvl="1"/>
            <a:r>
              <a:rPr lang="zh-CN" altLang="en-US" dirty="0">
                <a:latin typeface="Arial" panose="020B0604020202020204" pitchFamily="34" charset="0"/>
              </a:rPr>
              <a:t>代表人物是软件测试领域的先驱</a:t>
            </a:r>
            <a:r>
              <a:rPr lang="en-US" altLang="zh-CN" dirty="0">
                <a:latin typeface="Arial" panose="020B0604020202020204" pitchFamily="34" charset="0"/>
              </a:rPr>
              <a:t>Dr. Bill </a:t>
            </a:r>
            <a:r>
              <a:rPr lang="en-US" altLang="zh-CN" dirty="0" err="1">
                <a:latin typeface="Arial" panose="020B0604020202020204" pitchFamily="34" charset="0"/>
              </a:rPr>
              <a:t>Hetzel</a:t>
            </a:r>
            <a:r>
              <a:rPr lang="zh-CN" altLang="en-US" dirty="0">
                <a:latin typeface="Arial" panose="020B0604020202020204" pitchFamily="34" charset="0"/>
              </a:rPr>
              <a:t>（代表论著</a:t>
            </a:r>
            <a:r>
              <a:rPr lang="en-US" altLang="zh-CN" dirty="0">
                <a:latin typeface="Arial" panose="020B0604020202020204" pitchFamily="34" charset="0"/>
              </a:rPr>
              <a:t>《The Complete Guide to Software Testing》</a:t>
            </a:r>
            <a:r>
              <a:rPr lang="zh-CN" altLang="en-US" dirty="0">
                <a:latin typeface="Arial" panose="020B0604020202020204" pitchFamily="34" charset="0"/>
              </a:rPr>
              <a:t>） </a:t>
            </a:r>
          </a:p>
          <a:p>
            <a:pPr lvl="1"/>
            <a:r>
              <a:rPr lang="zh-CN" altLang="en-US" dirty="0">
                <a:latin typeface="Arial" panose="020B0604020202020204" pitchFamily="34" charset="0"/>
              </a:rPr>
              <a:t>主流和行业标准</a:t>
            </a:r>
          </a:p>
          <a:p>
            <a:pPr lvl="1"/>
            <a:r>
              <a:rPr lang="zh-CN" altLang="en-US" dirty="0">
                <a:latin typeface="Arial" panose="020B0604020202020204" pitchFamily="34" charset="0"/>
              </a:rPr>
              <a:t>微软软件测试活动的</a:t>
            </a:r>
            <a:r>
              <a:rPr lang="zh-CN" altLang="en-US" dirty="0"/>
              <a:t>基础和主要线索</a:t>
            </a:r>
            <a:endParaRPr lang="en-US" altLang="zh-CN" dirty="0"/>
          </a:p>
          <a:p>
            <a:pPr marL="457200" lvl="1" indent="0">
              <a:buNone/>
            </a:pPr>
            <a:endParaRPr lang="zh-CN" altLang="en-US" dirty="0">
              <a:latin typeface="Arial" panose="020B0604020202020204" pitchFamily="34" charset="0"/>
            </a:endParaRPr>
          </a:p>
          <a:p>
            <a:r>
              <a:rPr lang="zh-CN" altLang="en-US" dirty="0">
                <a:latin typeface="Arial" panose="020B0604020202020204" pitchFamily="34" charset="0"/>
              </a:rPr>
              <a:t>证明软件是“不工作的” </a:t>
            </a:r>
          </a:p>
          <a:p>
            <a:pPr lvl="1"/>
            <a:r>
              <a:rPr lang="zh-CN" altLang="en-US" dirty="0">
                <a:latin typeface="Arial" panose="020B0604020202020204" pitchFamily="34" charset="0"/>
              </a:rPr>
              <a:t>代表人物是</a:t>
            </a:r>
            <a:r>
              <a:rPr lang="en-US" altLang="zh-CN" dirty="0" err="1">
                <a:latin typeface="Arial" panose="020B0604020202020204" pitchFamily="34" charset="0"/>
              </a:rPr>
              <a:t>Glenford</a:t>
            </a:r>
            <a:r>
              <a:rPr lang="en-US" altLang="zh-CN" dirty="0">
                <a:latin typeface="Arial" panose="020B0604020202020204" pitchFamily="34" charset="0"/>
              </a:rPr>
              <a:t> J. Myers</a:t>
            </a:r>
            <a:r>
              <a:rPr lang="zh-CN" altLang="en-US" dirty="0">
                <a:latin typeface="Arial" panose="020B0604020202020204" pitchFamily="34" charset="0"/>
              </a:rPr>
              <a:t>（代表论著</a:t>
            </a:r>
            <a:r>
              <a:rPr lang="en-US" altLang="zh-CN" dirty="0">
                <a:latin typeface="Arial" panose="020B0604020202020204" pitchFamily="34" charset="0"/>
              </a:rPr>
              <a:t>《The Art of Software Testing》</a:t>
            </a:r>
            <a:r>
              <a:rPr lang="zh-CN" altLang="en-US" dirty="0">
                <a:latin typeface="Arial" panose="020B0604020202020204" pitchFamily="34" charset="0"/>
              </a:rPr>
              <a:t>） </a:t>
            </a:r>
          </a:p>
          <a:p>
            <a:pPr lvl="1"/>
            <a:r>
              <a:rPr lang="zh-CN" altLang="en-US" dirty="0">
                <a:latin typeface="Arial" panose="020B0604020202020204" pitchFamily="34" charset="0"/>
              </a:rPr>
              <a:t>一个成功的测试必须是发现</a:t>
            </a:r>
            <a:r>
              <a:rPr lang="en-US" altLang="zh-CN" dirty="0">
                <a:latin typeface="Arial" panose="020B0604020202020204" pitchFamily="34" charset="0"/>
              </a:rPr>
              <a:t>Bug</a:t>
            </a:r>
            <a:r>
              <a:rPr lang="zh-CN" altLang="en-US" dirty="0">
                <a:latin typeface="Arial" panose="020B0604020202020204" pitchFamily="34" charset="0"/>
              </a:rPr>
              <a:t>的测试，不然就没有价值 </a:t>
            </a:r>
          </a:p>
          <a:p>
            <a:pPr lvl="1"/>
            <a:r>
              <a:rPr lang="zh-CN" altLang="en-US" dirty="0">
                <a:latin typeface="Arial" panose="020B0604020202020204" pitchFamily="34" charset="0"/>
              </a:rPr>
              <a:t>微软也阶段性地进行这类测试活动 </a:t>
            </a:r>
            <a:r>
              <a:rPr lang="en-US" altLang="zh-CN" dirty="0">
                <a:latin typeface="Arial" panose="020B0604020202020204" pitchFamily="34" charset="0"/>
              </a:rPr>
              <a:t>(Bug Bash)</a:t>
            </a:r>
          </a:p>
        </p:txBody>
      </p:sp>
    </p:spTree>
    <p:extLst>
      <p:ext uri="{BB962C8B-B14F-4D97-AF65-F5344CB8AC3E}">
        <p14:creationId xmlns:p14="http://schemas.microsoft.com/office/powerpoint/2010/main" val="294788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100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rbrake.wav"/>
                                        </p:tgtEl>
                                      </p:cMediaNode>
                                    </p:audio>
                                  </p:subTnLst>
                                </p:cTn>
                              </p:par>
                              <p:par>
                                <p:cTn id="14" presetID="2" presetClass="entr" presetSubtype="2" fill="hold" grpId="0" nodeType="withEffect">
                                  <p:stCondLst>
                                    <p:cond delay="1000"/>
                                  </p:stCondLst>
                                  <p:childTnLst>
                                    <p:set>
                                      <p:cBhvr>
                                        <p:cTn id="15" dur="1" fill="hold">
                                          <p:stCondLst>
                                            <p:cond delay="0"/>
                                          </p:stCondLst>
                                        </p:cTn>
                                        <p:tgtEl>
                                          <p:spTgt spid="4">
                                            <p:txEl>
                                              <p:pRg st="1" end="1"/>
                                            </p:txEl>
                                          </p:spTgt>
                                        </p:tgtEl>
                                        <p:attrNameLst>
                                          <p:attrName>style.visibility</p:attrName>
                                        </p:attrNameLst>
                                      </p:cBhvr>
                                      <p:to>
                                        <p:strVal val="visible"/>
                                      </p:to>
                                    </p:set>
                                    <p:anim calcmode="lin" valueType="num">
                                      <p:cBhvr additive="base">
                                        <p:cTn id="16"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17"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2" name="carbrake.wav"/>
                                        </p:tgtEl>
                                      </p:cMediaNode>
                                    </p:audio>
                                  </p:subTnLst>
                                </p:cTn>
                              </p:par>
                              <p:par>
                                <p:cTn id="18" presetID="2" presetClass="entr" presetSubtype="2" fill="hold" grpId="0" nodeType="withEffect">
                                  <p:stCondLst>
                                    <p:cond delay="1000"/>
                                  </p:stCondLst>
                                  <p:childTnLst>
                                    <p:set>
                                      <p:cBhvr>
                                        <p:cTn id="19" dur="1" fill="hold">
                                          <p:stCondLst>
                                            <p:cond delay="0"/>
                                          </p:stCondLst>
                                        </p:cTn>
                                        <p:tgtEl>
                                          <p:spTgt spid="4">
                                            <p:txEl>
                                              <p:pRg st="2" end="2"/>
                                            </p:txEl>
                                          </p:spTgt>
                                        </p:tgtEl>
                                        <p:attrNameLst>
                                          <p:attrName>style.visibility</p:attrName>
                                        </p:attrNameLst>
                                      </p:cBhvr>
                                      <p:to>
                                        <p:strVal val="visible"/>
                                      </p:to>
                                    </p:set>
                                    <p:anim calcmode="lin" valueType="num">
                                      <p:cBhvr additive="base">
                                        <p:cTn id="20"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8"/>
                                            </p:cond>
                                          </p:stCondLst>
                                          <p:endCondLst>
                                            <p:cond evt="onStopAudio" delay="0">
                                              <p:tgtEl>
                                                <p:sldTgt/>
                                              </p:tgtEl>
                                            </p:cond>
                                          </p:endCondLst>
                                        </p:cTn>
                                        <p:tgtEl>
                                          <p:sndTgt r:embed="rId2" name="carbrake.wav"/>
                                        </p:tgtEl>
                                      </p:cMediaNode>
                                    </p:audio>
                                  </p:subTnLst>
                                </p:cTn>
                              </p:par>
                              <p:par>
                                <p:cTn id="22" presetID="2" presetClass="entr" presetSubtype="2" fill="hold" grpId="0" nodeType="withEffect">
                                  <p:stCondLst>
                                    <p:cond delay="1000"/>
                                  </p:stCondLst>
                                  <p:childTnLst>
                                    <p:set>
                                      <p:cBhvr>
                                        <p:cTn id="23" dur="1" fill="hold">
                                          <p:stCondLst>
                                            <p:cond delay="0"/>
                                          </p:stCondLst>
                                        </p:cTn>
                                        <p:tgtEl>
                                          <p:spTgt spid="4">
                                            <p:txEl>
                                              <p:pRg st="3" end="3"/>
                                            </p:txEl>
                                          </p:spTgt>
                                        </p:tgtEl>
                                        <p:attrNameLst>
                                          <p:attrName>style.visibility</p:attrName>
                                        </p:attrNameLst>
                                      </p:cBhvr>
                                      <p:to>
                                        <p:strVal val="visible"/>
                                      </p:to>
                                    </p:set>
                                    <p:anim calcmode="lin" valueType="num">
                                      <p:cBhvr additive="base">
                                        <p:cTn id="24"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carbrake.wav"/>
                                        </p:tgtEl>
                                      </p:cMediaNode>
                                    </p:audio>
                                  </p:subTnLst>
                                </p:cTn>
                              </p:par>
                            </p:childTnLst>
                          </p:cTn>
                        </p:par>
                        <p:par>
                          <p:cTn id="26" fill="hold">
                            <p:stCondLst>
                              <p:cond delay="2000"/>
                            </p:stCondLst>
                            <p:childTnLst>
                              <p:par>
                                <p:cTn id="27" presetID="2" presetClass="entr" presetSubtype="2" fill="hold" grpId="0" nodeType="afterEffect">
                                  <p:stCondLst>
                                    <p:cond delay="100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rbrake.wav"/>
                                        </p:tgtEl>
                                      </p:cMediaNode>
                                    </p:audio>
                                  </p:subTnLst>
                                </p:cTn>
                              </p:par>
                              <p:par>
                                <p:cTn id="31" presetID="2" presetClass="entr" presetSubtype="2" fill="hold" grpId="0" nodeType="withEffect">
                                  <p:stCondLst>
                                    <p:cond delay="1000"/>
                                  </p:stCondLst>
                                  <p:childTnLst>
                                    <p:set>
                                      <p:cBhvr>
                                        <p:cTn id="32" dur="1" fill="hold">
                                          <p:stCondLst>
                                            <p:cond delay="0"/>
                                          </p:stCondLst>
                                        </p:cTn>
                                        <p:tgtEl>
                                          <p:spTgt spid="4">
                                            <p:txEl>
                                              <p:pRg st="6" end="6"/>
                                            </p:txEl>
                                          </p:spTgt>
                                        </p:tgtEl>
                                        <p:attrNameLst>
                                          <p:attrName>style.visibility</p:attrName>
                                        </p:attrNameLst>
                                      </p:cBhvr>
                                      <p:to>
                                        <p:strVal val="visible"/>
                                      </p:to>
                                    </p:set>
                                    <p:anim calcmode="lin" valueType="num">
                                      <p:cBhvr additive="base">
                                        <p:cTn id="33" dur="500" fill="hold"/>
                                        <p:tgtEl>
                                          <p:spTgt spid="4">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4">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carbrake.wav"/>
                                        </p:tgtEl>
                                      </p:cMediaNode>
                                    </p:audio>
                                  </p:subTnLst>
                                </p:cTn>
                              </p:par>
                              <p:par>
                                <p:cTn id="35" presetID="2" presetClass="entr" presetSubtype="2" fill="hold" grpId="0" nodeType="withEffect">
                                  <p:stCondLst>
                                    <p:cond delay="100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par>
                                <p:cTn id="39" presetID="2" presetClass="entr" presetSubtype="2" fill="hold" grpId="0" nodeType="withEffect">
                                  <p:stCondLst>
                                    <p:cond delay="1000"/>
                                  </p:stCondLst>
                                  <p:childTnLst>
                                    <p:set>
                                      <p:cBhvr>
                                        <p:cTn id="40" dur="1" fill="hold">
                                          <p:stCondLst>
                                            <p:cond delay="0"/>
                                          </p:stCondLst>
                                        </p:cTn>
                                        <p:tgtEl>
                                          <p:spTgt spid="4">
                                            <p:txEl>
                                              <p:pRg st="8" end="8"/>
                                            </p:txEl>
                                          </p:spTgt>
                                        </p:tgtEl>
                                        <p:attrNameLst>
                                          <p:attrName>style.visibility</p:attrName>
                                        </p:attrNameLst>
                                      </p:cBhvr>
                                      <p:to>
                                        <p:strVal val="visible"/>
                                      </p:to>
                                    </p:set>
                                    <p:anim calcmode="lin" valueType="num">
                                      <p:cBhvr additive="base">
                                        <p:cTn id="41" dur="500" fill="hold"/>
                                        <p:tgtEl>
                                          <p:spTgt spid="4">
                                            <p:txEl>
                                              <p:pRg st="8" end="8"/>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4">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build="p" autoUpdateAnimBg="0" advAuto="100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FBE3353-B64E-4595-885A-B8E2A703FAC1}"/>
              </a:ext>
            </a:extLst>
          </p:cNvPr>
          <p:cNvSpPr/>
          <p:nvPr/>
        </p:nvSpPr>
        <p:spPr>
          <a:xfrm>
            <a:off x="6225134" y="614245"/>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ADF965A1-5030-4685-94B8-8D4D8EA31130}"/>
              </a:ext>
            </a:extLst>
          </p:cNvPr>
          <p:cNvSpPr>
            <a:spLocks noGrp="1" noChangeArrowheads="1"/>
          </p:cNvSpPr>
          <p:nvPr>
            <p:ph type="title"/>
          </p:nvPr>
        </p:nvSpPr>
        <p:spPr>
          <a:xfrm>
            <a:off x="2177436" y="1704132"/>
            <a:ext cx="8393112" cy="585788"/>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微软的软件测试</a:t>
            </a:r>
          </a:p>
        </p:txBody>
      </p:sp>
      <p:sp>
        <p:nvSpPr>
          <p:cNvPr id="4" name="Rectangle 3">
            <a:extLst>
              <a:ext uri="{FF2B5EF4-FFF2-40B4-BE49-F238E27FC236}">
                <a16:creationId xmlns:a16="http://schemas.microsoft.com/office/drawing/2014/main" id="{762D41E1-C5EB-4E15-94BC-A74C8F11F900}"/>
              </a:ext>
            </a:extLst>
          </p:cNvPr>
          <p:cNvSpPr txBox="1">
            <a:spLocks noChangeArrowheads="1"/>
          </p:cNvSpPr>
          <p:nvPr/>
        </p:nvSpPr>
        <p:spPr>
          <a:xfrm>
            <a:off x="2630508" y="2551511"/>
            <a:ext cx="7829550" cy="30702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是软件开发的依赖</a:t>
            </a:r>
          </a:p>
          <a:p>
            <a:pPr lvl="1"/>
            <a:r>
              <a:rPr lang="zh-CN" altLang="en-US" dirty="0"/>
              <a:t>每日建造</a:t>
            </a:r>
            <a:r>
              <a:rPr lang="en-US" altLang="zh-CN" dirty="0"/>
              <a:t>+</a:t>
            </a:r>
            <a:r>
              <a:rPr lang="zh-CN" altLang="en-US" dirty="0"/>
              <a:t>自动化测试 </a:t>
            </a:r>
          </a:p>
          <a:p>
            <a:pPr lvl="1"/>
            <a:r>
              <a:rPr lang="zh-CN" altLang="en-US" dirty="0"/>
              <a:t>开发人员依赖测试来保证开发工作的质量，使开发整体地协调地向前推进 </a:t>
            </a:r>
          </a:p>
          <a:p>
            <a:r>
              <a:rPr lang="zh-CN" altLang="en-US" dirty="0"/>
              <a:t>是项目管理的基础</a:t>
            </a:r>
          </a:p>
          <a:p>
            <a:pPr lvl="1"/>
            <a:r>
              <a:rPr lang="zh-CN" altLang="en-US" dirty="0"/>
              <a:t>软件项目管理的主要线索就是</a:t>
            </a:r>
            <a:r>
              <a:rPr lang="en-US" altLang="zh-CN" dirty="0"/>
              <a:t>Bug</a:t>
            </a:r>
            <a:r>
              <a:rPr lang="zh-CN" altLang="en-US" dirty="0"/>
              <a:t>的管理</a:t>
            </a:r>
          </a:p>
          <a:p>
            <a:pPr lvl="1"/>
            <a:r>
              <a:rPr lang="zh-CN" altLang="en-US" dirty="0"/>
              <a:t>软件测试的结果是项管理和决策的主要依据</a:t>
            </a:r>
          </a:p>
        </p:txBody>
      </p:sp>
    </p:spTree>
    <p:extLst>
      <p:ext uri="{BB962C8B-B14F-4D97-AF65-F5344CB8AC3E}">
        <p14:creationId xmlns:p14="http://schemas.microsoft.com/office/powerpoint/2010/main" val="231597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100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rbrake.wav"/>
                                        </p:tgtEl>
                                      </p:cMediaNode>
                                    </p:audio>
                                  </p:subTnLst>
                                </p:cTn>
                              </p:par>
                              <p:par>
                                <p:cTn id="14" presetID="2" presetClass="entr" presetSubtype="2" fill="hold" grpId="0" nodeType="withEffect">
                                  <p:stCondLst>
                                    <p:cond delay="1000"/>
                                  </p:stCondLst>
                                  <p:childTnLst>
                                    <p:set>
                                      <p:cBhvr>
                                        <p:cTn id="15" dur="1" fill="hold">
                                          <p:stCondLst>
                                            <p:cond delay="0"/>
                                          </p:stCondLst>
                                        </p:cTn>
                                        <p:tgtEl>
                                          <p:spTgt spid="4">
                                            <p:txEl>
                                              <p:pRg st="1" end="1"/>
                                            </p:txEl>
                                          </p:spTgt>
                                        </p:tgtEl>
                                        <p:attrNameLst>
                                          <p:attrName>style.visibility</p:attrName>
                                        </p:attrNameLst>
                                      </p:cBhvr>
                                      <p:to>
                                        <p:strVal val="visible"/>
                                      </p:to>
                                    </p:set>
                                    <p:anim calcmode="lin" valueType="num">
                                      <p:cBhvr additive="base">
                                        <p:cTn id="16"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17"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2" name="carbrake.wav"/>
                                        </p:tgtEl>
                                      </p:cMediaNode>
                                    </p:audio>
                                  </p:subTnLst>
                                </p:cTn>
                              </p:par>
                              <p:par>
                                <p:cTn id="18" presetID="2" presetClass="entr" presetSubtype="2" fill="hold" grpId="0" nodeType="withEffect">
                                  <p:stCondLst>
                                    <p:cond delay="1000"/>
                                  </p:stCondLst>
                                  <p:childTnLst>
                                    <p:set>
                                      <p:cBhvr>
                                        <p:cTn id="19" dur="1" fill="hold">
                                          <p:stCondLst>
                                            <p:cond delay="0"/>
                                          </p:stCondLst>
                                        </p:cTn>
                                        <p:tgtEl>
                                          <p:spTgt spid="4">
                                            <p:txEl>
                                              <p:pRg st="2" end="2"/>
                                            </p:txEl>
                                          </p:spTgt>
                                        </p:tgtEl>
                                        <p:attrNameLst>
                                          <p:attrName>style.visibility</p:attrName>
                                        </p:attrNameLst>
                                      </p:cBhvr>
                                      <p:to>
                                        <p:strVal val="visible"/>
                                      </p:to>
                                    </p:set>
                                    <p:anim calcmode="lin" valueType="num">
                                      <p:cBhvr additive="base">
                                        <p:cTn id="20"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8"/>
                                            </p:cond>
                                          </p:stCondLst>
                                          <p:endCondLst>
                                            <p:cond evt="onStopAudio" delay="0">
                                              <p:tgtEl>
                                                <p:sldTgt/>
                                              </p:tgtEl>
                                            </p:cond>
                                          </p:endCondLst>
                                        </p:cTn>
                                        <p:tgtEl>
                                          <p:sndTgt r:embed="rId2" name="carbrake.wav"/>
                                        </p:tgtEl>
                                      </p:cMediaNode>
                                    </p:audio>
                                  </p:subTnLst>
                                </p:cTn>
                              </p:par>
                            </p:childTnLst>
                          </p:cTn>
                        </p:par>
                        <p:par>
                          <p:cTn id="22" fill="hold">
                            <p:stCondLst>
                              <p:cond delay="2000"/>
                            </p:stCondLst>
                            <p:childTnLst>
                              <p:par>
                                <p:cTn id="23" presetID="2" presetClass="entr" presetSubtype="2" fill="hold" grpId="0" nodeType="afterEffect">
                                  <p:stCondLst>
                                    <p:cond delay="100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par>
                                <p:cTn id="27" presetID="2" presetClass="entr" presetSubtype="2" fill="hold" grpId="0" nodeType="withEffect">
                                  <p:stCondLst>
                                    <p:cond delay="100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rbrake.wav"/>
                                        </p:tgtEl>
                                      </p:cMediaNode>
                                    </p:audio>
                                  </p:subTnLst>
                                </p:cTn>
                              </p:par>
                              <p:par>
                                <p:cTn id="31" presetID="2" presetClass="entr" presetSubtype="2" fill="hold" grpId="0" nodeType="withEffect">
                                  <p:stCondLst>
                                    <p:cond delay="100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build="p" autoUpdateAnimBg="0" advAuto="100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68AE493-EBDD-4977-BEA8-D51BAE1E7E7F}"/>
              </a:ext>
            </a:extLst>
          </p:cNvPr>
          <p:cNvSpPr/>
          <p:nvPr/>
        </p:nvSpPr>
        <p:spPr>
          <a:xfrm>
            <a:off x="6166411" y="312242"/>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4E75E84E-63CF-476F-978C-8DE161EDC0BE}"/>
              </a:ext>
            </a:extLst>
          </p:cNvPr>
          <p:cNvSpPr>
            <a:spLocks noGrp="1" noChangeArrowheads="1"/>
          </p:cNvSpPr>
          <p:nvPr>
            <p:ph type="title"/>
          </p:nvPr>
        </p:nvSpPr>
        <p:spPr>
          <a:xfrm>
            <a:off x="2274605" y="1301511"/>
            <a:ext cx="8393113" cy="585787"/>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微软的测试：一个完善的自动化测试体系</a:t>
            </a:r>
            <a:endParaRPr lang="en-US" sz="3200" dirty="0">
              <a:latin typeface="华文仿宋" panose="02010600040101010101" pitchFamily="2" charset="-122"/>
              <a:ea typeface="华文仿宋" panose="02010600040101010101" pitchFamily="2" charset="-122"/>
            </a:endParaRPr>
          </a:p>
        </p:txBody>
      </p:sp>
      <p:sp>
        <p:nvSpPr>
          <p:cNvPr id="4" name="Oval 4">
            <a:extLst>
              <a:ext uri="{FF2B5EF4-FFF2-40B4-BE49-F238E27FC236}">
                <a16:creationId xmlns:a16="http://schemas.microsoft.com/office/drawing/2014/main" id="{8D8141CA-D530-4ECA-95C2-9DECCA041C97}"/>
              </a:ext>
            </a:extLst>
          </p:cNvPr>
          <p:cNvSpPr>
            <a:spLocks noChangeArrowheads="1"/>
          </p:cNvSpPr>
          <p:nvPr/>
        </p:nvSpPr>
        <p:spPr bwMode="auto">
          <a:xfrm>
            <a:off x="5594861" y="3041988"/>
            <a:ext cx="1905000" cy="1600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rPr>
              <a:t>开发环境</a:t>
            </a:r>
          </a:p>
          <a:p>
            <a:pPr algn="ctr"/>
            <a:r>
              <a:rPr lang="zh-CN" altLang="en-US">
                <a:solidFill>
                  <a:schemeClr val="bg1"/>
                </a:solidFill>
              </a:rPr>
              <a:t>开发语言，库程序，</a:t>
            </a:r>
          </a:p>
          <a:p>
            <a:pPr algn="ctr"/>
            <a:r>
              <a:rPr lang="zh-CN" altLang="en-US">
                <a:solidFill>
                  <a:schemeClr val="bg1"/>
                </a:solidFill>
              </a:rPr>
              <a:t>驱动程序，开发工具</a:t>
            </a:r>
          </a:p>
        </p:txBody>
      </p:sp>
      <p:sp>
        <p:nvSpPr>
          <p:cNvPr id="5" name="Oval 5">
            <a:extLst>
              <a:ext uri="{FF2B5EF4-FFF2-40B4-BE49-F238E27FC236}">
                <a16:creationId xmlns:a16="http://schemas.microsoft.com/office/drawing/2014/main" id="{168B7316-9D58-4D6A-9BC2-2F2D153F60E4}"/>
              </a:ext>
            </a:extLst>
          </p:cNvPr>
          <p:cNvSpPr>
            <a:spLocks noChangeArrowheads="1"/>
          </p:cNvSpPr>
          <p:nvPr/>
        </p:nvSpPr>
        <p:spPr bwMode="auto">
          <a:xfrm>
            <a:off x="3766061" y="2051388"/>
            <a:ext cx="1828800" cy="1524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dirty="0">
                <a:solidFill>
                  <a:schemeClr val="bg1"/>
                </a:solidFill>
              </a:rPr>
              <a:t>测试用例管理</a:t>
            </a:r>
          </a:p>
          <a:p>
            <a:pPr algn="ctr"/>
            <a:r>
              <a:rPr lang="zh-CN" altLang="en-US" dirty="0">
                <a:solidFill>
                  <a:schemeClr val="bg1"/>
                </a:solidFill>
              </a:rPr>
              <a:t>测试用例的定义，</a:t>
            </a:r>
          </a:p>
          <a:p>
            <a:pPr algn="ctr"/>
            <a:r>
              <a:rPr lang="zh-CN" altLang="en-US" dirty="0">
                <a:solidFill>
                  <a:schemeClr val="bg1"/>
                </a:solidFill>
              </a:rPr>
              <a:t>设置，分类</a:t>
            </a:r>
          </a:p>
          <a:p>
            <a:pPr algn="ctr"/>
            <a:r>
              <a:rPr lang="zh-CN" altLang="en-US" dirty="0">
                <a:solidFill>
                  <a:schemeClr val="bg1"/>
                </a:solidFill>
              </a:rPr>
              <a:t>和组合运行</a:t>
            </a:r>
          </a:p>
        </p:txBody>
      </p:sp>
      <p:sp>
        <p:nvSpPr>
          <p:cNvPr id="6" name="Oval 6">
            <a:extLst>
              <a:ext uri="{FF2B5EF4-FFF2-40B4-BE49-F238E27FC236}">
                <a16:creationId xmlns:a16="http://schemas.microsoft.com/office/drawing/2014/main" id="{6C6B70BA-D79B-42D1-ACB3-829D6B6730C4}"/>
              </a:ext>
            </a:extLst>
          </p:cNvPr>
          <p:cNvSpPr>
            <a:spLocks noChangeArrowheads="1"/>
          </p:cNvSpPr>
          <p:nvPr/>
        </p:nvSpPr>
        <p:spPr bwMode="auto">
          <a:xfrm>
            <a:off x="7423661" y="1975188"/>
            <a:ext cx="1828800" cy="1524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dirty="0">
                <a:solidFill>
                  <a:schemeClr val="bg1"/>
                </a:solidFill>
              </a:rPr>
              <a:t>分析报告</a:t>
            </a:r>
          </a:p>
          <a:p>
            <a:pPr algn="ctr"/>
            <a:r>
              <a:rPr lang="zh-CN" altLang="en-US" dirty="0">
                <a:solidFill>
                  <a:schemeClr val="bg1"/>
                </a:solidFill>
              </a:rPr>
              <a:t>单运行结果报告，</a:t>
            </a:r>
          </a:p>
          <a:p>
            <a:pPr algn="ctr"/>
            <a:r>
              <a:rPr lang="zh-CN" altLang="en-US" dirty="0">
                <a:solidFill>
                  <a:schemeClr val="bg1"/>
                </a:solidFill>
              </a:rPr>
              <a:t>多运行综合报告，</a:t>
            </a:r>
          </a:p>
          <a:p>
            <a:pPr algn="ctr"/>
            <a:r>
              <a:rPr lang="zh-CN" altLang="en-US" dirty="0">
                <a:solidFill>
                  <a:schemeClr val="bg1"/>
                </a:solidFill>
              </a:rPr>
              <a:t>长期走势报告</a:t>
            </a:r>
          </a:p>
        </p:txBody>
      </p:sp>
      <p:sp>
        <p:nvSpPr>
          <p:cNvPr id="7" name="Oval 7">
            <a:extLst>
              <a:ext uri="{FF2B5EF4-FFF2-40B4-BE49-F238E27FC236}">
                <a16:creationId xmlns:a16="http://schemas.microsoft.com/office/drawing/2014/main" id="{6F720824-5C9F-466A-964E-B7767F0BAF57}"/>
              </a:ext>
            </a:extLst>
          </p:cNvPr>
          <p:cNvSpPr>
            <a:spLocks noChangeArrowheads="1"/>
          </p:cNvSpPr>
          <p:nvPr/>
        </p:nvSpPr>
        <p:spPr bwMode="auto">
          <a:xfrm>
            <a:off x="2623061" y="3956388"/>
            <a:ext cx="1828800" cy="1524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rPr>
              <a:t>运行环境</a:t>
            </a:r>
          </a:p>
          <a:p>
            <a:pPr algn="ctr"/>
            <a:r>
              <a:rPr lang="zh-CN" altLang="en-US">
                <a:solidFill>
                  <a:schemeClr val="bg1"/>
                </a:solidFill>
              </a:rPr>
              <a:t>机器池，自动安装</a:t>
            </a:r>
          </a:p>
          <a:p>
            <a:pPr algn="ctr"/>
            <a:r>
              <a:rPr lang="zh-CN" altLang="en-US">
                <a:solidFill>
                  <a:schemeClr val="bg1"/>
                </a:solidFill>
              </a:rPr>
              <a:t>和配置</a:t>
            </a:r>
            <a:r>
              <a:rPr lang="en-US" altLang="zh-CN">
                <a:solidFill>
                  <a:schemeClr val="bg1"/>
                </a:solidFill>
              </a:rPr>
              <a:t>, </a:t>
            </a:r>
            <a:r>
              <a:rPr lang="zh-CN" altLang="en-US">
                <a:solidFill>
                  <a:schemeClr val="bg1"/>
                </a:solidFill>
              </a:rPr>
              <a:t>运行</a:t>
            </a:r>
          </a:p>
        </p:txBody>
      </p:sp>
      <p:sp>
        <p:nvSpPr>
          <p:cNvPr id="8" name="Oval 8">
            <a:extLst>
              <a:ext uri="{FF2B5EF4-FFF2-40B4-BE49-F238E27FC236}">
                <a16:creationId xmlns:a16="http://schemas.microsoft.com/office/drawing/2014/main" id="{5C116790-6678-42D4-AD0F-833DE1F15D9B}"/>
              </a:ext>
            </a:extLst>
          </p:cNvPr>
          <p:cNvSpPr>
            <a:spLocks noChangeArrowheads="1"/>
          </p:cNvSpPr>
          <p:nvPr/>
        </p:nvSpPr>
        <p:spPr bwMode="auto">
          <a:xfrm>
            <a:off x="8490461" y="3956388"/>
            <a:ext cx="1828800" cy="1524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rPr>
              <a:t>代码管理</a:t>
            </a:r>
          </a:p>
          <a:p>
            <a:pPr algn="ctr"/>
            <a:r>
              <a:rPr lang="zh-CN" altLang="en-US">
                <a:solidFill>
                  <a:schemeClr val="bg1"/>
                </a:solidFill>
              </a:rPr>
              <a:t>存储，编译</a:t>
            </a:r>
          </a:p>
        </p:txBody>
      </p:sp>
      <p:sp>
        <p:nvSpPr>
          <p:cNvPr id="9" name="Line 10">
            <a:extLst>
              <a:ext uri="{FF2B5EF4-FFF2-40B4-BE49-F238E27FC236}">
                <a16:creationId xmlns:a16="http://schemas.microsoft.com/office/drawing/2014/main" id="{967F033F-CED7-4E65-A2A9-4E69D12C800C}"/>
              </a:ext>
            </a:extLst>
          </p:cNvPr>
          <p:cNvSpPr>
            <a:spLocks noChangeShapeType="1"/>
          </p:cNvSpPr>
          <p:nvPr/>
        </p:nvSpPr>
        <p:spPr bwMode="auto">
          <a:xfrm>
            <a:off x="3537461" y="5480388"/>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1">
            <a:extLst>
              <a:ext uri="{FF2B5EF4-FFF2-40B4-BE49-F238E27FC236}">
                <a16:creationId xmlns:a16="http://schemas.microsoft.com/office/drawing/2014/main" id="{B6A0A6F1-8E3E-44C2-AD7A-BF3452B59C9B}"/>
              </a:ext>
            </a:extLst>
          </p:cNvPr>
          <p:cNvSpPr>
            <a:spLocks noChangeShapeType="1"/>
          </p:cNvSpPr>
          <p:nvPr/>
        </p:nvSpPr>
        <p:spPr bwMode="auto">
          <a:xfrm>
            <a:off x="4604261" y="3575388"/>
            <a:ext cx="0" cy="2438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2">
            <a:extLst>
              <a:ext uri="{FF2B5EF4-FFF2-40B4-BE49-F238E27FC236}">
                <a16:creationId xmlns:a16="http://schemas.microsoft.com/office/drawing/2014/main" id="{C5703F86-91D9-41EB-9F69-C34B5C6368CD}"/>
              </a:ext>
            </a:extLst>
          </p:cNvPr>
          <p:cNvSpPr>
            <a:spLocks noChangeShapeType="1"/>
          </p:cNvSpPr>
          <p:nvPr/>
        </p:nvSpPr>
        <p:spPr bwMode="auto">
          <a:xfrm>
            <a:off x="8338061" y="3499188"/>
            <a:ext cx="0" cy="2514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3">
            <a:extLst>
              <a:ext uri="{FF2B5EF4-FFF2-40B4-BE49-F238E27FC236}">
                <a16:creationId xmlns:a16="http://schemas.microsoft.com/office/drawing/2014/main" id="{59D2B8C9-C6A6-4BFC-A4F8-BAA0363F30D5}"/>
              </a:ext>
            </a:extLst>
          </p:cNvPr>
          <p:cNvSpPr>
            <a:spLocks noChangeShapeType="1"/>
          </p:cNvSpPr>
          <p:nvPr/>
        </p:nvSpPr>
        <p:spPr bwMode="auto">
          <a:xfrm>
            <a:off x="9404861" y="5480388"/>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4">
            <a:extLst>
              <a:ext uri="{FF2B5EF4-FFF2-40B4-BE49-F238E27FC236}">
                <a16:creationId xmlns:a16="http://schemas.microsoft.com/office/drawing/2014/main" id="{A8F9FE1E-1B21-48D9-BFDC-CAD7E1AB1458}"/>
              </a:ext>
            </a:extLst>
          </p:cNvPr>
          <p:cNvSpPr>
            <a:spLocks noChangeShapeType="1"/>
          </p:cNvSpPr>
          <p:nvPr/>
        </p:nvSpPr>
        <p:spPr bwMode="auto">
          <a:xfrm flipV="1">
            <a:off x="4451861" y="4184988"/>
            <a:ext cx="1219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5">
            <a:extLst>
              <a:ext uri="{FF2B5EF4-FFF2-40B4-BE49-F238E27FC236}">
                <a16:creationId xmlns:a16="http://schemas.microsoft.com/office/drawing/2014/main" id="{D77F3B1F-216B-48D3-BD52-37A93EB87A8C}"/>
              </a:ext>
            </a:extLst>
          </p:cNvPr>
          <p:cNvSpPr>
            <a:spLocks noChangeShapeType="1"/>
          </p:cNvSpPr>
          <p:nvPr/>
        </p:nvSpPr>
        <p:spPr bwMode="auto">
          <a:xfrm>
            <a:off x="7423661" y="4032588"/>
            <a:ext cx="1066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6">
            <a:extLst>
              <a:ext uri="{FF2B5EF4-FFF2-40B4-BE49-F238E27FC236}">
                <a16:creationId xmlns:a16="http://schemas.microsoft.com/office/drawing/2014/main" id="{635DDF89-134D-470F-BA7A-F090761DAC0E}"/>
              </a:ext>
            </a:extLst>
          </p:cNvPr>
          <p:cNvSpPr>
            <a:spLocks noChangeShapeType="1"/>
          </p:cNvSpPr>
          <p:nvPr/>
        </p:nvSpPr>
        <p:spPr bwMode="auto">
          <a:xfrm flipV="1">
            <a:off x="7271261" y="3194388"/>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7">
            <a:extLst>
              <a:ext uri="{FF2B5EF4-FFF2-40B4-BE49-F238E27FC236}">
                <a16:creationId xmlns:a16="http://schemas.microsoft.com/office/drawing/2014/main" id="{5FB364BB-2489-42C4-835F-D7E9895D7715}"/>
              </a:ext>
            </a:extLst>
          </p:cNvPr>
          <p:cNvSpPr>
            <a:spLocks noChangeShapeType="1"/>
          </p:cNvSpPr>
          <p:nvPr/>
        </p:nvSpPr>
        <p:spPr bwMode="auto">
          <a:xfrm flipH="1" flipV="1">
            <a:off x="5442461" y="3194388"/>
            <a:ext cx="304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AutoShape 18">
            <a:extLst>
              <a:ext uri="{FF2B5EF4-FFF2-40B4-BE49-F238E27FC236}">
                <a16:creationId xmlns:a16="http://schemas.microsoft.com/office/drawing/2014/main" id="{EB7FB48A-AB82-4C00-8717-CA7E0B54ABEE}"/>
              </a:ext>
            </a:extLst>
          </p:cNvPr>
          <p:cNvSpPr>
            <a:spLocks noChangeArrowheads="1"/>
          </p:cNvSpPr>
          <p:nvPr/>
        </p:nvSpPr>
        <p:spPr bwMode="auto">
          <a:xfrm>
            <a:off x="3004061" y="6013788"/>
            <a:ext cx="6934200" cy="533400"/>
          </a:xfrm>
          <a:prstGeom prst="roundRect">
            <a:avLst>
              <a:gd name="adj" fmla="val 4494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a:solidFill>
                  <a:schemeClr val="bg1"/>
                </a:solidFill>
              </a:rPr>
              <a:t>硬件，基础设施</a:t>
            </a:r>
          </a:p>
          <a:p>
            <a:pPr algn="ctr"/>
            <a:r>
              <a:rPr lang="zh-CN" altLang="en-US">
                <a:solidFill>
                  <a:schemeClr val="bg1"/>
                </a:solidFill>
              </a:rPr>
              <a:t>实验室，机器，网络</a:t>
            </a:r>
            <a:r>
              <a:rPr lang="en-US" altLang="zh-CN">
                <a:solidFill>
                  <a:schemeClr val="bg1"/>
                </a:solidFill>
              </a:rPr>
              <a:t>……</a:t>
            </a:r>
            <a:endParaRPr lang="en-US">
              <a:solidFill>
                <a:schemeClr val="bg1"/>
              </a:solidFill>
            </a:endParaRPr>
          </a:p>
        </p:txBody>
      </p:sp>
    </p:spTree>
    <p:extLst>
      <p:ext uri="{BB962C8B-B14F-4D97-AF65-F5344CB8AC3E}">
        <p14:creationId xmlns:p14="http://schemas.microsoft.com/office/powerpoint/2010/main" val="1341314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B74FA2C-38FA-4CE8-8586-F34CD55FCFC1}"/>
              </a:ext>
            </a:extLst>
          </p:cNvPr>
          <p:cNvSpPr/>
          <p:nvPr/>
        </p:nvSpPr>
        <p:spPr>
          <a:xfrm>
            <a:off x="6577472" y="270297"/>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D3F6D6AB-923F-41E0-93B6-67FD4ABB228B}"/>
              </a:ext>
            </a:extLst>
          </p:cNvPr>
          <p:cNvSpPr>
            <a:spLocks noGrp="1" noChangeArrowheads="1"/>
          </p:cNvSpPr>
          <p:nvPr>
            <p:ph type="title"/>
          </p:nvPr>
        </p:nvSpPr>
        <p:spPr>
          <a:xfrm>
            <a:off x="2777106" y="1198606"/>
            <a:ext cx="8393113" cy="585787"/>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微软的测试：自动测试流程</a:t>
            </a:r>
            <a:endParaRPr lang="en-US" sz="3200" dirty="0">
              <a:latin typeface="华文仿宋" panose="02010600040101010101" pitchFamily="2" charset="-122"/>
              <a:ea typeface="华文仿宋" panose="02010600040101010101" pitchFamily="2" charset="-122"/>
            </a:endParaRPr>
          </a:p>
        </p:txBody>
      </p:sp>
      <p:pic>
        <p:nvPicPr>
          <p:cNvPr id="4" name="Picture 5" descr="autotest">
            <a:extLst>
              <a:ext uri="{FF2B5EF4-FFF2-40B4-BE49-F238E27FC236}">
                <a16:creationId xmlns:a16="http://schemas.microsoft.com/office/drawing/2014/main" id="{7B026A39-FB8E-487A-BC2B-E0F8F07722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5706" y="1948229"/>
            <a:ext cx="7583646" cy="4579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957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DCE7721B-4BEF-4ECF-B84A-E7C4E5457249}"/>
              </a:ext>
            </a:extLst>
          </p:cNvPr>
          <p:cNvSpPr/>
          <p:nvPr/>
        </p:nvSpPr>
        <p:spPr>
          <a:xfrm>
            <a:off x="6476804" y="396774"/>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20" name="Rectangle 2">
            <a:extLst>
              <a:ext uri="{FF2B5EF4-FFF2-40B4-BE49-F238E27FC236}">
                <a16:creationId xmlns:a16="http://schemas.microsoft.com/office/drawing/2014/main" id="{B12072F3-7360-41BF-A9BD-82D758BC2B64}"/>
              </a:ext>
            </a:extLst>
          </p:cNvPr>
          <p:cNvSpPr>
            <a:spLocks noGrp="1" noChangeArrowheads="1"/>
          </p:cNvSpPr>
          <p:nvPr>
            <p:ph type="title"/>
          </p:nvPr>
        </p:nvSpPr>
        <p:spPr>
          <a:xfrm>
            <a:off x="2892612" y="932457"/>
            <a:ext cx="8393113" cy="585787"/>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微软的测试：测试实例</a:t>
            </a:r>
            <a:endParaRPr lang="en-US" sz="3200" dirty="0">
              <a:latin typeface="华文仿宋" panose="02010600040101010101" pitchFamily="2" charset="-122"/>
              <a:ea typeface="华文仿宋" panose="02010600040101010101" pitchFamily="2" charset="-122"/>
            </a:endParaRPr>
          </a:p>
        </p:txBody>
      </p:sp>
      <p:grpSp>
        <p:nvGrpSpPr>
          <p:cNvPr id="21" name="组合 20">
            <a:extLst>
              <a:ext uri="{FF2B5EF4-FFF2-40B4-BE49-F238E27FC236}">
                <a16:creationId xmlns:a16="http://schemas.microsoft.com/office/drawing/2014/main" id="{F9B7B498-2FB4-4B60-BBB3-5714451D5CC9}"/>
              </a:ext>
            </a:extLst>
          </p:cNvPr>
          <p:cNvGrpSpPr/>
          <p:nvPr/>
        </p:nvGrpSpPr>
        <p:grpSpPr>
          <a:xfrm>
            <a:off x="2372509" y="1592262"/>
            <a:ext cx="8415769" cy="5265738"/>
            <a:chOff x="381871" y="1371600"/>
            <a:chExt cx="8415769" cy="5265738"/>
          </a:xfrm>
        </p:grpSpPr>
        <p:graphicFrame>
          <p:nvGraphicFramePr>
            <p:cNvPr id="22" name="Object 5">
              <a:extLst>
                <a:ext uri="{FF2B5EF4-FFF2-40B4-BE49-F238E27FC236}">
                  <a16:creationId xmlns:a16="http://schemas.microsoft.com/office/drawing/2014/main" id="{A8F73E5B-3F1E-4A18-A9EC-D5C2067E1EDD}"/>
                </a:ext>
              </a:extLst>
            </p:cNvPr>
            <p:cNvGraphicFramePr>
              <a:graphicFrameLocks noGrp="1" noChangeAspect="1"/>
            </p:cNvGraphicFramePr>
            <p:nvPr>
              <p:ph idx="1"/>
              <p:extLst>
                <p:ext uri="{D42A27DB-BD31-4B8C-83A1-F6EECF244321}">
                  <p14:modId xmlns:p14="http://schemas.microsoft.com/office/powerpoint/2010/main" val="229556381"/>
                </p:ext>
              </p:extLst>
            </p:nvPr>
          </p:nvGraphicFramePr>
          <p:xfrm>
            <a:off x="571500" y="1371600"/>
            <a:ext cx="7696200" cy="5265738"/>
          </p:xfrm>
          <a:graphic>
            <a:graphicData uri="http://schemas.openxmlformats.org/presentationml/2006/ole">
              <mc:AlternateContent xmlns:mc="http://schemas.openxmlformats.org/markup-compatibility/2006">
                <mc:Choice xmlns:v="urn:schemas-microsoft-com:vml" Requires="v">
                  <p:oleObj spid="_x0000_s25608" name="Visio" r:id="rId3" imgW="8223294" imgH="5625721" progId="Visio.Drawing.11">
                    <p:embed/>
                  </p:oleObj>
                </mc:Choice>
                <mc:Fallback>
                  <p:oleObj name="Visio" r:id="rId3" imgW="8223294" imgH="5625721" progId="Visio.Drawing.11">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1371600"/>
                          <a:ext cx="7696200" cy="5265738"/>
                        </a:xfrm>
                        <a:prstGeom prst="rect">
                          <a:avLst/>
                        </a:prstGeom>
                        <a:noFill/>
                        <a:ln>
                          <a:noFill/>
                        </a:ln>
                        <a:effectLst/>
                        <a:extLst>
                          <a:ext uri="{909E8E84-426E-40DD-AFC4-6F175D3DCCD1}">
                            <a14:hiddenFill xmlns:a14="http://schemas.microsoft.com/office/drawing/2010/main">
                              <a:gradFill rotWithShape="0">
                                <a:gsLst>
                                  <a:gs pos="0">
                                    <a:schemeClr val="accent2">
                                      <a:gamma/>
                                      <a:shade val="56078"/>
                                      <a:invGamma/>
                                    </a:schemeClr>
                                  </a:gs>
                                  <a:gs pos="50000">
                                    <a:schemeClr val="accent2"/>
                                  </a:gs>
                                  <a:gs pos="100000">
                                    <a:schemeClr val="accent2">
                                      <a:gamma/>
                                      <a:shade val="56078"/>
                                      <a:invGamma/>
                                    </a:schemeClr>
                                  </a:gs>
                                </a:gsLst>
                                <a:lin ang="2700000" scaled="1"/>
                              </a:gradFill>
                            </a14:hiddenFill>
                          </a:ext>
                          <a:ext uri="{91240B29-F687-4F45-9708-019B960494DF}">
                            <a14:hiddenLine xmlns:a14="http://schemas.microsoft.com/office/drawing/2010/main" w="12700" cap="flat" cmpd="sng">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文本框 22">
              <a:extLst>
                <a:ext uri="{FF2B5EF4-FFF2-40B4-BE49-F238E27FC236}">
                  <a16:creationId xmlns:a16="http://schemas.microsoft.com/office/drawing/2014/main" id="{54483838-835E-4C6D-9B69-A82CC8F38CEF}"/>
                </a:ext>
              </a:extLst>
            </p:cNvPr>
            <p:cNvSpPr txBox="1"/>
            <p:nvPr/>
          </p:nvSpPr>
          <p:spPr>
            <a:xfrm>
              <a:off x="2179320" y="1371600"/>
              <a:ext cx="1338828" cy="369332"/>
            </a:xfrm>
            <a:prstGeom prst="rect">
              <a:avLst/>
            </a:prstGeom>
            <a:noFill/>
          </p:spPr>
          <p:txBody>
            <a:bodyPr wrap="none" rtlCol="0">
              <a:spAutoFit/>
            </a:bodyPr>
            <a:lstStyle/>
            <a:p>
              <a:r>
                <a:rPr lang="zh-CN" altLang="en-US" b="1" dirty="0">
                  <a:solidFill>
                    <a:srgbClr val="7030A0"/>
                  </a:solidFill>
                </a:rPr>
                <a:t>测试实验室</a:t>
              </a:r>
            </a:p>
          </p:txBody>
        </p:sp>
        <p:sp>
          <p:nvSpPr>
            <p:cNvPr id="24" name="文本框 23">
              <a:extLst>
                <a:ext uri="{FF2B5EF4-FFF2-40B4-BE49-F238E27FC236}">
                  <a16:creationId xmlns:a16="http://schemas.microsoft.com/office/drawing/2014/main" id="{DD516DCD-4CEA-4C82-BDD7-6F88830DE749}"/>
                </a:ext>
              </a:extLst>
            </p:cNvPr>
            <p:cNvSpPr txBox="1"/>
            <p:nvPr/>
          </p:nvSpPr>
          <p:spPr>
            <a:xfrm>
              <a:off x="1874520" y="2682240"/>
              <a:ext cx="877163" cy="369332"/>
            </a:xfrm>
            <a:prstGeom prst="rect">
              <a:avLst/>
            </a:prstGeom>
            <a:noFill/>
          </p:spPr>
          <p:txBody>
            <a:bodyPr wrap="none" rtlCol="0">
              <a:spAutoFit/>
            </a:bodyPr>
            <a:lstStyle/>
            <a:p>
              <a:r>
                <a:rPr lang="zh-CN" altLang="en-US" b="1" dirty="0"/>
                <a:t>代码库</a:t>
              </a:r>
            </a:p>
          </p:txBody>
        </p:sp>
        <p:sp>
          <p:nvSpPr>
            <p:cNvPr id="25" name="文本框 24">
              <a:extLst>
                <a:ext uri="{FF2B5EF4-FFF2-40B4-BE49-F238E27FC236}">
                  <a16:creationId xmlns:a16="http://schemas.microsoft.com/office/drawing/2014/main" id="{5F3BB198-5D66-45D6-9C28-CE379CE68DCE}"/>
                </a:ext>
              </a:extLst>
            </p:cNvPr>
            <p:cNvSpPr txBox="1"/>
            <p:nvPr/>
          </p:nvSpPr>
          <p:spPr>
            <a:xfrm>
              <a:off x="2781017" y="2682240"/>
              <a:ext cx="881973" cy="369332"/>
            </a:xfrm>
            <a:prstGeom prst="rect">
              <a:avLst/>
            </a:prstGeom>
            <a:noFill/>
          </p:spPr>
          <p:txBody>
            <a:bodyPr wrap="none" rtlCol="0">
              <a:spAutoFit/>
            </a:bodyPr>
            <a:lstStyle/>
            <a:p>
              <a:r>
                <a:rPr lang="zh-CN" altLang="en-US" b="1" dirty="0"/>
                <a:t>编译器</a:t>
              </a:r>
            </a:p>
          </p:txBody>
        </p:sp>
        <p:sp>
          <p:nvSpPr>
            <p:cNvPr id="26" name="文本框 25">
              <a:extLst>
                <a:ext uri="{FF2B5EF4-FFF2-40B4-BE49-F238E27FC236}">
                  <a16:creationId xmlns:a16="http://schemas.microsoft.com/office/drawing/2014/main" id="{684F0BC7-F5DA-4DDF-BCFC-EFEE6A9BA6B3}"/>
                </a:ext>
              </a:extLst>
            </p:cNvPr>
            <p:cNvSpPr txBox="1"/>
            <p:nvPr/>
          </p:nvSpPr>
          <p:spPr>
            <a:xfrm>
              <a:off x="3600884" y="2682240"/>
              <a:ext cx="1346844" cy="369332"/>
            </a:xfrm>
            <a:prstGeom prst="rect">
              <a:avLst/>
            </a:prstGeom>
            <a:noFill/>
          </p:spPr>
          <p:txBody>
            <a:bodyPr wrap="none" rtlCol="0">
              <a:spAutoFit/>
            </a:bodyPr>
            <a:lstStyle/>
            <a:p>
              <a:r>
                <a:rPr lang="zh-CN" altLang="en-US" b="1" dirty="0"/>
                <a:t>建造版本库</a:t>
              </a:r>
            </a:p>
          </p:txBody>
        </p:sp>
        <p:sp>
          <p:nvSpPr>
            <p:cNvPr id="27" name="文本框 26">
              <a:extLst>
                <a:ext uri="{FF2B5EF4-FFF2-40B4-BE49-F238E27FC236}">
                  <a16:creationId xmlns:a16="http://schemas.microsoft.com/office/drawing/2014/main" id="{A32EB412-C93E-4282-8E67-43F4C649DA6E}"/>
                </a:ext>
              </a:extLst>
            </p:cNvPr>
            <p:cNvSpPr txBox="1"/>
            <p:nvPr/>
          </p:nvSpPr>
          <p:spPr>
            <a:xfrm>
              <a:off x="381871" y="2415540"/>
              <a:ext cx="1114408" cy="369332"/>
            </a:xfrm>
            <a:prstGeom prst="rect">
              <a:avLst/>
            </a:prstGeom>
            <a:noFill/>
          </p:spPr>
          <p:txBody>
            <a:bodyPr wrap="none" rtlCol="0">
              <a:spAutoFit/>
            </a:bodyPr>
            <a:lstStyle/>
            <a:p>
              <a:r>
                <a:rPr lang="zh-CN" altLang="en-US" b="1" dirty="0"/>
                <a:t>产品代码</a:t>
              </a:r>
            </a:p>
          </p:txBody>
        </p:sp>
        <p:sp>
          <p:nvSpPr>
            <p:cNvPr id="28" name="文本框 27">
              <a:extLst>
                <a:ext uri="{FF2B5EF4-FFF2-40B4-BE49-F238E27FC236}">
                  <a16:creationId xmlns:a16="http://schemas.microsoft.com/office/drawing/2014/main" id="{B5C35EE3-DDD4-44CF-8BEB-2384FB33F99E}"/>
                </a:ext>
              </a:extLst>
            </p:cNvPr>
            <p:cNvSpPr txBox="1"/>
            <p:nvPr/>
          </p:nvSpPr>
          <p:spPr>
            <a:xfrm>
              <a:off x="383484" y="3635137"/>
              <a:ext cx="1114408" cy="369332"/>
            </a:xfrm>
            <a:prstGeom prst="rect">
              <a:avLst/>
            </a:prstGeom>
            <a:noFill/>
          </p:spPr>
          <p:txBody>
            <a:bodyPr wrap="none" rtlCol="0">
              <a:spAutoFit/>
            </a:bodyPr>
            <a:lstStyle/>
            <a:p>
              <a:r>
                <a:rPr lang="zh-CN" altLang="en-US" b="1" dirty="0"/>
                <a:t>测试代码</a:t>
              </a:r>
            </a:p>
          </p:txBody>
        </p:sp>
        <p:sp>
          <p:nvSpPr>
            <p:cNvPr id="29" name="文本框 28">
              <a:extLst>
                <a:ext uri="{FF2B5EF4-FFF2-40B4-BE49-F238E27FC236}">
                  <a16:creationId xmlns:a16="http://schemas.microsoft.com/office/drawing/2014/main" id="{61AD06D2-5C13-43FD-9CE9-2AD7C89DDAF8}"/>
                </a:ext>
              </a:extLst>
            </p:cNvPr>
            <p:cNvSpPr txBox="1"/>
            <p:nvPr/>
          </p:nvSpPr>
          <p:spPr>
            <a:xfrm>
              <a:off x="1875159" y="4572000"/>
              <a:ext cx="1346844" cy="646331"/>
            </a:xfrm>
            <a:prstGeom prst="rect">
              <a:avLst/>
            </a:prstGeom>
            <a:noFill/>
          </p:spPr>
          <p:txBody>
            <a:bodyPr wrap="none" rtlCol="0">
              <a:spAutoFit/>
            </a:bodyPr>
            <a:lstStyle/>
            <a:p>
              <a:pPr algn="ctr"/>
              <a:r>
                <a:rPr lang="zh-CN" altLang="en-US" b="1" dirty="0"/>
                <a:t>测试用例</a:t>
              </a:r>
              <a:endParaRPr lang="en-US" altLang="zh-CN" b="1" dirty="0"/>
            </a:p>
            <a:p>
              <a:pPr algn="ctr"/>
              <a:r>
                <a:rPr lang="zh-CN" altLang="en-US" b="1" dirty="0"/>
                <a:t>管理服务器</a:t>
              </a:r>
            </a:p>
          </p:txBody>
        </p:sp>
        <p:sp>
          <p:nvSpPr>
            <p:cNvPr id="30" name="文本框 29">
              <a:extLst>
                <a:ext uri="{FF2B5EF4-FFF2-40B4-BE49-F238E27FC236}">
                  <a16:creationId xmlns:a16="http://schemas.microsoft.com/office/drawing/2014/main" id="{51F46428-9BD1-4D06-B9FC-A34E10740CBD}"/>
                </a:ext>
              </a:extLst>
            </p:cNvPr>
            <p:cNvSpPr txBox="1"/>
            <p:nvPr/>
          </p:nvSpPr>
          <p:spPr>
            <a:xfrm>
              <a:off x="3368449" y="3896003"/>
              <a:ext cx="1811714" cy="369332"/>
            </a:xfrm>
            <a:prstGeom prst="rect">
              <a:avLst/>
            </a:prstGeom>
            <a:noFill/>
          </p:spPr>
          <p:txBody>
            <a:bodyPr wrap="none" rtlCol="0">
              <a:spAutoFit/>
            </a:bodyPr>
            <a:lstStyle/>
            <a:p>
              <a:r>
                <a:rPr lang="zh-CN" altLang="en-US" b="1" dirty="0"/>
                <a:t>自动测试控制器</a:t>
              </a:r>
            </a:p>
          </p:txBody>
        </p:sp>
        <p:sp>
          <p:nvSpPr>
            <p:cNvPr id="31" name="文本框 30">
              <a:extLst>
                <a:ext uri="{FF2B5EF4-FFF2-40B4-BE49-F238E27FC236}">
                  <a16:creationId xmlns:a16="http://schemas.microsoft.com/office/drawing/2014/main" id="{444F4AD7-55F5-4240-9F4F-368F1A3D6882}"/>
                </a:ext>
              </a:extLst>
            </p:cNvPr>
            <p:cNvSpPr txBox="1"/>
            <p:nvPr/>
          </p:nvSpPr>
          <p:spPr>
            <a:xfrm>
              <a:off x="5071544" y="3896003"/>
              <a:ext cx="1114408" cy="369332"/>
            </a:xfrm>
            <a:prstGeom prst="rect">
              <a:avLst/>
            </a:prstGeom>
            <a:noFill/>
          </p:spPr>
          <p:txBody>
            <a:bodyPr wrap="none" rtlCol="0">
              <a:spAutoFit/>
            </a:bodyPr>
            <a:lstStyle/>
            <a:p>
              <a:r>
                <a:rPr lang="zh-CN" altLang="en-US" b="1" dirty="0"/>
                <a:t>测试机房</a:t>
              </a:r>
            </a:p>
          </p:txBody>
        </p:sp>
        <p:sp>
          <p:nvSpPr>
            <p:cNvPr id="32" name="文本框 31">
              <a:extLst>
                <a:ext uri="{FF2B5EF4-FFF2-40B4-BE49-F238E27FC236}">
                  <a16:creationId xmlns:a16="http://schemas.microsoft.com/office/drawing/2014/main" id="{FC0079FA-86DF-4DF4-9D7D-EB859292ED44}"/>
                </a:ext>
              </a:extLst>
            </p:cNvPr>
            <p:cNvSpPr txBox="1"/>
            <p:nvPr/>
          </p:nvSpPr>
          <p:spPr>
            <a:xfrm>
              <a:off x="4947728" y="6088380"/>
              <a:ext cx="1114408" cy="369332"/>
            </a:xfrm>
            <a:prstGeom prst="rect">
              <a:avLst/>
            </a:prstGeom>
            <a:noFill/>
          </p:spPr>
          <p:txBody>
            <a:bodyPr wrap="none" rtlCol="0">
              <a:spAutoFit/>
            </a:bodyPr>
            <a:lstStyle/>
            <a:p>
              <a:r>
                <a:rPr lang="zh-CN" altLang="en-US" b="1" dirty="0"/>
                <a:t>测试结果</a:t>
              </a:r>
            </a:p>
          </p:txBody>
        </p:sp>
        <p:sp>
          <p:nvSpPr>
            <p:cNvPr id="33" name="文本框 32">
              <a:extLst>
                <a:ext uri="{FF2B5EF4-FFF2-40B4-BE49-F238E27FC236}">
                  <a16:creationId xmlns:a16="http://schemas.microsoft.com/office/drawing/2014/main" id="{2E02AA74-D57B-4531-8D0F-5AA73E89053E}"/>
                </a:ext>
              </a:extLst>
            </p:cNvPr>
            <p:cNvSpPr txBox="1"/>
            <p:nvPr/>
          </p:nvSpPr>
          <p:spPr>
            <a:xfrm>
              <a:off x="6721249" y="2600206"/>
              <a:ext cx="1975990" cy="369332"/>
            </a:xfrm>
            <a:prstGeom prst="rect">
              <a:avLst/>
            </a:prstGeom>
            <a:noFill/>
          </p:spPr>
          <p:txBody>
            <a:bodyPr wrap="none" rtlCol="0">
              <a:spAutoFit/>
            </a:bodyPr>
            <a:lstStyle/>
            <a:p>
              <a:r>
                <a:rPr lang="zh-CN" altLang="en-US" b="1" dirty="0"/>
                <a:t>测试结果</a:t>
              </a:r>
              <a:r>
                <a:rPr lang="en-US" altLang="zh-CN" b="1" dirty="0"/>
                <a:t>LOG</a:t>
              </a:r>
              <a:r>
                <a:rPr lang="zh-CN" altLang="en-US" b="1" dirty="0"/>
                <a:t>文件</a:t>
              </a:r>
            </a:p>
          </p:txBody>
        </p:sp>
        <p:sp>
          <p:nvSpPr>
            <p:cNvPr id="34" name="文本框 33">
              <a:extLst>
                <a:ext uri="{FF2B5EF4-FFF2-40B4-BE49-F238E27FC236}">
                  <a16:creationId xmlns:a16="http://schemas.microsoft.com/office/drawing/2014/main" id="{447BC35D-CA58-48E9-8B58-4723CD04B2DA}"/>
                </a:ext>
              </a:extLst>
            </p:cNvPr>
            <p:cNvSpPr txBox="1"/>
            <p:nvPr/>
          </p:nvSpPr>
          <p:spPr>
            <a:xfrm>
              <a:off x="6378349" y="4525833"/>
              <a:ext cx="1346844" cy="646331"/>
            </a:xfrm>
            <a:prstGeom prst="rect">
              <a:avLst/>
            </a:prstGeom>
            <a:noFill/>
          </p:spPr>
          <p:txBody>
            <a:bodyPr wrap="none" rtlCol="0">
              <a:spAutoFit/>
            </a:bodyPr>
            <a:lstStyle/>
            <a:p>
              <a:pPr algn="ctr"/>
              <a:r>
                <a:rPr lang="zh-CN" altLang="en-US" b="1" dirty="0"/>
                <a:t>测试报告</a:t>
              </a:r>
              <a:endParaRPr lang="en-US" altLang="zh-CN" b="1" dirty="0"/>
            </a:p>
            <a:p>
              <a:pPr algn="ctr"/>
              <a:r>
                <a:rPr lang="zh-CN" altLang="en-US" b="1" dirty="0"/>
                <a:t>网络服务器</a:t>
              </a:r>
            </a:p>
          </p:txBody>
        </p:sp>
        <p:sp>
          <p:nvSpPr>
            <p:cNvPr id="35" name="文本框 34">
              <a:extLst>
                <a:ext uri="{FF2B5EF4-FFF2-40B4-BE49-F238E27FC236}">
                  <a16:creationId xmlns:a16="http://schemas.microsoft.com/office/drawing/2014/main" id="{4727EE11-9494-492F-B666-024813B429F9}"/>
                </a:ext>
              </a:extLst>
            </p:cNvPr>
            <p:cNvSpPr txBox="1"/>
            <p:nvPr/>
          </p:nvSpPr>
          <p:spPr>
            <a:xfrm>
              <a:off x="7218362" y="5477440"/>
              <a:ext cx="1579278" cy="646331"/>
            </a:xfrm>
            <a:prstGeom prst="rect">
              <a:avLst/>
            </a:prstGeom>
            <a:noFill/>
          </p:spPr>
          <p:txBody>
            <a:bodyPr wrap="none" rtlCol="0">
              <a:spAutoFit/>
            </a:bodyPr>
            <a:lstStyle/>
            <a:p>
              <a:pPr algn="ctr"/>
              <a:r>
                <a:rPr lang="zh-CN" altLang="en-US" b="1" dirty="0"/>
                <a:t>用户端</a:t>
              </a:r>
              <a:endParaRPr lang="en-US" altLang="zh-CN" b="1" dirty="0"/>
            </a:p>
            <a:p>
              <a:pPr algn="ctr"/>
              <a:r>
                <a:rPr lang="zh-CN" altLang="en-US" b="1" dirty="0"/>
                <a:t>测试报告浏览</a:t>
              </a:r>
            </a:p>
          </p:txBody>
        </p:sp>
      </p:grpSp>
    </p:spTree>
    <p:extLst>
      <p:ext uri="{BB962C8B-B14F-4D97-AF65-F5344CB8AC3E}">
        <p14:creationId xmlns:p14="http://schemas.microsoft.com/office/powerpoint/2010/main" val="2287483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D3F2CEF-C06E-4E71-9F8B-9AB767E12068}"/>
              </a:ext>
            </a:extLst>
          </p:cNvPr>
          <p:cNvSpPr/>
          <p:nvPr/>
        </p:nvSpPr>
        <p:spPr>
          <a:xfrm>
            <a:off x="5998632" y="329020"/>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77CB8404-1D62-4B1F-95ED-423EA69FE7B3}"/>
              </a:ext>
            </a:extLst>
          </p:cNvPr>
          <p:cNvSpPr>
            <a:spLocks noGrp="1" noChangeArrowheads="1"/>
          </p:cNvSpPr>
          <p:nvPr>
            <p:ph type="title"/>
          </p:nvPr>
        </p:nvSpPr>
        <p:spPr>
          <a:xfrm>
            <a:off x="2170600" y="1283803"/>
            <a:ext cx="8393113" cy="585787"/>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微软的测试：自动化测试的核心</a:t>
            </a:r>
            <a:endParaRPr lang="en-US" sz="3200" dirty="0">
              <a:latin typeface="华文仿宋" panose="02010600040101010101" pitchFamily="2" charset="-122"/>
              <a:ea typeface="华文仿宋" panose="02010600040101010101" pitchFamily="2" charset="-122"/>
            </a:endParaRPr>
          </a:p>
        </p:txBody>
      </p:sp>
      <p:graphicFrame>
        <p:nvGraphicFramePr>
          <p:cNvPr id="4" name="Object 11">
            <a:extLst>
              <a:ext uri="{FF2B5EF4-FFF2-40B4-BE49-F238E27FC236}">
                <a16:creationId xmlns:a16="http://schemas.microsoft.com/office/drawing/2014/main" id="{492B6923-32E8-4588-B641-63469B90E625}"/>
              </a:ext>
            </a:extLst>
          </p:cNvPr>
          <p:cNvGraphicFramePr>
            <a:graphicFrameLocks noGrp="1" noChangeAspect="1"/>
          </p:cNvGraphicFramePr>
          <p:nvPr>
            <p:ph idx="1"/>
            <p:extLst>
              <p:ext uri="{D42A27DB-BD31-4B8C-83A1-F6EECF244321}">
                <p14:modId xmlns:p14="http://schemas.microsoft.com/office/powerpoint/2010/main" val="3235246325"/>
              </p:ext>
            </p:extLst>
          </p:nvPr>
        </p:nvGraphicFramePr>
        <p:xfrm>
          <a:off x="2808256" y="1869590"/>
          <a:ext cx="7475220" cy="4812644"/>
        </p:xfrm>
        <a:graphic>
          <a:graphicData uri="http://schemas.openxmlformats.org/presentationml/2006/ole">
            <mc:AlternateContent xmlns:mc="http://schemas.openxmlformats.org/markup-compatibility/2006">
              <mc:Choice xmlns:v="urn:schemas-microsoft-com:vml" Requires="v">
                <p:oleObj spid="_x0000_s26632" name="Visio" r:id="rId3" imgW="3820973" imgH="2876398" progId="Visio.Drawing.11">
                  <p:embed/>
                </p:oleObj>
              </mc:Choice>
              <mc:Fallback>
                <p:oleObj name="Visio" r:id="rId3" imgW="3820973" imgH="2876398" progId="Visio.Drawing.11">
                  <p:embed/>
                  <p:pic>
                    <p:nvPicPr>
                      <p:cNvPr id="5"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256" y="1869590"/>
                        <a:ext cx="7475220" cy="4812644"/>
                      </a:xfrm>
                      <a:prstGeom prst="rect">
                        <a:avLst/>
                      </a:prstGeom>
                      <a:noFill/>
                      <a:ln>
                        <a:noFill/>
                      </a:ln>
                      <a:effectLst/>
                    </p:spPr>
                  </p:pic>
                </p:oleObj>
              </mc:Fallback>
            </mc:AlternateContent>
          </a:graphicData>
        </a:graphic>
      </p:graphicFrame>
      <p:sp>
        <p:nvSpPr>
          <p:cNvPr id="5" name="文本框 4">
            <a:extLst>
              <a:ext uri="{FF2B5EF4-FFF2-40B4-BE49-F238E27FC236}">
                <a16:creationId xmlns:a16="http://schemas.microsoft.com/office/drawing/2014/main" id="{8C1A55A7-E4BB-47A9-B740-4486F0FD1C31}"/>
              </a:ext>
            </a:extLst>
          </p:cNvPr>
          <p:cNvSpPr txBox="1"/>
          <p:nvPr/>
        </p:nvSpPr>
        <p:spPr>
          <a:xfrm>
            <a:off x="8252151" y="2029154"/>
            <a:ext cx="2031325" cy="461665"/>
          </a:xfrm>
          <a:prstGeom prst="rect">
            <a:avLst/>
          </a:prstGeom>
          <a:noFill/>
        </p:spPr>
        <p:txBody>
          <a:bodyPr wrap="none" rtlCol="0">
            <a:spAutoFit/>
          </a:bodyPr>
          <a:lstStyle/>
          <a:p>
            <a:r>
              <a:rPr lang="zh-CN" altLang="en-US" sz="2400" b="1" dirty="0">
                <a:latin typeface="华文仿宋" panose="02010600040101010101" pitchFamily="2" charset="-122"/>
                <a:ea typeface="华文仿宋" panose="02010600040101010101" pitchFamily="2" charset="-122"/>
              </a:rPr>
              <a:t>自动测试用例</a:t>
            </a:r>
          </a:p>
        </p:txBody>
      </p:sp>
      <p:sp>
        <p:nvSpPr>
          <p:cNvPr id="6" name="右大括号 5">
            <a:extLst>
              <a:ext uri="{FF2B5EF4-FFF2-40B4-BE49-F238E27FC236}">
                <a16:creationId xmlns:a16="http://schemas.microsoft.com/office/drawing/2014/main" id="{C94D2399-37DA-49E5-A185-A191864C649E}"/>
              </a:ext>
            </a:extLst>
          </p:cNvPr>
          <p:cNvSpPr/>
          <p:nvPr/>
        </p:nvSpPr>
        <p:spPr>
          <a:xfrm>
            <a:off x="8227888" y="3297043"/>
            <a:ext cx="480060" cy="14630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D51A983-EEFA-427E-8B31-5211A75C33BF}"/>
              </a:ext>
            </a:extLst>
          </p:cNvPr>
          <p:cNvSpPr txBox="1"/>
          <p:nvPr/>
        </p:nvSpPr>
        <p:spPr>
          <a:xfrm>
            <a:off x="8793970" y="3814247"/>
            <a:ext cx="1723549" cy="461665"/>
          </a:xfrm>
          <a:prstGeom prst="rect">
            <a:avLst/>
          </a:prstGeom>
          <a:noFill/>
        </p:spPr>
        <p:txBody>
          <a:bodyPr wrap="none" rtlCol="0">
            <a:spAutoFit/>
          </a:bodyPr>
          <a:lstStyle/>
          <a:p>
            <a:r>
              <a:rPr lang="zh-CN" altLang="en-US" sz="2400" b="1" dirty="0">
                <a:latin typeface="华文仿宋" panose="02010600040101010101" pitchFamily="2" charset="-122"/>
                <a:ea typeface="华文仿宋" panose="02010600040101010101" pitchFamily="2" charset="-122"/>
              </a:rPr>
              <a:t>测试工程师</a:t>
            </a:r>
          </a:p>
        </p:txBody>
      </p:sp>
      <p:sp>
        <p:nvSpPr>
          <p:cNvPr id="8" name="右大括号 7">
            <a:extLst>
              <a:ext uri="{FF2B5EF4-FFF2-40B4-BE49-F238E27FC236}">
                <a16:creationId xmlns:a16="http://schemas.microsoft.com/office/drawing/2014/main" id="{BD770D1F-2103-4BFB-B87C-4C1E79C02E7C}"/>
              </a:ext>
            </a:extLst>
          </p:cNvPr>
          <p:cNvSpPr/>
          <p:nvPr/>
        </p:nvSpPr>
        <p:spPr>
          <a:xfrm>
            <a:off x="8227888" y="4874383"/>
            <a:ext cx="480060" cy="7391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A22304B-D311-4B69-8102-D7C404E0DA11}"/>
              </a:ext>
            </a:extLst>
          </p:cNvPr>
          <p:cNvSpPr txBox="1"/>
          <p:nvPr/>
        </p:nvSpPr>
        <p:spPr>
          <a:xfrm>
            <a:off x="8766049" y="5013120"/>
            <a:ext cx="1422184" cy="830997"/>
          </a:xfrm>
          <a:prstGeom prst="rect">
            <a:avLst/>
          </a:prstGeom>
          <a:noFill/>
        </p:spPr>
        <p:txBody>
          <a:bodyPr wrap="none" rtlCol="0">
            <a:spAutoFit/>
          </a:bodyPr>
          <a:lstStyle/>
          <a:p>
            <a:pPr algn="ctr"/>
            <a:r>
              <a:rPr lang="zh-CN" altLang="en-US" sz="2400" b="1" dirty="0">
                <a:latin typeface="华文仿宋" panose="02010600040101010101" pitchFamily="2" charset="-122"/>
                <a:ea typeface="华文仿宋" panose="02010600040101010101" pitchFamily="2" charset="-122"/>
              </a:rPr>
              <a:t>测试设计</a:t>
            </a:r>
            <a:endParaRPr lang="en-US" altLang="zh-CN" sz="2400" b="1" dirty="0">
              <a:latin typeface="华文仿宋" panose="02010600040101010101" pitchFamily="2" charset="-122"/>
              <a:ea typeface="华文仿宋" panose="02010600040101010101" pitchFamily="2" charset="-122"/>
            </a:endParaRPr>
          </a:p>
          <a:p>
            <a:pPr algn="ctr"/>
            <a:r>
              <a:rPr lang="zh-CN" altLang="en-US" sz="2400" b="1" dirty="0">
                <a:latin typeface="华文仿宋" panose="02010600040101010101" pitchFamily="2" charset="-122"/>
                <a:ea typeface="华文仿宋" panose="02010600040101010101" pitchFamily="2" charset="-122"/>
              </a:rPr>
              <a:t>工程师</a:t>
            </a:r>
          </a:p>
        </p:txBody>
      </p:sp>
    </p:spTree>
    <p:extLst>
      <p:ext uri="{BB962C8B-B14F-4D97-AF65-F5344CB8AC3E}">
        <p14:creationId xmlns:p14="http://schemas.microsoft.com/office/powerpoint/2010/main" val="27912196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DD1C1AC-708D-458A-971D-5DB31DCC19AC}"/>
              </a:ext>
            </a:extLst>
          </p:cNvPr>
          <p:cNvSpPr/>
          <p:nvPr/>
        </p:nvSpPr>
        <p:spPr>
          <a:xfrm>
            <a:off x="5898306" y="345798"/>
            <a:ext cx="5764904" cy="461665"/>
          </a:xfrm>
          <a:prstGeom prst="rect">
            <a:avLst/>
          </a:prstGeom>
        </p:spPr>
        <p:txBody>
          <a:bodyPr wrap="squar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A3F7B77E-E1B0-4927-98F3-64A7E7E79140}"/>
              </a:ext>
            </a:extLst>
          </p:cNvPr>
          <p:cNvSpPr>
            <a:spLocks noGrp="1" noChangeArrowheads="1"/>
          </p:cNvSpPr>
          <p:nvPr>
            <p:ph type="title"/>
          </p:nvPr>
        </p:nvSpPr>
        <p:spPr>
          <a:xfrm>
            <a:off x="1203062" y="1300581"/>
            <a:ext cx="10350551" cy="585787"/>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微软的测试：自动测试程序设计要点</a:t>
            </a:r>
            <a:endParaRPr lang="en-US" sz="3200" dirty="0">
              <a:latin typeface="华文仿宋" panose="02010600040101010101" pitchFamily="2" charset="-122"/>
              <a:ea typeface="华文仿宋" panose="02010600040101010101" pitchFamily="2" charset="-122"/>
            </a:endParaRPr>
          </a:p>
        </p:txBody>
      </p:sp>
      <p:sp>
        <p:nvSpPr>
          <p:cNvPr id="4" name="Rectangle 5">
            <a:extLst>
              <a:ext uri="{FF2B5EF4-FFF2-40B4-BE49-F238E27FC236}">
                <a16:creationId xmlns:a16="http://schemas.microsoft.com/office/drawing/2014/main" id="{DEF810D9-94B9-402E-BC7D-CF340944E902}"/>
              </a:ext>
            </a:extLst>
          </p:cNvPr>
          <p:cNvSpPr txBox="1">
            <a:spLocks noChangeArrowheads="1"/>
          </p:cNvSpPr>
          <p:nvPr/>
        </p:nvSpPr>
        <p:spPr>
          <a:xfrm>
            <a:off x="1476462" y="2017057"/>
            <a:ext cx="9655554" cy="5218112"/>
          </a:xfrm>
          <a:prstGeom prst="rect">
            <a:avLst/>
          </a:prstGeom>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对前提条件进行验证</a:t>
            </a:r>
          </a:p>
          <a:p>
            <a:r>
              <a:rPr lang="zh-CN" altLang="en-US" sz="2400" dirty="0"/>
              <a:t>能处理各种可能的意外，并对有关设置进行彻底清除，以不影响后续测试用例的运行</a:t>
            </a:r>
          </a:p>
          <a:p>
            <a:r>
              <a:rPr lang="zh-CN" altLang="en-US" sz="2400" dirty="0"/>
              <a:t>各测试用例有相对独立性，不相互依赖，便于进行各种运行组合</a:t>
            </a:r>
          </a:p>
          <a:p>
            <a:r>
              <a:rPr lang="zh-CN" altLang="en-US" sz="2400" dirty="0"/>
              <a:t>有好的日志</a:t>
            </a:r>
          </a:p>
          <a:p>
            <a:r>
              <a:rPr lang="zh-CN" altLang="en-US" sz="2400" dirty="0"/>
              <a:t>设计简洁，代码可读性高</a:t>
            </a:r>
          </a:p>
          <a:p>
            <a:r>
              <a:rPr lang="zh-CN" altLang="en-US" sz="2400" dirty="0"/>
              <a:t>易于运行</a:t>
            </a:r>
          </a:p>
          <a:p>
            <a:r>
              <a:rPr lang="zh-CN" altLang="en-US" sz="2400" dirty="0"/>
              <a:t>稳定性重于性能</a:t>
            </a:r>
          </a:p>
          <a:p>
            <a:r>
              <a:rPr lang="zh-CN" altLang="en-US" sz="2400" dirty="0"/>
              <a:t>具有一定的灵活性，能快速适应产品功能设计的更改</a:t>
            </a:r>
          </a:p>
        </p:txBody>
      </p:sp>
    </p:spTree>
    <p:extLst>
      <p:ext uri="{BB962C8B-B14F-4D97-AF65-F5344CB8AC3E}">
        <p14:creationId xmlns:p14="http://schemas.microsoft.com/office/powerpoint/2010/main" val="116361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100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par>
                          <p:cTn id="9" fill="hold">
                            <p:stCondLst>
                              <p:cond delay="1500"/>
                            </p:stCondLst>
                            <p:childTnLst>
                              <p:par>
                                <p:cTn id="10" presetID="2" presetClass="entr" presetSubtype="2" fill="hold" grpId="0" nodeType="afterEffect">
                                  <p:stCondLst>
                                    <p:cond delay="100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rbrake.wav"/>
                                        </p:tgtEl>
                                      </p:cMediaNode>
                                    </p:audio>
                                  </p:subTnLst>
                                </p:cTn>
                              </p:par>
                            </p:childTnLst>
                          </p:cTn>
                        </p:par>
                        <p:par>
                          <p:cTn id="14" fill="hold">
                            <p:stCondLst>
                              <p:cond delay="3000"/>
                            </p:stCondLst>
                            <p:childTnLst>
                              <p:par>
                                <p:cTn id="15" presetID="2" presetClass="entr" presetSubtype="2" fill="hold" grpId="0" nodeType="afterEffect">
                                  <p:stCondLst>
                                    <p:cond delay="100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rbrake.wav"/>
                                        </p:tgtEl>
                                      </p:cMediaNode>
                                    </p:audio>
                                  </p:subTnLst>
                                </p:cTn>
                              </p:par>
                            </p:childTnLst>
                          </p:cTn>
                        </p:par>
                        <p:par>
                          <p:cTn id="19" fill="hold">
                            <p:stCondLst>
                              <p:cond delay="4500"/>
                            </p:stCondLst>
                            <p:childTnLst>
                              <p:par>
                                <p:cTn id="20" presetID="2" presetClass="entr" presetSubtype="2" fill="hold" grpId="0" nodeType="afterEffect">
                                  <p:stCondLst>
                                    <p:cond delay="100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2" name="carbrake.wav"/>
                                        </p:tgtEl>
                                      </p:cMediaNode>
                                    </p:audio>
                                  </p:subTnLst>
                                </p:cTn>
                              </p:par>
                            </p:childTnLst>
                          </p:cTn>
                        </p:par>
                        <p:par>
                          <p:cTn id="24" fill="hold">
                            <p:stCondLst>
                              <p:cond delay="6000"/>
                            </p:stCondLst>
                            <p:childTnLst>
                              <p:par>
                                <p:cTn id="25" presetID="2" presetClass="entr" presetSubtype="2" fill="hold" grpId="0" nodeType="afterEffect">
                                  <p:stCondLst>
                                    <p:cond delay="100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4">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rbrake.wav"/>
                                        </p:tgtEl>
                                      </p:cMediaNode>
                                    </p:audio>
                                  </p:subTnLst>
                                </p:cTn>
                              </p:par>
                            </p:childTnLst>
                          </p:cTn>
                        </p:par>
                        <p:par>
                          <p:cTn id="29" fill="hold">
                            <p:stCondLst>
                              <p:cond delay="7500"/>
                            </p:stCondLst>
                            <p:childTnLst>
                              <p:par>
                                <p:cTn id="30" presetID="2" presetClass="entr" presetSubtype="2" fill="hold" grpId="0" nodeType="afterEffect">
                                  <p:stCondLst>
                                    <p:cond delay="1000"/>
                                  </p:stCondLst>
                                  <p:childTnLst>
                                    <p:set>
                                      <p:cBhvr>
                                        <p:cTn id="31" dur="1" fill="hold">
                                          <p:stCondLst>
                                            <p:cond delay="0"/>
                                          </p:stCondLst>
                                        </p:cTn>
                                        <p:tgtEl>
                                          <p:spTgt spid="4">
                                            <p:txEl>
                                              <p:pRg st="5" end="5"/>
                                            </p:txEl>
                                          </p:spTgt>
                                        </p:tgtEl>
                                        <p:attrNameLst>
                                          <p:attrName>style.visibility</p:attrName>
                                        </p:attrNameLst>
                                      </p:cBhvr>
                                      <p:to>
                                        <p:strVal val="visible"/>
                                      </p:to>
                                    </p:set>
                                    <p:anim calcmode="lin" valueType="num">
                                      <p:cBhvr additive="base">
                                        <p:cTn id="32" dur="500" fill="hold"/>
                                        <p:tgtEl>
                                          <p:spTgt spid="4">
                                            <p:txEl>
                                              <p:pRg st="5" end="5"/>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4">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2" name="carbrake.wav"/>
                                        </p:tgtEl>
                                      </p:cMediaNode>
                                    </p:audio>
                                  </p:subTnLst>
                                </p:cTn>
                              </p:par>
                            </p:childTnLst>
                          </p:cTn>
                        </p:par>
                        <p:par>
                          <p:cTn id="34" fill="hold">
                            <p:stCondLst>
                              <p:cond delay="9000"/>
                            </p:stCondLst>
                            <p:childTnLst>
                              <p:par>
                                <p:cTn id="35" presetID="2" presetClass="entr" presetSubtype="2" fill="hold" grpId="0" nodeType="afterEffect">
                                  <p:stCondLst>
                                    <p:cond delay="100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childTnLst>
                          </p:cTn>
                        </p:par>
                        <p:par>
                          <p:cTn id="39" fill="hold">
                            <p:stCondLst>
                              <p:cond delay="10500"/>
                            </p:stCondLst>
                            <p:childTnLst>
                              <p:par>
                                <p:cTn id="40" presetID="2" presetClass="entr" presetSubtype="2" fill="hold" grpId="0" nodeType="afterEffect">
                                  <p:stCondLst>
                                    <p:cond delay="1000"/>
                                  </p:stCondLst>
                                  <p:childTnLst>
                                    <p:set>
                                      <p:cBhvr>
                                        <p:cTn id="41" dur="1" fill="hold">
                                          <p:stCondLst>
                                            <p:cond delay="0"/>
                                          </p:stCondLst>
                                        </p:cTn>
                                        <p:tgtEl>
                                          <p:spTgt spid="4">
                                            <p:txEl>
                                              <p:pRg st="7" end="7"/>
                                            </p:txEl>
                                          </p:spTgt>
                                        </p:tgtEl>
                                        <p:attrNameLst>
                                          <p:attrName>style.visibility</p:attrName>
                                        </p:attrNameLst>
                                      </p:cBhvr>
                                      <p:to>
                                        <p:strVal val="visible"/>
                                      </p:to>
                                    </p:set>
                                    <p:anim calcmode="lin" valueType="num">
                                      <p:cBhvr additive="base">
                                        <p:cTn id="42" dur="500" fill="hold"/>
                                        <p:tgtEl>
                                          <p:spTgt spid="4">
                                            <p:txEl>
                                              <p:pRg st="7" end="7"/>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4">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100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8F6F9BA-811C-42F7-9FDA-28BF3391FA5D}"/>
              </a:ext>
            </a:extLst>
          </p:cNvPr>
          <p:cNvSpPr/>
          <p:nvPr/>
        </p:nvSpPr>
        <p:spPr>
          <a:xfrm>
            <a:off x="6283857" y="354187"/>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4BB5E8AB-8A48-4761-B79A-C4DF3DEBCC8D}"/>
              </a:ext>
            </a:extLst>
          </p:cNvPr>
          <p:cNvSpPr>
            <a:spLocks noGrp="1" noChangeArrowheads="1"/>
          </p:cNvSpPr>
          <p:nvPr>
            <p:ph type="title"/>
          </p:nvPr>
        </p:nvSpPr>
        <p:spPr>
          <a:xfrm>
            <a:off x="2506351" y="1416106"/>
            <a:ext cx="8393112" cy="585787"/>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微软的测试：测试用例的分级，及运行频度</a:t>
            </a:r>
          </a:p>
        </p:txBody>
      </p:sp>
      <p:graphicFrame>
        <p:nvGraphicFramePr>
          <p:cNvPr id="4" name="Group 40">
            <a:extLst>
              <a:ext uri="{FF2B5EF4-FFF2-40B4-BE49-F238E27FC236}">
                <a16:creationId xmlns:a16="http://schemas.microsoft.com/office/drawing/2014/main" id="{E0E9D942-FBDA-4738-8CCE-A5ECB7FE3D56}"/>
              </a:ext>
            </a:extLst>
          </p:cNvPr>
          <p:cNvGraphicFramePr>
            <a:graphicFrameLocks noGrp="1"/>
          </p:cNvGraphicFramePr>
          <p:nvPr>
            <p:ph idx="1"/>
            <p:extLst>
              <p:ext uri="{D42A27DB-BD31-4B8C-83A1-F6EECF244321}">
                <p14:modId xmlns:p14="http://schemas.microsoft.com/office/powerpoint/2010/main" val="4173154164"/>
              </p:ext>
            </p:extLst>
          </p:nvPr>
        </p:nvGraphicFramePr>
        <p:xfrm>
          <a:off x="2353951" y="2230493"/>
          <a:ext cx="8388350" cy="2939225"/>
        </p:xfrm>
        <a:graphic>
          <a:graphicData uri="http://schemas.openxmlformats.org/drawingml/2006/table">
            <a:tbl>
              <a:tblPr/>
              <a:tblGrid>
                <a:gridCol w="1677988">
                  <a:extLst>
                    <a:ext uri="{9D8B030D-6E8A-4147-A177-3AD203B41FA5}">
                      <a16:colId xmlns:a16="http://schemas.microsoft.com/office/drawing/2014/main" val="20000"/>
                    </a:ext>
                  </a:extLst>
                </a:gridCol>
                <a:gridCol w="1677987">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7988">
                  <a:extLst>
                    <a:ext uri="{9D8B030D-6E8A-4147-A177-3AD203B41FA5}">
                      <a16:colId xmlns:a16="http://schemas.microsoft.com/office/drawing/2014/main" val="20003"/>
                    </a:ext>
                  </a:extLst>
                </a:gridCol>
                <a:gridCol w="1677987">
                  <a:extLst>
                    <a:ext uri="{9D8B030D-6E8A-4147-A177-3AD203B41FA5}">
                      <a16:colId xmlns:a16="http://schemas.microsoft.com/office/drawing/2014/main" val="20004"/>
                    </a:ext>
                  </a:extLst>
                </a:gridCol>
              </a:tblGrid>
              <a:tr h="533400">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endParaRPr kumimoji="0" lang="en-US" sz="2400" b="1"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en-US" altLang="zh-CN"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BVT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第一级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第二级</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endParaRPr kumimoji="0" 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高级</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endParaRPr kumimoji="0" 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513">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定义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最简单的功能验证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所有非出错情形下的代码路径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所有出错情形下的代码路径</a:t>
                      </a:r>
                      <a:endParaRPr kumimoji="0" 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压力，性能，安全性</a:t>
                      </a:r>
                      <a:r>
                        <a:rPr kumimoji="0" lang="en-US" altLang="zh-CN"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1513">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运行频度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每日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隔日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每周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根据需要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 name="Text Box 41">
            <a:extLst>
              <a:ext uri="{FF2B5EF4-FFF2-40B4-BE49-F238E27FC236}">
                <a16:creationId xmlns:a16="http://schemas.microsoft.com/office/drawing/2014/main" id="{BC9A7F65-DE63-4EF6-A02D-E02DC47DDCB9}"/>
              </a:ext>
            </a:extLst>
          </p:cNvPr>
          <p:cNvSpPr txBox="1">
            <a:spLocks noChangeArrowheads="1"/>
          </p:cNvSpPr>
          <p:nvPr/>
        </p:nvSpPr>
        <p:spPr bwMode="auto">
          <a:xfrm>
            <a:off x="2506351" y="5545193"/>
            <a:ext cx="78867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3200" dirty="0"/>
              <a:t>注：</a:t>
            </a:r>
            <a:r>
              <a:rPr lang="en-US" altLang="zh-CN" sz="3200" dirty="0"/>
              <a:t>BVT </a:t>
            </a:r>
            <a:r>
              <a:rPr lang="zh-CN" altLang="en-US" sz="3200" dirty="0"/>
              <a:t>是</a:t>
            </a:r>
            <a:r>
              <a:rPr lang="en-US" altLang="zh-CN" sz="3200" dirty="0"/>
              <a:t>Build Verification Test</a:t>
            </a:r>
            <a:r>
              <a:rPr lang="zh-CN" altLang="en-US" sz="3200" dirty="0"/>
              <a:t>的缩写</a:t>
            </a:r>
          </a:p>
        </p:txBody>
      </p:sp>
    </p:spTree>
    <p:extLst>
      <p:ext uri="{BB962C8B-B14F-4D97-AF65-F5344CB8AC3E}">
        <p14:creationId xmlns:p14="http://schemas.microsoft.com/office/powerpoint/2010/main" val="1197102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66498D7-E795-4747-AB26-C53103E86856}"/>
              </a:ext>
            </a:extLst>
          </p:cNvPr>
          <p:cNvSpPr/>
          <p:nvPr/>
        </p:nvSpPr>
        <p:spPr>
          <a:xfrm>
            <a:off x="7114367" y="245130"/>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0409584E-A769-45AE-A2B5-5BC181B6193F}"/>
              </a:ext>
            </a:extLst>
          </p:cNvPr>
          <p:cNvSpPr>
            <a:spLocks noGrp="1" noChangeArrowheads="1"/>
          </p:cNvSpPr>
          <p:nvPr>
            <p:ph type="title"/>
          </p:nvPr>
        </p:nvSpPr>
        <p:spPr>
          <a:xfrm>
            <a:off x="3336861" y="1005266"/>
            <a:ext cx="8393112" cy="585787"/>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微软的测试：测试用例管理</a:t>
            </a:r>
          </a:p>
        </p:txBody>
      </p:sp>
      <p:sp>
        <p:nvSpPr>
          <p:cNvPr id="4" name="Rectangle 3">
            <a:extLst>
              <a:ext uri="{FF2B5EF4-FFF2-40B4-BE49-F238E27FC236}">
                <a16:creationId xmlns:a16="http://schemas.microsoft.com/office/drawing/2014/main" id="{F0D53503-39F7-4285-AFE7-46FF1F584C4E}"/>
              </a:ext>
            </a:extLst>
          </p:cNvPr>
          <p:cNvSpPr txBox="1">
            <a:spLocks noChangeArrowheads="1"/>
          </p:cNvSpPr>
          <p:nvPr/>
        </p:nvSpPr>
        <p:spPr>
          <a:xfrm>
            <a:off x="771787" y="1523981"/>
            <a:ext cx="10877224" cy="13731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测试用例</a:t>
            </a:r>
            <a:r>
              <a:rPr lang="en-US" altLang="zh-CN" sz="2400" dirty="0"/>
              <a:t>—</a:t>
            </a:r>
            <a:r>
              <a:rPr lang="zh-CN" altLang="en-US" sz="2400" dirty="0"/>
              <a:t>最小的设置单元</a:t>
            </a:r>
          </a:p>
          <a:p>
            <a:r>
              <a:rPr lang="zh-CN" altLang="en-US" sz="2400" dirty="0"/>
              <a:t>测试用例组合</a:t>
            </a:r>
            <a:r>
              <a:rPr lang="en-US" altLang="zh-CN" sz="2400" dirty="0"/>
              <a:t>—</a:t>
            </a:r>
            <a:r>
              <a:rPr lang="zh-CN" altLang="en-US" sz="2400" dirty="0"/>
              <a:t>一系列的测试用例，可以包含其他测试用例组合。是可运行和报告的基本单元</a:t>
            </a:r>
          </a:p>
        </p:txBody>
      </p:sp>
      <p:pic>
        <p:nvPicPr>
          <p:cNvPr id="5" name="Picture 5">
            <a:extLst>
              <a:ext uri="{FF2B5EF4-FFF2-40B4-BE49-F238E27FC236}">
                <a16:creationId xmlns:a16="http://schemas.microsoft.com/office/drawing/2014/main" id="{EFB4B5FF-A5D3-45D9-B1BD-5CACF2B1B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4322" y="2897168"/>
            <a:ext cx="7924800" cy="3817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436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97F2227-EEB3-4512-9B2D-50378B098875}"/>
              </a:ext>
            </a:extLst>
          </p:cNvPr>
          <p:cNvSpPr/>
          <p:nvPr/>
        </p:nvSpPr>
        <p:spPr>
          <a:xfrm>
            <a:off x="7072422" y="345797"/>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pic>
        <p:nvPicPr>
          <p:cNvPr id="5" name="Picture 4">
            <a:extLst>
              <a:ext uri="{FF2B5EF4-FFF2-40B4-BE49-F238E27FC236}">
                <a16:creationId xmlns:a16="http://schemas.microsoft.com/office/drawing/2014/main" id="{5C4E749D-8F0A-4970-A321-9C72136B0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3096" y="1298423"/>
            <a:ext cx="7124700" cy="5305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0029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985A00-EFF2-4B3D-A169-F04DA2ED57FB}"/>
              </a:ext>
            </a:extLst>
          </p:cNvPr>
          <p:cNvSpPr/>
          <p:nvPr/>
        </p:nvSpPr>
        <p:spPr>
          <a:xfrm>
            <a:off x="6267079" y="354187"/>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pic>
        <p:nvPicPr>
          <p:cNvPr id="3" name="Picture 4">
            <a:extLst>
              <a:ext uri="{FF2B5EF4-FFF2-40B4-BE49-F238E27FC236}">
                <a16:creationId xmlns:a16="http://schemas.microsoft.com/office/drawing/2014/main" id="{D29FB356-42F7-49B0-96D6-9475E7E5C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7984" y="1582794"/>
            <a:ext cx="8144254" cy="5090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2">
            <a:extLst>
              <a:ext uri="{FF2B5EF4-FFF2-40B4-BE49-F238E27FC236}">
                <a16:creationId xmlns:a16="http://schemas.microsoft.com/office/drawing/2014/main" id="{EE881343-9481-4C4D-8344-A58F8CBC9F2E}"/>
              </a:ext>
            </a:extLst>
          </p:cNvPr>
          <p:cNvSpPr>
            <a:spLocks noGrp="1" noChangeArrowheads="1"/>
          </p:cNvSpPr>
          <p:nvPr>
            <p:ph type="title"/>
          </p:nvPr>
        </p:nvSpPr>
        <p:spPr>
          <a:xfrm>
            <a:off x="2489573" y="1114323"/>
            <a:ext cx="8393112" cy="585787"/>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微软的测试：测试报告</a:t>
            </a:r>
          </a:p>
        </p:txBody>
      </p:sp>
    </p:spTree>
    <p:extLst>
      <p:ext uri="{BB962C8B-B14F-4D97-AF65-F5344CB8AC3E}">
        <p14:creationId xmlns:p14="http://schemas.microsoft.com/office/powerpoint/2010/main" val="375059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CAC0242-65BE-40A1-A267-96608228DD74}"/>
              </a:ext>
            </a:extLst>
          </p:cNvPr>
          <p:cNvSpPr/>
          <p:nvPr/>
        </p:nvSpPr>
        <p:spPr>
          <a:xfrm>
            <a:off x="6149633" y="345798"/>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pic>
        <p:nvPicPr>
          <p:cNvPr id="5" name="Picture 7">
            <a:extLst>
              <a:ext uri="{FF2B5EF4-FFF2-40B4-BE49-F238E27FC236}">
                <a16:creationId xmlns:a16="http://schemas.microsoft.com/office/drawing/2014/main" id="{F2E8C707-020D-466A-BB3A-CE28068EA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9387" y="1453404"/>
            <a:ext cx="6819900" cy="5123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525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736B167-CF78-4B17-8413-25E869750180}"/>
              </a:ext>
            </a:extLst>
          </p:cNvPr>
          <p:cNvSpPr/>
          <p:nvPr/>
        </p:nvSpPr>
        <p:spPr>
          <a:xfrm>
            <a:off x="6250301" y="521967"/>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3B870CC9-017F-41DB-B257-D8B21829C360}"/>
              </a:ext>
            </a:extLst>
          </p:cNvPr>
          <p:cNvSpPr>
            <a:spLocks noGrp="1" noChangeArrowheads="1"/>
          </p:cNvSpPr>
          <p:nvPr>
            <p:ph type="title"/>
          </p:nvPr>
        </p:nvSpPr>
        <p:spPr>
          <a:xfrm>
            <a:off x="2582621" y="1826773"/>
            <a:ext cx="8393113" cy="585788"/>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微软的测试：高级自动化的关键</a:t>
            </a:r>
            <a:r>
              <a:rPr lang="en-US" altLang="zh-CN" sz="3200" dirty="0">
                <a:latin typeface="华文仿宋" panose="02010600040101010101" pitchFamily="2" charset="-122"/>
                <a:ea typeface="华文仿宋" panose="02010600040101010101" pitchFamily="2" charset="-122"/>
              </a:rPr>
              <a:t>--</a:t>
            </a:r>
            <a:r>
              <a:rPr lang="zh-CN" altLang="en-US" sz="3200" dirty="0">
                <a:latin typeface="华文仿宋" panose="02010600040101010101" pitchFamily="2" charset="-122"/>
                <a:ea typeface="华文仿宋" panose="02010600040101010101" pitchFamily="2" charset="-122"/>
              </a:rPr>
              <a:t>硬件的管理</a:t>
            </a:r>
          </a:p>
        </p:txBody>
      </p:sp>
      <p:sp>
        <p:nvSpPr>
          <p:cNvPr id="4" name="Rectangle 5">
            <a:extLst>
              <a:ext uri="{FF2B5EF4-FFF2-40B4-BE49-F238E27FC236}">
                <a16:creationId xmlns:a16="http://schemas.microsoft.com/office/drawing/2014/main" id="{AC5A0E58-A383-46DA-A7C6-248B62F542DC}"/>
              </a:ext>
            </a:extLst>
          </p:cNvPr>
          <p:cNvSpPr txBox="1">
            <a:spLocks noChangeArrowheads="1"/>
          </p:cNvSpPr>
          <p:nvPr/>
        </p:nvSpPr>
        <p:spPr>
          <a:xfrm>
            <a:off x="2864402" y="2784036"/>
            <a:ext cx="7829550" cy="2527300"/>
          </a:xfrm>
          <a:prstGeom prst="rect">
            <a:avLst/>
          </a:prstGeom>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实验室，自动测试机器池</a:t>
            </a:r>
          </a:p>
          <a:p>
            <a:r>
              <a:rPr lang="zh-CN" altLang="en-US" dirty="0"/>
              <a:t>动态的选用测试机器</a:t>
            </a:r>
          </a:p>
          <a:p>
            <a:r>
              <a:rPr lang="zh-CN" altLang="en-US" dirty="0"/>
              <a:t>自动安装测试平台</a:t>
            </a:r>
          </a:p>
          <a:p>
            <a:r>
              <a:rPr lang="zh-CN" altLang="en-US" dirty="0"/>
              <a:t>监控机器工作状态</a:t>
            </a:r>
          </a:p>
          <a:p>
            <a:r>
              <a:rPr lang="zh-CN" altLang="en-US" dirty="0"/>
              <a:t>支持测试工具，进行多机协同运行</a:t>
            </a:r>
          </a:p>
        </p:txBody>
      </p:sp>
    </p:spTree>
    <p:extLst>
      <p:ext uri="{BB962C8B-B14F-4D97-AF65-F5344CB8AC3E}">
        <p14:creationId xmlns:p14="http://schemas.microsoft.com/office/powerpoint/2010/main" val="94347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100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par>
                          <p:cTn id="9" fill="hold">
                            <p:stCondLst>
                              <p:cond delay="1500"/>
                            </p:stCondLst>
                            <p:childTnLst>
                              <p:par>
                                <p:cTn id="10" presetID="2" presetClass="entr" presetSubtype="2" fill="hold" grpId="0" nodeType="afterEffect">
                                  <p:stCondLst>
                                    <p:cond delay="100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rbrake.wav"/>
                                        </p:tgtEl>
                                      </p:cMediaNode>
                                    </p:audio>
                                  </p:subTnLst>
                                </p:cTn>
                              </p:par>
                            </p:childTnLst>
                          </p:cTn>
                        </p:par>
                        <p:par>
                          <p:cTn id="14" fill="hold">
                            <p:stCondLst>
                              <p:cond delay="3000"/>
                            </p:stCondLst>
                            <p:childTnLst>
                              <p:par>
                                <p:cTn id="15" presetID="2" presetClass="entr" presetSubtype="2" fill="hold" grpId="0" nodeType="afterEffect">
                                  <p:stCondLst>
                                    <p:cond delay="100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rbrake.wav"/>
                                        </p:tgtEl>
                                      </p:cMediaNode>
                                    </p:audio>
                                  </p:subTnLst>
                                </p:cTn>
                              </p:par>
                            </p:childTnLst>
                          </p:cTn>
                        </p:par>
                        <p:par>
                          <p:cTn id="19" fill="hold">
                            <p:stCondLst>
                              <p:cond delay="4500"/>
                            </p:stCondLst>
                            <p:childTnLst>
                              <p:par>
                                <p:cTn id="20" presetID="2" presetClass="entr" presetSubtype="2" fill="hold" grpId="0" nodeType="afterEffect">
                                  <p:stCondLst>
                                    <p:cond delay="100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2" name="carbrake.wav"/>
                                        </p:tgtEl>
                                      </p:cMediaNode>
                                    </p:audio>
                                  </p:subTnLst>
                                </p:cTn>
                              </p:par>
                            </p:childTnLst>
                          </p:cTn>
                        </p:par>
                        <p:par>
                          <p:cTn id="24" fill="hold">
                            <p:stCondLst>
                              <p:cond delay="6000"/>
                            </p:stCondLst>
                            <p:childTnLst>
                              <p:par>
                                <p:cTn id="25" presetID="2" presetClass="entr" presetSubtype="2" fill="hold" grpId="0" nodeType="afterEffect">
                                  <p:stCondLst>
                                    <p:cond delay="100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4">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100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9C2DCAD-B428-4130-957D-A6F471C4338C}"/>
              </a:ext>
            </a:extLst>
          </p:cNvPr>
          <p:cNvSpPr/>
          <p:nvPr/>
        </p:nvSpPr>
        <p:spPr>
          <a:xfrm>
            <a:off x="6988532" y="337409"/>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65DB55D6-1CDF-42DF-85F8-314E98D4D217}"/>
              </a:ext>
            </a:extLst>
          </p:cNvPr>
          <p:cNvSpPr>
            <a:spLocks noGrp="1" noChangeArrowheads="1"/>
          </p:cNvSpPr>
          <p:nvPr>
            <p:ph type="title"/>
          </p:nvPr>
        </p:nvSpPr>
        <p:spPr>
          <a:xfrm>
            <a:off x="3260874" y="1180945"/>
            <a:ext cx="8393112" cy="585787"/>
          </a:xfrm>
        </p:spPr>
        <p:txBody>
          <a:bodyPr>
            <a:normAutofit/>
          </a:bodyPr>
          <a:lstStyle/>
          <a:p>
            <a:pPr algn="ctr"/>
            <a:r>
              <a:rPr lang="zh-CN" altLang="en-US" sz="3200" dirty="0">
                <a:latin typeface="华文仿宋" panose="02010600040101010101" pitchFamily="2" charset="-122"/>
                <a:ea typeface="华文仿宋" panose="02010600040101010101" pitchFamily="2" charset="-122"/>
              </a:rPr>
              <a:t>微软的测试：测试自动化的发展阶段与计划</a:t>
            </a:r>
          </a:p>
        </p:txBody>
      </p:sp>
      <p:graphicFrame>
        <p:nvGraphicFramePr>
          <p:cNvPr id="4" name="Group 75">
            <a:extLst>
              <a:ext uri="{FF2B5EF4-FFF2-40B4-BE49-F238E27FC236}">
                <a16:creationId xmlns:a16="http://schemas.microsoft.com/office/drawing/2014/main" id="{9E1867E7-2449-410C-BDC8-1CB7E38D7618}"/>
              </a:ext>
            </a:extLst>
          </p:cNvPr>
          <p:cNvGraphicFramePr>
            <a:graphicFrameLocks noGrp="1"/>
          </p:cNvGraphicFramePr>
          <p:nvPr>
            <p:ph idx="1"/>
            <p:extLst>
              <p:ext uri="{D42A27DB-BD31-4B8C-83A1-F6EECF244321}">
                <p14:modId xmlns:p14="http://schemas.microsoft.com/office/powerpoint/2010/main" val="1139373998"/>
              </p:ext>
            </p:extLst>
          </p:nvPr>
        </p:nvGraphicFramePr>
        <p:xfrm>
          <a:off x="1359017" y="2148603"/>
          <a:ext cx="10129136" cy="4246817"/>
        </p:xfrm>
        <a:graphic>
          <a:graphicData uri="http://schemas.openxmlformats.org/drawingml/2006/table">
            <a:tbl>
              <a:tblPr/>
              <a:tblGrid>
                <a:gridCol w="1688829">
                  <a:extLst>
                    <a:ext uri="{9D8B030D-6E8A-4147-A177-3AD203B41FA5}">
                      <a16:colId xmlns:a16="http://schemas.microsoft.com/office/drawing/2014/main" val="20000"/>
                    </a:ext>
                  </a:extLst>
                </a:gridCol>
                <a:gridCol w="1686911">
                  <a:extLst>
                    <a:ext uri="{9D8B030D-6E8A-4147-A177-3AD203B41FA5}">
                      <a16:colId xmlns:a16="http://schemas.microsoft.com/office/drawing/2014/main" val="20001"/>
                    </a:ext>
                  </a:extLst>
                </a:gridCol>
                <a:gridCol w="1688828">
                  <a:extLst>
                    <a:ext uri="{9D8B030D-6E8A-4147-A177-3AD203B41FA5}">
                      <a16:colId xmlns:a16="http://schemas.microsoft.com/office/drawing/2014/main" val="20002"/>
                    </a:ext>
                  </a:extLst>
                </a:gridCol>
                <a:gridCol w="1688829">
                  <a:extLst>
                    <a:ext uri="{9D8B030D-6E8A-4147-A177-3AD203B41FA5}">
                      <a16:colId xmlns:a16="http://schemas.microsoft.com/office/drawing/2014/main" val="20003"/>
                    </a:ext>
                  </a:extLst>
                </a:gridCol>
                <a:gridCol w="1686911">
                  <a:extLst>
                    <a:ext uri="{9D8B030D-6E8A-4147-A177-3AD203B41FA5}">
                      <a16:colId xmlns:a16="http://schemas.microsoft.com/office/drawing/2014/main" val="20004"/>
                    </a:ext>
                  </a:extLst>
                </a:gridCol>
                <a:gridCol w="1688828">
                  <a:extLst>
                    <a:ext uri="{9D8B030D-6E8A-4147-A177-3AD203B41FA5}">
                      <a16:colId xmlns:a16="http://schemas.microsoft.com/office/drawing/2014/main" val="20005"/>
                    </a:ext>
                  </a:extLst>
                </a:gridCol>
              </a:tblGrid>
              <a:tr h="671513">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endParaRPr kumimoji="0" lang="en-US" sz="24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18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无自动测试阶段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18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自动测试初始阶段</a:t>
                      </a:r>
                      <a:endParaRPr kumimoji="0" lang="en-US" sz="18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18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自动测试发展阶段</a:t>
                      </a:r>
                      <a:endParaRPr kumimoji="0" lang="en-US" sz="18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18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自动测试成熟阶段</a:t>
                      </a:r>
                      <a:endParaRPr kumimoji="0" lang="en-US" sz="18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18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自动测试高级阶段</a:t>
                      </a:r>
                      <a:endParaRPr kumimoji="0" lang="en-US" sz="18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513">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dirty="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特征</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无自动测试用例，测试工作全部手工操作</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非专业人员从事测试</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有脚本文件驱动的半自动测试</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无机算计软件专业人员从事测试</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无工具，无实验室</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有部分测试用例全部自动化</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有机算计软件专业人员从事测试代码的开发，使用</a:t>
                      </a:r>
                      <a:r>
                        <a:rPr kumimoji="0" lang="en-US" altLang="zh-CN"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Java</a:t>
                      </a: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a:t>
                      </a:r>
                      <a:r>
                        <a:rPr kumimoji="0" lang="en-US" altLang="zh-CN"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使用工具和专门的实验室测试环境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大量测试用例全部自动化</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有自己开发的共用代码库</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有测试用例自动运行系统，并与产品建造系统项结合</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有测试报告和统计分析服务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有高水平的测试开发人员，测试架构师</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有高度自动化的实验室系统，和专业的系统管理队伍</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有完善的自动化测试流程</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能对外提供自动测试的商业服务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1513">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计划和措施</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培训和引进人才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培训和引进机算计软件专业人才</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尝试测试工具</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建立实验室</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培训和引进高级编码人才</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由开发人员帮助设计测试代码库</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系统的选择使用和整合各种工具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培训和引进测试设计和架构人才</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进一步提高实验室系统</a:t>
                      </a:r>
                    </a:p>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r>
                        <a:rPr kumimoji="0" lang="zh-CN" altLang="en-US" sz="1400" b="0" i="0" u="none" strike="noStrike" cap="none" normalizeH="0" baseline="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rPr>
                        <a:t>建立流程模型和商业服务模型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ct val="30000"/>
                        </a:spcBef>
                        <a:buClr>
                          <a:schemeClr val="tx2"/>
                        </a:buClr>
                        <a:buSzPct val="95000"/>
                        <a:buFont typeface="Wingdings" panose="05000000000000000000" pitchFamily="2" charset="2"/>
                        <a:defRPr sz="24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1pPr>
                      <a:lvl2pPr marL="490538">
                        <a:lnSpc>
                          <a:spcPct val="90000"/>
                        </a:lnSpc>
                        <a:spcBef>
                          <a:spcPct val="30000"/>
                        </a:spcBef>
                        <a:buClr>
                          <a:schemeClr val="tx2"/>
                        </a:buClr>
                        <a:buSzPct val="95000"/>
                        <a:buFont typeface="Wingdings" panose="05000000000000000000" pitchFamily="2" charset="2"/>
                        <a:defRPr sz="2000"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marL="962025">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marL="1350963">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marL="1728788">
                        <a:lnSpc>
                          <a:spcPct val="90000"/>
                        </a:lnSpc>
                        <a:spcBef>
                          <a:spcPct val="30000"/>
                        </a:spcBef>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21859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26431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31003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3557588" fontAlgn="base">
                        <a:lnSpc>
                          <a:spcPct val="90000"/>
                        </a:lnSpc>
                        <a:spcBef>
                          <a:spcPct val="30000"/>
                        </a:spcBef>
                        <a:spcAft>
                          <a:spcPct val="0"/>
                        </a:spcAft>
                        <a:buClr>
                          <a:schemeClr val="tx2"/>
                        </a:buClr>
                        <a:buSzPct val="95000"/>
                        <a:buFont typeface="Wingdings" panose="05000000000000000000" pitchFamily="2" charset="2"/>
                        <a:defRPr b="1">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tabLst/>
                      </a:pPr>
                      <a:endParaRPr kumimoji="0" lang="en-US" sz="1400" b="0" i="0" u="none" strike="noStrike" cap="none" normalizeH="0" baseline="0" dirty="0">
                        <a:ln>
                          <a:noFill/>
                        </a:ln>
                        <a:solidFill>
                          <a:schemeClr val="tx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44823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B57198C-02D6-42C7-A90E-B79F86ABC566}"/>
              </a:ext>
            </a:extLst>
          </p:cNvPr>
          <p:cNvSpPr/>
          <p:nvPr/>
        </p:nvSpPr>
        <p:spPr>
          <a:xfrm>
            <a:off x="7223424" y="261908"/>
            <a:ext cx="4674678"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02  </a:t>
            </a:r>
            <a:r>
              <a:rPr lang="zh-CN" altLang="en-US" sz="2400" b="1" kern="100" dirty="0">
                <a:latin typeface="+mj-ea"/>
                <a:cs typeface="Times New Roman" panose="02020603050405020304" pitchFamily="18" charset="0"/>
              </a:rPr>
              <a:t>微软软件测试之道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追寻经典</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FC4973D4-36F2-4F12-830D-296727FED3E0}"/>
              </a:ext>
            </a:extLst>
          </p:cNvPr>
          <p:cNvSpPr>
            <a:spLocks noGrp="1" noChangeArrowheads="1"/>
          </p:cNvSpPr>
          <p:nvPr>
            <p:ph type="title"/>
          </p:nvPr>
        </p:nvSpPr>
        <p:spPr>
          <a:xfrm>
            <a:off x="2284046" y="1103709"/>
            <a:ext cx="8393112" cy="585788"/>
          </a:xfrm>
        </p:spPr>
        <p:txBody>
          <a:bodyPr>
            <a:normAutofit/>
          </a:bodyPr>
          <a:lstStyle/>
          <a:p>
            <a:pPr algn="ctr"/>
            <a:r>
              <a:rPr lang="zh-CN" altLang="en-US" sz="3200" dirty="0"/>
              <a:t>微软的测试：测试自动化的风险</a:t>
            </a:r>
          </a:p>
        </p:txBody>
      </p:sp>
      <p:sp>
        <p:nvSpPr>
          <p:cNvPr id="4" name="Rectangle 5">
            <a:extLst>
              <a:ext uri="{FF2B5EF4-FFF2-40B4-BE49-F238E27FC236}">
                <a16:creationId xmlns:a16="http://schemas.microsoft.com/office/drawing/2014/main" id="{93637AE9-A1B7-405A-8165-697528B2F872}"/>
              </a:ext>
            </a:extLst>
          </p:cNvPr>
          <p:cNvSpPr txBox="1">
            <a:spLocks noChangeArrowheads="1"/>
          </p:cNvSpPr>
          <p:nvPr/>
        </p:nvSpPr>
        <p:spPr>
          <a:xfrm>
            <a:off x="1308683" y="2069634"/>
            <a:ext cx="10101638" cy="4705350"/>
          </a:xfrm>
          <a:prstGeom prst="rect">
            <a:avLst/>
          </a:prstGeom>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代价高，所以要根据项目的特点，团队技术水平确定适当的自动化率</a:t>
            </a:r>
          </a:p>
          <a:p>
            <a:r>
              <a:rPr lang="zh-CN" altLang="en-US"/>
              <a:t>测试覆盖偏向易于自动化的功能。要进行代码覆盖率的度量</a:t>
            </a:r>
          </a:p>
          <a:p>
            <a:r>
              <a:rPr lang="zh-CN" altLang="en-US"/>
              <a:t>错误的测试设计可能使测试情境与用户使用情境相背离</a:t>
            </a:r>
          </a:p>
          <a:p>
            <a:r>
              <a:rPr lang="zh-CN" altLang="en-US"/>
              <a:t>忽视第二类以搜寻缺损为目的的探索性测试</a:t>
            </a:r>
          </a:p>
          <a:p>
            <a:r>
              <a:rPr lang="zh-CN" altLang="en-US"/>
              <a:t>工具的选用不当，过多过杂，频繁更换。</a:t>
            </a:r>
          </a:p>
          <a:p>
            <a:r>
              <a:rPr lang="zh-CN" altLang="en-US"/>
              <a:t>产品的可测性低</a:t>
            </a:r>
          </a:p>
          <a:p>
            <a:endParaRPr lang="en-US" altLang="zh-CN" dirty="0"/>
          </a:p>
        </p:txBody>
      </p:sp>
    </p:spTree>
    <p:extLst>
      <p:ext uri="{BB962C8B-B14F-4D97-AF65-F5344CB8AC3E}">
        <p14:creationId xmlns:p14="http://schemas.microsoft.com/office/powerpoint/2010/main" val="244408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100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par>
                          <p:cTn id="9" fill="hold">
                            <p:stCondLst>
                              <p:cond delay="1500"/>
                            </p:stCondLst>
                            <p:childTnLst>
                              <p:par>
                                <p:cTn id="10" presetID="2" presetClass="entr" presetSubtype="2" fill="hold" grpId="0" nodeType="afterEffect">
                                  <p:stCondLst>
                                    <p:cond delay="100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rbrake.wav"/>
                                        </p:tgtEl>
                                      </p:cMediaNode>
                                    </p:audio>
                                  </p:subTnLst>
                                </p:cTn>
                              </p:par>
                            </p:childTnLst>
                          </p:cTn>
                        </p:par>
                        <p:par>
                          <p:cTn id="14" fill="hold">
                            <p:stCondLst>
                              <p:cond delay="3000"/>
                            </p:stCondLst>
                            <p:childTnLst>
                              <p:par>
                                <p:cTn id="15" presetID="2" presetClass="entr" presetSubtype="2" fill="hold" grpId="0" nodeType="afterEffect">
                                  <p:stCondLst>
                                    <p:cond delay="100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rbrake.wav"/>
                                        </p:tgtEl>
                                      </p:cMediaNode>
                                    </p:audio>
                                  </p:subTnLst>
                                </p:cTn>
                              </p:par>
                            </p:childTnLst>
                          </p:cTn>
                        </p:par>
                        <p:par>
                          <p:cTn id="19" fill="hold">
                            <p:stCondLst>
                              <p:cond delay="4500"/>
                            </p:stCondLst>
                            <p:childTnLst>
                              <p:par>
                                <p:cTn id="20" presetID="2" presetClass="entr" presetSubtype="2" fill="hold" grpId="0" nodeType="afterEffect">
                                  <p:stCondLst>
                                    <p:cond delay="100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2" name="carbrake.wav"/>
                                        </p:tgtEl>
                                      </p:cMediaNode>
                                    </p:audio>
                                  </p:subTnLst>
                                </p:cTn>
                              </p:par>
                            </p:childTnLst>
                          </p:cTn>
                        </p:par>
                        <p:par>
                          <p:cTn id="24" fill="hold">
                            <p:stCondLst>
                              <p:cond delay="6000"/>
                            </p:stCondLst>
                            <p:childTnLst>
                              <p:par>
                                <p:cTn id="25" presetID="2" presetClass="entr" presetSubtype="2" fill="hold" grpId="0" nodeType="afterEffect">
                                  <p:stCondLst>
                                    <p:cond delay="100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4">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rbrake.wav"/>
                                        </p:tgtEl>
                                      </p:cMediaNode>
                                    </p:audio>
                                  </p:subTnLst>
                                </p:cTn>
                              </p:par>
                            </p:childTnLst>
                          </p:cTn>
                        </p:par>
                        <p:par>
                          <p:cTn id="29" fill="hold">
                            <p:stCondLst>
                              <p:cond delay="7500"/>
                            </p:stCondLst>
                            <p:childTnLst>
                              <p:par>
                                <p:cTn id="30" presetID="2" presetClass="entr" presetSubtype="2" fill="hold" grpId="0" nodeType="afterEffect">
                                  <p:stCondLst>
                                    <p:cond delay="1000"/>
                                  </p:stCondLst>
                                  <p:childTnLst>
                                    <p:set>
                                      <p:cBhvr>
                                        <p:cTn id="31" dur="1" fill="hold">
                                          <p:stCondLst>
                                            <p:cond delay="0"/>
                                          </p:stCondLst>
                                        </p:cTn>
                                        <p:tgtEl>
                                          <p:spTgt spid="4">
                                            <p:txEl>
                                              <p:pRg st="5" end="5"/>
                                            </p:txEl>
                                          </p:spTgt>
                                        </p:tgtEl>
                                        <p:attrNameLst>
                                          <p:attrName>style.visibility</p:attrName>
                                        </p:attrNameLst>
                                      </p:cBhvr>
                                      <p:to>
                                        <p:strVal val="visible"/>
                                      </p:to>
                                    </p:set>
                                    <p:anim calcmode="lin" valueType="num">
                                      <p:cBhvr additive="base">
                                        <p:cTn id="32" dur="500" fill="hold"/>
                                        <p:tgtEl>
                                          <p:spTgt spid="4">
                                            <p:txEl>
                                              <p:pRg st="5" end="5"/>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4">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100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1E7E5238-61D7-48FF-BE4A-07C6C177D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5846" y="1623579"/>
            <a:ext cx="2377834" cy="4856464"/>
          </a:xfrm>
          <a:prstGeom prst="rect">
            <a:avLst/>
          </a:prstGeom>
          <a:solidFill>
            <a:srgbClr val="7030A0"/>
          </a:solidFill>
          <a:ln>
            <a:noFill/>
          </a:ln>
        </p:spPr>
      </p:pic>
      <p:grpSp>
        <p:nvGrpSpPr>
          <p:cNvPr id="3" name="组合 2">
            <a:extLst>
              <a:ext uri="{FF2B5EF4-FFF2-40B4-BE49-F238E27FC236}">
                <a16:creationId xmlns:a16="http://schemas.microsoft.com/office/drawing/2014/main" id="{EA22A774-ABA8-4265-A333-D26A06A69098}"/>
              </a:ext>
            </a:extLst>
          </p:cNvPr>
          <p:cNvGrpSpPr/>
          <p:nvPr/>
        </p:nvGrpSpPr>
        <p:grpSpPr>
          <a:xfrm>
            <a:off x="2705491" y="1753449"/>
            <a:ext cx="1608190" cy="1498822"/>
            <a:chOff x="346473" y="496025"/>
            <a:chExt cx="1344215" cy="1252800"/>
          </a:xfrm>
          <a:solidFill>
            <a:srgbClr val="7030A0"/>
          </a:solidFill>
        </p:grpSpPr>
        <p:sp>
          <p:nvSpPr>
            <p:cNvPr id="4" name="六边形 19">
              <a:extLst>
                <a:ext uri="{FF2B5EF4-FFF2-40B4-BE49-F238E27FC236}">
                  <a16:creationId xmlns:a16="http://schemas.microsoft.com/office/drawing/2014/main" id="{0EFF48FF-FBD6-4806-81F0-F2DFE967F7F1}"/>
                </a:ext>
              </a:extLst>
            </p:cNvPr>
            <p:cNvSpPr>
              <a:spLocks noChangeArrowheads="1"/>
            </p:cNvSpPr>
            <p:nvPr/>
          </p:nvSpPr>
          <p:spPr bwMode="auto">
            <a:xfrm rot="16200000">
              <a:off x="392180" y="496751"/>
              <a:ext cx="1252800" cy="1251347"/>
            </a:xfrm>
            <a:prstGeom prst="chord">
              <a:avLst>
                <a:gd name="adj1" fmla="val 21039823"/>
                <a:gd name="adj2" fmla="val 16726182"/>
              </a:avLst>
            </a:prstGeom>
            <a:grp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5" name="矩形 24">
              <a:extLst>
                <a:ext uri="{FF2B5EF4-FFF2-40B4-BE49-F238E27FC236}">
                  <a16:creationId xmlns:a16="http://schemas.microsoft.com/office/drawing/2014/main" id="{ECA0FD4F-2ABD-4F7A-9EEC-646F23E6AB75}"/>
                </a:ext>
              </a:extLst>
            </p:cNvPr>
            <p:cNvSpPr>
              <a:spLocks noChangeArrowheads="1"/>
            </p:cNvSpPr>
            <p:nvPr/>
          </p:nvSpPr>
          <p:spPr bwMode="auto">
            <a:xfrm>
              <a:off x="346473" y="846473"/>
              <a:ext cx="1344215" cy="544367"/>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grpSp>
      <p:sp>
        <p:nvSpPr>
          <p:cNvPr id="6" name="TextBox 4">
            <a:extLst>
              <a:ext uri="{FF2B5EF4-FFF2-40B4-BE49-F238E27FC236}">
                <a16:creationId xmlns:a16="http://schemas.microsoft.com/office/drawing/2014/main" id="{119328C1-47D1-469D-BDB9-EB5278DCBD8E}"/>
              </a:ext>
            </a:extLst>
          </p:cNvPr>
          <p:cNvSpPr txBox="1"/>
          <p:nvPr/>
        </p:nvSpPr>
        <p:spPr>
          <a:xfrm>
            <a:off x="7637253" y="363996"/>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sp>
        <p:nvSpPr>
          <p:cNvPr id="7" name="任意多边形 26">
            <a:extLst>
              <a:ext uri="{FF2B5EF4-FFF2-40B4-BE49-F238E27FC236}">
                <a16:creationId xmlns:a16="http://schemas.microsoft.com/office/drawing/2014/main" id="{2CE337A3-87C1-4AE4-8786-476766B6EA13}"/>
              </a:ext>
            </a:extLst>
          </p:cNvPr>
          <p:cNvSpPr/>
          <p:nvPr/>
        </p:nvSpPr>
        <p:spPr bwMode="auto">
          <a:xfrm rot="8100000" flipV="1">
            <a:off x="4738422" y="1704430"/>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8" name="文本框 7">
            <a:extLst>
              <a:ext uri="{FF2B5EF4-FFF2-40B4-BE49-F238E27FC236}">
                <a16:creationId xmlns:a16="http://schemas.microsoft.com/office/drawing/2014/main" id="{9F065C53-02EA-42BA-AEB6-B99D3A883C41}"/>
              </a:ext>
            </a:extLst>
          </p:cNvPr>
          <p:cNvSpPr txBox="1">
            <a:spLocks noChangeArrowheads="1"/>
          </p:cNvSpPr>
          <p:nvPr/>
        </p:nvSpPr>
        <p:spPr bwMode="auto">
          <a:xfrm>
            <a:off x="4814295" y="1740331"/>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9" name="任意多边形 28">
            <a:extLst>
              <a:ext uri="{FF2B5EF4-FFF2-40B4-BE49-F238E27FC236}">
                <a16:creationId xmlns:a16="http://schemas.microsoft.com/office/drawing/2014/main" id="{4EB63B27-0022-4058-B5F7-22037CB23C74}"/>
              </a:ext>
            </a:extLst>
          </p:cNvPr>
          <p:cNvSpPr/>
          <p:nvPr/>
        </p:nvSpPr>
        <p:spPr bwMode="auto">
          <a:xfrm rot="8100000" flipV="1">
            <a:off x="4716820" y="5887055"/>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0" name="文本框 42">
            <a:extLst>
              <a:ext uri="{FF2B5EF4-FFF2-40B4-BE49-F238E27FC236}">
                <a16:creationId xmlns:a16="http://schemas.microsoft.com/office/drawing/2014/main" id="{E2C8374E-B646-41C2-A0E7-E2B2557B8281}"/>
              </a:ext>
            </a:extLst>
          </p:cNvPr>
          <p:cNvSpPr txBox="1">
            <a:spLocks noChangeArrowheads="1"/>
          </p:cNvSpPr>
          <p:nvPr/>
        </p:nvSpPr>
        <p:spPr bwMode="auto">
          <a:xfrm>
            <a:off x="4774403" y="5931813"/>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11" name="任意多边形 30">
            <a:extLst>
              <a:ext uri="{FF2B5EF4-FFF2-40B4-BE49-F238E27FC236}">
                <a16:creationId xmlns:a16="http://schemas.microsoft.com/office/drawing/2014/main" id="{A1AE53C5-DCB8-4396-AB51-AA30ACDE5E5B}"/>
              </a:ext>
            </a:extLst>
          </p:cNvPr>
          <p:cNvSpPr/>
          <p:nvPr/>
        </p:nvSpPr>
        <p:spPr bwMode="auto">
          <a:xfrm rot="8100000" flipV="1">
            <a:off x="4716308" y="4886562"/>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2" name="文本框 45">
            <a:extLst>
              <a:ext uri="{FF2B5EF4-FFF2-40B4-BE49-F238E27FC236}">
                <a16:creationId xmlns:a16="http://schemas.microsoft.com/office/drawing/2014/main" id="{72479792-A122-402F-BEA9-E9E6A41F0EA8}"/>
              </a:ext>
            </a:extLst>
          </p:cNvPr>
          <p:cNvSpPr txBox="1">
            <a:spLocks noChangeArrowheads="1"/>
          </p:cNvSpPr>
          <p:nvPr/>
        </p:nvSpPr>
        <p:spPr bwMode="auto">
          <a:xfrm>
            <a:off x="4773891" y="4888047"/>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13" name="任意多边形 32">
            <a:extLst>
              <a:ext uri="{FF2B5EF4-FFF2-40B4-BE49-F238E27FC236}">
                <a16:creationId xmlns:a16="http://schemas.microsoft.com/office/drawing/2014/main" id="{0E644B1E-924C-4CFF-9EBE-083D649DBFEC}"/>
              </a:ext>
            </a:extLst>
          </p:cNvPr>
          <p:cNvSpPr/>
          <p:nvPr/>
        </p:nvSpPr>
        <p:spPr bwMode="auto">
          <a:xfrm rot="8100000" flipV="1">
            <a:off x="4715669" y="3833429"/>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4" name="文本框 48">
            <a:extLst>
              <a:ext uri="{FF2B5EF4-FFF2-40B4-BE49-F238E27FC236}">
                <a16:creationId xmlns:a16="http://schemas.microsoft.com/office/drawing/2014/main" id="{B4FD7462-2B61-42DD-89A9-CBBD1C650CC2}"/>
              </a:ext>
            </a:extLst>
          </p:cNvPr>
          <p:cNvSpPr txBox="1">
            <a:spLocks noChangeArrowheads="1"/>
          </p:cNvSpPr>
          <p:nvPr/>
        </p:nvSpPr>
        <p:spPr bwMode="auto">
          <a:xfrm>
            <a:off x="4773873" y="3875465"/>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15" name="圆角矩形 34">
            <a:extLst>
              <a:ext uri="{FF2B5EF4-FFF2-40B4-BE49-F238E27FC236}">
                <a16:creationId xmlns:a16="http://schemas.microsoft.com/office/drawing/2014/main" id="{A1CBA78F-CC1C-430D-8175-03D4A4B8BE6C}"/>
              </a:ext>
            </a:extLst>
          </p:cNvPr>
          <p:cNvSpPr/>
          <p:nvPr/>
        </p:nvSpPr>
        <p:spPr>
          <a:xfrm>
            <a:off x="5837380" y="3807332"/>
            <a:ext cx="4371738" cy="563692"/>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en-US" altLang="zh-CN" sz="2000" b="1" kern="100" dirty="0">
                <a:solidFill>
                  <a:schemeClr val="bg1"/>
                </a:solidFill>
                <a:latin typeface="+mj-ea"/>
                <a:ea typeface="+mj-ea"/>
                <a:cs typeface="Times New Roman" panose="02020603050405020304" pitchFamily="18" charset="0"/>
              </a:rPr>
              <a:t>Google</a:t>
            </a:r>
            <a:r>
              <a:rPr lang="zh-CN" altLang="en-US" sz="2000" b="1" kern="100" dirty="0">
                <a:solidFill>
                  <a:schemeClr val="bg1"/>
                </a:solidFill>
                <a:latin typeface="+mj-ea"/>
                <a:ea typeface="+mj-ea"/>
                <a:cs typeface="Times New Roman" panose="02020603050405020304" pitchFamily="18" charset="0"/>
              </a:rPr>
              <a:t>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体会现实</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6" name="圆角矩形 35">
            <a:extLst>
              <a:ext uri="{FF2B5EF4-FFF2-40B4-BE49-F238E27FC236}">
                <a16:creationId xmlns:a16="http://schemas.microsoft.com/office/drawing/2014/main" id="{5B232A19-3F40-4159-95B0-174042162E57}"/>
              </a:ext>
            </a:extLst>
          </p:cNvPr>
          <p:cNvSpPr/>
          <p:nvPr/>
        </p:nvSpPr>
        <p:spPr>
          <a:xfrm>
            <a:off x="5837380" y="4840778"/>
            <a:ext cx="4372249" cy="55373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软件测试那些事</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7" name="圆角矩形 36">
            <a:extLst>
              <a:ext uri="{FF2B5EF4-FFF2-40B4-BE49-F238E27FC236}">
                <a16:creationId xmlns:a16="http://schemas.microsoft.com/office/drawing/2014/main" id="{9835F8F9-E70E-483E-8B20-449C0433A1D0}"/>
              </a:ext>
            </a:extLst>
          </p:cNvPr>
          <p:cNvSpPr/>
          <p:nvPr/>
        </p:nvSpPr>
        <p:spPr>
          <a:xfrm>
            <a:off x="5837892" y="5813916"/>
            <a:ext cx="4371737" cy="565386"/>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ea typeface="+mj-ea"/>
                <a:cs typeface="Times New Roman" panose="02020603050405020304" pitchFamily="18" charset="0"/>
              </a:rPr>
              <a:t>软件测试与维护</a:t>
            </a:r>
            <a:endParaRPr lang="zh-CN" altLang="en-US" sz="2000" dirty="0">
              <a:solidFill>
                <a:schemeClr val="bg1"/>
              </a:solidFill>
              <a:latin typeface="+mj-ea"/>
              <a:ea typeface="+mj-ea"/>
              <a:cs typeface="Arial Unicode MS" panose="020B0604020202020204" pitchFamily="34" charset="-122"/>
            </a:endParaRPr>
          </a:p>
        </p:txBody>
      </p:sp>
      <p:sp>
        <p:nvSpPr>
          <p:cNvPr id="18" name="圆角矩形 37">
            <a:extLst>
              <a:ext uri="{FF2B5EF4-FFF2-40B4-BE49-F238E27FC236}">
                <a16:creationId xmlns:a16="http://schemas.microsoft.com/office/drawing/2014/main" id="{FA0C8FC6-E015-4BF4-8FC5-C936B9AF467F}"/>
              </a:ext>
            </a:extLst>
          </p:cNvPr>
          <p:cNvSpPr/>
          <p:nvPr/>
        </p:nvSpPr>
        <p:spPr>
          <a:xfrm>
            <a:off x="5860131" y="1678384"/>
            <a:ext cx="434949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cs typeface="Times New Roman" panose="02020603050405020304" pitchFamily="18" charset="0"/>
              </a:rPr>
              <a:t>项目质量管理与软件测试维护</a:t>
            </a:r>
            <a:endParaRPr lang="zh-CN" altLang="en-US" sz="2000" dirty="0">
              <a:solidFill>
                <a:schemeClr val="bg1"/>
              </a:solidFill>
              <a:latin typeface="+mj-ea"/>
              <a:cs typeface="Arial Unicode MS" panose="020B0604020202020204" pitchFamily="34" charset="-122"/>
            </a:endParaRPr>
          </a:p>
        </p:txBody>
      </p:sp>
      <p:sp>
        <p:nvSpPr>
          <p:cNvPr id="19" name="任意多边形 38">
            <a:extLst>
              <a:ext uri="{FF2B5EF4-FFF2-40B4-BE49-F238E27FC236}">
                <a16:creationId xmlns:a16="http://schemas.microsoft.com/office/drawing/2014/main" id="{EBD16C31-9D25-4DAF-B548-D8E2133FD056}"/>
              </a:ext>
            </a:extLst>
          </p:cNvPr>
          <p:cNvSpPr/>
          <p:nvPr/>
        </p:nvSpPr>
        <p:spPr bwMode="auto">
          <a:xfrm rot="8100000" flipV="1">
            <a:off x="4738420" y="2731098"/>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0" name="文本框 48">
            <a:extLst>
              <a:ext uri="{FF2B5EF4-FFF2-40B4-BE49-F238E27FC236}">
                <a16:creationId xmlns:a16="http://schemas.microsoft.com/office/drawing/2014/main" id="{DF0C5692-4DEA-452B-BFD5-A802D7F9F670}"/>
              </a:ext>
            </a:extLst>
          </p:cNvPr>
          <p:cNvSpPr txBox="1">
            <a:spLocks noChangeArrowheads="1"/>
          </p:cNvSpPr>
          <p:nvPr/>
        </p:nvSpPr>
        <p:spPr bwMode="auto">
          <a:xfrm>
            <a:off x="4796624" y="2773134"/>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21" name="圆角矩形 40">
            <a:extLst>
              <a:ext uri="{FF2B5EF4-FFF2-40B4-BE49-F238E27FC236}">
                <a16:creationId xmlns:a16="http://schemas.microsoft.com/office/drawing/2014/main" id="{57EEF12E-4FEE-4106-95D5-191EDB6934AF}"/>
              </a:ext>
            </a:extLst>
          </p:cNvPr>
          <p:cNvSpPr/>
          <p:nvPr/>
        </p:nvSpPr>
        <p:spPr>
          <a:xfrm>
            <a:off x="5860131" y="2705001"/>
            <a:ext cx="437173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微软软件测试之道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追寻经典</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Tree>
    <p:extLst>
      <p:ext uri="{BB962C8B-B14F-4D97-AF65-F5344CB8AC3E}">
        <p14:creationId xmlns:p14="http://schemas.microsoft.com/office/powerpoint/2010/main" val="1159697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2F78F1F-B752-4ECB-AF3E-A13DC6D1591F}"/>
              </a:ext>
            </a:extLst>
          </p:cNvPr>
          <p:cNvSpPr/>
          <p:nvPr/>
        </p:nvSpPr>
        <p:spPr>
          <a:xfrm>
            <a:off x="6156204" y="531124"/>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5" name="文本框 4">
            <a:extLst>
              <a:ext uri="{FF2B5EF4-FFF2-40B4-BE49-F238E27FC236}">
                <a16:creationId xmlns:a16="http://schemas.microsoft.com/office/drawing/2014/main" id="{5A28A9D3-029F-4678-833E-55B1A4570D4B}"/>
              </a:ext>
            </a:extLst>
          </p:cNvPr>
          <p:cNvSpPr txBox="1"/>
          <p:nvPr/>
        </p:nvSpPr>
        <p:spPr>
          <a:xfrm>
            <a:off x="4620387" y="1498367"/>
            <a:ext cx="5008294" cy="584775"/>
          </a:xfrm>
          <a:prstGeom prst="rect">
            <a:avLst/>
          </a:prstGeom>
          <a:noFill/>
        </p:spPr>
        <p:txBody>
          <a:bodyPr wrap="none" rtlCol="0">
            <a:spAutoFit/>
          </a:bodyPr>
          <a:lstStyle/>
          <a:p>
            <a:r>
              <a:rPr lang="en-US" altLang="zh-CN" sz="3200" dirty="0">
                <a:latin typeface="华文仿宋" panose="02010600040101010101" pitchFamily="2" charset="-122"/>
                <a:ea typeface="华文仿宋" panose="02010600040101010101" pitchFamily="2" charset="-122"/>
              </a:rPr>
              <a:t>How  Google  Tests  Software</a:t>
            </a:r>
          </a:p>
        </p:txBody>
      </p:sp>
      <p:sp>
        <p:nvSpPr>
          <p:cNvPr id="7" name="文本框 6">
            <a:extLst>
              <a:ext uri="{FF2B5EF4-FFF2-40B4-BE49-F238E27FC236}">
                <a16:creationId xmlns:a16="http://schemas.microsoft.com/office/drawing/2014/main" id="{92D2BD35-F024-48B9-B0B2-18DF0898DC40}"/>
              </a:ext>
            </a:extLst>
          </p:cNvPr>
          <p:cNvSpPr txBox="1"/>
          <p:nvPr/>
        </p:nvSpPr>
        <p:spPr>
          <a:xfrm>
            <a:off x="973123" y="2533889"/>
            <a:ext cx="6714067" cy="2677656"/>
          </a:xfrm>
          <a:prstGeom prst="rect">
            <a:avLst/>
          </a:prstGeom>
          <a:noFill/>
        </p:spPr>
        <p:txBody>
          <a:bodyPr wrap="square" rtlCol="0">
            <a:spAutoFit/>
          </a:bodyPr>
          <a:lstStyle/>
          <a:p>
            <a:r>
              <a:rPr lang="zh-CN" altLang="en-US" sz="2400" dirty="0"/>
              <a:t>目前，测试人员</a:t>
            </a:r>
            <a:r>
              <a:rPr lang="en-US" altLang="zh-CN" sz="2400" dirty="0"/>
              <a:t>1200</a:t>
            </a:r>
            <a:r>
              <a:rPr lang="zh-CN" altLang="en-US" sz="2400" dirty="0"/>
              <a:t>人，并不多。</a:t>
            </a:r>
            <a:endParaRPr lang="en-US" altLang="zh-CN" sz="2400" dirty="0"/>
          </a:p>
          <a:p>
            <a:endParaRPr lang="en-US" altLang="zh-CN" sz="2400" dirty="0"/>
          </a:p>
          <a:p>
            <a:endParaRPr lang="en-US" altLang="zh-CN" sz="2400" dirty="0"/>
          </a:p>
          <a:p>
            <a:r>
              <a:rPr lang="zh-CN" altLang="en-US" sz="2400" dirty="0"/>
              <a:t>作为一个</a:t>
            </a:r>
            <a:r>
              <a:rPr lang="en-US" altLang="zh-CN" sz="2400" dirty="0"/>
              <a:t>Google</a:t>
            </a:r>
            <a:r>
              <a:rPr lang="zh-CN" altLang="en-US" sz="2400" dirty="0"/>
              <a:t>的测试人员究竟意</a:t>
            </a:r>
            <a:endParaRPr lang="en-US" altLang="zh-CN" sz="2400" dirty="0"/>
          </a:p>
          <a:p>
            <a:r>
              <a:rPr lang="zh-CN" altLang="en-US" sz="2400" dirty="0"/>
              <a:t>味着什么？</a:t>
            </a:r>
            <a:endParaRPr lang="en-US" altLang="zh-CN" sz="2400" dirty="0"/>
          </a:p>
          <a:p>
            <a:endParaRPr lang="en-US" altLang="zh-CN" sz="2400" dirty="0"/>
          </a:p>
          <a:p>
            <a:endParaRPr lang="en-US" altLang="zh-CN" sz="2400" dirty="0"/>
          </a:p>
        </p:txBody>
      </p:sp>
      <p:pic>
        <p:nvPicPr>
          <p:cNvPr id="9" name="Picture 2" descr="https://dss1.bdstatic.com/70cFvXSh_Q1YnxGkpoWK1HF6hhy/it/u=1276235791,3402391072&amp;fm=26&amp;gp=0.jpg">
            <a:extLst>
              <a:ext uri="{FF2B5EF4-FFF2-40B4-BE49-F238E27FC236}">
                <a16:creationId xmlns:a16="http://schemas.microsoft.com/office/drawing/2014/main" id="{F1706794-95C6-4646-BF04-A38FD0D9FD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6593" y="2274365"/>
            <a:ext cx="2924175" cy="2286001"/>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67268634-8F9E-4EF4-998C-76695250DF77}"/>
              </a:ext>
            </a:extLst>
          </p:cNvPr>
          <p:cNvSpPr/>
          <p:nvPr/>
        </p:nvSpPr>
        <p:spPr>
          <a:xfrm>
            <a:off x="1627464" y="5292960"/>
            <a:ext cx="9229032" cy="461665"/>
          </a:xfrm>
          <a:prstGeom prst="rect">
            <a:avLst/>
          </a:prstGeom>
        </p:spPr>
        <p:txBody>
          <a:bodyPr wrap="square">
            <a:spAutoFit/>
          </a:bodyPr>
          <a:lstStyle/>
          <a:p>
            <a:r>
              <a:rPr lang="en-US" altLang="zh-CN" sz="2400" dirty="0"/>
              <a:t>Google</a:t>
            </a:r>
            <a:r>
              <a:rPr lang="zh-CN" altLang="en-US" sz="2400" dirty="0"/>
              <a:t>是如何解决软件在复杂性、扩展性和大并发方面的问题？</a:t>
            </a:r>
          </a:p>
        </p:txBody>
      </p:sp>
    </p:spTree>
    <p:extLst>
      <p:ext uri="{BB962C8B-B14F-4D97-AF65-F5344CB8AC3E}">
        <p14:creationId xmlns:p14="http://schemas.microsoft.com/office/powerpoint/2010/main" val="3953738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B5FA65C-99A2-4E94-B5EE-383584612FF1}"/>
              </a:ext>
            </a:extLst>
          </p:cNvPr>
          <p:cNvSpPr/>
          <p:nvPr/>
        </p:nvSpPr>
        <p:spPr>
          <a:xfrm>
            <a:off x="6374319" y="279455"/>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3" name="矩形 2">
            <a:extLst>
              <a:ext uri="{FF2B5EF4-FFF2-40B4-BE49-F238E27FC236}">
                <a16:creationId xmlns:a16="http://schemas.microsoft.com/office/drawing/2014/main" id="{6DF384E4-141B-4B1A-B550-600A12C3C4CA}"/>
              </a:ext>
            </a:extLst>
          </p:cNvPr>
          <p:cNvSpPr/>
          <p:nvPr/>
        </p:nvSpPr>
        <p:spPr>
          <a:xfrm>
            <a:off x="771787" y="1975583"/>
            <a:ext cx="10746889" cy="4154984"/>
          </a:xfrm>
          <a:prstGeom prst="rect">
            <a:avLst/>
          </a:prstGeom>
        </p:spPr>
        <p:txBody>
          <a:bodyPr wrap="square">
            <a:spAutoFit/>
          </a:bodyPr>
          <a:lstStyle/>
          <a:p>
            <a:r>
              <a:rPr lang="zh-CN" altLang="en-US" sz="2400" dirty="0"/>
              <a:t>        </a:t>
            </a:r>
            <a:endParaRPr lang="en-US" altLang="zh-CN" sz="2400" dirty="0"/>
          </a:p>
          <a:p>
            <a:r>
              <a:rPr lang="zh-CN" altLang="en-US" sz="2400" dirty="0"/>
              <a:t>        一个团队能编写出高质量软件的唯</a:t>
            </a:r>
            <a:endParaRPr lang="en-US" altLang="zh-CN" sz="2400" dirty="0"/>
          </a:p>
          <a:p>
            <a:r>
              <a:rPr lang="zh-CN" altLang="en-US" sz="2400" dirty="0"/>
              <a:t>一途径是全体成员共同对软件质量负责，</a:t>
            </a:r>
            <a:endParaRPr lang="en-US" altLang="zh-CN" sz="2400" dirty="0"/>
          </a:p>
          <a:p>
            <a:r>
              <a:rPr lang="zh-CN" altLang="en-US" sz="2400" dirty="0"/>
              <a:t>包括产品经理、开发人员、测试人员等</a:t>
            </a:r>
            <a:endParaRPr lang="en-US" altLang="zh-CN" sz="2400" dirty="0"/>
          </a:p>
          <a:p>
            <a:r>
              <a:rPr lang="zh-CN" altLang="en-US" sz="2400" dirty="0"/>
              <a:t>所有人。</a:t>
            </a:r>
            <a:endParaRPr lang="en-US" altLang="zh-CN" sz="2400" dirty="0"/>
          </a:p>
          <a:p>
            <a:endParaRPr lang="en-US" altLang="zh-CN" sz="2400" dirty="0"/>
          </a:p>
          <a:p>
            <a:r>
              <a:rPr lang="zh-CN" altLang="en-US" sz="2400" dirty="0"/>
              <a:t>        达到此目标的最好方式是使测试人员有能力将测试变成代码库的一个实际功能，而测试功能的地位应该与真实客户看到 的任何其他功能同等重要。</a:t>
            </a:r>
            <a:endParaRPr lang="en-US" altLang="zh-CN" sz="2400" dirty="0"/>
          </a:p>
          <a:p>
            <a:endParaRPr lang="en-US" altLang="zh-CN" sz="2400" dirty="0"/>
          </a:p>
          <a:p>
            <a:r>
              <a:rPr lang="en-US" altLang="zh-CN" sz="2400" dirty="0"/>
              <a:t>        </a:t>
            </a:r>
            <a:r>
              <a:rPr lang="zh-CN" altLang="en-US" sz="2400" dirty="0"/>
              <a:t>测试团队更名为工程生产力（</a:t>
            </a:r>
            <a:r>
              <a:rPr lang="en-US" altLang="zh-CN" sz="2400" dirty="0"/>
              <a:t>Engineering Productivity</a:t>
            </a:r>
            <a:r>
              <a:rPr lang="zh-CN" altLang="en-US" sz="2400" dirty="0"/>
              <a:t>）团队</a:t>
            </a:r>
            <a:endParaRPr lang="en-US" altLang="zh-CN" sz="2400" dirty="0"/>
          </a:p>
          <a:p>
            <a:r>
              <a:rPr lang="en-US" altLang="zh-CN" sz="2400" dirty="0"/>
              <a:t>        </a:t>
            </a:r>
            <a:r>
              <a:rPr lang="zh-CN" altLang="en-US" sz="2400" dirty="0"/>
              <a:t>测试团队不在仅仅关心测试与质量，也开始关系讨论生产力。</a:t>
            </a:r>
          </a:p>
        </p:txBody>
      </p:sp>
      <p:pic>
        <p:nvPicPr>
          <p:cNvPr id="4" name="Picture 4" descr="https://dss0.bdstatic.com/70cFuHSh_Q1YnxGkpoWK1HF6hhy/it/u=1419379953,410157379&amp;fm=26&amp;gp=0.jpg">
            <a:extLst>
              <a:ext uri="{FF2B5EF4-FFF2-40B4-BE49-F238E27FC236}">
                <a16:creationId xmlns:a16="http://schemas.microsoft.com/office/drawing/2014/main" id="{26F64339-B7AC-482F-AE54-4D9C64E1D1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7241" y="2017941"/>
            <a:ext cx="3317269" cy="203513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0C2C97C0-515F-4088-8BF9-9058BB3BF343}"/>
              </a:ext>
            </a:extLst>
          </p:cNvPr>
          <p:cNvSpPr>
            <a:spLocks noGrp="1" noChangeArrowheads="1"/>
          </p:cNvSpPr>
          <p:nvPr>
            <p:ph type="title"/>
          </p:nvPr>
        </p:nvSpPr>
        <p:spPr>
          <a:xfrm>
            <a:off x="3035281" y="1256601"/>
            <a:ext cx="8393112" cy="585788"/>
          </a:xfrm>
        </p:spPr>
        <p:txBody>
          <a:bodyPr>
            <a:normAutofit/>
          </a:bodyPr>
          <a:lstStyle/>
          <a:p>
            <a:pPr algn="ctr"/>
            <a:r>
              <a:rPr lang="en-US" altLang="zh-CN" sz="3200" dirty="0"/>
              <a:t>Google</a:t>
            </a:r>
            <a:r>
              <a:rPr lang="zh-CN" altLang="en-US" sz="3200" dirty="0"/>
              <a:t>的测试之道</a:t>
            </a:r>
            <a:r>
              <a:rPr lang="en-US" altLang="zh-CN" sz="3200" dirty="0"/>
              <a:t>—</a:t>
            </a:r>
            <a:r>
              <a:rPr lang="zh-CN" altLang="en-US" sz="3200" dirty="0"/>
              <a:t>灵魂与思想</a:t>
            </a:r>
          </a:p>
        </p:txBody>
      </p:sp>
    </p:spTree>
    <p:extLst>
      <p:ext uri="{BB962C8B-B14F-4D97-AF65-F5344CB8AC3E}">
        <p14:creationId xmlns:p14="http://schemas.microsoft.com/office/powerpoint/2010/main" val="4821188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EADE6D8-FF20-4241-B3C6-F02D4D61024C}"/>
              </a:ext>
            </a:extLst>
          </p:cNvPr>
          <p:cNvSpPr/>
          <p:nvPr/>
        </p:nvSpPr>
        <p:spPr>
          <a:xfrm>
            <a:off x="6483375" y="531124"/>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79658346-13CE-4230-A0B7-926CDDB595F0}"/>
              </a:ext>
            </a:extLst>
          </p:cNvPr>
          <p:cNvSpPr>
            <a:spLocks noGrp="1" noChangeArrowheads="1"/>
          </p:cNvSpPr>
          <p:nvPr>
            <p:ph type="title"/>
          </p:nvPr>
        </p:nvSpPr>
        <p:spPr>
          <a:xfrm>
            <a:off x="2380939" y="1424380"/>
            <a:ext cx="8393112" cy="585788"/>
          </a:xfrm>
        </p:spPr>
        <p:txBody>
          <a:bodyPr>
            <a:normAutofit/>
          </a:bodyPr>
          <a:lstStyle/>
          <a:p>
            <a:pPr algn="ctr"/>
            <a:r>
              <a:rPr lang="en-US" altLang="zh-CN" sz="3200" dirty="0"/>
              <a:t>Google</a:t>
            </a:r>
            <a:r>
              <a:rPr lang="zh-CN" altLang="en-US" sz="3200" dirty="0"/>
              <a:t>的测试之道</a:t>
            </a:r>
            <a:r>
              <a:rPr lang="en-US" altLang="zh-CN" sz="3200" dirty="0"/>
              <a:t>—</a:t>
            </a:r>
            <a:r>
              <a:rPr lang="zh-CN" altLang="en-US" sz="3200" dirty="0"/>
              <a:t>灵魂与思想</a:t>
            </a:r>
          </a:p>
        </p:txBody>
      </p:sp>
      <p:sp>
        <p:nvSpPr>
          <p:cNvPr id="4" name="矩形 3">
            <a:extLst>
              <a:ext uri="{FF2B5EF4-FFF2-40B4-BE49-F238E27FC236}">
                <a16:creationId xmlns:a16="http://schemas.microsoft.com/office/drawing/2014/main" id="{84771ADE-C282-4773-822C-5965E417D5F1}"/>
              </a:ext>
            </a:extLst>
          </p:cNvPr>
          <p:cNvSpPr/>
          <p:nvPr/>
        </p:nvSpPr>
        <p:spPr>
          <a:xfrm>
            <a:off x="1040235" y="2614569"/>
            <a:ext cx="10078114" cy="2308324"/>
          </a:xfrm>
          <a:prstGeom prst="rect">
            <a:avLst/>
          </a:prstGeom>
        </p:spPr>
        <p:txBody>
          <a:bodyPr wrap="square">
            <a:spAutoFit/>
          </a:bodyPr>
          <a:lstStyle/>
          <a:p>
            <a:pPr algn="just">
              <a:spcAft>
                <a:spcPts val="0"/>
              </a:spcAft>
            </a:pPr>
            <a:r>
              <a:rPr lang="en-US" altLang="zh-CN" sz="2400" kern="100" dirty="0">
                <a:latin typeface="Calibri" panose="020F0502020204030204" pitchFamily="34" charset="0"/>
                <a:cs typeface="Times New Roman" panose="02020603050405020304" pitchFamily="18" charset="0"/>
              </a:rPr>
              <a:t>        Google</a:t>
            </a:r>
            <a:r>
              <a:rPr lang="zh-CN" altLang="zh-CN" sz="2400" kern="100" dirty="0">
                <a:latin typeface="Calibri" panose="020F0502020204030204" pitchFamily="34" charset="0"/>
                <a:cs typeface="Times New Roman" panose="02020603050405020304" pitchFamily="18" charset="0"/>
              </a:rPr>
              <a:t>的测试策略从来没有变过，</a:t>
            </a:r>
            <a:r>
              <a:rPr lang="zh-CN" altLang="en-US" sz="2400" kern="100" dirty="0">
                <a:latin typeface="Calibri" panose="020F0502020204030204" pitchFamily="34" charset="0"/>
                <a:cs typeface="Times New Roman" panose="02020603050405020304" pitchFamily="18" charset="0"/>
              </a:rPr>
              <a:t>其</a:t>
            </a:r>
            <a:r>
              <a:rPr lang="zh-CN" altLang="zh-CN" sz="2400" kern="100" dirty="0">
                <a:latin typeface="Calibri" panose="020F0502020204030204" pitchFamily="34" charset="0"/>
                <a:cs typeface="Times New Roman" panose="02020603050405020304" pitchFamily="18" charset="0"/>
              </a:rPr>
              <a:t>执行测试的策略随着公司的演化而演化。</a:t>
            </a: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en-US" altLang="zh-CN" sz="2400" kern="100" dirty="0">
                <a:latin typeface="Calibri" panose="020F0502020204030204" pitchFamily="34" charset="0"/>
                <a:cs typeface="Times New Roman" panose="02020603050405020304" pitchFamily="18" charset="0"/>
              </a:rPr>
              <a:t>        Google</a:t>
            </a:r>
            <a:r>
              <a:rPr lang="zh-CN" altLang="zh-CN" sz="2400" kern="100" dirty="0">
                <a:latin typeface="Calibri" panose="020F0502020204030204" pitchFamily="34" charset="0"/>
                <a:cs typeface="Times New Roman" panose="02020603050405020304" pitchFamily="18" charset="0"/>
              </a:rPr>
              <a:t>现在是一个集搜索、应用、广告、移动、操作系统等业务于一体的公司。每一个</a:t>
            </a:r>
            <a:r>
              <a:rPr lang="zh-CN" altLang="en-US" sz="2400" kern="100" dirty="0">
                <a:latin typeface="Calibri" panose="020F0502020204030204" pitchFamily="34" charset="0"/>
                <a:cs typeface="Times New Roman" panose="02020603050405020304" pitchFamily="18" charset="0"/>
              </a:rPr>
              <a:t>公司</a:t>
            </a:r>
            <a:r>
              <a:rPr lang="zh-CN" altLang="zh-CN" sz="2400" kern="100" dirty="0">
                <a:latin typeface="Calibri" panose="020F0502020204030204" pitchFamily="34" charset="0"/>
                <a:cs typeface="Times New Roman" panose="02020603050405020304" pitchFamily="18" charset="0"/>
              </a:rPr>
              <a:t>关注的领域都是在该领域有意义的问题。随着</a:t>
            </a:r>
            <a:r>
              <a:rPr lang="zh-CN" altLang="en-US" sz="2400" kern="100" dirty="0">
                <a:latin typeface="Calibri" panose="020F0502020204030204" pitchFamily="34" charset="0"/>
                <a:cs typeface="Times New Roman" panose="02020603050405020304" pitchFamily="18" charset="0"/>
              </a:rPr>
              <a:t>公司</a:t>
            </a:r>
            <a:r>
              <a:rPr lang="zh-CN" altLang="zh-CN" sz="2400" kern="100" dirty="0">
                <a:latin typeface="Calibri" panose="020F0502020204030204" pitchFamily="34" charset="0"/>
                <a:cs typeface="Times New Roman" panose="02020603050405020304" pitchFamily="18" charset="0"/>
              </a:rPr>
              <a:t>不断的增加新的“关注领域”（</a:t>
            </a:r>
            <a:r>
              <a:rPr lang="en-US" altLang="zh-CN" sz="2400" kern="100" dirty="0">
                <a:latin typeface="Calibri" panose="020F0502020204030204" pitchFamily="34" charset="0"/>
                <a:cs typeface="Times New Roman" panose="02020603050405020304" pitchFamily="18" charset="0"/>
              </a:rPr>
              <a:t>Focus Areas</a:t>
            </a:r>
            <a:r>
              <a:rPr lang="zh-CN" altLang="zh-CN" sz="2400" kern="100" dirty="0">
                <a:latin typeface="Calibri" panose="020F0502020204030204" pitchFamily="34" charset="0"/>
                <a:cs typeface="Times New Roman" panose="02020603050405020304" pitchFamily="18" charset="0"/>
              </a:rPr>
              <a:t>），延伸已经存在的领域，</a:t>
            </a:r>
            <a:r>
              <a:rPr lang="zh-CN" altLang="en-US" sz="2400" kern="100" dirty="0">
                <a:latin typeface="Calibri" panose="020F0502020204030204" pitchFamily="34" charset="0"/>
                <a:cs typeface="Times New Roman" panose="02020603050405020304" pitchFamily="18" charset="0"/>
              </a:rPr>
              <a:t>公司</a:t>
            </a:r>
            <a:r>
              <a:rPr lang="zh-CN" altLang="zh-CN" sz="2400" kern="100" dirty="0">
                <a:latin typeface="Calibri" panose="020F0502020204030204" pitchFamily="34" charset="0"/>
                <a:cs typeface="Times New Roman" panose="02020603050405020304" pitchFamily="18" charset="0"/>
              </a:rPr>
              <a:t>的测试也在不断的扩展和改善。</a:t>
            </a:r>
          </a:p>
        </p:txBody>
      </p:sp>
    </p:spTree>
    <p:extLst>
      <p:ext uri="{BB962C8B-B14F-4D97-AF65-F5344CB8AC3E}">
        <p14:creationId xmlns:p14="http://schemas.microsoft.com/office/powerpoint/2010/main" val="21185970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8F7564F-9B3A-4262-8300-C71920BDE984}"/>
              </a:ext>
            </a:extLst>
          </p:cNvPr>
          <p:cNvSpPr/>
          <p:nvPr/>
        </p:nvSpPr>
        <p:spPr>
          <a:xfrm>
            <a:off x="6575654" y="371734"/>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36774C76-9937-4437-BA0E-97B097D81B4B}"/>
              </a:ext>
            </a:extLst>
          </p:cNvPr>
          <p:cNvSpPr>
            <a:spLocks noGrp="1" noChangeArrowheads="1"/>
          </p:cNvSpPr>
          <p:nvPr>
            <p:ph type="title"/>
          </p:nvPr>
        </p:nvSpPr>
        <p:spPr>
          <a:xfrm>
            <a:off x="3186768" y="1370881"/>
            <a:ext cx="8393113" cy="585787"/>
          </a:xfrm>
        </p:spPr>
        <p:txBody>
          <a:bodyPr>
            <a:normAutofit/>
          </a:bodyPr>
          <a:lstStyle/>
          <a:p>
            <a:pPr algn="ctr"/>
            <a:r>
              <a:rPr lang="en-US" altLang="zh-CN" sz="3200" dirty="0"/>
              <a:t>Google</a:t>
            </a:r>
            <a:r>
              <a:rPr lang="zh-CN" altLang="en-US" sz="3200" dirty="0"/>
              <a:t>的测试</a:t>
            </a:r>
            <a:r>
              <a:rPr lang="en-US" altLang="zh-CN" sz="3200" dirty="0"/>
              <a:t>----</a:t>
            </a:r>
            <a:r>
              <a:rPr lang="zh-CN" altLang="en-US" sz="3200" dirty="0"/>
              <a:t>组织机构</a:t>
            </a:r>
            <a:endParaRPr lang="en-US" sz="3200" dirty="0"/>
          </a:p>
        </p:txBody>
      </p:sp>
      <p:sp>
        <p:nvSpPr>
          <p:cNvPr id="4" name="矩形 3">
            <a:extLst>
              <a:ext uri="{FF2B5EF4-FFF2-40B4-BE49-F238E27FC236}">
                <a16:creationId xmlns:a16="http://schemas.microsoft.com/office/drawing/2014/main" id="{5F6F22AA-480F-4279-9E04-74E28AEC01A3}"/>
              </a:ext>
            </a:extLst>
          </p:cNvPr>
          <p:cNvSpPr/>
          <p:nvPr/>
        </p:nvSpPr>
        <p:spPr>
          <a:xfrm>
            <a:off x="1224793" y="2099718"/>
            <a:ext cx="10355088" cy="3785652"/>
          </a:xfrm>
          <a:prstGeom prst="rect">
            <a:avLst/>
          </a:prstGeom>
        </p:spPr>
        <p:txBody>
          <a:bodyPr wrap="square">
            <a:spAutoFit/>
          </a:bodyPr>
          <a:lstStyle/>
          <a:p>
            <a:pPr algn="just">
              <a:spcAft>
                <a:spcPts val="0"/>
              </a:spcAft>
            </a:pP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en-US" altLang="zh-CN" sz="2400" kern="100" dirty="0">
                <a:latin typeface="Calibri" panose="020F0502020204030204" pitchFamily="34" charset="0"/>
                <a:cs typeface="Times New Roman" panose="02020603050405020304" pitchFamily="18" charset="0"/>
              </a:rPr>
              <a:t>        </a:t>
            </a:r>
            <a:r>
              <a:rPr lang="zh-CN" altLang="zh-CN" sz="2400" kern="100" dirty="0">
                <a:latin typeface="Calibri" panose="020F0502020204030204" pitchFamily="34" charset="0"/>
                <a:cs typeface="Times New Roman" panose="02020603050405020304" pitchFamily="18" charset="0"/>
              </a:rPr>
              <a:t>在</a:t>
            </a:r>
            <a:r>
              <a:rPr lang="en-US" altLang="zh-CN" sz="2400" kern="100" dirty="0">
                <a:latin typeface="Calibri" panose="020F0502020204030204" pitchFamily="34" charset="0"/>
                <a:cs typeface="Times New Roman" panose="02020603050405020304" pitchFamily="18" charset="0"/>
              </a:rPr>
              <a:t>Google</a:t>
            </a:r>
            <a:r>
              <a:rPr lang="zh-CN" altLang="zh-CN" sz="2400" kern="100" dirty="0">
                <a:latin typeface="Calibri" panose="020F0502020204030204" pitchFamily="34" charset="0"/>
                <a:cs typeface="Times New Roman" panose="02020603050405020304" pitchFamily="18" charset="0"/>
              </a:rPr>
              <a:t>并不存在一个真正意义上的测试部门。测试实际存在于一个关注领域，</a:t>
            </a:r>
            <a:r>
              <a:rPr lang="zh-CN" altLang="en-US" sz="2400" kern="100" dirty="0">
                <a:latin typeface="Calibri" panose="020F0502020204030204" pitchFamily="34" charset="0"/>
                <a:cs typeface="Times New Roman" panose="02020603050405020304" pitchFamily="18" charset="0"/>
              </a:rPr>
              <a:t>公司</a:t>
            </a:r>
            <a:r>
              <a:rPr lang="zh-CN" altLang="zh-CN" sz="2400" kern="100" dirty="0">
                <a:latin typeface="Calibri" panose="020F0502020204030204" pitchFamily="34" charset="0"/>
                <a:cs typeface="Times New Roman" panose="02020603050405020304" pitchFamily="18" charset="0"/>
              </a:rPr>
              <a:t>称它为“</a:t>
            </a:r>
            <a:r>
              <a:rPr lang="zh-CN" altLang="en-US" sz="2400" kern="100" dirty="0">
                <a:latin typeface="Calibri" panose="020F0502020204030204" pitchFamily="34" charset="0"/>
                <a:cs typeface="Times New Roman" panose="02020603050405020304" pitchFamily="18" charset="0"/>
              </a:rPr>
              <a:t>工程</a:t>
            </a:r>
            <a:r>
              <a:rPr lang="zh-CN" altLang="zh-CN" sz="2400" kern="100" dirty="0">
                <a:latin typeface="Calibri" panose="020F0502020204030204" pitchFamily="34" charset="0"/>
                <a:cs typeface="Times New Roman" panose="02020603050405020304" pitchFamily="18" charset="0"/>
              </a:rPr>
              <a:t>生产</a:t>
            </a:r>
            <a:r>
              <a:rPr lang="zh-CN" altLang="en-US" sz="2400" kern="100" dirty="0">
                <a:latin typeface="Calibri" panose="020F0502020204030204" pitchFamily="34" charset="0"/>
                <a:cs typeface="Times New Roman" panose="02020603050405020304" pitchFamily="18" charset="0"/>
              </a:rPr>
              <a:t>力</a:t>
            </a:r>
            <a:r>
              <a:rPr lang="zh-CN" altLang="zh-CN" sz="2400" kern="100" dirty="0">
                <a:latin typeface="Calibri" panose="020F0502020204030204" pitchFamily="34" charset="0"/>
                <a:cs typeface="Times New Roman" panose="02020603050405020304" pitchFamily="18" charset="0"/>
              </a:rPr>
              <a:t>（</a:t>
            </a:r>
            <a:r>
              <a:rPr lang="en-US" altLang="zh-CN" sz="2400" kern="100" dirty="0">
                <a:latin typeface="Calibri" panose="020F0502020204030204" pitchFamily="34" charset="0"/>
                <a:cs typeface="Times New Roman" panose="02020603050405020304" pitchFamily="18" charset="0"/>
              </a:rPr>
              <a:t>Engineering Productivity</a:t>
            </a:r>
            <a:r>
              <a:rPr lang="zh-CN" altLang="zh-CN" sz="2400" kern="100" dirty="0">
                <a:latin typeface="Calibri" panose="020F0502020204030204" pitchFamily="34" charset="0"/>
                <a:cs typeface="Times New Roman" panose="02020603050405020304" pitchFamily="18" charset="0"/>
              </a:rPr>
              <a:t>）</a:t>
            </a:r>
            <a:r>
              <a:rPr lang="zh-CN" altLang="en-US" sz="2400" kern="100" dirty="0">
                <a:latin typeface="Calibri" panose="020F0502020204030204" pitchFamily="34" charset="0"/>
                <a:cs typeface="Times New Roman" panose="02020603050405020304" pitchFamily="18" charset="0"/>
              </a:rPr>
              <a:t>部门</a:t>
            </a:r>
            <a:r>
              <a:rPr lang="zh-CN" altLang="zh-CN" sz="2400" kern="100" dirty="0">
                <a:latin typeface="Calibri" panose="020F0502020204030204" pitchFamily="34" charset="0"/>
                <a:cs typeface="Times New Roman" panose="02020603050405020304" pitchFamily="18" charset="0"/>
              </a:rPr>
              <a:t>。</a:t>
            </a:r>
            <a:endParaRPr lang="en-US" altLang="zh-CN" sz="2400" kern="100" dirty="0">
              <a:latin typeface="Calibri" panose="020F0502020204030204" pitchFamily="34" charset="0"/>
              <a:cs typeface="Times New Roman" panose="02020603050405020304" pitchFamily="18" charset="0"/>
            </a:endParaRPr>
          </a:p>
          <a:p>
            <a:pPr algn="just">
              <a:spcAft>
                <a:spcPts val="0"/>
              </a:spcAft>
            </a:pP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en-US" altLang="zh-CN" sz="2400" kern="100" dirty="0">
                <a:latin typeface="Calibri" panose="020F0502020204030204" pitchFamily="34" charset="0"/>
                <a:cs typeface="Times New Roman" panose="02020603050405020304" pitchFamily="18" charset="0"/>
              </a:rPr>
              <a:t>        </a:t>
            </a:r>
            <a:r>
              <a:rPr lang="zh-CN" altLang="zh-CN" sz="2400" kern="100" dirty="0">
                <a:latin typeface="Calibri" panose="020F0502020204030204" pitchFamily="34" charset="0"/>
                <a:cs typeface="Times New Roman" panose="02020603050405020304" pitchFamily="18" charset="0"/>
              </a:rPr>
              <a:t>“</a:t>
            </a:r>
            <a:r>
              <a:rPr lang="zh-CN" altLang="en-US" sz="2400" kern="100" dirty="0">
                <a:latin typeface="Calibri" panose="020F0502020204030204" pitchFamily="34" charset="0"/>
                <a:cs typeface="Times New Roman" panose="02020603050405020304" pitchFamily="18" charset="0"/>
              </a:rPr>
              <a:t>工程</a:t>
            </a:r>
            <a:r>
              <a:rPr lang="zh-CN" altLang="zh-CN" sz="2400" kern="100" dirty="0">
                <a:latin typeface="Calibri" panose="020F0502020204030204" pitchFamily="34" charset="0"/>
                <a:cs typeface="Times New Roman" panose="02020603050405020304" pitchFamily="18" charset="0"/>
              </a:rPr>
              <a:t>生产</a:t>
            </a:r>
            <a:r>
              <a:rPr lang="zh-CN" altLang="en-US" sz="2400" kern="100" dirty="0">
                <a:latin typeface="Calibri" panose="020F0502020204030204" pitchFamily="34" charset="0"/>
                <a:cs typeface="Times New Roman" panose="02020603050405020304" pitchFamily="18" charset="0"/>
              </a:rPr>
              <a:t>力</a:t>
            </a:r>
            <a:r>
              <a:rPr lang="zh-CN" altLang="zh-CN" sz="2400" kern="100" dirty="0">
                <a:latin typeface="Calibri" panose="020F0502020204030204" pitchFamily="34" charset="0"/>
                <a:cs typeface="Times New Roman" panose="02020603050405020304" pitchFamily="18" charset="0"/>
              </a:rPr>
              <a:t>”是一个拥有一定数量的横向和纵向的工程学科，测试是最大的一个。而在这个组织中，“</a:t>
            </a:r>
            <a:r>
              <a:rPr lang="zh-CN" altLang="en-US" sz="2400" kern="100" dirty="0">
                <a:latin typeface="Calibri" panose="020F0502020204030204" pitchFamily="34" charset="0"/>
                <a:cs typeface="Times New Roman" panose="02020603050405020304" pitchFamily="18" charset="0"/>
              </a:rPr>
              <a:t>工程</a:t>
            </a:r>
            <a:r>
              <a:rPr lang="zh-CN" altLang="zh-CN" sz="2400" kern="100" dirty="0">
                <a:latin typeface="Calibri" panose="020F0502020204030204" pitchFamily="34" charset="0"/>
                <a:cs typeface="Times New Roman" panose="02020603050405020304" pitchFamily="18" charset="0"/>
              </a:rPr>
              <a:t>生产率</a:t>
            </a:r>
            <a:r>
              <a:rPr lang="zh-CN" altLang="en-US" sz="2400" kern="100" dirty="0">
                <a:latin typeface="Calibri" panose="020F0502020204030204" pitchFamily="34" charset="0"/>
                <a:cs typeface="Times New Roman" panose="02020603050405020304" pitchFamily="18" charset="0"/>
              </a:rPr>
              <a:t>力</a:t>
            </a:r>
            <a:r>
              <a:rPr lang="zh-CN" altLang="zh-CN" sz="2400" kern="100" dirty="0">
                <a:latin typeface="Calibri" panose="020F0502020204030204" pitchFamily="34" charset="0"/>
                <a:cs typeface="Times New Roman" panose="02020603050405020304" pitchFamily="18" charset="0"/>
              </a:rPr>
              <a:t>”是由以下三部分组成：</a:t>
            </a: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en-US" altLang="zh-CN" sz="2400" kern="100" dirty="0">
                <a:latin typeface="Calibri" panose="020F0502020204030204" pitchFamily="34" charset="0"/>
                <a:cs typeface="Times New Roman" panose="02020603050405020304" pitchFamily="18" charset="0"/>
              </a:rPr>
              <a:t>  </a:t>
            </a:r>
          </a:p>
          <a:p>
            <a:pPr algn="just">
              <a:spcAft>
                <a:spcPts val="0"/>
              </a:spcAft>
            </a:pPr>
            <a:r>
              <a:rPr lang="en-US" altLang="zh-CN" sz="2400" kern="100" dirty="0">
                <a:latin typeface="Calibri" panose="020F0502020204030204" pitchFamily="34" charset="0"/>
                <a:cs typeface="Times New Roman" panose="02020603050405020304" pitchFamily="18" charset="0"/>
              </a:rPr>
              <a:t>                             1  </a:t>
            </a:r>
            <a:r>
              <a:rPr lang="zh-CN" altLang="en-US" sz="2400" kern="100" dirty="0">
                <a:latin typeface="Calibri" panose="020F0502020204030204" pitchFamily="34" charset="0"/>
                <a:cs typeface="Times New Roman" panose="02020603050405020304" pitchFamily="18" charset="0"/>
              </a:rPr>
              <a:t>产品团队；</a:t>
            </a: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en-US" altLang="zh-CN" sz="2400" kern="100" dirty="0">
                <a:latin typeface="Calibri" panose="020F0502020204030204" pitchFamily="34" charset="0"/>
                <a:cs typeface="Times New Roman" panose="02020603050405020304" pitchFamily="18" charset="0"/>
              </a:rPr>
              <a:t>                                 2  </a:t>
            </a:r>
            <a:r>
              <a:rPr lang="zh-CN" altLang="en-US" sz="2400" kern="100" dirty="0">
                <a:latin typeface="Calibri" panose="020F0502020204030204" pitchFamily="34" charset="0"/>
                <a:cs typeface="Times New Roman" panose="02020603050405020304" pitchFamily="18" charset="0"/>
              </a:rPr>
              <a:t>服务团队；</a:t>
            </a:r>
            <a:endParaRPr lang="en-US" altLang="zh-CN" sz="2400" kern="100" dirty="0">
              <a:latin typeface="Calibri" panose="020F0502020204030204" pitchFamily="34" charset="0"/>
              <a:cs typeface="Times New Roman" panose="02020603050405020304" pitchFamily="18" charset="0"/>
            </a:endParaRPr>
          </a:p>
          <a:p>
            <a:pPr algn="just">
              <a:spcAft>
                <a:spcPts val="0"/>
              </a:spcAft>
            </a:pPr>
            <a:r>
              <a:rPr lang="en-US" altLang="zh-CN" sz="2400" kern="100" dirty="0">
                <a:latin typeface="Calibri" panose="020F0502020204030204" pitchFamily="34" charset="0"/>
                <a:cs typeface="Times New Roman" panose="02020603050405020304" pitchFamily="18" charset="0"/>
              </a:rPr>
              <a:t>                                      3  </a:t>
            </a:r>
            <a:r>
              <a:rPr lang="zh-CN" altLang="en-US" sz="2400" kern="100" dirty="0">
                <a:latin typeface="Calibri" panose="020F0502020204030204" pitchFamily="34" charset="0"/>
                <a:cs typeface="Times New Roman" panose="02020603050405020304" pitchFamily="18" charset="0"/>
              </a:rPr>
              <a:t>嵌入式工程师。</a:t>
            </a:r>
            <a:endParaRPr lang="zh-CN" altLang="zh-CN" sz="24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747692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AF896FD-660E-40A8-8F6D-C4224C0A91DA}"/>
              </a:ext>
            </a:extLst>
          </p:cNvPr>
          <p:cNvSpPr/>
          <p:nvPr/>
        </p:nvSpPr>
        <p:spPr>
          <a:xfrm>
            <a:off x="6642766" y="438845"/>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6FA3179D-B04B-457B-B3EA-89EEA8812368}"/>
              </a:ext>
            </a:extLst>
          </p:cNvPr>
          <p:cNvSpPr>
            <a:spLocks noGrp="1" noChangeArrowheads="1"/>
          </p:cNvSpPr>
          <p:nvPr>
            <p:ph type="title"/>
          </p:nvPr>
        </p:nvSpPr>
        <p:spPr>
          <a:xfrm>
            <a:off x="2163941" y="1363093"/>
            <a:ext cx="8393113" cy="585787"/>
          </a:xfrm>
        </p:spPr>
        <p:txBody>
          <a:bodyPr>
            <a:normAutofit/>
          </a:bodyPr>
          <a:lstStyle/>
          <a:p>
            <a:pPr algn="ctr"/>
            <a:r>
              <a:rPr lang="en-US" altLang="zh-CN" sz="3200" dirty="0"/>
              <a:t>Google</a:t>
            </a:r>
            <a:r>
              <a:rPr lang="zh-CN" altLang="en-US" sz="3200" dirty="0"/>
              <a:t>的测试</a:t>
            </a:r>
            <a:r>
              <a:rPr lang="en-US" altLang="zh-CN" sz="3200" dirty="0"/>
              <a:t>-</a:t>
            </a:r>
            <a:r>
              <a:rPr lang="zh-CN" altLang="en-US" sz="3200" dirty="0"/>
              <a:t>产品团队</a:t>
            </a:r>
            <a:endParaRPr lang="en-US" sz="3200" dirty="0"/>
          </a:p>
        </p:txBody>
      </p:sp>
      <p:sp>
        <p:nvSpPr>
          <p:cNvPr id="4" name="矩形 3">
            <a:extLst>
              <a:ext uri="{FF2B5EF4-FFF2-40B4-BE49-F238E27FC236}">
                <a16:creationId xmlns:a16="http://schemas.microsoft.com/office/drawing/2014/main" id="{DC7B7BA3-24C9-4D59-85BF-0584CDD13054}"/>
              </a:ext>
            </a:extLst>
          </p:cNvPr>
          <p:cNvSpPr/>
          <p:nvPr/>
        </p:nvSpPr>
        <p:spPr>
          <a:xfrm>
            <a:off x="1820411" y="2395429"/>
            <a:ext cx="9420975" cy="2677656"/>
          </a:xfrm>
          <a:prstGeom prst="rect">
            <a:avLst/>
          </a:prstGeom>
        </p:spPr>
        <p:txBody>
          <a:bodyPr wrap="square">
            <a:spAutoFit/>
          </a:bodyPr>
          <a:lstStyle/>
          <a:p>
            <a:pPr algn="just">
              <a:spcAft>
                <a:spcPts val="0"/>
              </a:spcAft>
            </a:pP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        </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他们设计的内部的和开源的工具</a:t>
            </a:r>
            <a:r>
              <a:rPr lang="zh-CN" altLang="en-US" sz="2400" kern="100" dirty="0">
                <a:latin typeface="华文仿宋" panose="02010600040101010101" pitchFamily="2" charset="-122"/>
                <a:ea typeface="华文仿宋" panose="02010600040101010101" pitchFamily="2" charset="-122"/>
                <a:cs typeface="Times New Roman" panose="02020603050405020304" pitchFamily="18" charset="0"/>
              </a:rPr>
              <a:t>，</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由公司里的所有工程师完成。</a:t>
            </a: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        </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他们负责构建和维护代码分析器、开发环境、测试用例管理系统、自动化测试工具、构建系统、源代码控制系统、代码回顾计划、缺陷数据库。</a:t>
            </a: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        </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他们的目标就是设计一种能让工程师更有效率的工具。工具是在检测预防的战略目标中占非常大的一部分。</a:t>
            </a:r>
          </a:p>
        </p:txBody>
      </p:sp>
    </p:spTree>
    <p:extLst>
      <p:ext uri="{BB962C8B-B14F-4D97-AF65-F5344CB8AC3E}">
        <p14:creationId xmlns:p14="http://schemas.microsoft.com/office/powerpoint/2010/main" val="41225903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4F0984A-965C-43D4-ADB8-04B5798A8A82}"/>
              </a:ext>
            </a:extLst>
          </p:cNvPr>
          <p:cNvSpPr/>
          <p:nvPr/>
        </p:nvSpPr>
        <p:spPr>
          <a:xfrm>
            <a:off x="6584043" y="279455"/>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B46F819E-7A6E-44BF-B1C9-93038B278067}"/>
              </a:ext>
            </a:extLst>
          </p:cNvPr>
          <p:cNvSpPr>
            <a:spLocks noGrp="1" noChangeArrowheads="1"/>
          </p:cNvSpPr>
          <p:nvPr>
            <p:ph type="title"/>
          </p:nvPr>
        </p:nvSpPr>
        <p:spPr>
          <a:xfrm>
            <a:off x="2303441" y="1167238"/>
            <a:ext cx="8393113" cy="585787"/>
          </a:xfrm>
        </p:spPr>
        <p:txBody>
          <a:bodyPr>
            <a:normAutofit/>
          </a:bodyPr>
          <a:lstStyle/>
          <a:p>
            <a:pPr algn="ctr"/>
            <a:r>
              <a:rPr lang="en-US" altLang="zh-CN" sz="3200" dirty="0"/>
              <a:t>Google</a:t>
            </a:r>
            <a:r>
              <a:rPr lang="zh-CN" altLang="en-US" sz="3200" dirty="0"/>
              <a:t>的测试</a:t>
            </a:r>
            <a:r>
              <a:rPr lang="en-US" altLang="zh-CN" sz="3200" dirty="0"/>
              <a:t>-</a:t>
            </a:r>
            <a:r>
              <a:rPr lang="zh-CN" altLang="en-US" sz="3200" dirty="0"/>
              <a:t>服务团队</a:t>
            </a:r>
            <a:endParaRPr lang="en-US" sz="3200" dirty="0"/>
          </a:p>
        </p:txBody>
      </p:sp>
      <p:sp>
        <p:nvSpPr>
          <p:cNvPr id="4" name="矩形 3">
            <a:extLst>
              <a:ext uri="{FF2B5EF4-FFF2-40B4-BE49-F238E27FC236}">
                <a16:creationId xmlns:a16="http://schemas.microsoft.com/office/drawing/2014/main" id="{05C869EB-6FA6-4E9F-AEF6-31D12269FA62}"/>
              </a:ext>
            </a:extLst>
          </p:cNvPr>
          <p:cNvSpPr/>
          <p:nvPr/>
        </p:nvSpPr>
        <p:spPr>
          <a:xfrm>
            <a:off x="1367406" y="1887249"/>
            <a:ext cx="9859231" cy="3416320"/>
          </a:xfrm>
          <a:prstGeom prst="rect">
            <a:avLst/>
          </a:prstGeom>
        </p:spPr>
        <p:txBody>
          <a:bodyPr wrap="square">
            <a:spAutoFit/>
          </a:bodyPr>
          <a:lstStyle/>
          <a:p>
            <a:pPr algn="just">
              <a:spcAft>
                <a:spcPts val="0"/>
              </a:spcAft>
            </a:pP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        </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他们在一个非常宽泛的领域内向产品团队提供诸如包含工具（</a:t>
            </a: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including tools</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）、文档、测试、发布管理、培训等方面的专业技能。</a:t>
            </a: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        </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他们的专业技能涵盖可靠性、安全性、国际化等方面，也会处理产品团队可能遇到的关于功能细节方面的问题。</a:t>
            </a: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        </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任何一个其他“关注领域”的服务团队也可以为产品团队提供专业技能服务。</a:t>
            </a:r>
          </a:p>
        </p:txBody>
      </p:sp>
    </p:spTree>
    <p:extLst>
      <p:ext uri="{BB962C8B-B14F-4D97-AF65-F5344CB8AC3E}">
        <p14:creationId xmlns:p14="http://schemas.microsoft.com/office/powerpoint/2010/main" val="3392444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F7814A5-5080-48F3-9621-519D7ECEDADE}"/>
              </a:ext>
            </a:extLst>
          </p:cNvPr>
          <p:cNvSpPr/>
          <p:nvPr/>
        </p:nvSpPr>
        <p:spPr>
          <a:xfrm>
            <a:off x="6642766" y="262677"/>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3" name="Rectangle 2">
            <a:extLst>
              <a:ext uri="{FF2B5EF4-FFF2-40B4-BE49-F238E27FC236}">
                <a16:creationId xmlns:a16="http://schemas.microsoft.com/office/drawing/2014/main" id="{B8228EEE-4C95-4148-BC2E-FE70F434A1D2}"/>
              </a:ext>
            </a:extLst>
          </p:cNvPr>
          <p:cNvSpPr>
            <a:spLocks noGrp="1" noChangeArrowheads="1"/>
          </p:cNvSpPr>
          <p:nvPr>
            <p:ph type="title"/>
          </p:nvPr>
        </p:nvSpPr>
        <p:spPr>
          <a:xfrm>
            <a:off x="2272997" y="1225961"/>
            <a:ext cx="8393113" cy="585787"/>
          </a:xfrm>
        </p:spPr>
        <p:txBody>
          <a:bodyPr>
            <a:normAutofit/>
          </a:bodyPr>
          <a:lstStyle/>
          <a:p>
            <a:pPr algn="ctr"/>
            <a:r>
              <a:rPr lang="en-US" altLang="zh-CN" sz="3200" dirty="0"/>
              <a:t>Google</a:t>
            </a:r>
            <a:r>
              <a:rPr lang="zh-CN" altLang="en-US" sz="3200" dirty="0"/>
              <a:t>的测试</a:t>
            </a:r>
            <a:r>
              <a:rPr lang="en-US" altLang="zh-CN" sz="3200" dirty="0"/>
              <a:t>-</a:t>
            </a:r>
            <a:r>
              <a:rPr lang="zh-CN" altLang="en-US" sz="3200" dirty="0"/>
              <a:t>嵌入式工程师</a:t>
            </a:r>
            <a:endParaRPr lang="en-US" sz="3200" dirty="0"/>
          </a:p>
        </p:txBody>
      </p:sp>
      <p:sp>
        <p:nvSpPr>
          <p:cNvPr id="4" name="矩形 3">
            <a:extLst>
              <a:ext uri="{FF2B5EF4-FFF2-40B4-BE49-F238E27FC236}">
                <a16:creationId xmlns:a16="http://schemas.microsoft.com/office/drawing/2014/main" id="{0CEB56FA-C940-4200-8A42-506D27445BA2}"/>
              </a:ext>
            </a:extLst>
          </p:cNvPr>
          <p:cNvSpPr/>
          <p:nvPr/>
        </p:nvSpPr>
        <p:spPr>
          <a:xfrm>
            <a:off x="1124125" y="1736522"/>
            <a:ext cx="10476274" cy="4524315"/>
          </a:xfrm>
          <a:prstGeom prst="rect">
            <a:avLst/>
          </a:prstGeom>
        </p:spPr>
        <p:txBody>
          <a:bodyPr wrap="square">
            <a:spAutoFit/>
          </a:bodyPr>
          <a:lstStyle/>
          <a:p>
            <a:pPr algn="just">
              <a:spcAft>
                <a:spcPts val="0"/>
              </a:spcAft>
            </a:pP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        </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他们有效的担负起了</a:t>
            </a: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Google</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产品团队在有需要时的需求。有些工程师会跟着同一个的产品团队数年，另一些则只会在一个较短的周期内为产品团队的需要提供服务。</a:t>
            </a: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        Google</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鼓励所有的工程师经常更换自己服务的产品团队，以保持饱满的精神状态，并保证有效和客观的工作。测试工程师也一样，更换团队的节奏也是因人而异的。</a:t>
            </a: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endPar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endParaRPr>
          </a:p>
          <a:p>
            <a:pPr algn="just">
              <a:spcAft>
                <a:spcPts val="0"/>
              </a:spcAft>
            </a:pP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        </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有些测试工程师在</a:t>
            </a: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Chrome</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项目下数年，而有一些则在加入团队</a:t>
            </a:r>
            <a:r>
              <a:rPr lang="en-US" altLang="zh-CN" sz="2400" kern="100" dirty="0">
                <a:latin typeface="华文仿宋" panose="02010600040101010101" pitchFamily="2" charset="-122"/>
                <a:ea typeface="华文仿宋" panose="02010600040101010101" pitchFamily="2" charset="-122"/>
                <a:cs typeface="Times New Roman" panose="02020603050405020304" pitchFamily="18" charset="0"/>
              </a:rPr>
              <a:t>18</a:t>
            </a:r>
            <a:r>
              <a:rPr lang="zh-CN" altLang="zh-CN" sz="2400" kern="100" dirty="0">
                <a:latin typeface="华文仿宋" panose="02010600040101010101" pitchFamily="2" charset="-122"/>
                <a:ea typeface="华文仿宋" panose="02010600040101010101" pitchFamily="2" charset="-122"/>
                <a:cs typeface="Times New Roman" panose="02020603050405020304" pitchFamily="18" charset="0"/>
              </a:rPr>
              <a:t>个月后去了别的团队。在产品知识与新颖的视角间保持一个良好的平衡，是一个测试管理者需要关注的。</a:t>
            </a:r>
          </a:p>
        </p:txBody>
      </p:sp>
    </p:spTree>
    <p:extLst>
      <p:ext uri="{BB962C8B-B14F-4D97-AF65-F5344CB8AC3E}">
        <p14:creationId xmlns:p14="http://schemas.microsoft.com/office/powerpoint/2010/main" val="27217669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A1DEA47-6C3F-4E86-A5FF-9F4AAF7CC4F3}"/>
              </a:ext>
            </a:extLst>
          </p:cNvPr>
          <p:cNvSpPr/>
          <p:nvPr/>
        </p:nvSpPr>
        <p:spPr>
          <a:xfrm>
            <a:off x="6533709" y="245899"/>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3" name="矩形 2">
            <a:extLst>
              <a:ext uri="{FF2B5EF4-FFF2-40B4-BE49-F238E27FC236}">
                <a16:creationId xmlns:a16="http://schemas.microsoft.com/office/drawing/2014/main" id="{C1968056-EC35-4E0B-896A-F4987107035A}"/>
              </a:ext>
            </a:extLst>
          </p:cNvPr>
          <p:cNvSpPr/>
          <p:nvPr/>
        </p:nvSpPr>
        <p:spPr>
          <a:xfrm>
            <a:off x="1384183" y="1953285"/>
            <a:ext cx="9906420" cy="3785652"/>
          </a:xfrm>
          <a:prstGeom prst="rect">
            <a:avLst/>
          </a:prstGeom>
        </p:spPr>
        <p:txBody>
          <a:bodyPr wrap="square">
            <a:spAutoFit/>
          </a:bodyPr>
          <a:lstStyle/>
          <a:p>
            <a:pPr algn="just">
              <a:spcAft>
                <a:spcPts val="0"/>
              </a:spcAft>
            </a:pP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        </a:t>
            </a:r>
          </a:p>
          <a:p>
            <a:pPr algn="just">
              <a:spcAft>
                <a:spcPts val="0"/>
              </a:spcAft>
            </a:pP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测试同学向工程生产力部门的经理汇报，但是他们会把自己看成产品部门团队的一员，像搜索、邮箱、和</a:t>
            </a: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Chrome</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部门。从组织架构上看，测试都是两个团队的一部分。测试和产品团队坐在一起，参与计划，一起吃饭，共享奖金，享受像全职的产品团队成员一样的待遇。</a:t>
            </a: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这种单独的组织汇报关系的好处是可以给测试人员之间提供良好的共享信息的讨论机会，好的测试思路可以很容易的在工程生产力部门内部蔓延，无论公司内的哪条产品线，都可以很快地使用这些最好的测试技术。</a:t>
            </a:r>
          </a:p>
        </p:txBody>
      </p:sp>
      <p:sp>
        <p:nvSpPr>
          <p:cNvPr id="4" name="Rectangle 2">
            <a:extLst>
              <a:ext uri="{FF2B5EF4-FFF2-40B4-BE49-F238E27FC236}">
                <a16:creationId xmlns:a16="http://schemas.microsoft.com/office/drawing/2014/main" id="{5C4CC0C7-20E4-4E3F-8FE8-278D33365C7B}"/>
              </a:ext>
            </a:extLst>
          </p:cNvPr>
          <p:cNvSpPr>
            <a:spLocks noGrp="1" noChangeArrowheads="1"/>
          </p:cNvSpPr>
          <p:nvPr>
            <p:ph type="title"/>
          </p:nvPr>
        </p:nvSpPr>
        <p:spPr>
          <a:xfrm>
            <a:off x="1979383" y="1100126"/>
            <a:ext cx="8393113" cy="585787"/>
          </a:xfrm>
        </p:spPr>
        <p:txBody>
          <a:bodyPr>
            <a:normAutofit/>
          </a:bodyPr>
          <a:lstStyle/>
          <a:p>
            <a:pPr algn="ctr"/>
            <a:r>
              <a:rPr lang="en-US" altLang="zh-CN" sz="3200" dirty="0"/>
              <a:t>Google</a:t>
            </a:r>
            <a:r>
              <a:rPr lang="zh-CN" altLang="en-US" sz="3200" dirty="0"/>
              <a:t>的测试</a:t>
            </a:r>
            <a:r>
              <a:rPr lang="en-US" altLang="zh-CN" sz="3200" dirty="0"/>
              <a:t>-</a:t>
            </a:r>
            <a:r>
              <a:rPr lang="zh-CN" altLang="en-US" sz="3200" dirty="0"/>
              <a:t>组织机构特点</a:t>
            </a:r>
            <a:endParaRPr lang="en-US" sz="3200" dirty="0"/>
          </a:p>
        </p:txBody>
      </p:sp>
    </p:spTree>
    <p:extLst>
      <p:ext uri="{BB962C8B-B14F-4D97-AF65-F5344CB8AC3E}">
        <p14:creationId xmlns:p14="http://schemas.microsoft.com/office/powerpoint/2010/main" val="26693063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88D818C-EBC4-4DC2-863B-FA163091F97D}"/>
              </a:ext>
            </a:extLst>
          </p:cNvPr>
          <p:cNvSpPr/>
          <p:nvPr/>
        </p:nvSpPr>
        <p:spPr>
          <a:xfrm>
            <a:off x="6525320" y="279455"/>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3" name="矩形 2">
            <a:extLst>
              <a:ext uri="{FF2B5EF4-FFF2-40B4-BE49-F238E27FC236}">
                <a16:creationId xmlns:a16="http://schemas.microsoft.com/office/drawing/2014/main" id="{106C0B96-C8E1-465C-A14F-6F6192F79990}"/>
              </a:ext>
            </a:extLst>
          </p:cNvPr>
          <p:cNvSpPr/>
          <p:nvPr/>
        </p:nvSpPr>
        <p:spPr>
          <a:xfrm>
            <a:off x="1174459" y="1843401"/>
            <a:ext cx="10404935" cy="4524315"/>
          </a:xfrm>
          <a:prstGeom prst="rect">
            <a:avLst/>
          </a:prstGeom>
        </p:spPr>
        <p:txBody>
          <a:bodyPr wrap="square">
            <a:spAutoFit/>
          </a:bodyPr>
          <a:lstStyle/>
          <a:p>
            <a:pPr algn="just">
              <a:spcAft>
                <a:spcPts val="0"/>
              </a:spcAft>
            </a:pP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测试人员的这种项目分离和汇报组织结构也有它的缺点，目前来看，最大的问题是测试人员被看做外部资源。</a:t>
            </a: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产品部门团队不能对测试人员有太多的依赖，他们自己必须要合理地控制产品质量。</a:t>
            </a: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是的，没错，在谷歌是产品部门团队对产品质量负责，而不是测试人员</a:t>
            </a:r>
            <a:r>
              <a:rPr lang="zh-CN" altLang="en-US" sz="2400" kern="100" dirty="0">
                <a:latin typeface="华文楷体" panose="02010600040101010101" pitchFamily="2" charset="-122"/>
                <a:ea typeface="华文楷体" panose="02010600040101010101" pitchFamily="2" charset="-122"/>
                <a:cs typeface="Times New Roman" panose="02020603050405020304" pitchFamily="18" charset="0"/>
              </a:rPr>
              <a:t>（前面提到的矩阵结构）</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每个产品部门的开发人员都需要做测试工作，测试人员的任务是为产品部门团队搭建自动化测试基础设施和流程，测试人员让开发可以自给自足地、独立地做完成测试工作。</a:t>
            </a:r>
          </a:p>
        </p:txBody>
      </p:sp>
      <p:sp>
        <p:nvSpPr>
          <p:cNvPr id="4" name="Rectangle 2">
            <a:extLst>
              <a:ext uri="{FF2B5EF4-FFF2-40B4-BE49-F238E27FC236}">
                <a16:creationId xmlns:a16="http://schemas.microsoft.com/office/drawing/2014/main" id="{D946E3CD-64E6-4797-BF7F-DAA42C0CFACB}"/>
              </a:ext>
            </a:extLst>
          </p:cNvPr>
          <p:cNvSpPr>
            <a:spLocks noGrp="1" noChangeArrowheads="1"/>
          </p:cNvSpPr>
          <p:nvPr>
            <p:ph type="title"/>
          </p:nvPr>
        </p:nvSpPr>
        <p:spPr>
          <a:xfrm>
            <a:off x="2062433" y="1117813"/>
            <a:ext cx="8393113" cy="585787"/>
          </a:xfrm>
        </p:spPr>
        <p:txBody>
          <a:bodyPr>
            <a:normAutofit/>
          </a:bodyPr>
          <a:lstStyle/>
          <a:p>
            <a:pPr algn="ctr"/>
            <a:r>
              <a:rPr lang="en-US" altLang="zh-CN" sz="3200" dirty="0"/>
              <a:t>Google</a:t>
            </a:r>
            <a:r>
              <a:rPr lang="zh-CN" altLang="en-US" sz="3200" dirty="0"/>
              <a:t>的测试</a:t>
            </a:r>
            <a:r>
              <a:rPr lang="en-US" altLang="zh-CN" sz="3200" dirty="0"/>
              <a:t>-</a:t>
            </a:r>
            <a:r>
              <a:rPr lang="zh-CN" altLang="en-US" sz="3200" dirty="0"/>
              <a:t>组织机构缺点</a:t>
            </a:r>
            <a:endParaRPr lang="en-US" sz="3200" dirty="0"/>
          </a:p>
        </p:txBody>
      </p:sp>
    </p:spTree>
    <p:extLst>
      <p:ext uri="{BB962C8B-B14F-4D97-AF65-F5344CB8AC3E}">
        <p14:creationId xmlns:p14="http://schemas.microsoft.com/office/powerpoint/2010/main" val="36291640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B931D19-E69B-4840-BBA0-3BB401F82A47}"/>
              </a:ext>
            </a:extLst>
          </p:cNvPr>
          <p:cNvSpPr/>
          <p:nvPr/>
        </p:nvSpPr>
        <p:spPr>
          <a:xfrm>
            <a:off x="6600820" y="287844"/>
            <a:ext cx="5144357"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03  Google</a:t>
            </a:r>
            <a:r>
              <a:rPr lang="zh-CN" altLang="en-US" sz="2400" b="1" kern="100" dirty="0">
                <a:latin typeface="+mj-ea"/>
                <a:cs typeface="Times New Roman" panose="02020603050405020304" pitchFamily="18" charset="0"/>
              </a:rPr>
              <a:t>软件测试之道</a:t>
            </a:r>
            <a:r>
              <a:rPr lang="en-US" altLang="zh-CN" sz="2400" b="1" kern="100" dirty="0">
                <a:latin typeface="+mj-ea"/>
                <a:cs typeface="Times New Roman" panose="02020603050405020304" pitchFamily="18" charset="0"/>
              </a:rPr>
              <a:t>-</a:t>
            </a:r>
            <a:r>
              <a:rPr lang="zh-CN" altLang="en-US" sz="2400" b="1" kern="100" dirty="0">
                <a:latin typeface="+mj-ea"/>
                <a:cs typeface="Times New Roman" panose="02020603050405020304" pitchFamily="18" charset="0"/>
              </a:rPr>
              <a:t>体会现实</a:t>
            </a:r>
            <a:endParaRPr lang="zh-CN" altLang="zh-CN" sz="2400" b="1" kern="100" dirty="0">
              <a:latin typeface="+mj-ea"/>
              <a:cs typeface="Times New Roman" panose="02020603050405020304" pitchFamily="18" charset="0"/>
            </a:endParaRPr>
          </a:p>
        </p:txBody>
      </p:sp>
      <p:sp>
        <p:nvSpPr>
          <p:cNvPr id="3" name="矩形 2">
            <a:extLst>
              <a:ext uri="{FF2B5EF4-FFF2-40B4-BE49-F238E27FC236}">
                <a16:creationId xmlns:a16="http://schemas.microsoft.com/office/drawing/2014/main" id="{140EB8DE-6EBF-4BED-BC23-FE98189C9218}"/>
              </a:ext>
            </a:extLst>
          </p:cNvPr>
          <p:cNvSpPr/>
          <p:nvPr/>
        </p:nvSpPr>
        <p:spPr>
          <a:xfrm>
            <a:off x="1166070" y="2455109"/>
            <a:ext cx="10380080" cy="2677656"/>
          </a:xfrm>
          <a:prstGeom prst="rect">
            <a:avLst/>
          </a:prstGeom>
        </p:spPr>
        <p:txBody>
          <a:bodyPr wrap="square">
            <a:spAutoFit/>
          </a:bodyPr>
          <a:lstStyle/>
          <a:p>
            <a:pPr algn="just">
              <a:spcAft>
                <a:spcPts val="0"/>
              </a:spcAft>
            </a:pP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在这种模式下，开发和测试将有相同的地位。在质量方面，开发和测试成为了真正的伙伴，最大的质量重担交给本应属于的开发人员，开发的职责就是正确地实现产品功能。</a:t>
            </a: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endPar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endParaRPr>
          </a:p>
          <a:p>
            <a:pPr algn="just">
              <a:spcAft>
                <a:spcPts val="0"/>
              </a:spcAft>
            </a:pPr>
            <a:r>
              <a:rPr lang="en-US" altLang="zh-CN" sz="2400" kern="1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400" kern="100" dirty="0">
                <a:latin typeface="华文楷体" panose="02010600040101010101" pitchFamily="2" charset="-122"/>
                <a:ea typeface="华文楷体" panose="02010600040101010101" pitchFamily="2" charset="-122"/>
                <a:cs typeface="Times New Roman" panose="02020603050405020304" pitchFamily="18" charset="0"/>
              </a:rPr>
              <a:t>另外这样可以保持多对一的开发测试比率，开发人员在数量上远超测试人员，并且测试工作做的越多，开发测试比率就会越大。产品部门团队也会对这样的高开发测试比率而感到骄傲。</a:t>
            </a:r>
          </a:p>
        </p:txBody>
      </p:sp>
      <p:sp>
        <p:nvSpPr>
          <p:cNvPr id="4" name="Rectangle 2">
            <a:extLst>
              <a:ext uri="{FF2B5EF4-FFF2-40B4-BE49-F238E27FC236}">
                <a16:creationId xmlns:a16="http://schemas.microsoft.com/office/drawing/2014/main" id="{CCD95D0B-42C5-497B-8429-87804EB39007}"/>
              </a:ext>
            </a:extLst>
          </p:cNvPr>
          <p:cNvSpPr>
            <a:spLocks noGrp="1" noChangeArrowheads="1"/>
          </p:cNvSpPr>
          <p:nvPr>
            <p:ph type="title"/>
          </p:nvPr>
        </p:nvSpPr>
        <p:spPr>
          <a:xfrm>
            <a:off x="2404263" y="1309415"/>
            <a:ext cx="8393113" cy="585787"/>
          </a:xfrm>
        </p:spPr>
        <p:txBody>
          <a:bodyPr>
            <a:normAutofit/>
          </a:bodyPr>
          <a:lstStyle/>
          <a:p>
            <a:pPr algn="ctr"/>
            <a:r>
              <a:rPr lang="en-US" altLang="zh-CN" sz="3200" dirty="0"/>
              <a:t>Google</a:t>
            </a:r>
            <a:r>
              <a:rPr lang="zh-CN" altLang="en-US" sz="3200" dirty="0"/>
              <a:t>的测试</a:t>
            </a:r>
            <a:r>
              <a:rPr lang="en-US" altLang="zh-CN" sz="3200" dirty="0"/>
              <a:t>-</a:t>
            </a:r>
            <a:r>
              <a:rPr lang="zh-CN" altLang="en-US" sz="3200" dirty="0"/>
              <a:t>组织机构对测试人员的益处</a:t>
            </a:r>
            <a:endParaRPr lang="en-US" sz="3200" dirty="0"/>
          </a:p>
        </p:txBody>
      </p:sp>
    </p:spTree>
    <p:extLst>
      <p:ext uri="{BB962C8B-B14F-4D97-AF65-F5344CB8AC3E}">
        <p14:creationId xmlns:p14="http://schemas.microsoft.com/office/powerpoint/2010/main" val="25075574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45909EF7-77A8-40EA-B388-8BAD9D531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7122" y="1631968"/>
            <a:ext cx="2377834" cy="4856464"/>
          </a:xfrm>
          <a:prstGeom prst="rect">
            <a:avLst/>
          </a:prstGeom>
          <a:solidFill>
            <a:srgbClr val="7030A0"/>
          </a:solidFill>
          <a:ln>
            <a:noFill/>
          </a:ln>
        </p:spPr>
      </p:pic>
      <p:grpSp>
        <p:nvGrpSpPr>
          <p:cNvPr id="3" name="组合 2">
            <a:extLst>
              <a:ext uri="{FF2B5EF4-FFF2-40B4-BE49-F238E27FC236}">
                <a16:creationId xmlns:a16="http://schemas.microsoft.com/office/drawing/2014/main" id="{8B49F769-04D3-4E71-8195-CDA0E5B36761}"/>
              </a:ext>
            </a:extLst>
          </p:cNvPr>
          <p:cNvGrpSpPr/>
          <p:nvPr/>
        </p:nvGrpSpPr>
        <p:grpSpPr>
          <a:xfrm>
            <a:off x="2646767" y="1761838"/>
            <a:ext cx="1608190" cy="1498822"/>
            <a:chOff x="346473" y="496025"/>
            <a:chExt cx="1344215" cy="1252800"/>
          </a:xfrm>
          <a:solidFill>
            <a:srgbClr val="7030A0"/>
          </a:solidFill>
        </p:grpSpPr>
        <p:sp>
          <p:nvSpPr>
            <p:cNvPr id="4" name="六边形 19">
              <a:extLst>
                <a:ext uri="{FF2B5EF4-FFF2-40B4-BE49-F238E27FC236}">
                  <a16:creationId xmlns:a16="http://schemas.microsoft.com/office/drawing/2014/main" id="{7315D0C8-FB05-47D7-BBBA-6BAE03103B40}"/>
                </a:ext>
              </a:extLst>
            </p:cNvPr>
            <p:cNvSpPr>
              <a:spLocks noChangeArrowheads="1"/>
            </p:cNvSpPr>
            <p:nvPr/>
          </p:nvSpPr>
          <p:spPr bwMode="auto">
            <a:xfrm rot="16200000">
              <a:off x="392180" y="496751"/>
              <a:ext cx="1252800" cy="1251347"/>
            </a:xfrm>
            <a:prstGeom prst="chord">
              <a:avLst>
                <a:gd name="adj1" fmla="val 21039823"/>
                <a:gd name="adj2" fmla="val 16726182"/>
              </a:avLst>
            </a:prstGeom>
            <a:grp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5" name="矩形 24">
              <a:extLst>
                <a:ext uri="{FF2B5EF4-FFF2-40B4-BE49-F238E27FC236}">
                  <a16:creationId xmlns:a16="http://schemas.microsoft.com/office/drawing/2014/main" id="{F208073B-7F1D-42E6-BE69-05DA9BCE7B75}"/>
                </a:ext>
              </a:extLst>
            </p:cNvPr>
            <p:cNvSpPr>
              <a:spLocks noChangeArrowheads="1"/>
            </p:cNvSpPr>
            <p:nvPr/>
          </p:nvSpPr>
          <p:spPr bwMode="auto">
            <a:xfrm>
              <a:off x="346473" y="846473"/>
              <a:ext cx="1344215" cy="544367"/>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grpSp>
      <p:sp>
        <p:nvSpPr>
          <p:cNvPr id="6" name="TextBox 4">
            <a:extLst>
              <a:ext uri="{FF2B5EF4-FFF2-40B4-BE49-F238E27FC236}">
                <a16:creationId xmlns:a16="http://schemas.microsoft.com/office/drawing/2014/main" id="{B004C85D-0497-4252-8D76-5DA1944CFCD7}"/>
              </a:ext>
            </a:extLst>
          </p:cNvPr>
          <p:cNvSpPr txBox="1"/>
          <p:nvPr/>
        </p:nvSpPr>
        <p:spPr>
          <a:xfrm>
            <a:off x="7578529" y="372385"/>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sp>
        <p:nvSpPr>
          <p:cNvPr id="7" name="任意多边形 26">
            <a:extLst>
              <a:ext uri="{FF2B5EF4-FFF2-40B4-BE49-F238E27FC236}">
                <a16:creationId xmlns:a16="http://schemas.microsoft.com/office/drawing/2014/main" id="{EB020BFC-A69C-4FEF-9C17-641A86A32EF0}"/>
              </a:ext>
            </a:extLst>
          </p:cNvPr>
          <p:cNvSpPr/>
          <p:nvPr/>
        </p:nvSpPr>
        <p:spPr bwMode="auto">
          <a:xfrm rot="8100000" flipV="1">
            <a:off x="4679698" y="1712819"/>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8" name="文本框 7">
            <a:extLst>
              <a:ext uri="{FF2B5EF4-FFF2-40B4-BE49-F238E27FC236}">
                <a16:creationId xmlns:a16="http://schemas.microsoft.com/office/drawing/2014/main" id="{36DA8B99-87F5-4507-986A-5D485BE72820}"/>
              </a:ext>
            </a:extLst>
          </p:cNvPr>
          <p:cNvSpPr txBox="1">
            <a:spLocks noChangeArrowheads="1"/>
          </p:cNvSpPr>
          <p:nvPr/>
        </p:nvSpPr>
        <p:spPr bwMode="auto">
          <a:xfrm>
            <a:off x="4755571" y="1748720"/>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9" name="任意多边形 28">
            <a:extLst>
              <a:ext uri="{FF2B5EF4-FFF2-40B4-BE49-F238E27FC236}">
                <a16:creationId xmlns:a16="http://schemas.microsoft.com/office/drawing/2014/main" id="{D3F786D2-B376-48DE-92C7-5977CBBB64A8}"/>
              </a:ext>
            </a:extLst>
          </p:cNvPr>
          <p:cNvSpPr/>
          <p:nvPr/>
        </p:nvSpPr>
        <p:spPr bwMode="auto">
          <a:xfrm rot="8100000" flipV="1">
            <a:off x="4658096" y="5895444"/>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0" name="文本框 42">
            <a:extLst>
              <a:ext uri="{FF2B5EF4-FFF2-40B4-BE49-F238E27FC236}">
                <a16:creationId xmlns:a16="http://schemas.microsoft.com/office/drawing/2014/main" id="{8D0A2D94-2066-40C3-87A0-51EC2836A8BA}"/>
              </a:ext>
            </a:extLst>
          </p:cNvPr>
          <p:cNvSpPr txBox="1">
            <a:spLocks noChangeArrowheads="1"/>
          </p:cNvSpPr>
          <p:nvPr/>
        </p:nvSpPr>
        <p:spPr bwMode="auto">
          <a:xfrm>
            <a:off x="4715679" y="5940202"/>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11" name="任意多边形 30">
            <a:extLst>
              <a:ext uri="{FF2B5EF4-FFF2-40B4-BE49-F238E27FC236}">
                <a16:creationId xmlns:a16="http://schemas.microsoft.com/office/drawing/2014/main" id="{CE94BDDA-35C4-4F8C-88E3-A64CF6E14BBE}"/>
              </a:ext>
            </a:extLst>
          </p:cNvPr>
          <p:cNvSpPr/>
          <p:nvPr/>
        </p:nvSpPr>
        <p:spPr bwMode="auto">
          <a:xfrm rot="8100000" flipV="1">
            <a:off x="4657584" y="4894951"/>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2" name="文本框 45">
            <a:extLst>
              <a:ext uri="{FF2B5EF4-FFF2-40B4-BE49-F238E27FC236}">
                <a16:creationId xmlns:a16="http://schemas.microsoft.com/office/drawing/2014/main" id="{968D90B4-20F9-491D-BA9B-F082CAA1211B}"/>
              </a:ext>
            </a:extLst>
          </p:cNvPr>
          <p:cNvSpPr txBox="1">
            <a:spLocks noChangeArrowheads="1"/>
          </p:cNvSpPr>
          <p:nvPr/>
        </p:nvSpPr>
        <p:spPr bwMode="auto">
          <a:xfrm>
            <a:off x="4715167" y="4896436"/>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13" name="任意多边形 32">
            <a:extLst>
              <a:ext uri="{FF2B5EF4-FFF2-40B4-BE49-F238E27FC236}">
                <a16:creationId xmlns:a16="http://schemas.microsoft.com/office/drawing/2014/main" id="{6CCCFF21-2ACA-4116-BF10-83C0B806294E}"/>
              </a:ext>
            </a:extLst>
          </p:cNvPr>
          <p:cNvSpPr/>
          <p:nvPr/>
        </p:nvSpPr>
        <p:spPr bwMode="auto">
          <a:xfrm rot="8100000" flipV="1">
            <a:off x="4656945" y="3841818"/>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4" name="文本框 48">
            <a:extLst>
              <a:ext uri="{FF2B5EF4-FFF2-40B4-BE49-F238E27FC236}">
                <a16:creationId xmlns:a16="http://schemas.microsoft.com/office/drawing/2014/main" id="{9F57060A-A019-4D6F-8392-CF76809CD31C}"/>
              </a:ext>
            </a:extLst>
          </p:cNvPr>
          <p:cNvSpPr txBox="1">
            <a:spLocks noChangeArrowheads="1"/>
          </p:cNvSpPr>
          <p:nvPr/>
        </p:nvSpPr>
        <p:spPr bwMode="auto">
          <a:xfrm>
            <a:off x="4715149" y="3883854"/>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15" name="圆角矩形 34">
            <a:extLst>
              <a:ext uri="{FF2B5EF4-FFF2-40B4-BE49-F238E27FC236}">
                <a16:creationId xmlns:a16="http://schemas.microsoft.com/office/drawing/2014/main" id="{3D5C0BD1-FEBF-432A-9E8E-C9913C6035D3}"/>
              </a:ext>
            </a:extLst>
          </p:cNvPr>
          <p:cNvSpPr/>
          <p:nvPr/>
        </p:nvSpPr>
        <p:spPr>
          <a:xfrm>
            <a:off x="5778656" y="3815721"/>
            <a:ext cx="437173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en-US" altLang="zh-CN" sz="2000" b="1" kern="100" dirty="0">
                <a:solidFill>
                  <a:schemeClr val="bg1"/>
                </a:solidFill>
                <a:latin typeface="+mj-ea"/>
                <a:ea typeface="+mj-ea"/>
                <a:cs typeface="Times New Roman" panose="02020603050405020304" pitchFamily="18" charset="0"/>
              </a:rPr>
              <a:t>Google</a:t>
            </a:r>
            <a:r>
              <a:rPr lang="zh-CN" altLang="en-US" sz="2000" b="1" kern="100" dirty="0">
                <a:solidFill>
                  <a:schemeClr val="bg1"/>
                </a:solidFill>
                <a:latin typeface="+mj-ea"/>
                <a:ea typeface="+mj-ea"/>
                <a:cs typeface="Times New Roman" panose="02020603050405020304" pitchFamily="18" charset="0"/>
              </a:rPr>
              <a:t>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体会现实</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6" name="圆角矩形 35">
            <a:extLst>
              <a:ext uri="{FF2B5EF4-FFF2-40B4-BE49-F238E27FC236}">
                <a16:creationId xmlns:a16="http://schemas.microsoft.com/office/drawing/2014/main" id="{DE46DC4C-3A12-44E4-BC6E-46AC99373056}"/>
              </a:ext>
            </a:extLst>
          </p:cNvPr>
          <p:cNvSpPr/>
          <p:nvPr/>
        </p:nvSpPr>
        <p:spPr>
          <a:xfrm>
            <a:off x="5778656" y="4849167"/>
            <a:ext cx="4372249" cy="553734"/>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软件测试那些事</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7" name="圆角矩形 36">
            <a:extLst>
              <a:ext uri="{FF2B5EF4-FFF2-40B4-BE49-F238E27FC236}">
                <a16:creationId xmlns:a16="http://schemas.microsoft.com/office/drawing/2014/main" id="{1F6E836A-7E42-45B8-8123-6EF311D249B7}"/>
              </a:ext>
            </a:extLst>
          </p:cNvPr>
          <p:cNvSpPr/>
          <p:nvPr/>
        </p:nvSpPr>
        <p:spPr>
          <a:xfrm>
            <a:off x="5779168" y="5822305"/>
            <a:ext cx="4371737" cy="565386"/>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ea typeface="+mj-ea"/>
                <a:cs typeface="Times New Roman" panose="02020603050405020304" pitchFamily="18" charset="0"/>
              </a:rPr>
              <a:t>软件测试与维护</a:t>
            </a:r>
            <a:endParaRPr lang="zh-CN" altLang="en-US" sz="2000" dirty="0">
              <a:solidFill>
                <a:schemeClr val="bg1"/>
              </a:solidFill>
              <a:latin typeface="+mj-ea"/>
              <a:ea typeface="+mj-ea"/>
              <a:cs typeface="Arial Unicode MS" panose="020B0604020202020204" pitchFamily="34" charset="-122"/>
            </a:endParaRPr>
          </a:p>
        </p:txBody>
      </p:sp>
      <p:sp>
        <p:nvSpPr>
          <p:cNvPr id="18" name="圆角矩形 37">
            <a:extLst>
              <a:ext uri="{FF2B5EF4-FFF2-40B4-BE49-F238E27FC236}">
                <a16:creationId xmlns:a16="http://schemas.microsoft.com/office/drawing/2014/main" id="{DC20FEE5-FFBE-408B-8C62-8188B9B2F0D3}"/>
              </a:ext>
            </a:extLst>
          </p:cNvPr>
          <p:cNvSpPr/>
          <p:nvPr/>
        </p:nvSpPr>
        <p:spPr>
          <a:xfrm>
            <a:off x="5801407" y="1686773"/>
            <a:ext cx="434949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cs typeface="Times New Roman" panose="02020603050405020304" pitchFamily="18" charset="0"/>
              </a:rPr>
              <a:t>项目质量管理与软件测试维护</a:t>
            </a:r>
            <a:endParaRPr lang="zh-CN" altLang="en-US" sz="2000" dirty="0">
              <a:solidFill>
                <a:schemeClr val="bg1"/>
              </a:solidFill>
              <a:latin typeface="+mj-ea"/>
              <a:cs typeface="Arial Unicode MS" panose="020B0604020202020204" pitchFamily="34" charset="-122"/>
            </a:endParaRPr>
          </a:p>
        </p:txBody>
      </p:sp>
      <p:sp>
        <p:nvSpPr>
          <p:cNvPr id="19" name="任意多边形 38">
            <a:extLst>
              <a:ext uri="{FF2B5EF4-FFF2-40B4-BE49-F238E27FC236}">
                <a16:creationId xmlns:a16="http://schemas.microsoft.com/office/drawing/2014/main" id="{63BBAB23-5AA1-45A6-86BB-144542172E96}"/>
              </a:ext>
            </a:extLst>
          </p:cNvPr>
          <p:cNvSpPr/>
          <p:nvPr/>
        </p:nvSpPr>
        <p:spPr bwMode="auto">
          <a:xfrm rot="8100000" flipV="1">
            <a:off x="4679696" y="2739487"/>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0" name="文本框 48">
            <a:extLst>
              <a:ext uri="{FF2B5EF4-FFF2-40B4-BE49-F238E27FC236}">
                <a16:creationId xmlns:a16="http://schemas.microsoft.com/office/drawing/2014/main" id="{EEAEE9B2-4D06-4F8C-85A8-CABF78A8AD19}"/>
              </a:ext>
            </a:extLst>
          </p:cNvPr>
          <p:cNvSpPr txBox="1">
            <a:spLocks noChangeArrowheads="1"/>
          </p:cNvSpPr>
          <p:nvPr/>
        </p:nvSpPr>
        <p:spPr bwMode="auto">
          <a:xfrm>
            <a:off x="4737900" y="2781523"/>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21" name="圆角矩形 40">
            <a:extLst>
              <a:ext uri="{FF2B5EF4-FFF2-40B4-BE49-F238E27FC236}">
                <a16:creationId xmlns:a16="http://schemas.microsoft.com/office/drawing/2014/main" id="{0ADF3111-F078-41E8-8ACB-7BB16E365EB2}"/>
              </a:ext>
            </a:extLst>
          </p:cNvPr>
          <p:cNvSpPr/>
          <p:nvPr/>
        </p:nvSpPr>
        <p:spPr>
          <a:xfrm>
            <a:off x="5801407" y="2713390"/>
            <a:ext cx="437173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微软软件测试之道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追寻经典</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Tree>
    <p:extLst>
      <p:ext uri="{BB962C8B-B14F-4D97-AF65-F5344CB8AC3E}">
        <p14:creationId xmlns:p14="http://schemas.microsoft.com/office/powerpoint/2010/main" val="42818996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E35DA9B-F1CE-423C-B07D-09F7A5B969DB}"/>
              </a:ext>
            </a:extLst>
          </p:cNvPr>
          <p:cNvSpPr/>
          <p:nvPr/>
        </p:nvSpPr>
        <p:spPr>
          <a:xfrm>
            <a:off x="7540248" y="508963"/>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pic>
        <p:nvPicPr>
          <p:cNvPr id="5" name="Picture 6" descr="http://leonmeijer.nl/images/leonmeijer_nl/WindowsLiveWriter/TestdrivendevelopmentUni.NETwhatsallthis_D86E/sw_testing.jpg">
            <a:extLst>
              <a:ext uri="{FF2B5EF4-FFF2-40B4-BE49-F238E27FC236}">
                <a16:creationId xmlns:a16="http://schemas.microsoft.com/office/drawing/2014/main" id="{BFCF0636-3D3F-4BA8-AB58-37E57B9A2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2720" y="2328179"/>
            <a:ext cx="4097337"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7E3E54F9-DAA3-4D1F-B61A-35A849431FB8}"/>
              </a:ext>
            </a:extLst>
          </p:cNvPr>
          <p:cNvSpPr txBox="1"/>
          <p:nvPr/>
        </p:nvSpPr>
        <p:spPr>
          <a:xfrm>
            <a:off x="7069822" y="2344749"/>
            <a:ext cx="2646878" cy="3539430"/>
          </a:xfrm>
          <a:prstGeom prst="rect">
            <a:avLst/>
          </a:prstGeom>
          <a:noFill/>
        </p:spPr>
        <p:txBody>
          <a:bodyPr wrap="none" rtlCol="0">
            <a:spAutoFit/>
          </a:bodyPr>
          <a:lstStyle/>
          <a:p>
            <a:r>
              <a:rPr lang="zh-CN" altLang="en-US" sz="3200" b="1" dirty="0">
                <a:latin typeface="华文仿宋" panose="02010600040101010101" pitchFamily="2" charset="-122"/>
                <a:ea typeface="华文仿宋" panose="02010600040101010101" pitchFamily="2" charset="-122"/>
              </a:rPr>
              <a:t>软件测试过程</a:t>
            </a:r>
            <a:endParaRPr lang="en-US" altLang="zh-CN" sz="3200" b="1" dirty="0">
              <a:latin typeface="华文仿宋" panose="02010600040101010101" pitchFamily="2" charset="-122"/>
              <a:ea typeface="华文仿宋" panose="02010600040101010101" pitchFamily="2" charset="-122"/>
            </a:endParaRPr>
          </a:p>
          <a:p>
            <a:endParaRPr lang="en-US" altLang="zh-CN" sz="3200" b="1" dirty="0">
              <a:latin typeface="华文仿宋" panose="02010600040101010101" pitchFamily="2" charset="-122"/>
              <a:ea typeface="华文仿宋" panose="02010600040101010101" pitchFamily="2" charset="-122"/>
            </a:endParaRPr>
          </a:p>
          <a:p>
            <a:r>
              <a:rPr lang="zh-CN" altLang="en-US" sz="3200" b="1" dirty="0">
                <a:latin typeface="华文仿宋" panose="02010600040101010101" pitchFamily="2" charset="-122"/>
                <a:ea typeface="华文仿宋" panose="02010600040101010101" pitchFamily="2" charset="-122"/>
              </a:rPr>
              <a:t>软件测试原则</a:t>
            </a:r>
            <a:endParaRPr lang="en-US" altLang="zh-CN" sz="3200" b="1" dirty="0">
              <a:latin typeface="华文仿宋" panose="02010600040101010101" pitchFamily="2" charset="-122"/>
              <a:ea typeface="华文仿宋" panose="02010600040101010101" pitchFamily="2" charset="-122"/>
            </a:endParaRPr>
          </a:p>
          <a:p>
            <a:endParaRPr lang="en-US" altLang="zh-CN" sz="3200" b="1" dirty="0">
              <a:latin typeface="华文仿宋" panose="02010600040101010101" pitchFamily="2" charset="-122"/>
              <a:ea typeface="华文仿宋" panose="02010600040101010101" pitchFamily="2" charset="-122"/>
            </a:endParaRPr>
          </a:p>
          <a:p>
            <a:r>
              <a:rPr lang="zh-CN" altLang="en-US" sz="3200" b="1" dirty="0">
                <a:latin typeface="华文仿宋" panose="02010600040101010101" pitchFamily="2" charset="-122"/>
                <a:ea typeface="华文仿宋" panose="02010600040101010101" pitchFamily="2" charset="-122"/>
              </a:rPr>
              <a:t>软件测试理念</a:t>
            </a:r>
            <a:endParaRPr lang="en-US" altLang="zh-CN" sz="3200" b="1" dirty="0">
              <a:latin typeface="华文仿宋" panose="02010600040101010101" pitchFamily="2" charset="-122"/>
              <a:ea typeface="华文仿宋" panose="02010600040101010101" pitchFamily="2" charset="-122"/>
            </a:endParaRPr>
          </a:p>
          <a:p>
            <a:endParaRPr lang="en-US" altLang="zh-CN" sz="3200" b="1" dirty="0">
              <a:latin typeface="华文仿宋" panose="02010600040101010101" pitchFamily="2" charset="-122"/>
              <a:ea typeface="华文仿宋" panose="02010600040101010101" pitchFamily="2" charset="-122"/>
            </a:endParaRPr>
          </a:p>
          <a:p>
            <a:r>
              <a:rPr lang="zh-CN" altLang="en-US" sz="3200" b="1" dirty="0">
                <a:latin typeface="华文仿宋" panose="02010600040101010101" pitchFamily="2" charset="-122"/>
                <a:ea typeface="华文仿宋" panose="02010600040101010101" pitchFamily="2" charset="-122"/>
              </a:rPr>
              <a:t>软件测试人员</a:t>
            </a:r>
          </a:p>
        </p:txBody>
      </p:sp>
    </p:spTree>
    <p:extLst>
      <p:ext uri="{BB962C8B-B14F-4D97-AF65-F5344CB8AC3E}">
        <p14:creationId xmlns:p14="http://schemas.microsoft.com/office/powerpoint/2010/main" val="11108519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3BB76EF-1B3B-47CA-A72F-3D087D218EF0}"/>
              </a:ext>
            </a:extLst>
          </p:cNvPr>
          <p:cNvSpPr/>
          <p:nvPr/>
        </p:nvSpPr>
        <p:spPr>
          <a:xfrm>
            <a:off x="7523470" y="433463"/>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3" name="矩形 2">
            <a:extLst>
              <a:ext uri="{FF2B5EF4-FFF2-40B4-BE49-F238E27FC236}">
                <a16:creationId xmlns:a16="http://schemas.microsoft.com/office/drawing/2014/main" id="{89C5AF14-4CAE-41DD-83A5-3689241AB290}"/>
              </a:ext>
            </a:extLst>
          </p:cNvPr>
          <p:cNvSpPr/>
          <p:nvPr/>
        </p:nvSpPr>
        <p:spPr>
          <a:xfrm>
            <a:off x="5203924" y="1188074"/>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软件测试过程</a:t>
            </a:r>
            <a:endParaRPr lang="en-US" altLang="zh-CN" sz="3200" b="1" dirty="0">
              <a:latin typeface="华文仿宋" panose="02010600040101010101" pitchFamily="2" charset="-122"/>
              <a:ea typeface="华文仿宋" panose="02010600040101010101" pitchFamily="2" charset="-122"/>
            </a:endParaRPr>
          </a:p>
        </p:txBody>
      </p:sp>
      <p:sp>
        <p:nvSpPr>
          <p:cNvPr id="4" name="矩形 3">
            <a:extLst>
              <a:ext uri="{FF2B5EF4-FFF2-40B4-BE49-F238E27FC236}">
                <a16:creationId xmlns:a16="http://schemas.microsoft.com/office/drawing/2014/main" id="{818B5EA7-4D27-44D7-8AE8-7D6F06BD661C}"/>
              </a:ext>
            </a:extLst>
          </p:cNvPr>
          <p:cNvSpPr/>
          <p:nvPr/>
        </p:nvSpPr>
        <p:spPr>
          <a:xfrm>
            <a:off x="2360221" y="2581096"/>
            <a:ext cx="4572000" cy="3108543"/>
          </a:xfrm>
          <a:prstGeom prst="rect">
            <a:avLst/>
          </a:prstGeom>
        </p:spPr>
        <p:txBody>
          <a:bodyPr>
            <a:spAutoFit/>
          </a:bodyPr>
          <a:lstStyle/>
          <a:p>
            <a:pPr>
              <a:buFontTx/>
              <a:buChar char="•"/>
              <a:defRPr/>
            </a:pPr>
            <a:r>
              <a:rPr lang="zh-CN" altLang="zh-CN" sz="2800" kern="0" dirty="0">
                <a:solidFill>
                  <a:srgbClr val="1D528D"/>
                </a:solidFill>
                <a:latin typeface="华文仿宋" panose="02010600040101010101" pitchFamily="2" charset="-122"/>
                <a:ea typeface="华文仿宋" panose="02010600040101010101" pitchFamily="2" charset="-122"/>
              </a:rPr>
              <a:t>测试计</a:t>
            </a:r>
            <a:r>
              <a:rPr lang="zh-CN" altLang="en-US" sz="2800" kern="0" dirty="0">
                <a:solidFill>
                  <a:srgbClr val="1D528D"/>
                </a:solidFill>
                <a:latin typeface="华文仿宋" panose="02010600040101010101" pitchFamily="2" charset="-122"/>
                <a:ea typeface="华文仿宋" panose="02010600040101010101" pitchFamily="2" charset="-122"/>
              </a:rPr>
              <a:t>划</a:t>
            </a:r>
            <a:endParaRPr lang="en-US" altLang="zh-CN" sz="2800" kern="0" dirty="0">
              <a:solidFill>
                <a:srgbClr val="1D528D"/>
              </a:solidFill>
              <a:latin typeface="华文仿宋" panose="02010600040101010101" pitchFamily="2" charset="-122"/>
              <a:ea typeface="华文仿宋" panose="02010600040101010101" pitchFamily="2" charset="-122"/>
            </a:endParaRPr>
          </a:p>
          <a:p>
            <a:pPr>
              <a:buFontTx/>
              <a:buChar char="•"/>
              <a:defRPr/>
            </a:pPr>
            <a:endParaRPr lang="zh-CN" altLang="zh-CN" sz="2800" kern="0" dirty="0">
              <a:solidFill>
                <a:srgbClr val="1D528D"/>
              </a:solidFill>
              <a:latin typeface="华文仿宋" panose="02010600040101010101" pitchFamily="2" charset="-122"/>
              <a:ea typeface="华文仿宋" panose="02010600040101010101" pitchFamily="2" charset="-122"/>
            </a:endParaRPr>
          </a:p>
          <a:p>
            <a:pPr>
              <a:buFontTx/>
              <a:buChar char="•"/>
              <a:defRPr/>
            </a:pPr>
            <a:r>
              <a:rPr lang="zh-CN" altLang="zh-CN" sz="2800" kern="0" dirty="0">
                <a:solidFill>
                  <a:srgbClr val="1D528D"/>
                </a:solidFill>
                <a:latin typeface="华文仿宋" panose="02010600040101010101" pitchFamily="2" charset="-122"/>
                <a:ea typeface="华文仿宋" panose="02010600040101010101" pitchFamily="2" charset="-122"/>
              </a:rPr>
              <a:t>测试设计</a:t>
            </a:r>
            <a:endParaRPr lang="en-US" altLang="zh-CN" sz="2800" kern="0" dirty="0">
              <a:solidFill>
                <a:srgbClr val="1D528D"/>
              </a:solidFill>
              <a:latin typeface="华文仿宋" panose="02010600040101010101" pitchFamily="2" charset="-122"/>
              <a:ea typeface="华文仿宋" panose="02010600040101010101" pitchFamily="2" charset="-122"/>
            </a:endParaRPr>
          </a:p>
          <a:p>
            <a:pPr>
              <a:buFontTx/>
              <a:buChar char="•"/>
              <a:defRPr/>
            </a:pPr>
            <a:endParaRPr lang="en-US" altLang="zh-CN" sz="2800" kern="0" dirty="0">
              <a:solidFill>
                <a:srgbClr val="1D528D"/>
              </a:solidFill>
              <a:latin typeface="华文仿宋" panose="02010600040101010101" pitchFamily="2" charset="-122"/>
              <a:ea typeface="华文仿宋" panose="02010600040101010101" pitchFamily="2" charset="-122"/>
            </a:endParaRPr>
          </a:p>
          <a:p>
            <a:pPr>
              <a:buFontTx/>
              <a:buChar char="•"/>
              <a:defRPr/>
            </a:pPr>
            <a:r>
              <a:rPr lang="zh-CN" altLang="zh-CN" sz="2800" kern="0" dirty="0">
                <a:solidFill>
                  <a:srgbClr val="1D528D"/>
                </a:solidFill>
                <a:latin typeface="华文仿宋" panose="02010600040101010101" pitchFamily="2" charset="-122"/>
                <a:ea typeface="华文仿宋" panose="02010600040101010101" pitchFamily="2" charset="-122"/>
              </a:rPr>
              <a:t>测试执行</a:t>
            </a:r>
            <a:endParaRPr lang="en-US" altLang="zh-CN" sz="2800" kern="0" dirty="0">
              <a:solidFill>
                <a:srgbClr val="1D528D"/>
              </a:solidFill>
              <a:latin typeface="华文仿宋" panose="02010600040101010101" pitchFamily="2" charset="-122"/>
              <a:ea typeface="华文仿宋" panose="02010600040101010101" pitchFamily="2" charset="-122"/>
            </a:endParaRPr>
          </a:p>
          <a:p>
            <a:pPr>
              <a:buFontTx/>
              <a:buChar char="•"/>
              <a:defRPr/>
            </a:pPr>
            <a:endParaRPr lang="en-US" altLang="zh-CN" sz="2800" kern="0" dirty="0">
              <a:solidFill>
                <a:srgbClr val="1D528D"/>
              </a:solidFill>
              <a:latin typeface="华文仿宋" panose="02010600040101010101" pitchFamily="2" charset="-122"/>
              <a:ea typeface="华文仿宋" panose="02010600040101010101" pitchFamily="2" charset="-122"/>
            </a:endParaRPr>
          </a:p>
          <a:p>
            <a:pPr>
              <a:buFontTx/>
              <a:buChar char="•"/>
              <a:defRPr/>
            </a:pPr>
            <a:r>
              <a:rPr lang="zh-CN" altLang="zh-CN" sz="2800" kern="0" dirty="0">
                <a:solidFill>
                  <a:srgbClr val="1D528D"/>
                </a:solidFill>
                <a:latin typeface="华文仿宋" panose="02010600040101010101" pitchFamily="2" charset="-122"/>
                <a:ea typeface="华文仿宋" panose="02010600040101010101" pitchFamily="2" charset="-122"/>
              </a:rPr>
              <a:t>测试总结</a:t>
            </a:r>
            <a:endParaRPr lang="en-US" altLang="zh-CN" sz="2800" kern="0" dirty="0">
              <a:solidFill>
                <a:srgbClr val="1D528D"/>
              </a:solidFill>
              <a:latin typeface="华文仿宋" panose="02010600040101010101" pitchFamily="2" charset="-122"/>
              <a:ea typeface="华文仿宋" panose="02010600040101010101" pitchFamily="2" charset="-122"/>
            </a:endParaRPr>
          </a:p>
        </p:txBody>
      </p:sp>
      <p:grpSp>
        <p:nvGrpSpPr>
          <p:cNvPr id="5" name="Group 7">
            <a:extLst>
              <a:ext uri="{FF2B5EF4-FFF2-40B4-BE49-F238E27FC236}">
                <a16:creationId xmlns:a16="http://schemas.microsoft.com/office/drawing/2014/main" id="{496714A1-D3A0-4DAE-9BE9-4860578FEDF3}"/>
              </a:ext>
            </a:extLst>
          </p:cNvPr>
          <p:cNvGrpSpPr>
            <a:grpSpLocks/>
          </p:cNvGrpSpPr>
          <p:nvPr/>
        </p:nvGrpSpPr>
        <p:grpSpPr bwMode="auto">
          <a:xfrm>
            <a:off x="5131831" y="2150381"/>
            <a:ext cx="1624013" cy="1959431"/>
            <a:chOff x="374" y="501"/>
            <a:chExt cx="1411" cy="2146"/>
          </a:xfrm>
        </p:grpSpPr>
        <p:graphicFrame>
          <p:nvGraphicFramePr>
            <p:cNvPr id="6" name="Object 4">
              <a:extLst>
                <a:ext uri="{FF2B5EF4-FFF2-40B4-BE49-F238E27FC236}">
                  <a16:creationId xmlns:a16="http://schemas.microsoft.com/office/drawing/2014/main" id="{981336E9-AF9C-46B6-B03F-BD49EFAB539C}"/>
                </a:ext>
              </a:extLst>
            </p:cNvPr>
            <p:cNvGraphicFramePr>
              <a:graphicFrameLocks/>
            </p:cNvGraphicFramePr>
            <p:nvPr/>
          </p:nvGraphicFramePr>
          <p:xfrm>
            <a:off x="414" y="501"/>
            <a:ext cx="1371" cy="1684"/>
          </p:xfrm>
          <a:graphic>
            <a:graphicData uri="http://schemas.openxmlformats.org/presentationml/2006/ole">
              <mc:AlternateContent xmlns:mc="http://schemas.openxmlformats.org/markup-compatibility/2006">
                <mc:Choice xmlns:v="urn:schemas-microsoft-com:vml" Requires="v">
                  <p:oleObj spid="_x0000_s27674" r:id="rId3" imgW="2979111" imgH="3659389" progId="">
                    <p:embed/>
                  </p:oleObj>
                </mc:Choice>
                <mc:Fallback>
                  <p:oleObj r:id="rId3" imgW="2979111" imgH="3659389" progId="">
                    <p:embed/>
                    <p:pic>
                      <p:nvPicPr>
                        <p:cNvPr id="6"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 y="501"/>
                          <a:ext cx="1371" cy="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6">
              <a:extLst>
                <a:ext uri="{FF2B5EF4-FFF2-40B4-BE49-F238E27FC236}">
                  <a16:creationId xmlns:a16="http://schemas.microsoft.com/office/drawing/2014/main" id="{C1FB68F0-8105-4D72-A4D3-F157B614C46F}"/>
                </a:ext>
              </a:extLst>
            </p:cNvPr>
            <p:cNvSpPr>
              <a:spLocks noChangeArrowheads="1"/>
            </p:cNvSpPr>
            <p:nvPr/>
          </p:nvSpPr>
          <p:spPr bwMode="auto">
            <a:xfrm>
              <a:off x="374" y="2073"/>
              <a:ext cx="1409" cy="574"/>
            </a:xfrm>
            <a:prstGeom prst="rect">
              <a:avLst/>
            </a:prstGeom>
            <a:noFill/>
            <a:ln w="9525">
              <a:noFill/>
              <a:miter lim="800000"/>
            </a:ln>
            <a:effectLst/>
          </p:spPr>
          <p:txBody>
            <a:bodyPr wrap="none" lIns="92075" tIns="46038" rIns="92075" bIns="46038">
              <a:spAutoFit/>
            </a:bodyPr>
            <a:lstStyle/>
            <a:p>
              <a:pPr fontAlgn="auto">
                <a:spcBef>
                  <a:spcPct val="20000"/>
                </a:spcBef>
                <a:spcAft>
                  <a:spcPts val="0"/>
                </a:spcAft>
                <a:defRPr/>
              </a:pPr>
              <a:r>
                <a:rPr kumimoji="1" lang="zh-CN" altLang="en-US" sz="2800" kern="0" dirty="0">
                  <a:solidFill>
                    <a:srgbClr val="FF3300"/>
                  </a:solidFill>
                  <a:effectLst>
                    <a:outerShdw blurRad="38100" dist="38100" dir="2700000" algn="tl">
                      <a:srgbClr val="000000"/>
                    </a:outerShdw>
                  </a:effectLst>
                  <a:latin typeface="仿宋" panose="02010609060101010101" pitchFamily="49" charset="-122"/>
                  <a:ea typeface="仿宋" panose="02010609060101010101" pitchFamily="49" charset="-122"/>
                </a:rPr>
                <a:t>测试计划</a:t>
              </a:r>
            </a:p>
          </p:txBody>
        </p:sp>
      </p:grpSp>
      <p:sp>
        <p:nvSpPr>
          <p:cNvPr id="8" name="Arc 8">
            <a:extLst>
              <a:ext uri="{FF2B5EF4-FFF2-40B4-BE49-F238E27FC236}">
                <a16:creationId xmlns:a16="http://schemas.microsoft.com/office/drawing/2014/main" id="{3F9B972F-B7CE-42DB-990A-0C3F4E40B4A2}"/>
              </a:ext>
            </a:extLst>
          </p:cNvPr>
          <p:cNvSpPr/>
          <p:nvPr/>
        </p:nvSpPr>
        <p:spPr bwMode="auto">
          <a:xfrm rot="9751814">
            <a:off x="6954937" y="2520966"/>
            <a:ext cx="1268412" cy="428625"/>
          </a:xfrm>
          <a:custGeom>
            <a:avLst/>
            <a:gdLst>
              <a:gd name="T0" fmla="*/ 2147483647 w 37391"/>
              <a:gd name="T1" fmla="*/ 2147483647 h 21600"/>
              <a:gd name="T2" fmla="*/ 0 w 37391"/>
              <a:gd name="T3" fmla="*/ 2147483647 h 21600"/>
              <a:gd name="T4" fmla="*/ 2147483647 w 37391"/>
              <a:gd name="T5" fmla="*/ 0 h 21600"/>
              <a:gd name="T6" fmla="*/ 0 60000 65536"/>
              <a:gd name="T7" fmla="*/ 0 60000 65536"/>
              <a:gd name="T8" fmla="*/ 0 60000 65536"/>
              <a:gd name="T9" fmla="*/ 0 w 37391"/>
              <a:gd name="T10" fmla="*/ 0 h 21600"/>
              <a:gd name="T11" fmla="*/ 37391 w 37391"/>
              <a:gd name="T12" fmla="*/ 21600 h 21600"/>
            </a:gdLst>
            <a:ahLst/>
            <a:cxnLst>
              <a:cxn ang="T6">
                <a:pos x="T0" y="T1"/>
              </a:cxn>
              <a:cxn ang="T7">
                <a:pos x="T2" y="T3"/>
              </a:cxn>
              <a:cxn ang="T8">
                <a:pos x="T4" y="T5"/>
              </a:cxn>
            </a:cxnLst>
            <a:rect l="T9" t="T10" r="T11" b="T12"/>
            <a:pathLst>
              <a:path w="37391" h="21600" fill="none" extrusionOk="0">
                <a:moveTo>
                  <a:pt x="37391" y="12212"/>
                </a:moveTo>
                <a:cubicBezTo>
                  <a:pt x="33363" y="18087"/>
                  <a:pt x="26698" y="21599"/>
                  <a:pt x="19575" y="21600"/>
                </a:cubicBezTo>
                <a:cubicBezTo>
                  <a:pt x="11181" y="21600"/>
                  <a:pt x="3548" y="16737"/>
                  <a:pt x="-1" y="9131"/>
                </a:cubicBezTo>
              </a:path>
              <a:path w="37391" h="21600" stroke="0" extrusionOk="0">
                <a:moveTo>
                  <a:pt x="37391" y="12212"/>
                </a:moveTo>
                <a:cubicBezTo>
                  <a:pt x="33363" y="18087"/>
                  <a:pt x="26698" y="21599"/>
                  <a:pt x="19575" y="21600"/>
                </a:cubicBezTo>
                <a:cubicBezTo>
                  <a:pt x="11181" y="21600"/>
                  <a:pt x="3548" y="16737"/>
                  <a:pt x="-1" y="9131"/>
                </a:cubicBezTo>
                <a:lnTo>
                  <a:pt x="19575" y="0"/>
                </a:lnTo>
                <a:close/>
              </a:path>
            </a:pathLst>
          </a:custGeom>
          <a:noFill/>
          <a:ln w="50800" cap="rnd">
            <a:solidFill>
              <a:srgbClr val="80808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nvGrpSpPr>
          <p:cNvPr id="9" name="Group 45">
            <a:extLst>
              <a:ext uri="{FF2B5EF4-FFF2-40B4-BE49-F238E27FC236}">
                <a16:creationId xmlns:a16="http://schemas.microsoft.com/office/drawing/2014/main" id="{8B26FADF-9B1A-4164-95EB-90784868936C}"/>
              </a:ext>
            </a:extLst>
          </p:cNvPr>
          <p:cNvGrpSpPr>
            <a:grpSpLocks/>
          </p:cNvGrpSpPr>
          <p:nvPr/>
        </p:nvGrpSpPr>
        <p:grpSpPr bwMode="auto">
          <a:xfrm>
            <a:off x="8291612" y="1909778"/>
            <a:ext cx="1820862" cy="1948564"/>
            <a:chOff x="2486" y="838"/>
            <a:chExt cx="1429" cy="1624"/>
          </a:xfrm>
        </p:grpSpPr>
        <p:grpSp>
          <p:nvGrpSpPr>
            <p:cNvPr id="10" name="Group 11">
              <a:extLst>
                <a:ext uri="{FF2B5EF4-FFF2-40B4-BE49-F238E27FC236}">
                  <a16:creationId xmlns:a16="http://schemas.microsoft.com/office/drawing/2014/main" id="{ADC73653-9D35-4397-9508-34C14F93388F}"/>
                </a:ext>
              </a:extLst>
            </p:cNvPr>
            <p:cNvGrpSpPr>
              <a:grpSpLocks/>
            </p:cNvGrpSpPr>
            <p:nvPr/>
          </p:nvGrpSpPr>
          <p:grpSpPr bwMode="auto">
            <a:xfrm>
              <a:off x="2486" y="838"/>
              <a:ext cx="1429" cy="1624"/>
              <a:chOff x="2486" y="838"/>
              <a:chExt cx="1429" cy="1624"/>
            </a:xfrm>
          </p:grpSpPr>
          <p:graphicFrame>
            <p:nvGraphicFramePr>
              <p:cNvPr id="44" name="Object 5">
                <a:extLst>
                  <a:ext uri="{FF2B5EF4-FFF2-40B4-BE49-F238E27FC236}">
                    <a16:creationId xmlns:a16="http://schemas.microsoft.com/office/drawing/2014/main" id="{2ED1F11B-3A30-44A9-B8AF-9C043E8436CF}"/>
                  </a:ext>
                </a:extLst>
              </p:cNvPr>
              <p:cNvGraphicFramePr>
                <a:graphicFrameLocks/>
              </p:cNvGraphicFramePr>
              <p:nvPr/>
            </p:nvGraphicFramePr>
            <p:xfrm>
              <a:off x="2519" y="838"/>
              <a:ext cx="1396" cy="1300"/>
            </p:xfrm>
            <a:graphic>
              <a:graphicData uri="http://schemas.openxmlformats.org/presentationml/2006/ole">
                <mc:AlternateContent xmlns:mc="http://schemas.openxmlformats.org/markup-compatibility/2006">
                  <mc:Choice xmlns:v="urn:schemas-microsoft-com:vml" Requires="v">
                    <p:oleObj spid="_x0000_s27675" r:id="rId5" imgW="3660136" imgH="2745736" progId="">
                      <p:embed/>
                    </p:oleObj>
                  </mc:Choice>
                  <mc:Fallback>
                    <p:oleObj r:id="rId5" imgW="3660136" imgH="2745736" progId="">
                      <p:embed/>
                      <p:pic>
                        <p:nvPicPr>
                          <p:cNvPr id="44"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9" y="838"/>
                            <a:ext cx="1396" cy="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 name="Rectangle 10">
                <a:extLst>
                  <a:ext uri="{FF2B5EF4-FFF2-40B4-BE49-F238E27FC236}">
                    <a16:creationId xmlns:a16="http://schemas.microsoft.com/office/drawing/2014/main" id="{A3A3578E-9A0C-4B94-91A7-97ED5FB7CB83}"/>
                  </a:ext>
                </a:extLst>
              </p:cNvPr>
              <p:cNvSpPr>
                <a:spLocks noChangeArrowheads="1"/>
              </p:cNvSpPr>
              <p:nvPr/>
            </p:nvSpPr>
            <p:spPr bwMode="auto">
              <a:xfrm>
                <a:off x="2486" y="2025"/>
                <a:ext cx="1273" cy="437"/>
              </a:xfrm>
              <a:prstGeom prst="rect">
                <a:avLst/>
              </a:prstGeom>
              <a:noFill/>
              <a:ln w="9525">
                <a:noFill/>
                <a:miter lim="800000"/>
              </a:ln>
              <a:effectLst/>
            </p:spPr>
            <p:txBody>
              <a:bodyPr wrap="none" lIns="92075" tIns="46038" rIns="92075" bIns="46038">
                <a:spAutoFit/>
              </a:bodyPr>
              <a:lstStyle/>
              <a:p>
                <a:pPr fontAlgn="auto">
                  <a:spcBef>
                    <a:spcPct val="20000"/>
                  </a:spcBef>
                  <a:spcAft>
                    <a:spcPts val="0"/>
                  </a:spcAft>
                  <a:defRPr/>
                </a:pPr>
                <a:r>
                  <a:rPr kumimoji="1" lang="zh-CN" altLang="en-US" sz="2800" kern="0" dirty="0">
                    <a:solidFill>
                      <a:srgbClr val="FF3300"/>
                    </a:solidFill>
                    <a:effectLst>
                      <a:outerShdw blurRad="38100" dist="38100" dir="2700000" algn="tl">
                        <a:srgbClr val="000000"/>
                      </a:outerShdw>
                    </a:effectLst>
                    <a:latin typeface="华文仿宋" panose="02010600040101010101" pitchFamily="2" charset="-122"/>
                    <a:ea typeface="华文仿宋" panose="02010600040101010101" pitchFamily="2" charset="-122"/>
                  </a:rPr>
                  <a:t>测试设计</a:t>
                </a:r>
              </a:p>
            </p:txBody>
          </p:sp>
        </p:grpSp>
        <p:grpSp>
          <p:nvGrpSpPr>
            <p:cNvPr id="11" name="Group 44">
              <a:extLst>
                <a:ext uri="{FF2B5EF4-FFF2-40B4-BE49-F238E27FC236}">
                  <a16:creationId xmlns:a16="http://schemas.microsoft.com/office/drawing/2014/main" id="{D292BC83-E0F4-4D5E-AE12-251301683C3D}"/>
                </a:ext>
              </a:extLst>
            </p:cNvPr>
            <p:cNvGrpSpPr>
              <a:grpSpLocks/>
            </p:cNvGrpSpPr>
            <p:nvPr/>
          </p:nvGrpSpPr>
          <p:grpSpPr bwMode="auto">
            <a:xfrm>
              <a:off x="2583" y="1262"/>
              <a:ext cx="202" cy="323"/>
              <a:chOff x="2583" y="1262"/>
              <a:chExt cx="202" cy="323"/>
            </a:xfrm>
          </p:grpSpPr>
          <p:grpSp>
            <p:nvGrpSpPr>
              <p:cNvPr id="12" name="Group 21">
                <a:extLst>
                  <a:ext uri="{FF2B5EF4-FFF2-40B4-BE49-F238E27FC236}">
                    <a16:creationId xmlns:a16="http://schemas.microsoft.com/office/drawing/2014/main" id="{42A5B9A0-FAE9-48E2-A7EF-A7DE009AE126}"/>
                  </a:ext>
                </a:extLst>
              </p:cNvPr>
              <p:cNvGrpSpPr>
                <a:grpSpLocks/>
              </p:cNvGrpSpPr>
              <p:nvPr/>
            </p:nvGrpSpPr>
            <p:grpSpPr bwMode="auto">
              <a:xfrm>
                <a:off x="2624" y="1355"/>
                <a:ext cx="161" cy="230"/>
                <a:chOff x="2624" y="1355"/>
                <a:chExt cx="161" cy="230"/>
              </a:xfrm>
            </p:grpSpPr>
            <p:grpSp>
              <p:nvGrpSpPr>
                <p:cNvPr id="35" name="Group 15">
                  <a:extLst>
                    <a:ext uri="{FF2B5EF4-FFF2-40B4-BE49-F238E27FC236}">
                      <a16:creationId xmlns:a16="http://schemas.microsoft.com/office/drawing/2014/main" id="{DD5F7B91-64C2-4B94-96F6-A4391E072EDA}"/>
                    </a:ext>
                  </a:extLst>
                </p:cNvPr>
                <p:cNvGrpSpPr>
                  <a:grpSpLocks/>
                </p:cNvGrpSpPr>
                <p:nvPr/>
              </p:nvGrpSpPr>
              <p:grpSpPr bwMode="auto">
                <a:xfrm>
                  <a:off x="2632" y="1355"/>
                  <a:ext cx="153" cy="189"/>
                  <a:chOff x="2632" y="1355"/>
                  <a:chExt cx="153" cy="189"/>
                </a:xfrm>
              </p:grpSpPr>
              <p:sp>
                <p:nvSpPr>
                  <p:cNvPr id="41" name="Freeform 12">
                    <a:extLst>
                      <a:ext uri="{FF2B5EF4-FFF2-40B4-BE49-F238E27FC236}">
                        <a16:creationId xmlns:a16="http://schemas.microsoft.com/office/drawing/2014/main" id="{1FE9B9A1-485B-48E7-86BF-842336585F62}"/>
                      </a:ext>
                    </a:extLst>
                  </p:cNvPr>
                  <p:cNvSpPr/>
                  <p:nvPr/>
                </p:nvSpPr>
                <p:spPr bwMode="auto">
                  <a:xfrm>
                    <a:off x="2632" y="1355"/>
                    <a:ext cx="153" cy="189"/>
                  </a:xfrm>
                  <a:custGeom>
                    <a:avLst/>
                    <a:gdLst>
                      <a:gd name="T0" fmla="*/ 0 w 153"/>
                      <a:gd name="T1" fmla="*/ 61 h 189"/>
                      <a:gd name="T2" fmla="*/ 115 w 153"/>
                      <a:gd name="T3" fmla="*/ 188 h 189"/>
                      <a:gd name="T4" fmla="*/ 119 w 153"/>
                      <a:gd name="T5" fmla="*/ 136 h 189"/>
                      <a:gd name="T6" fmla="*/ 152 w 153"/>
                      <a:gd name="T7" fmla="*/ 111 h 189"/>
                      <a:gd name="T8" fmla="*/ 34 w 153"/>
                      <a:gd name="T9" fmla="*/ 0 h 189"/>
                      <a:gd name="T10" fmla="*/ 0 w 153"/>
                      <a:gd name="T11" fmla="*/ 61 h 189"/>
                      <a:gd name="T12" fmla="*/ 0 60000 65536"/>
                      <a:gd name="T13" fmla="*/ 0 60000 65536"/>
                      <a:gd name="T14" fmla="*/ 0 60000 65536"/>
                      <a:gd name="T15" fmla="*/ 0 60000 65536"/>
                      <a:gd name="T16" fmla="*/ 0 60000 65536"/>
                      <a:gd name="T17" fmla="*/ 0 60000 65536"/>
                      <a:gd name="T18" fmla="*/ 0 w 153"/>
                      <a:gd name="T19" fmla="*/ 0 h 189"/>
                      <a:gd name="T20" fmla="*/ 153 w 153"/>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53" h="189">
                        <a:moveTo>
                          <a:pt x="0" y="61"/>
                        </a:moveTo>
                        <a:lnTo>
                          <a:pt x="115" y="188"/>
                        </a:lnTo>
                        <a:lnTo>
                          <a:pt x="119" y="136"/>
                        </a:lnTo>
                        <a:lnTo>
                          <a:pt x="152" y="111"/>
                        </a:lnTo>
                        <a:lnTo>
                          <a:pt x="34" y="0"/>
                        </a:lnTo>
                        <a:lnTo>
                          <a:pt x="0" y="61"/>
                        </a:lnTo>
                      </a:path>
                    </a:pathLst>
                  </a:custGeom>
                  <a:solidFill>
                    <a:srgbClr val="0000E0"/>
                  </a:solidFill>
                  <a:ln w="12700" cap="rnd">
                    <a:solidFill>
                      <a:srgbClr val="000000"/>
                    </a:solidFill>
                    <a:round/>
                  </a:ln>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2" name="Freeform 13">
                    <a:extLst>
                      <a:ext uri="{FF2B5EF4-FFF2-40B4-BE49-F238E27FC236}">
                        <a16:creationId xmlns:a16="http://schemas.microsoft.com/office/drawing/2014/main" id="{E093A0FD-0428-4A97-9947-96503B851A6E}"/>
                      </a:ext>
                    </a:extLst>
                  </p:cNvPr>
                  <p:cNvSpPr/>
                  <p:nvPr/>
                </p:nvSpPr>
                <p:spPr bwMode="auto">
                  <a:xfrm>
                    <a:off x="2670" y="1380"/>
                    <a:ext cx="41" cy="124"/>
                  </a:xfrm>
                  <a:custGeom>
                    <a:avLst/>
                    <a:gdLst>
                      <a:gd name="T0" fmla="*/ 11 w 43"/>
                      <a:gd name="T1" fmla="*/ 0 h 125"/>
                      <a:gd name="T2" fmla="*/ 42 w 43"/>
                      <a:gd name="T3" fmla="*/ 124 h 125"/>
                      <a:gd name="T4" fmla="*/ 16 w 43"/>
                      <a:gd name="T5" fmla="*/ 96 h 125"/>
                      <a:gd name="T6" fmla="*/ 0 w 43"/>
                      <a:gd name="T7" fmla="*/ 3 h 125"/>
                      <a:gd name="T8" fmla="*/ 11 w 43"/>
                      <a:gd name="T9" fmla="*/ 0 h 125"/>
                      <a:gd name="T10" fmla="*/ 0 60000 65536"/>
                      <a:gd name="T11" fmla="*/ 0 60000 65536"/>
                      <a:gd name="T12" fmla="*/ 0 60000 65536"/>
                      <a:gd name="T13" fmla="*/ 0 60000 65536"/>
                      <a:gd name="T14" fmla="*/ 0 60000 65536"/>
                      <a:gd name="T15" fmla="*/ 0 w 43"/>
                      <a:gd name="T16" fmla="*/ 0 h 125"/>
                      <a:gd name="T17" fmla="*/ 43 w 43"/>
                      <a:gd name="T18" fmla="*/ 125 h 125"/>
                    </a:gdLst>
                    <a:ahLst/>
                    <a:cxnLst>
                      <a:cxn ang="T10">
                        <a:pos x="T0" y="T1"/>
                      </a:cxn>
                      <a:cxn ang="T11">
                        <a:pos x="T2" y="T3"/>
                      </a:cxn>
                      <a:cxn ang="T12">
                        <a:pos x="T4" y="T5"/>
                      </a:cxn>
                      <a:cxn ang="T13">
                        <a:pos x="T6" y="T7"/>
                      </a:cxn>
                      <a:cxn ang="T14">
                        <a:pos x="T8" y="T9"/>
                      </a:cxn>
                    </a:cxnLst>
                    <a:rect l="T15" t="T16" r="T17" b="T18"/>
                    <a:pathLst>
                      <a:path w="43" h="125">
                        <a:moveTo>
                          <a:pt x="11" y="0"/>
                        </a:moveTo>
                        <a:lnTo>
                          <a:pt x="42" y="124"/>
                        </a:lnTo>
                        <a:lnTo>
                          <a:pt x="16" y="96"/>
                        </a:lnTo>
                        <a:lnTo>
                          <a:pt x="0" y="3"/>
                        </a:lnTo>
                        <a:lnTo>
                          <a:pt x="11" y="0"/>
                        </a:lnTo>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3" name="Oval 14">
                    <a:extLst>
                      <a:ext uri="{FF2B5EF4-FFF2-40B4-BE49-F238E27FC236}">
                        <a16:creationId xmlns:a16="http://schemas.microsoft.com/office/drawing/2014/main" id="{9E075E6A-C1AF-4DC0-A964-90A318E4DAFA}"/>
                      </a:ext>
                    </a:extLst>
                  </p:cNvPr>
                  <p:cNvSpPr>
                    <a:spLocks noChangeArrowheads="1"/>
                  </p:cNvSpPr>
                  <p:nvPr/>
                </p:nvSpPr>
                <p:spPr bwMode="auto">
                  <a:xfrm rot="-1560000">
                    <a:off x="2674" y="1374"/>
                    <a:ext cx="21" cy="29"/>
                  </a:xfrm>
                  <a:prstGeom prst="ellipse">
                    <a:avLst/>
                  </a:pr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grpSp>
              <p:nvGrpSpPr>
                <p:cNvPr id="36" name="Group 20">
                  <a:extLst>
                    <a:ext uri="{FF2B5EF4-FFF2-40B4-BE49-F238E27FC236}">
                      <a16:creationId xmlns:a16="http://schemas.microsoft.com/office/drawing/2014/main" id="{050A592B-9001-40E3-A89B-C42F7699C528}"/>
                    </a:ext>
                  </a:extLst>
                </p:cNvPr>
                <p:cNvGrpSpPr>
                  <a:grpSpLocks/>
                </p:cNvGrpSpPr>
                <p:nvPr/>
              </p:nvGrpSpPr>
              <p:grpSpPr bwMode="auto">
                <a:xfrm>
                  <a:off x="2624" y="1379"/>
                  <a:ext cx="86" cy="206"/>
                  <a:chOff x="2624" y="1379"/>
                  <a:chExt cx="86" cy="206"/>
                </a:xfrm>
              </p:grpSpPr>
              <p:sp>
                <p:nvSpPr>
                  <p:cNvPr id="37" name="Freeform 16">
                    <a:extLst>
                      <a:ext uri="{FF2B5EF4-FFF2-40B4-BE49-F238E27FC236}">
                        <a16:creationId xmlns:a16="http://schemas.microsoft.com/office/drawing/2014/main" id="{8A7D55A4-AB70-4C39-94D6-94EC0C0A8317}"/>
                      </a:ext>
                    </a:extLst>
                  </p:cNvPr>
                  <p:cNvSpPr/>
                  <p:nvPr/>
                </p:nvSpPr>
                <p:spPr bwMode="auto">
                  <a:xfrm>
                    <a:off x="2624" y="1379"/>
                    <a:ext cx="86" cy="206"/>
                  </a:xfrm>
                  <a:custGeom>
                    <a:avLst/>
                    <a:gdLst>
                      <a:gd name="T0" fmla="*/ 52 w 86"/>
                      <a:gd name="T1" fmla="*/ 0 h 206"/>
                      <a:gd name="T2" fmla="*/ 85 w 86"/>
                      <a:gd name="T3" fmla="*/ 184 h 206"/>
                      <a:gd name="T4" fmla="*/ 48 w 86"/>
                      <a:gd name="T5" fmla="*/ 166 h 206"/>
                      <a:gd name="T6" fmla="*/ 17 w 86"/>
                      <a:gd name="T7" fmla="*/ 205 h 206"/>
                      <a:gd name="T8" fmla="*/ 0 w 86"/>
                      <a:gd name="T9" fmla="*/ 13 h 206"/>
                      <a:gd name="T10" fmla="*/ 52 w 86"/>
                      <a:gd name="T11" fmla="*/ 0 h 206"/>
                      <a:gd name="T12" fmla="*/ 0 60000 65536"/>
                      <a:gd name="T13" fmla="*/ 0 60000 65536"/>
                      <a:gd name="T14" fmla="*/ 0 60000 65536"/>
                      <a:gd name="T15" fmla="*/ 0 60000 65536"/>
                      <a:gd name="T16" fmla="*/ 0 60000 65536"/>
                      <a:gd name="T17" fmla="*/ 0 60000 65536"/>
                      <a:gd name="T18" fmla="*/ 0 w 86"/>
                      <a:gd name="T19" fmla="*/ 0 h 206"/>
                      <a:gd name="T20" fmla="*/ 86 w 86"/>
                      <a:gd name="T21" fmla="*/ 206 h 206"/>
                    </a:gdLst>
                    <a:ahLst/>
                    <a:cxnLst>
                      <a:cxn ang="T12">
                        <a:pos x="T0" y="T1"/>
                      </a:cxn>
                      <a:cxn ang="T13">
                        <a:pos x="T2" y="T3"/>
                      </a:cxn>
                      <a:cxn ang="T14">
                        <a:pos x="T4" y="T5"/>
                      </a:cxn>
                      <a:cxn ang="T15">
                        <a:pos x="T6" y="T7"/>
                      </a:cxn>
                      <a:cxn ang="T16">
                        <a:pos x="T8" y="T9"/>
                      </a:cxn>
                      <a:cxn ang="T17">
                        <a:pos x="T10" y="T11"/>
                      </a:cxn>
                    </a:cxnLst>
                    <a:rect l="T18" t="T19" r="T20" b="T21"/>
                    <a:pathLst>
                      <a:path w="86" h="206">
                        <a:moveTo>
                          <a:pt x="52" y="0"/>
                        </a:moveTo>
                        <a:lnTo>
                          <a:pt x="85" y="184"/>
                        </a:lnTo>
                        <a:lnTo>
                          <a:pt x="48" y="166"/>
                        </a:lnTo>
                        <a:lnTo>
                          <a:pt x="17" y="205"/>
                        </a:lnTo>
                        <a:lnTo>
                          <a:pt x="0" y="13"/>
                        </a:lnTo>
                        <a:lnTo>
                          <a:pt x="52" y="0"/>
                        </a:lnTo>
                      </a:path>
                    </a:pathLst>
                  </a:custGeom>
                  <a:solidFill>
                    <a:srgbClr val="0000FF"/>
                  </a:solidFill>
                  <a:ln w="12700" cap="rnd">
                    <a:solidFill>
                      <a:srgbClr val="000000"/>
                    </a:solidFill>
                    <a:round/>
                  </a:ln>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8" name="Oval 17">
                    <a:extLst>
                      <a:ext uri="{FF2B5EF4-FFF2-40B4-BE49-F238E27FC236}">
                        <a16:creationId xmlns:a16="http://schemas.microsoft.com/office/drawing/2014/main" id="{A21C958D-F378-45CA-BE08-FD562D1F7619}"/>
                      </a:ext>
                    </a:extLst>
                  </p:cNvPr>
                  <p:cNvSpPr>
                    <a:spLocks noChangeArrowheads="1"/>
                  </p:cNvSpPr>
                  <p:nvPr/>
                </p:nvSpPr>
                <p:spPr bwMode="auto">
                  <a:xfrm rot="-1560000">
                    <a:off x="2627" y="1402"/>
                    <a:ext cx="22" cy="29"/>
                  </a:xfrm>
                  <a:prstGeom prst="ellipse">
                    <a:avLst/>
                  </a:pr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9" name="Oval 18">
                    <a:extLst>
                      <a:ext uri="{FF2B5EF4-FFF2-40B4-BE49-F238E27FC236}">
                        <a16:creationId xmlns:a16="http://schemas.microsoft.com/office/drawing/2014/main" id="{0C348BC6-B86E-4DC3-BDC3-49D02B9C3359}"/>
                      </a:ext>
                    </a:extLst>
                  </p:cNvPr>
                  <p:cNvSpPr>
                    <a:spLocks noChangeArrowheads="1"/>
                  </p:cNvSpPr>
                  <p:nvPr/>
                </p:nvSpPr>
                <p:spPr bwMode="auto">
                  <a:xfrm rot="-1560000">
                    <a:off x="2643" y="1402"/>
                    <a:ext cx="21" cy="29"/>
                  </a:xfrm>
                  <a:prstGeom prst="ellipse">
                    <a:avLst/>
                  </a:pr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0" name="Oval 19">
                    <a:extLst>
                      <a:ext uri="{FF2B5EF4-FFF2-40B4-BE49-F238E27FC236}">
                        <a16:creationId xmlns:a16="http://schemas.microsoft.com/office/drawing/2014/main" id="{707447E7-4FA9-4E3A-B2D3-7737F3CDD8C0}"/>
                      </a:ext>
                    </a:extLst>
                  </p:cNvPr>
                  <p:cNvSpPr>
                    <a:spLocks noChangeArrowheads="1"/>
                  </p:cNvSpPr>
                  <p:nvPr/>
                </p:nvSpPr>
                <p:spPr bwMode="auto">
                  <a:xfrm rot="-1560000">
                    <a:off x="2659" y="1394"/>
                    <a:ext cx="22" cy="29"/>
                  </a:xfrm>
                  <a:prstGeom prst="ellipse">
                    <a:avLst/>
                  </a:pr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grpSp>
          <p:grpSp>
            <p:nvGrpSpPr>
              <p:cNvPr id="13" name="Group 43">
                <a:extLst>
                  <a:ext uri="{FF2B5EF4-FFF2-40B4-BE49-F238E27FC236}">
                    <a16:creationId xmlns:a16="http://schemas.microsoft.com/office/drawing/2014/main" id="{C8ADD141-ED32-49BB-ABDD-03FA75B650CD}"/>
                  </a:ext>
                </a:extLst>
              </p:cNvPr>
              <p:cNvGrpSpPr>
                <a:grpSpLocks/>
              </p:cNvGrpSpPr>
              <p:nvPr/>
            </p:nvGrpSpPr>
            <p:grpSpPr bwMode="auto">
              <a:xfrm>
                <a:off x="2583" y="1262"/>
                <a:ext cx="114" cy="161"/>
                <a:chOff x="2583" y="1262"/>
                <a:chExt cx="114" cy="161"/>
              </a:xfrm>
            </p:grpSpPr>
            <p:sp>
              <p:nvSpPr>
                <p:cNvPr id="14" name="Oval 22">
                  <a:extLst>
                    <a:ext uri="{FF2B5EF4-FFF2-40B4-BE49-F238E27FC236}">
                      <a16:creationId xmlns:a16="http://schemas.microsoft.com/office/drawing/2014/main" id="{558DF3BA-1A45-4C89-AA36-D8BC0ED5BF31}"/>
                    </a:ext>
                  </a:extLst>
                </p:cNvPr>
                <p:cNvSpPr>
                  <a:spLocks noChangeArrowheads="1"/>
                </p:cNvSpPr>
                <p:nvPr/>
              </p:nvSpPr>
              <p:spPr bwMode="auto">
                <a:xfrm rot="-1560000">
                  <a:off x="2649" y="1267"/>
                  <a:ext cx="15"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5" name="Oval 23">
                  <a:extLst>
                    <a:ext uri="{FF2B5EF4-FFF2-40B4-BE49-F238E27FC236}">
                      <a16:creationId xmlns:a16="http://schemas.microsoft.com/office/drawing/2014/main" id="{225F943B-2C18-4E82-8422-85F586CA38D1}"/>
                    </a:ext>
                  </a:extLst>
                </p:cNvPr>
                <p:cNvSpPr>
                  <a:spLocks noChangeArrowheads="1"/>
                </p:cNvSpPr>
                <p:nvPr/>
              </p:nvSpPr>
              <p:spPr bwMode="auto">
                <a:xfrm rot="-1560000">
                  <a:off x="2586" y="1313"/>
                  <a:ext cx="12"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6" name="Oval 24">
                  <a:extLst>
                    <a:ext uri="{FF2B5EF4-FFF2-40B4-BE49-F238E27FC236}">
                      <a16:creationId xmlns:a16="http://schemas.microsoft.com/office/drawing/2014/main" id="{E9E30317-61FA-4A1C-ACAD-EA32A8D81186}"/>
                    </a:ext>
                  </a:extLst>
                </p:cNvPr>
                <p:cNvSpPr>
                  <a:spLocks noChangeArrowheads="1"/>
                </p:cNvSpPr>
                <p:nvPr/>
              </p:nvSpPr>
              <p:spPr bwMode="auto">
                <a:xfrm rot="-1560000">
                  <a:off x="2669" y="1283"/>
                  <a:ext cx="14"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7" name="Oval 25">
                  <a:extLst>
                    <a:ext uri="{FF2B5EF4-FFF2-40B4-BE49-F238E27FC236}">
                      <a16:creationId xmlns:a16="http://schemas.microsoft.com/office/drawing/2014/main" id="{0801EDFB-772A-4D2F-830E-5D01CF15B8AA}"/>
                    </a:ext>
                  </a:extLst>
                </p:cNvPr>
                <p:cNvSpPr>
                  <a:spLocks noChangeArrowheads="1"/>
                </p:cNvSpPr>
                <p:nvPr/>
              </p:nvSpPr>
              <p:spPr bwMode="auto">
                <a:xfrm rot="-1560000">
                  <a:off x="2604" y="1390"/>
                  <a:ext cx="15" cy="22"/>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8" name="Oval 26">
                  <a:extLst>
                    <a:ext uri="{FF2B5EF4-FFF2-40B4-BE49-F238E27FC236}">
                      <a16:creationId xmlns:a16="http://schemas.microsoft.com/office/drawing/2014/main" id="{74DE04EB-CD09-4D1C-91FE-F0B93C102081}"/>
                    </a:ext>
                  </a:extLst>
                </p:cNvPr>
                <p:cNvSpPr>
                  <a:spLocks noChangeArrowheads="1"/>
                </p:cNvSpPr>
                <p:nvPr/>
              </p:nvSpPr>
              <p:spPr bwMode="auto">
                <a:xfrm rot="-1560000">
                  <a:off x="2683" y="1337"/>
                  <a:ext cx="14" cy="22"/>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9" name="Oval 27">
                  <a:extLst>
                    <a:ext uri="{FF2B5EF4-FFF2-40B4-BE49-F238E27FC236}">
                      <a16:creationId xmlns:a16="http://schemas.microsoft.com/office/drawing/2014/main" id="{5098F18B-7347-4A8A-A34D-AE6A952C82CC}"/>
                    </a:ext>
                  </a:extLst>
                </p:cNvPr>
                <p:cNvSpPr>
                  <a:spLocks noChangeArrowheads="1"/>
                </p:cNvSpPr>
                <p:nvPr/>
              </p:nvSpPr>
              <p:spPr bwMode="auto">
                <a:xfrm rot="-1560000">
                  <a:off x="2611" y="1268"/>
                  <a:ext cx="15" cy="20"/>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0" name="Oval 28">
                  <a:extLst>
                    <a:ext uri="{FF2B5EF4-FFF2-40B4-BE49-F238E27FC236}">
                      <a16:creationId xmlns:a16="http://schemas.microsoft.com/office/drawing/2014/main" id="{06FEB209-5571-4554-B880-DFC6B604F810}"/>
                    </a:ext>
                  </a:extLst>
                </p:cNvPr>
                <p:cNvSpPr>
                  <a:spLocks noChangeArrowheads="1"/>
                </p:cNvSpPr>
                <p:nvPr/>
              </p:nvSpPr>
              <p:spPr bwMode="auto">
                <a:xfrm rot="-1560000">
                  <a:off x="2631" y="1259"/>
                  <a:ext cx="14"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1" name="Oval 29">
                  <a:extLst>
                    <a:ext uri="{FF2B5EF4-FFF2-40B4-BE49-F238E27FC236}">
                      <a16:creationId xmlns:a16="http://schemas.microsoft.com/office/drawing/2014/main" id="{128D5BAC-765F-4205-AF5E-F31AC6AC4342}"/>
                    </a:ext>
                  </a:extLst>
                </p:cNvPr>
                <p:cNvSpPr>
                  <a:spLocks noChangeArrowheads="1"/>
                </p:cNvSpPr>
                <p:nvPr/>
              </p:nvSpPr>
              <p:spPr bwMode="auto">
                <a:xfrm rot="-1560000">
                  <a:off x="2594" y="1288"/>
                  <a:ext cx="11"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2" name="Oval 30">
                  <a:extLst>
                    <a:ext uri="{FF2B5EF4-FFF2-40B4-BE49-F238E27FC236}">
                      <a16:creationId xmlns:a16="http://schemas.microsoft.com/office/drawing/2014/main" id="{3C9E5F07-D179-4D68-84B5-9E2FE2F0A094}"/>
                    </a:ext>
                  </a:extLst>
                </p:cNvPr>
                <p:cNvSpPr>
                  <a:spLocks noChangeArrowheads="1"/>
                </p:cNvSpPr>
                <p:nvPr/>
              </p:nvSpPr>
              <p:spPr bwMode="auto">
                <a:xfrm rot="-1560000">
                  <a:off x="2583" y="1342"/>
                  <a:ext cx="14"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3" name="Oval 31">
                  <a:extLst>
                    <a:ext uri="{FF2B5EF4-FFF2-40B4-BE49-F238E27FC236}">
                      <a16:creationId xmlns:a16="http://schemas.microsoft.com/office/drawing/2014/main" id="{09CAD0FB-2F67-42D3-8E1F-EA7322DB1E6D}"/>
                    </a:ext>
                  </a:extLst>
                </p:cNvPr>
                <p:cNvSpPr>
                  <a:spLocks noChangeArrowheads="1"/>
                </p:cNvSpPr>
                <p:nvPr/>
              </p:nvSpPr>
              <p:spPr bwMode="auto">
                <a:xfrm rot="-1560000">
                  <a:off x="2591" y="1370"/>
                  <a:ext cx="15"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4" name="Oval 32">
                  <a:extLst>
                    <a:ext uri="{FF2B5EF4-FFF2-40B4-BE49-F238E27FC236}">
                      <a16:creationId xmlns:a16="http://schemas.microsoft.com/office/drawing/2014/main" id="{EDBCC704-431B-4447-86EE-7812BDE68F64}"/>
                    </a:ext>
                  </a:extLst>
                </p:cNvPr>
                <p:cNvSpPr>
                  <a:spLocks noChangeArrowheads="1"/>
                </p:cNvSpPr>
                <p:nvPr/>
              </p:nvSpPr>
              <p:spPr bwMode="auto">
                <a:xfrm rot="-1560000">
                  <a:off x="2624" y="1402"/>
                  <a:ext cx="14"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5" name="Oval 33">
                  <a:extLst>
                    <a:ext uri="{FF2B5EF4-FFF2-40B4-BE49-F238E27FC236}">
                      <a16:creationId xmlns:a16="http://schemas.microsoft.com/office/drawing/2014/main" id="{02573A0A-FF4D-4681-BC9E-51ABBB2AC770}"/>
                    </a:ext>
                  </a:extLst>
                </p:cNvPr>
                <p:cNvSpPr>
                  <a:spLocks noChangeArrowheads="1"/>
                </p:cNvSpPr>
                <p:nvPr/>
              </p:nvSpPr>
              <p:spPr bwMode="auto">
                <a:xfrm rot="-1560000">
                  <a:off x="2679" y="1305"/>
                  <a:ext cx="15" cy="25"/>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6" name="Oval 34">
                  <a:extLst>
                    <a:ext uri="{FF2B5EF4-FFF2-40B4-BE49-F238E27FC236}">
                      <a16:creationId xmlns:a16="http://schemas.microsoft.com/office/drawing/2014/main" id="{304B96A7-C7A2-4415-AE3F-D30DC66E183A}"/>
                    </a:ext>
                  </a:extLst>
                </p:cNvPr>
                <p:cNvSpPr>
                  <a:spLocks noChangeArrowheads="1"/>
                </p:cNvSpPr>
                <p:nvPr/>
              </p:nvSpPr>
              <p:spPr bwMode="auto">
                <a:xfrm rot="-1560000">
                  <a:off x="2677" y="1365"/>
                  <a:ext cx="14" cy="22"/>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7" name="Oval 35">
                  <a:extLst>
                    <a:ext uri="{FF2B5EF4-FFF2-40B4-BE49-F238E27FC236}">
                      <a16:creationId xmlns:a16="http://schemas.microsoft.com/office/drawing/2014/main" id="{FFB1873F-BB05-499E-AF6C-39C88385ADD2}"/>
                    </a:ext>
                  </a:extLst>
                </p:cNvPr>
                <p:cNvSpPr>
                  <a:spLocks noChangeArrowheads="1"/>
                </p:cNvSpPr>
                <p:nvPr/>
              </p:nvSpPr>
              <p:spPr bwMode="auto">
                <a:xfrm rot="-1560000">
                  <a:off x="2663" y="1387"/>
                  <a:ext cx="15"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8" name="Oval 36">
                  <a:extLst>
                    <a:ext uri="{FF2B5EF4-FFF2-40B4-BE49-F238E27FC236}">
                      <a16:creationId xmlns:a16="http://schemas.microsoft.com/office/drawing/2014/main" id="{524DF39E-FAE7-4048-ADE8-72EA65AAFB57}"/>
                    </a:ext>
                  </a:extLst>
                </p:cNvPr>
                <p:cNvSpPr>
                  <a:spLocks noChangeArrowheads="1"/>
                </p:cNvSpPr>
                <p:nvPr/>
              </p:nvSpPr>
              <p:spPr bwMode="auto">
                <a:xfrm rot="-1560000">
                  <a:off x="2644" y="1400"/>
                  <a:ext cx="15" cy="20"/>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9" name="Oval 37">
                  <a:extLst>
                    <a:ext uri="{FF2B5EF4-FFF2-40B4-BE49-F238E27FC236}">
                      <a16:creationId xmlns:a16="http://schemas.microsoft.com/office/drawing/2014/main" id="{83EDC4A7-26ED-4677-B2F6-7F79FC4DD498}"/>
                    </a:ext>
                  </a:extLst>
                </p:cNvPr>
                <p:cNvSpPr>
                  <a:spLocks noChangeArrowheads="1"/>
                </p:cNvSpPr>
                <p:nvPr/>
              </p:nvSpPr>
              <p:spPr bwMode="auto">
                <a:xfrm rot="-1560000">
                  <a:off x="2592" y="1272"/>
                  <a:ext cx="97" cy="140"/>
                </a:xfrm>
                <a:prstGeom prst="ellipse">
                  <a:avLst/>
                </a:prstGeom>
                <a:solidFill>
                  <a:srgbClr val="FFA04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0" name="Oval 38">
                  <a:extLst>
                    <a:ext uri="{FF2B5EF4-FFF2-40B4-BE49-F238E27FC236}">
                      <a16:creationId xmlns:a16="http://schemas.microsoft.com/office/drawing/2014/main" id="{FA092041-BA18-4658-9392-88D34C542780}"/>
                    </a:ext>
                  </a:extLst>
                </p:cNvPr>
                <p:cNvSpPr>
                  <a:spLocks noChangeArrowheads="1"/>
                </p:cNvSpPr>
                <p:nvPr/>
              </p:nvSpPr>
              <p:spPr bwMode="auto">
                <a:xfrm rot="-1560000">
                  <a:off x="2591" y="1276"/>
                  <a:ext cx="101" cy="140"/>
                </a:xfrm>
                <a:prstGeom prst="ellipse">
                  <a:avLst/>
                </a:prstGeom>
                <a:solidFill>
                  <a:srgbClr val="E07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1" name="Oval 39">
                  <a:extLst>
                    <a:ext uri="{FF2B5EF4-FFF2-40B4-BE49-F238E27FC236}">
                      <a16:creationId xmlns:a16="http://schemas.microsoft.com/office/drawing/2014/main" id="{6FA24D12-7BAA-48A5-92B3-FFEE5060731C}"/>
                    </a:ext>
                  </a:extLst>
                </p:cNvPr>
                <p:cNvSpPr>
                  <a:spLocks noChangeArrowheads="1"/>
                </p:cNvSpPr>
                <p:nvPr/>
              </p:nvSpPr>
              <p:spPr bwMode="auto">
                <a:xfrm rot="-1560000">
                  <a:off x="2591" y="1272"/>
                  <a:ext cx="98" cy="142"/>
                </a:xfrm>
                <a:prstGeom prst="ellipse">
                  <a:avLst/>
                </a:prstGeom>
                <a:solidFill>
                  <a:srgbClr val="FF8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2" name="Oval 40">
                  <a:extLst>
                    <a:ext uri="{FF2B5EF4-FFF2-40B4-BE49-F238E27FC236}">
                      <a16:creationId xmlns:a16="http://schemas.microsoft.com/office/drawing/2014/main" id="{DD71FCFA-3D03-40EE-ACF1-4B7EF9D548AD}"/>
                    </a:ext>
                  </a:extLst>
                </p:cNvPr>
                <p:cNvSpPr>
                  <a:spLocks noChangeArrowheads="1"/>
                </p:cNvSpPr>
                <p:nvPr/>
              </p:nvSpPr>
              <p:spPr bwMode="auto">
                <a:xfrm rot="-1560000">
                  <a:off x="2592" y="1276"/>
                  <a:ext cx="97" cy="135"/>
                </a:xfrm>
                <a:prstGeom prst="ellipse">
                  <a:avLst/>
                </a:prstGeom>
                <a:solidFill>
                  <a:srgbClr val="E07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3" name="Oval 41">
                  <a:extLst>
                    <a:ext uri="{FF2B5EF4-FFF2-40B4-BE49-F238E27FC236}">
                      <a16:creationId xmlns:a16="http://schemas.microsoft.com/office/drawing/2014/main" id="{80A322D6-BC17-4064-B164-AB314FEEB355}"/>
                    </a:ext>
                  </a:extLst>
                </p:cNvPr>
                <p:cNvSpPr>
                  <a:spLocks noChangeArrowheads="1"/>
                </p:cNvSpPr>
                <p:nvPr/>
              </p:nvSpPr>
              <p:spPr bwMode="auto">
                <a:xfrm rot="-1560000">
                  <a:off x="2594" y="1280"/>
                  <a:ext cx="95" cy="131"/>
                </a:xfrm>
                <a:prstGeom prst="ellipse">
                  <a:avLst/>
                </a:prstGeom>
                <a:solidFill>
                  <a:srgbClr val="FFA04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4" name="Oval 42">
                  <a:extLst>
                    <a:ext uri="{FF2B5EF4-FFF2-40B4-BE49-F238E27FC236}">
                      <a16:creationId xmlns:a16="http://schemas.microsoft.com/office/drawing/2014/main" id="{E6C3A0C3-186D-488A-BD94-E3E77231BBFF}"/>
                    </a:ext>
                  </a:extLst>
                </p:cNvPr>
                <p:cNvSpPr>
                  <a:spLocks noChangeArrowheads="1"/>
                </p:cNvSpPr>
                <p:nvPr/>
              </p:nvSpPr>
              <p:spPr bwMode="auto">
                <a:xfrm rot="-1560000">
                  <a:off x="2593" y="1276"/>
                  <a:ext cx="91" cy="132"/>
                </a:xfrm>
                <a:prstGeom prst="ellipse">
                  <a:avLst/>
                </a:prstGeom>
                <a:solidFill>
                  <a:srgbClr val="FF8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grpSp>
      </p:grpSp>
      <p:sp>
        <p:nvSpPr>
          <p:cNvPr id="46" name="Arc 46">
            <a:extLst>
              <a:ext uri="{FF2B5EF4-FFF2-40B4-BE49-F238E27FC236}">
                <a16:creationId xmlns:a16="http://schemas.microsoft.com/office/drawing/2014/main" id="{A1107967-E6A7-4E5D-B417-5713267F8680}"/>
              </a:ext>
            </a:extLst>
          </p:cNvPr>
          <p:cNvSpPr/>
          <p:nvPr/>
        </p:nvSpPr>
        <p:spPr bwMode="auto">
          <a:xfrm rot="15570180">
            <a:off x="9198868" y="3231372"/>
            <a:ext cx="1658937" cy="1069975"/>
          </a:xfrm>
          <a:custGeom>
            <a:avLst/>
            <a:gdLst>
              <a:gd name="T0" fmla="*/ 2147483647 w 37391"/>
              <a:gd name="T1" fmla="*/ 2147483647 h 21600"/>
              <a:gd name="T2" fmla="*/ 0 w 37391"/>
              <a:gd name="T3" fmla="*/ 2147483647 h 21600"/>
              <a:gd name="T4" fmla="*/ 2147483647 w 37391"/>
              <a:gd name="T5" fmla="*/ 0 h 21600"/>
              <a:gd name="T6" fmla="*/ 0 60000 65536"/>
              <a:gd name="T7" fmla="*/ 0 60000 65536"/>
              <a:gd name="T8" fmla="*/ 0 60000 65536"/>
              <a:gd name="T9" fmla="*/ 0 w 37391"/>
              <a:gd name="T10" fmla="*/ 0 h 21600"/>
              <a:gd name="T11" fmla="*/ 37391 w 37391"/>
              <a:gd name="T12" fmla="*/ 21600 h 21600"/>
            </a:gdLst>
            <a:ahLst/>
            <a:cxnLst>
              <a:cxn ang="T6">
                <a:pos x="T0" y="T1"/>
              </a:cxn>
              <a:cxn ang="T7">
                <a:pos x="T2" y="T3"/>
              </a:cxn>
              <a:cxn ang="T8">
                <a:pos x="T4" y="T5"/>
              </a:cxn>
            </a:cxnLst>
            <a:rect l="T9" t="T10" r="T11" b="T12"/>
            <a:pathLst>
              <a:path w="37391" h="21600" fill="none" extrusionOk="0">
                <a:moveTo>
                  <a:pt x="37391" y="12212"/>
                </a:moveTo>
                <a:cubicBezTo>
                  <a:pt x="33363" y="18087"/>
                  <a:pt x="26698" y="21599"/>
                  <a:pt x="19575" y="21600"/>
                </a:cubicBezTo>
                <a:cubicBezTo>
                  <a:pt x="11181" y="21600"/>
                  <a:pt x="3548" y="16737"/>
                  <a:pt x="-1" y="9131"/>
                </a:cubicBezTo>
              </a:path>
              <a:path w="37391" h="21600" stroke="0" extrusionOk="0">
                <a:moveTo>
                  <a:pt x="37391" y="12212"/>
                </a:moveTo>
                <a:cubicBezTo>
                  <a:pt x="33363" y="18087"/>
                  <a:pt x="26698" y="21599"/>
                  <a:pt x="19575" y="21600"/>
                </a:cubicBezTo>
                <a:cubicBezTo>
                  <a:pt x="11181" y="21600"/>
                  <a:pt x="3548" y="16737"/>
                  <a:pt x="-1" y="9131"/>
                </a:cubicBezTo>
                <a:lnTo>
                  <a:pt x="19575" y="0"/>
                </a:lnTo>
                <a:close/>
              </a:path>
            </a:pathLst>
          </a:custGeom>
          <a:noFill/>
          <a:ln w="50800" cap="rnd">
            <a:solidFill>
              <a:srgbClr val="80808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nvGrpSpPr>
          <p:cNvPr id="47" name="Group 53">
            <a:extLst>
              <a:ext uri="{FF2B5EF4-FFF2-40B4-BE49-F238E27FC236}">
                <a16:creationId xmlns:a16="http://schemas.microsoft.com/office/drawing/2014/main" id="{52AEFF56-DE4D-4A8B-AC8C-C1C0CA712BB3}"/>
              </a:ext>
            </a:extLst>
          </p:cNvPr>
          <p:cNvGrpSpPr>
            <a:grpSpLocks/>
          </p:cNvGrpSpPr>
          <p:nvPr/>
        </p:nvGrpSpPr>
        <p:grpSpPr bwMode="auto">
          <a:xfrm>
            <a:off x="8324950" y="4286266"/>
            <a:ext cx="1668240" cy="1662425"/>
            <a:chOff x="3597" y="2643"/>
            <a:chExt cx="1500" cy="1552"/>
          </a:xfrm>
        </p:grpSpPr>
        <p:graphicFrame>
          <p:nvGraphicFramePr>
            <p:cNvPr id="48" name="Object 7">
              <a:extLst>
                <a:ext uri="{FF2B5EF4-FFF2-40B4-BE49-F238E27FC236}">
                  <a16:creationId xmlns:a16="http://schemas.microsoft.com/office/drawing/2014/main" id="{B9770429-3EA9-4806-9447-81F5A9A93761}"/>
                </a:ext>
              </a:extLst>
            </p:cNvPr>
            <p:cNvGraphicFramePr>
              <a:graphicFrameLocks/>
            </p:cNvGraphicFramePr>
            <p:nvPr/>
          </p:nvGraphicFramePr>
          <p:xfrm>
            <a:off x="3597" y="2643"/>
            <a:ext cx="1251" cy="1088"/>
          </p:xfrm>
          <a:graphic>
            <a:graphicData uri="http://schemas.openxmlformats.org/presentationml/2006/ole">
              <mc:AlternateContent xmlns:mc="http://schemas.openxmlformats.org/markup-compatibility/2006">
                <mc:Choice xmlns:v="urn:schemas-microsoft-com:vml" Requires="v">
                  <p:oleObj spid="_x0000_s27676" r:id="rId7" imgW="3657917" imgH="3182069" progId="">
                    <p:embed/>
                  </p:oleObj>
                </mc:Choice>
                <mc:Fallback>
                  <p:oleObj r:id="rId7" imgW="3657917" imgH="3182069" progId="">
                    <p:embed/>
                    <p:pic>
                      <p:nvPicPr>
                        <p:cNvPr id="48" name="Object 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97" y="2643"/>
                          <a:ext cx="1251" cy="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 name="Rectangle 52">
              <a:extLst>
                <a:ext uri="{FF2B5EF4-FFF2-40B4-BE49-F238E27FC236}">
                  <a16:creationId xmlns:a16="http://schemas.microsoft.com/office/drawing/2014/main" id="{9BC732F0-BAC2-4561-93EF-C83122AF3B78}"/>
                </a:ext>
              </a:extLst>
            </p:cNvPr>
            <p:cNvSpPr>
              <a:spLocks noChangeArrowheads="1"/>
            </p:cNvSpPr>
            <p:nvPr/>
          </p:nvSpPr>
          <p:spPr bwMode="auto">
            <a:xfrm>
              <a:off x="3638" y="3706"/>
              <a:ext cx="1459" cy="489"/>
            </a:xfrm>
            <a:prstGeom prst="rect">
              <a:avLst/>
            </a:prstGeom>
            <a:noFill/>
            <a:ln w="9525">
              <a:noFill/>
              <a:miter lim="800000"/>
            </a:ln>
            <a:effectLst/>
          </p:spPr>
          <p:txBody>
            <a:bodyPr wrap="none" lIns="92075" tIns="46038" rIns="92075" bIns="46038">
              <a:spAutoFit/>
            </a:bodyPr>
            <a:lstStyle/>
            <a:p>
              <a:pPr fontAlgn="auto">
                <a:spcBef>
                  <a:spcPct val="20000"/>
                </a:spcBef>
                <a:spcAft>
                  <a:spcPts val="0"/>
                </a:spcAft>
                <a:defRPr/>
              </a:pPr>
              <a:r>
                <a:rPr kumimoji="1" lang="zh-CN" altLang="en-US" sz="2800" kern="0" dirty="0">
                  <a:solidFill>
                    <a:srgbClr val="FF3300"/>
                  </a:solidFill>
                  <a:effectLst>
                    <a:outerShdw blurRad="38100" dist="38100" dir="2700000" algn="tl">
                      <a:srgbClr val="000000"/>
                    </a:outerShdw>
                  </a:effectLst>
                  <a:latin typeface="华文仿宋" panose="02010600040101010101" pitchFamily="2" charset="-122"/>
                  <a:ea typeface="华文仿宋" panose="02010600040101010101" pitchFamily="2" charset="-122"/>
                </a:rPr>
                <a:t>测试执行</a:t>
              </a:r>
            </a:p>
          </p:txBody>
        </p:sp>
      </p:grpSp>
      <p:sp>
        <p:nvSpPr>
          <p:cNvPr id="50" name="Arc 54">
            <a:extLst>
              <a:ext uri="{FF2B5EF4-FFF2-40B4-BE49-F238E27FC236}">
                <a16:creationId xmlns:a16="http://schemas.microsoft.com/office/drawing/2014/main" id="{79019018-8393-4A55-964E-3AD8C263F73B}"/>
              </a:ext>
            </a:extLst>
          </p:cNvPr>
          <p:cNvSpPr/>
          <p:nvPr/>
        </p:nvSpPr>
        <p:spPr bwMode="auto">
          <a:xfrm rot="10800000">
            <a:off x="6861274" y="5002228"/>
            <a:ext cx="1277938" cy="422275"/>
          </a:xfrm>
          <a:custGeom>
            <a:avLst/>
            <a:gdLst>
              <a:gd name="T0" fmla="*/ 0 w 37320"/>
              <a:gd name="T1" fmla="*/ 2147483647 h 21600"/>
              <a:gd name="T2" fmla="*/ 2147483647 w 37320"/>
              <a:gd name="T3" fmla="*/ 2147483647 h 21600"/>
              <a:gd name="T4" fmla="*/ 2147483647 w 37320"/>
              <a:gd name="T5" fmla="*/ 2147483647 h 21600"/>
              <a:gd name="T6" fmla="*/ 0 60000 65536"/>
              <a:gd name="T7" fmla="*/ 0 60000 65536"/>
              <a:gd name="T8" fmla="*/ 0 60000 65536"/>
              <a:gd name="T9" fmla="*/ 0 w 37320"/>
              <a:gd name="T10" fmla="*/ 0 h 21600"/>
              <a:gd name="T11" fmla="*/ 37320 w 37320"/>
              <a:gd name="T12" fmla="*/ 21600 h 21600"/>
            </a:gdLst>
            <a:ahLst/>
            <a:cxnLst>
              <a:cxn ang="T6">
                <a:pos x="T0" y="T1"/>
              </a:cxn>
              <a:cxn ang="T7">
                <a:pos x="T2" y="T3"/>
              </a:cxn>
              <a:cxn ang="T8">
                <a:pos x="T4" y="T5"/>
              </a:cxn>
            </a:cxnLst>
            <a:rect l="T9" t="T10" r="T11" b="T12"/>
            <a:pathLst>
              <a:path w="37320" h="21600" fill="none" extrusionOk="0">
                <a:moveTo>
                  <a:pt x="0" y="9356"/>
                </a:moveTo>
                <a:cubicBezTo>
                  <a:pt x="4030" y="3498"/>
                  <a:pt x="10685" y="-1"/>
                  <a:pt x="17795" y="0"/>
                </a:cubicBezTo>
                <a:cubicBezTo>
                  <a:pt x="26145" y="0"/>
                  <a:pt x="33748" y="4813"/>
                  <a:pt x="37319" y="12362"/>
                </a:cubicBezTo>
              </a:path>
              <a:path w="37320" h="21600" stroke="0" extrusionOk="0">
                <a:moveTo>
                  <a:pt x="0" y="9356"/>
                </a:moveTo>
                <a:cubicBezTo>
                  <a:pt x="4030" y="3498"/>
                  <a:pt x="10685" y="-1"/>
                  <a:pt x="17795" y="0"/>
                </a:cubicBezTo>
                <a:cubicBezTo>
                  <a:pt x="26145" y="0"/>
                  <a:pt x="33748" y="4813"/>
                  <a:pt x="37319" y="12362"/>
                </a:cubicBezTo>
                <a:lnTo>
                  <a:pt x="17795" y="21600"/>
                </a:lnTo>
                <a:close/>
              </a:path>
            </a:pathLst>
          </a:custGeom>
          <a:noFill/>
          <a:ln w="50800" cap="rnd">
            <a:solidFill>
              <a:srgbClr val="80808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nvGrpSpPr>
          <p:cNvPr id="51" name="Group 64">
            <a:extLst>
              <a:ext uri="{FF2B5EF4-FFF2-40B4-BE49-F238E27FC236}">
                <a16:creationId xmlns:a16="http://schemas.microsoft.com/office/drawing/2014/main" id="{C6F04CCA-7B04-445E-AD80-A18DE1EF3A23}"/>
              </a:ext>
            </a:extLst>
          </p:cNvPr>
          <p:cNvGrpSpPr>
            <a:grpSpLocks/>
          </p:cNvGrpSpPr>
          <p:nvPr/>
        </p:nvGrpSpPr>
        <p:grpSpPr bwMode="auto">
          <a:xfrm>
            <a:off x="5500787" y="4235466"/>
            <a:ext cx="1622138" cy="1761692"/>
            <a:chOff x="596" y="2540"/>
            <a:chExt cx="1816" cy="2086"/>
          </a:xfrm>
        </p:grpSpPr>
        <p:sp>
          <p:nvSpPr>
            <p:cNvPr id="52" name="Freeform 55">
              <a:extLst>
                <a:ext uri="{FF2B5EF4-FFF2-40B4-BE49-F238E27FC236}">
                  <a16:creationId xmlns:a16="http://schemas.microsoft.com/office/drawing/2014/main" id="{3336BBDD-0A9F-4D7D-9940-05FEA598ACEB}"/>
                </a:ext>
              </a:extLst>
            </p:cNvPr>
            <p:cNvSpPr/>
            <p:nvPr/>
          </p:nvSpPr>
          <p:spPr bwMode="auto">
            <a:xfrm>
              <a:off x="1325" y="2540"/>
              <a:ext cx="595" cy="771"/>
            </a:xfrm>
            <a:custGeom>
              <a:avLst/>
              <a:gdLst>
                <a:gd name="T0" fmla="*/ 7 w 595"/>
                <a:gd name="T1" fmla="*/ 161 h 770"/>
                <a:gd name="T2" fmla="*/ 3 w 595"/>
                <a:gd name="T3" fmla="*/ 101 h 770"/>
                <a:gd name="T4" fmla="*/ 33 w 595"/>
                <a:gd name="T5" fmla="*/ 45 h 770"/>
                <a:gd name="T6" fmla="*/ 90 w 595"/>
                <a:gd name="T7" fmla="*/ 0 h 770"/>
                <a:gd name="T8" fmla="*/ 175 w 595"/>
                <a:gd name="T9" fmla="*/ 19 h 770"/>
                <a:gd name="T10" fmla="*/ 250 w 595"/>
                <a:gd name="T11" fmla="*/ 71 h 770"/>
                <a:gd name="T12" fmla="*/ 344 w 595"/>
                <a:gd name="T13" fmla="*/ 112 h 770"/>
                <a:gd name="T14" fmla="*/ 445 w 595"/>
                <a:gd name="T15" fmla="*/ 154 h 770"/>
                <a:gd name="T16" fmla="*/ 539 w 595"/>
                <a:gd name="T17" fmla="*/ 210 h 770"/>
                <a:gd name="T18" fmla="*/ 594 w 595"/>
                <a:gd name="T19" fmla="*/ 262 h 770"/>
                <a:gd name="T20" fmla="*/ 583 w 595"/>
                <a:gd name="T21" fmla="*/ 278 h 770"/>
                <a:gd name="T22" fmla="*/ 478 w 595"/>
                <a:gd name="T23" fmla="*/ 375 h 770"/>
                <a:gd name="T24" fmla="*/ 441 w 595"/>
                <a:gd name="T25" fmla="*/ 428 h 770"/>
                <a:gd name="T26" fmla="*/ 433 w 595"/>
                <a:gd name="T27" fmla="*/ 477 h 770"/>
                <a:gd name="T28" fmla="*/ 429 w 595"/>
                <a:gd name="T29" fmla="*/ 540 h 770"/>
                <a:gd name="T30" fmla="*/ 423 w 595"/>
                <a:gd name="T31" fmla="*/ 623 h 770"/>
                <a:gd name="T32" fmla="*/ 404 w 595"/>
                <a:gd name="T33" fmla="*/ 709 h 770"/>
                <a:gd name="T34" fmla="*/ 374 w 595"/>
                <a:gd name="T35" fmla="*/ 757 h 770"/>
                <a:gd name="T36" fmla="*/ 344 w 595"/>
                <a:gd name="T37" fmla="*/ 769 h 770"/>
                <a:gd name="T38" fmla="*/ 310 w 595"/>
                <a:gd name="T39" fmla="*/ 743 h 770"/>
                <a:gd name="T40" fmla="*/ 254 w 595"/>
                <a:gd name="T41" fmla="*/ 709 h 770"/>
                <a:gd name="T42" fmla="*/ 194 w 595"/>
                <a:gd name="T43" fmla="*/ 672 h 770"/>
                <a:gd name="T44" fmla="*/ 127 w 595"/>
                <a:gd name="T45" fmla="*/ 645 h 770"/>
                <a:gd name="T46" fmla="*/ 67 w 595"/>
                <a:gd name="T47" fmla="*/ 637 h 770"/>
                <a:gd name="T48" fmla="*/ 37 w 595"/>
                <a:gd name="T49" fmla="*/ 589 h 770"/>
                <a:gd name="T50" fmla="*/ 15 w 595"/>
                <a:gd name="T51" fmla="*/ 518 h 770"/>
                <a:gd name="T52" fmla="*/ 0 w 595"/>
                <a:gd name="T53" fmla="*/ 402 h 770"/>
                <a:gd name="T54" fmla="*/ 3 w 595"/>
                <a:gd name="T55" fmla="*/ 300 h 770"/>
                <a:gd name="T56" fmla="*/ 11 w 595"/>
                <a:gd name="T57" fmla="*/ 240 h 770"/>
                <a:gd name="T58" fmla="*/ 37 w 595"/>
                <a:gd name="T59" fmla="*/ 240 h 770"/>
                <a:gd name="T60" fmla="*/ 33 w 595"/>
                <a:gd name="T61" fmla="*/ 341 h 770"/>
                <a:gd name="T62" fmla="*/ 33 w 595"/>
                <a:gd name="T63" fmla="*/ 450 h 770"/>
                <a:gd name="T64" fmla="*/ 48 w 595"/>
                <a:gd name="T65" fmla="*/ 514 h 770"/>
                <a:gd name="T66" fmla="*/ 74 w 595"/>
                <a:gd name="T67" fmla="*/ 589 h 770"/>
                <a:gd name="T68" fmla="*/ 134 w 595"/>
                <a:gd name="T69" fmla="*/ 619 h 770"/>
                <a:gd name="T70" fmla="*/ 216 w 595"/>
                <a:gd name="T71" fmla="*/ 641 h 770"/>
                <a:gd name="T72" fmla="*/ 284 w 595"/>
                <a:gd name="T73" fmla="*/ 679 h 770"/>
                <a:gd name="T74" fmla="*/ 348 w 595"/>
                <a:gd name="T75" fmla="*/ 724 h 770"/>
                <a:gd name="T76" fmla="*/ 374 w 595"/>
                <a:gd name="T77" fmla="*/ 694 h 770"/>
                <a:gd name="T78" fmla="*/ 389 w 595"/>
                <a:gd name="T79" fmla="*/ 630 h 770"/>
                <a:gd name="T80" fmla="*/ 396 w 595"/>
                <a:gd name="T81" fmla="*/ 548 h 770"/>
                <a:gd name="T82" fmla="*/ 404 w 595"/>
                <a:gd name="T83" fmla="*/ 461 h 770"/>
                <a:gd name="T84" fmla="*/ 429 w 595"/>
                <a:gd name="T85" fmla="*/ 386 h 770"/>
                <a:gd name="T86" fmla="*/ 504 w 595"/>
                <a:gd name="T87" fmla="*/ 308 h 770"/>
                <a:gd name="T88" fmla="*/ 539 w 595"/>
                <a:gd name="T89" fmla="*/ 266 h 770"/>
                <a:gd name="T90" fmla="*/ 535 w 595"/>
                <a:gd name="T91" fmla="*/ 251 h 770"/>
                <a:gd name="T92" fmla="*/ 441 w 595"/>
                <a:gd name="T93" fmla="*/ 187 h 770"/>
                <a:gd name="T94" fmla="*/ 348 w 595"/>
                <a:gd name="T95" fmla="*/ 146 h 770"/>
                <a:gd name="T96" fmla="*/ 269 w 595"/>
                <a:gd name="T97" fmla="*/ 109 h 770"/>
                <a:gd name="T98" fmla="*/ 220 w 595"/>
                <a:gd name="T99" fmla="*/ 86 h 770"/>
                <a:gd name="T100" fmla="*/ 171 w 595"/>
                <a:gd name="T101" fmla="*/ 57 h 770"/>
                <a:gd name="T102" fmla="*/ 142 w 595"/>
                <a:gd name="T103" fmla="*/ 41 h 770"/>
                <a:gd name="T104" fmla="*/ 93 w 595"/>
                <a:gd name="T105" fmla="*/ 37 h 770"/>
                <a:gd name="T106" fmla="*/ 63 w 595"/>
                <a:gd name="T107" fmla="*/ 64 h 770"/>
                <a:gd name="T108" fmla="*/ 41 w 595"/>
                <a:gd name="T109" fmla="*/ 105 h 770"/>
                <a:gd name="T110" fmla="*/ 41 w 595"/>
                <a:gd name="T111" fmla="*/ 142 h 770"/>
                <a:gd name="T112" fmla="*/ 37 w 595"/>
                <a:gd name="T113" fmla="*/ 180 h 770"/>
                <a:gd name="T114" fmla="*/ 7 w 595"/>
                <a:gd name="T115" fmla="*/ 161 h 77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95"/>
                <a:gd name="T175" fmla="*/ 0 h 770"/>
                <a:gd name="T176" fmla="*/ 595 w 595"/>
                <a:gd name="T177" fmla="*/ 770 h 77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95" h="770">
                  <a:moveTo>
                    <a:pt x="7" y="161"/>
                  </a:moveTo>
                  <a:lnTo>
                    <a:pt x="3" y="101"/>
                  </a:lnTo>
                  <a:lnTo>
                    <a:pt x="33" y="45"/>
                  </a:lnTo>
                  <a:lnTo>
                    <a:pt x="90" y="0"/>
                  </a:lnTo>
                  <a:lnTo>
                    <a:pt x="175" y="19"/>
                  </a:lnTo>
                  <a:lnTo>
                    <a:pt x="250" y="71"/>
                  </a:lnTo>
                  <a:lnTo>
                    <a:pt x="344" y="112"/>
                  </a:lnTo>
                  <a:lnTo>
                    <a:pt x="445" y="154"/>
                  </a:lnTo>
                  <a:lnTo>
                    <a:pt x="539" y="210"/>
                  </a:lnTo>
                  <a:lnTo>
                    <a:pt x="594" y="262"/>
                  </a:lnTo>
                  <a:lnTo>
                    <a:pt x="583" y="278"/>
                  </a:lnTo>
                  <a:lnTo>
                    <a:pt x="478" y="375"/>
                  </a:lnTo>
                  <a:lnTo>
                    <a:pt x="441" y="428"/>
                  </a:lnTo>
                  <a:lnTo>
                    <a:pt x="433" y="477"/>
                  </a:lnTo>
                  <a:lnTo>
                    <a:pt x="429" y="540"/>
                  </a:lnTo>
                  <a:lnTo>
                    <a:pt x="423" y="623"/>
                  </a:lnTo>
                  <a:lnTo>
                    <a:pt x="404" y="709"/>
                  </a:lnTo>
                  <a:lnTo>
                    <a:pt x="374" y="757"/>
                  </a:lnTo>
                  <a:lnTo>
                    <a:pt x="344" y="769"/>
                  </a:lnTo>
                  <a:lnTo>
                    <a:pt x="310" y="743"/>
                  </a:lnTo>
                  <a:lnTo>
                    <a:pt x="254" y="709"/>
                  </a:lnTo>
                  <a:lnTo>
                    <a:pt x="194" y="672"/>
                  </a:lnTo>
                  <a:lnTo>
                    <a:pt x="127" y="645"/>
                  </a:lnTo>
                  <a:lnTo>
                    <a:pt x="67" y="637"/>
                  </a:lnTo>
                  <a:lnTo>
                    <a:pt x="37" y="589"/>
                  </a:lnTo>
                  <a:lnTo>
                    <a:pt x="15" y="518"/>
                  </a:lnTo>
                  <a:lnTo>
                    <a:pt x="0" y="402"/>
                  </a:lnTo>
                  <a:lnTo>
                    <a:pt x="3" y="300"/>
                  </a:lnTo>
                  <a:lnTo>
                    <a:pt x="11" y="240"/>
                  </a:lnTo>
                  <a:lnTo>
                    <a:pt x="37" y="240"/>
                  </a:lnTo>
                  <a:lnTo>
                    <a:pt x="33" y="341"/>
                  </a:lnTo>
                  <a:lnTo>
                    <a:pt x="33" y="450"/>
                  </a:lnTo>
                  <a:lnTo>
                    <a:pt x="48" y="514"/>
                  </a:lnTo>
                  <a:lnTo>
                    <a:pt x="74" y="589"/>
                  </a:lnTo>
                  <a:lnTo>
                    <a:pt x="134" y="619"/>
                  </a:lnTo>
                  <a:lnTo>
                    <a:pt x="216" y="641"/>
                  </a:lnTo>
                  <a:lnTo>
                    <a:pt x="284" y="679"/>
                  </a:lnTo>
                  <a:lnTo>
                    <a:pt x="348" y="724"/>
                  </a:lnTo>
                  <a:lnTo>
                    <a:pt x="374" y="694"/>
                  </a:lnTo>
                  <a:lnTo>
                    <a:pt x="389" y="630"/>
                  </a:lnTo>
                  <a:lnTo>
                    <a:pt x="396" y="548"/>
                  </a:lnTo>
                  <a:lnTo>
                    <a:pt x="404" y="461"/>
                  </a:lnTo>
                  <a:lnTo>
                    <a:pt x="429" y="386"/>
                  </a:lnTo>
                  <a:lnTo>
                    <a:pt x="504" y="308"/>
                  </a:lnTo>
                  <a:lnTo>
                    <a:pt x="539" y="266"/>
                  </a:lnTo>
                  <a:lnTo>
                    <a:pt x="535" y="251"/>
                  </a:lnTo>
                  <a:lnTo>
                    <a:pt x="441" y="187"/>
                  </a:lnTo>
                  <a:lnTo>
                    <a:pt x="348" y="146"/>
                  </a:lnTo>
                  <a:lnTo>
                    <a:pt x="269" y="109"/>
                  </a:lnTo>
                  <a:lnTo>
                    <a:pt x="220" y="86"/>
                  </a:lnTo>
                  <a:lnTo>
                    <a:pt x="171" y="57"/>
                  </a:lnTo>
                  <a:lnTo>
                    <a:pt x="142" y="41"/>
                  </a:lnTo>
                  <a:lnTo>
                    <a:pt x="93" y="37"/>
                  </a:lnTo>
                  <a:lnTo>
                    <a:pt x="63" y="64"/>
                  </a:lnTo>
                  <a:lnTo>
                    <a:pt x="41" y="105"/>
                  </a:lnTo>
                  <a:lnTo>
                    <a:pt x="41" y="142"/>
                  </a:lnTo>
                  <a:lnTo>
                    <a:pt x="37" y="180"/>
                  </a:lnTo>
                  <a:lnTo>
                    <a:pt x="7" y="161"/>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3" name="Freeform 56">
              <a:extLst>
                <a:ext uri="{FF2B5EF4-FFF2-40B4-BE49-F238E27FC236}">
                  <a16:creationId xmlns:a16="http://schemas.microsoft.com/office/drawing/2014/main" id="{F51DA34B-1DB3-4CBD-A162-ACDE4E6DDE48}"/>
                </a:ext>
              </a:extLst>
            </p:cNvPr>
            <p:cNvSpPr/>
            <p:nvPr/>
          </p:nvSpPr>
          <p:spPr bwMode="auto">
            <a:xfrm>
              <a:off x="1017" y="2880"/>
              <a:ext cx="810" cy="276"/>
            </a:xfrm>
            <a:custGeom>
              <a:avLst/>
              <a:gdLst>
                <a:gd name="T0" fmla="*/ 0 w 809"/>
                <a:gd name="T1" fmla="*/ 214 h 275"/>
                <a:gd name="T2" fmla="*/ 18 w 809"/>
                <a:gd name="T3" fmla="*/ 191 h 275"/>
                <a:gd name="T4" fmla="*/ 59 w 809"/>
                <a:gd name="T5" fmla="*/ 184 h 275"/>
                <a:gd name="T6" fmla="*/ 191 w 809"/>
                <a:gd name="T7" fmla="*/ 210 h 275"/>
                <a:gd name="T8" fmla="*/ 317 w 809"/>
                <a:gd name="T9" fmla="*/ 233 h 275"/>
                <a:gd name="T10" fmla="*/ 475 w 809"/>
                <a:gd name="T11" fmla="*/ 229 h 275"/>
                <a:gd name="T12" fmla="*/ 620 w 809"/>
                <a:gd name="T13" fmla="*/ 198 h 275"/>
                <a:gd name="T14" fmla="*/ 711 w 809"/>
                <a:gd name="T15" fmla="*/ 146 h 275"/>
                <a:gd name="T16" fmla="*/ 699 w 809"/>
                <a:gd name="T17" fmla="*/ 105 h 275"/>
                <a:gd name="T18" fmla="*/ 714 w 809"/>
                <a:gd name="T19" fmla="*/ 49 h 275"/>
                <a:gd name="T20" fmla="*/ 748 w 809"/>
                <a:gd name="T21" fmla="*/ 19 h 275"/>
                <a:gd name="T22" fmla="*/ 785 w 809"/>
                <a:gd name="T23" fmla="*/ 0 h 275"/>
                <a:gd name="T24" fmla="*/ 800 w 809"/>
                <a:gd name="T25" fmla="*/ 41 h 275"/>
                <a:gd name="T26" fmla="*/ 808 w 809"/>
                <a:gd name="T27" fmla="*/ 82 h 275"/>
                <a:gd name="T28" fmla="*/ 792 w 809"/>
                <a:gd name="T29" fmla="*/ 161 h 275"/>
                <a:gd name="T30" fmla="*/ 755 w 809"/>
                <a:gd name="T31" fmla="*/ 184 h 275"/>
                <a:gd name="T32" fmla="*/ 665 w 809"/>
                <a:gd name="T33" fmla="*/ 214 h 275"/>
                <a:gd name="T34" fmla="*/ 568 w 809"/>
                <a:gd name="T35" fmla="*/ 240 h 275"/>
                <a:gd name="T36" fmla="*/ 407 w 809"/>
                <a:gd name="T37" fmla="*/ 270 h 275"/>
                <a:gd name="T38" fmla="*/ 258 w 809"/>
                <a:gd name="T39" fmla="*/ 274 h 275"/>
                <a:gd name="T40" fmla="*/ 55 w 809"/>
                <a:gd name="T41" fmla="*/ 255 h 275"/>
                <a:gd name="T42" fmla="*/ 0 w 809"/>
                <a:gd name="T43" fmla="*/ 214 h 27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09"/>
                <a:gd name="T67" fmla="*/ 0 h 275"/>
                <a:gd name="T68" fmla="*/ 809 w 809"/>
                <a:gd name="T69" fmla="*/ 275 h 27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09" h="275">
                  <a:moveTo>
                    <a:pt x="0" y="214"/>
                  </a:moveTo>
                  <a:lnTo>
                    <a:pt x="18" y="191"/>
                  </a:lnTo>
                  <a:lnTo>
                    <a:pt x="59" y="184"/>
                  </a:lnTo>
                  <a:lnTo>
                    <a:pt x="191" y="210"/>
                  </a:lnTo>
                  <a:lnTo>
                    <a:pt x="317" y="233"/>
                  </a:lnTo>
                  <a:lnTo>
                    <a:pt x="475" y="229"/>
                  </a:lnTo>
                  <a:lnTo>
                    <a:pt x="620" y="198"/>
                  </a:lnTo>
                  <a:lnTo>
                    <a:pt x="711" y="146"/>
                  </a:lnTo>
                  <a:lnTo>
                    <a:pt x="699" y="105"/>
                  </a:lnTo>
                  <a:lnTo>
                    <a:pt x="714" y="49"/>
                  </a:lnTo>
                  <a:lnTo>
                    <a:pt x="748" y="19"/>
                  </a:lnTo>
                  <a:lnTo>
                    <a:pt x="785" y="0"/>
                  </a:lnTo>
                  <a:lnTo>
                    <a:pt x="800" y="41"/>
                  </a:lnTo>
                  <a:lnTo>
                    <a:pt x="808" y="82"/>
                  </a:lnTo>
                  <a:lnTo>
                    <a:pt x="792" y="161"/>
                  </a:lnTo>
                  <a:lnTo>
                    <a:pt x="755" y="184"/>
                  </a:lnTo>
                  <a:lnTo>
                    <a:pt x="665" y="214"/>
                  </a:lnTo>
                  <a:lnTo>
                    <a:pt x="568" y="240"/>
                  </a:lnTo>
                  <a:lnTo>
                    <a:pt x="407" y="270"/>
                  </a:lnTo>
                  <a:lnTo>
                    <a:pt x="258" y="274"/>
                  </a:lnTo>
                  <a:lnTo>
                    <a:pt x="55" y="255"/>
                  </a:lnTo>
                  <a:lnTo>
                    <a:pt x="0" y="214"/>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4" name="Freeform 57">
              <a:extLst>
                <a:ext uri="{FF2B5EF4-FFF2-40B4-BE49-F238E27FC236}">
                  <a16:creationId xmlns:a16="http://schemas.microsoft.com/office/drawing/2014/main" id="{79A54856-932D-4C95-9673-8C2793F07FA3}"/>
                </a:ext>
              </a:extLst>
            </p:cNvPr>
            <p:cNvSpPr/>
            <p:nvPr/>
          </p:nvSpPr>
          <p:spPr bwMode="auto">
            <a:xfrm>
              <a:off x="953" y="2687"/>
              <a:ext cx="439" cy="391"/>
            </a:xfrm>
            <a:custGeom>
              <a:avLst/>
              <a:gdLst>
                <a:gd name="T0" fmla="*/ 12 w 439"/>
                <a:gd name="T1" fmla="*/ 390 h 391"/>
                <a:gd name="T2" fmla="*/ 0 w 439"/>
                <a:gd name="T3" fmla="*/ 353 h 391"/>
                <a:gd name="T4" fmla="*/ 22 w 439"/>
                <a:gd name="T5" fmla="*/ 319 h 391"/>
                <a:gd name="T6" fmla="*/ 97 w 439"/>
                <a:gd name="T7" fmla="*/ 289 h 391"/>
                <a:gd name="T8" fmla="*/ 184 w 439"/>
                <a:gd name="T9" fmla="*/ 282 h 391"/>
                <a:gd name="T10" fmla="*/ 243 w 439"/>
                <a:gd name="T11" fmla="*/ 263 h 391"/>
                <a:gd name="T12" fmla="*/ 281 w 439"/>
                <a:gd name="T13" fmla="*/ 229 h 391"/>
                <a:gd name="T14" fmla="*/ 322 w 439"/>
                <a:gd name="T15" fmla="*/ 154 h 391"/>
                <a:gd name="T16" fmla="*/ 355 w 439"/>
                <a:gd name="T17" fmla="*/ 71 h 391"/>
                <a:gd name="T18" fmla="*/ 355 w 439"/>
                <a:gd name="T19" fmla="*/ 30 h 391"/>
                <a:gd name="T20" fmla="*/ 374 w 439"/>
                <a:gd name="T21" fmla="*/ 8 h 391"/>
                <a:gd name="T22" fmla="*/ 400 w 439"/>
                <a:gd name="T23" fmla="*/ 0 h 391"/>
                <a:gd name="T24" fmla="*/ 426 w 439"/>
                <a:gd name="T25" fmla="*/ 19 h 391"/>
                <a:gd name="T26" fmla="*/ 438 w 439"/>
                <a:gd name="T27" fmla="*/ 60 h 391"/>
                <a:gd name="T28" fmla="*/ 434 w 439"/>
                <a:gd name="T29" fmla="*/ 113 h 391"/>
                <a:gd name="T30" fmla="*/ 419 w 439"/>
                <a:gd name="T31" fmla="*/ 150 h 391"/>
                <a:gd name="T32" fmla="*/ 404 w 439"/>
                <a:gd name="T33" fmla="*/ 150 h 391"/>
                <a:gd name="T34" fmla="*/ 397 w 439"/>
                <a:gd name="T35" fmla="*/ 135 h 391"/>
                <a:gd name="T36" fmla="*/ 374 w 439"/>
                <a:gd name="T37" fmla="*/ 132 h 391"/>
                <a:gd name="T38" fmla="*/ 333 w 439"/>
                <a:gd name="T39" fmla="*/ 188 h 391"/>
                <a:gd name="T40" fmla="*/ 284 w 439"/>
                <a:gd name="T41" fmla="*/ 274 h 391"/>
                <a:gd name="T42" fmla="*/ 251 w 439"/>
                <a:gd name="T43" fmla="*/ 311 h 391"/>
                <a:gd name="T44" fmla="*/ 184 w 439"/>
                <a:gd name="T45" fmla="*/ 334 h 391"/>
                <a:gd name="T46" fmla="*/ 105 w 439"/>
                <a:gd name="T47" fmla="*/ 357 h 391"/>
                <a:gd name="T48" fmla="*/ 53 w 439"/>
                <a:gd name="T49" fmla="*/ 375 h 391"/>
                <a:gd name="T50" fmla="*/ 12 w 439"/>
                <a:gd name="T51" fmla="*/ 390 h 39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39"/>
                <a:gd name="T79" fmla="*/ 0 h 391"/>
                <a:gd name="T80" fmla="*/ 439 w 439"/>
                <a:gd name="T81" fmla="*/ 391 h 39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39" h="391">
                  <a:moveTo>
                    <a:pt x="12" y="390"/>
                  </a:moveTo>
                  <a:lnTo>
                    <a:pt x="0" y="353"/>
                  </a:lnTo>
                  <a:lnTo>
                    <a:pt x="22" y="319"/>
                  </a:lnTo>
                  <a:lnTo>
                    <a:pt x="97" y="289"/>
                  </a:lnTo>
                  <a:lnTo>
                    <a:pt x="184" y="282"/>
                  </a:lnTo>
                  <a:lnTo>
                    <a:pt x="243" y="263"/>
                  </a:lnTo>
                  <a:lnTo>
                    <a:pt x="281" y="229"/>
                  </a:lnTo>
                  <a:lnTo>
                    <a:pt x="322" y="154"/>
                  </a:lnTo>
                  <a:lnTo>
                    <a:pt x="355" y="71"/>
                  </a:lnTo>
                  <a:lnTo>
                    <a:pt x="355" y="30"/>
                  </a:lnTo>
                  <a:lnTo>
                    <a:pt x="374" y="8"/>
                  </a:lnTo>
                  <a:lnTo>
                    <a:pt x="400" y="0"/>
                  </a:lnTo>
                  <a:lnTo>
                    <a:pt x="426" y="19"/>
                  </a:lnTo>
                  <a:lnTo>
                    <a:pt x="438" y="60"/>
                  </a:lnTo>
                  <a:lnTo>
                    <a:pt x="434" y="113"/>
                  </a:lnTo>
                  <a:lnTo>
                    <a:pt x="419" y="150"/>
                  </a:lnTo>
                  <a:lnTo>
                    <a:pt x="404" y="150"/>
                  </a:lnTo>
                  <a:lnTo>
                    <a:pt x="397" y="135"/>
                  </a:lnTo>
                  <a:lnTo>
                    <a:pt x="374" y="132"/>
                  </a:lnTo>
                  <a:lnTo>
                    <a:pt x="333" y="188"/>
                  </a:lnTo>
                  <a:lnTo>
                    <a:pt x="284" y="274"/>
                  </a:lnTo>
                  <a:lnTo>
                    <a:pt x="251" y="311"/>
                  </a:lnTo>
                  <a:lnTo>
                    <a:pt x="184" y="334"/>
                  </a:lnTo>
                  <a:lnTo>
                    <a:pt x="105" y="357"/>
                  </a:lnTo>
                  <a:lnTo>
                    <a:pt x="53" y="375"/>
                  </a:lnTo>
                  <a:lnTo>
                    <a:pt x="12" y="39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5" name="Freeform 58">
              <a:extLst>
                <a:ext uri="{FF2B5EF4-FFF2-40B4-BE49-F238E27FC236}">
                  <a16:creationId xmlns:a16="http://schemas.microsoft.com/office/drawing/2014/main" id="{4D5D3D9A-783F-4F24-BC18-83652CD8C802}"/>
                </a:ext>
              </a:extLst>
            </p:cNvPr>
            <p:cNvSpPr/>
            <p:nvPr/>
          </p:nvSpPr>
          <p:spPr bwMode="auto">
            <a:xfrm>
              <a:off x="898" y="3019"/>
              <a:ext cx="334" cy="579"/>
            </a:xfrm>
            <a:custGeom>
              <a:avLst/>
              <a:gdLst>
                <a:gd name="T0" fmla="*/ 0 w 334"/>
                <a:gd name="T1" fmla="*/ 76 h 579"/>
                <a:gd name="T2" fmla="*/ 18 w 334"/>
                <a:gd name="T3" fmla="*/ 31 h 579"/>
                <a:gd name="T4" fmla="*/ 44 w 334"/>
                <a:gd name="T5" fmla="*/ 0 h 579"/>
                <a:gd name="T6" fmla="*/ 111 w 334"/>
                <a:gd name="T7" fmla="*/ 0 h 579"/>
                <a:gd name="T8" fmla="*/ 179 w 334"/>
                <a:gd name="T9" fmla="*/ 31 h 579"/>
                <a:gd name="T10" fmla="*/ 258 w 334"/>
                <a:gd name="T11" fmla="*/ 116 h 579"/>
                <a:gd name="T12" fmla="*/ 298 w 334"/>
                <a:gd name="T13" fmla="*/ 184 h 579"/>
                <a:gd name="T14" fmla="*/ 325 w 334"/>
                <a:gd name="T15" fmla="*/ 278 h 579"/>
                <a:gd name="T16" fmla="*/ 333 w 334"/>
                <a:gd name="T17" fmla="*/ 386 h 579"/>
                <a:gd name="T18" fmla="*/ 318 w 334"/>
                <a:gd name="T19" fmla="*/ 503 h 579"/>
                <a:gd name="T20" fmla="*/ 280 w 334"/>
                <a:gd name="T21" fmla="*/ 559 h 579"/>
                <a:gd name="T22" fmla="*/ 213 w 334"/>
                <a:gd name="T23" fmla="*/ 578 h 579"/>
                <a:gd name="T24" fmla="*/ 172 w 334"/>
                <a:gd name="T25" fmla="*/ 575 h 579"/>
                <a:gd name="T26" fmla="*/ 138 w 334"/>
                <a:gd name="T27" fmla="*/ 555 h 579"/>
                <a:gd name="T28" fmla="*/ 108 w 334"/>
                <a:gd name="T29" fmla="*/ 529 h 579"/>
                <a:gd name="T30" fmla="*/ 97 w 334"/>
                <a:gd name="T31" fmla="*/ 484 h 579"/>
                <a:gd name="T32" fmla="*/ 104 w 334"/>
                <a:gd name="T33" fmla="*/ 439 h 579"/>
                <a:gd name="T34" fmla="*/ 130 w 334"/>
                <a:gd name="T35" fmla="*/ 413 h 579"/>
                <a:gd name="T36" fmla="*/ 149 w 334"/>
                <a:gd name="T37" fmla="*/ 383 h 579"/>
                <a:gd name="T38" fmla="*/ 156 w 334"/>
                <a:gd name="T39" fmla="*/ 346 h 579"/>
                <a:gd name="T40" fmla="*/ 156 w 334"/>
                <a:gd name="T41" fmla="*/ 311 h 579"/>
                <a:gd name="T42" fmla="*/ 142 w 334"/>
                <a:gd name="T43" fmla="*/ 282 h 579"/>
                <a:gd name="T44" fmla="*/ 89 w 334"/>
                <a:gd name="T45" fmla="*/ 229 h 579"/>
                <a:gd name="T46" fmla="*/ 26 w 334"/>
                <a:gd name="T47" fmla="*/ 169 h 579"/>
                <a:gd name="T48" fmla="*/ 3 w 334"/>
                <a:gd name="T49" fmla="*/ 120 h 579"/>
                <a:gd name="T50" fmla="*/ 0 w 334"/>
                <a:gd name="T51" fmla="*/ 76 h 57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34"/>
                <a:gd name="T79" fmla="*/ 0 h 579"/>
                <a:gd name="T80" fmla="*/ 334 w 334"/>
                <a:gd name="T81" fmla="*/ 579 h 57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34" h="579">
                  <a:moveTo>
                    <a:pt x="0" y="76"/>
                  </a:moveTo>
                  <a:lnTo>
                    <a:pt x="18" y="31"/>
                  </a:lnTo>
                  <a:lnTo>
                    <a:pt x="44" y="0"/>
                  </a:lnTo>
                  <a:lnTo>
                    <a:pt x="111" y="0"/>
                  </a:lnTo>
                  <a:lnTo>
                    <a:pt x="179" y="31"/>
                  </a:lnTo>
                  <a:lnTo>
                    <a:pt x="258" y="116"/>
                  </a:lnTo>
                  <a:lnTo>
                    <a:pt x="298" y="184"/>
                  </a:lnTo>
                  <a:lnTo>
                    <a:pt x="325" y="278"/>
                  </a:lnTo>
                  <a:lnTo>
                    <a:pt x="333" y="386"/>
                  </a:lnTo>
                  <a:lnTo>
                    <a:pt x="318" y="503"/>
                  </a:lnTo>
                  <a:lnTo>
                    <a:pt x="280" y="559"/>
                  </a:lnTo>
                  <a:lnTo>
                    <a:pt x="213" y="578"/>
                  </a:lnTo>
                  <a:lnTo>
                    <a:pt x="172" y="575"/>
                  </a:lnTo>
                  <a:lnTo>
                    <a:pt x="138" y="555"/>
                  </a:lnTo>
                  <a:lnTo>
                    <a:pt x="108" y="529"/>
                  </a:lnTo>
                  <a:lnTo>
                    <a:pt x="97" y="484"/>
                  </a:lnTo>
                  <a:lnTo>
                    <a:pt x="104" y="439"/>
                  </a:lnTo>
                  <a:lnTo>
                    <a:pt x="130" y="413"/>
                  </a:lnTo>
                  <a:lnTo>
                    <a:pt x="149" y="383"/>
                  </a:lnTo>
                  <a:lnTo>
                    <a:pt x="156" y="346"/>
                  </a:lnTo>
                  <a:lnTo>
                    <a:pt x="156" y="311"/>
                  </a:lnTo>
                  <a:lnTo>
                    <a:pt x="142" y="282"/>
                  </a:lnTo>
                  <a:lnTo>
                    <a:pt x="89" y="229"/>
                  </a:lnTo>
                  <a:lnTo>
                    <a:pt x="26" y="169"/>
                  </a:lnTo>
                  <a:lnTo>
                    <a:pt x="3" y="120"/>
                  </a:lnTo>
                  <a:lnTo>
                    <a:pt x="0" y="76"/>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6" name="Freeform 59">
              <a:extLst>
                <a:ext uri="{FF2B5EF4-FFF2-40B4-BE49-F238E27FC236}">
                  <a16:creationId xmlns:a16="http://schemas.microsoft.com/office/drawing/2014/main" id="{C00F4108-49EE-4600-AB7D-F6BB998F1F82}"/>
                </a:ext>
              </a:extLst>
            </p:cNvPr>
            <p:cNvSpPr/>
            <p:nvPr/>
          </p:nvSpPr>
          <p:spPr bwMode="auto">
            <a:xfrm>
              <a:off x="823" y="2626"/>
              <a:ext cx="341" cy="305"/>
            </a:xfrm>
            <a:custGeom>
              <a:avLst/>
              <a:gdLst>
                <a:gd name="T0" fmla="*/ 250 w 342"/>
                <a:gd name="T1" fmla="*/ 166 h 305"/>
                <a:gd name="T2" fmla="*/ 224 w 342"/>
                <a:gd name="T3" fmla="*/ 113 h 305"/>
                <a:gd name="T4" fmla="*/ 176 w 342"/>
                <a:gd name="T5" fmla="*/ 49 h 305"/>
                <a:gd name="T6" fmla="*/ 131 w 342"/>
                <a:gd name="T7" fmla="*/ 8 h 305"/>
                <a:gd name="T8" fmla="*/ 78 w 342"/>
                <a:gd name="T9" fmla="*/ 0 h 305"/>
                <a:gd name="T10" fmla="*/ 34 w 342"/>
                <a:gd name="T11" fmla="*/ 16 h 305"/>
                <a:gd name="T12" fmla="*/ 3 w 342"/>
                <a:gd name="T13" fmla="*/ 53 h 305"/>
                <a:gd name="T14" fmla="*/ 0 w 342"/>
                <a:gd name="T15" fmla="*/ 105 h 305"/>
                <a:gd name="T16" fmla="*/ 22 w 342"/>
                <a:gd name="T17" fmla="*/ 180 h 305"/>
                <a:gd name="T18" fmla="*/ 78 w 342"/>
                <a:gd name="T19" fmla="*/ 251 h 305"/>
                <a:gd name="T20" fmla="*/ 142 w 342"/>
                <a:gd name="T21" fmla="*/ 300 h 305"/>
                <a:gd name="T22" fmla="*/ 202 w 342"/>
                <a:gd name="T23" fmla="*/ 304 h 305"/>
                <a:gd name="T24" fmla="*/ 239 w 342"/>
                <a:gd name="T25" fmla="*/ 289 h 305"/>
                <a:gd name="T26" fmla="*/ 247 w 342"/>
                <a:gd name="T27" fmla="*/ 267 h 305"/>
                <a:gd name="T28" fmla="*/ 250 w 342"/>
                <a:gd name="T29" fmla="*/ 233 h 305"/>
                <a:gd name="T30" fmla="*/ 295 w 342"/>
                <a:gd name="T31" fmla="*/ 241 h 305"/>
                <a:gd name="T32" fmla="*/ 325 w 342"/>
                <a:gd name="T33" fmla="*/ 255 h 305"/>
                <a:gd name="T34" fmla="*/ 341 w 342"/>
                <a:gd name="T35" fmla="*/ 233 h 305"/>
                <a:gd name="T36" fmla="*/ 325 w 342"/>
                <a:gd name="T37" fmla="*/ 218 h 305"/>
                <a:gd name="T38" fmla="*/ 276 w 342"/>
                <a:gd name="T39" fmla="*/ 199 h 305"/>
                <a:gd name="T40" fmla="*/ 247 w 342"/>
                <a:gd name="T41" fmla="*/ 188 h 305"/>
                <a:gd name="T42" fmla="*/ 250 w 342"/>
                <a:gd name="T43" fmla="*/ 166 h 30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42"/>
                <a:gd name="T67" fmla="*/ 0 h 305"/>
                <a:gd name="T68" fmla="*/ 342 w 342"/>
                <a:gd name="T69" fmla="*/ 305 h 30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42" h="305">
                  <a:moveTo>
                    <a:pt x="250" y="166"/>
                  </a:moveTo>
                  <a:lnTo>
                    <a:pt x="224" y="113"/>
                  </a:lnTo>
                  <a:lnTo>
                    <a:pt x="176" y="49"/>
                  </a:lnTo>
                  <a:lnTo>
                    <a:pt x="131" y="8"/>
                  </a:lnTo>
                  <a:lnTo>
                    <a:pt x="78" y="0"/>
                  </a:lnTo>
                  <a:lnTo>
                    <a:pt x="34" y="16"/>
                  </a:lnTo>
                  <a:lnTo>
                    <a:pt x="3" y="53"/>
                  </a:lnTo>
                  <a:lnTo>
                    <a:pt x="0" y="105"/>
                  </a:lnTo>
                  <a:lnTo>
                    <a:pt x="22" y="180"/>
                  </a:lnTo>
                  <a:lnTo>
                    <a:pt x="78" y="251"/>
                  </a:lnTo>
                  <a:lnTo>
                    <a:pt x="142" y="300"/>
                  </a:lnTo>
                  <a:lnTo>
                    <a:pt x="202" y="304"/>
                  </a:lnTo>
                  <a:lnTo>
                    <a:pt x="239" y="289"/>
                  </a:lnTo>
                  <a:lnTo>
                    <a:pt x="247" y="267"/>
                  </a:lnTo>
                  <a:lnTo>
                    <a:pt x="250" y="233"/>
                  </a:lnTo>
                  <a:lnTo>
                    <a:pt x="295" y="241"/>
                  </a:lnTo>
                  <a:lnTo>
                    <a:pt x="325" y="255"/>
                  </a:lnTo>
                  <a:lnTo>
                    <a:pt x="341" y="233"/>
                  </a:lnTo>
                  <a:lnTo>
                    <a:pt x="325" y="218"/>
                  </a:lnTo>
                  <a:lnTo>
                    <a:pt x="276" y="199"/>
                  </a:lnTo>
                  <a:lnTo>
                    <a:pt x="247" y="188"/>
                  </a:lnTo>
                  <a:lnTo>
                    <a:pt x="250" y="166"/>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7" name="Freeform 60">
              <a:extLst>
                <a:ext uri="{FF2B5EF4-FFF2-40B4-BE49-F238E27FC236}">
                  <a16:creationId xmlns:a16="http://schemas.microsoft.com/office/drawing/2014/main" id="{EE720916-F996-4E66-AAFE-8F3EDAA4BEA5}"/>
                </a:ext>
              </a:extLst>
            </p:cNvPr>
            <p:cNvSpPr/>
            <p:nvPr/>
          </p:nvSpPr>
          <p:spPr bwMode="auto">
            <a:xfrm>
              <a:off x="976" y="3499"/>
              <a:ext cx="211" cy="571"/>
            </a:xfrm>
            <a:custGeom>
              <a:avLst/>
              <a:gdLst>
                <a:gd name="T0" fmla="*/ 52 w 211"/>
                <a:gd name="T1" fmla="*/ 0 h 571"/>
                <a:gd name="T2" fmla="*/ 90 w 211"/>
                <a:gd name="T3" fmla="*/ 4 h 571"/>
                <a:gd name="T4" fmla="*/ 116 w 211"/>
                <a:gd name="T5" fmla="*/ 53 h 571"/>
                <a:gd name="T6" fmla="*/ 109 w 211"/>
                <a:gd name="T7" fmla="*/ 102 h 571"/>
                <a:gd name="T8" fmla="*/ 97 w 211"/>
                <a:gd name="T9" fmla="*/ 203 h 571"/>
                <a:gd name="T10" fmla="*/ 101 w 211"/>
                <a:gd name="T11" fmla="*/ 267 h 571"/>
                <a:gd name="T12" fmla="*/ 97 w 211"/>
                <a:gd name="T13" fmla="*/ 331 h 571"/>
                <a:gd name="T14" fmla="*/ 68 w 211"/>
                <a:gd name="T15" fmla="*/ 462 h 571"/>
                <a:gd name="T16" fmla="*/ 60 w 211"/>
                <a:gd name="T17" fmla="*/ 495 h 571"/>
                <a:gd name="T18" fmla="*/ 68 w 211"/>
                <a:gd name="T19" fmla="*/ 503 h 571"/>
                <a:gd name="T20" fmla="*/ 109 w 211"/>
                <a:gd name="T21" fmla="*/ 481 h 571"/>
                <a:gd name="T22" fmla="*/ 176 w 211"/>
                <a:gd name="T23" fmla="*/ 469 h 571"/>
                <a:gd name="T24" fmla="*/ 210 w 211"/>
                <a:gd name="T25" fmla="*/ 485 h 571"/>
                <a:gd name="T26" fmla="*/ 206 w 211"/>
                <a:gd name="T27" fmla="*/ 511 h 571"/>
                <a:gd name="T28" fmla="*/ 161 w 211"/>
                <a:gd name="T29" fmla="*/ 522 h 571"/>
                <a:gd name="T30" fmla="*/ 109 w 211"/>
                <a:gd name="T31" fmla="*/ 526 h 571"/>
                <a:gd name="T32" fmla="*/ 56 w 211"/>
                <a:gd name="T33" fmla="*/ 548 h 571"/>
                <a:gd name="T34" fmla="*/ 16 w 211"/>
                <a:gd name="T35" fmla="*/ 570 h 571"/>
                <a:gd name="T36" fmla="*/ 0 w 211"/>
                <a:gd name="T37" fmla="*/ 560 h 571"/>
                <a:gd name="T38" fmla="*/ 0 w 211"/>
                <a:gd name="T39" fmla="*/ 522 h 571"/>
                <a:gd name="T40" fmla="*/ 30 w 211"/>
                <a:gd name="T41" fmla="*/ 451 h 571"/>
                <a:gd name="T42" fmla="*/ 45 w 211"/>
                <a:gd name="T43" fmla="*/ 368 h 571"/>
                <a:gd name="T44" fmla="*/ 52 w 211"/>
                <a:gd name="T45" fmla="*/ 252 h 571"/>
                <a:gd name="T46" fmla="*/ 38 w 211"/>
                <a:gd name="T47" fmla="*/ 147 h 571"/>
                <a:gd name="T48" fmla="*/ 23 w 211"/>
                <a:gd name="T49" fmla="*/ 65 h 571"/>
                <a:gd name="T50" fmla="*/ 38 w 211"/>
                <a:gd name="T51" fmla="*/ 0 h 571"/>
                <a:gd name="T52" fmla="*/ 52 w 211"/>
                <a:gd name="T53" fmla="*/ 0 h 5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11"/>
                <a:gd name="T82" fmla="*/ 0 h 571"/>
                <a:gd name="T83" fmla="*/ 211 w 211"/>
                <a:gd name="T84" fmla="*/ 571 h 5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11" h="571">
                  <a:moveTo>
                    <a:pt x="52" y="0"/>
                  </a:moveTo>
                  <a:lnTo>
                    <a:pt x="90" y="4"/>
                  </a:lnTo>
                  <a:lnTo>
                    <a:pt x="116" y="53"/>
                  </a:lnTo>
                  <a:lnTo>
                    <a:pt x="109" y="102"/>
                  </a:lnTo>
                  <a:lnTo>
                    <a:pt x="97" y="203"/>
                  </a:lnTo>
                  <a:lnTo>
                    <a:pt x="101" y="267"/>
                  </a:lnTo>
                  <a:lnTo>
                    <a:pt x="97" y="331"/>
                  </a:lnTo>
                  <a:lnTo>
                    <a:pt x="68" y="462"/>
                  </a:lnTo>
                  <a:lnTo>
                    <a:pt x="60" y="495"/>
                  </a:lnTo>
                  <a:lnTo>
                    <a:pt x="68" y="503"/>
                  </a:lnTo>
                  <a:lnTo>
                    <a:pt x="109" y="481"/>
                  </a:lnTo>
                  <a:lnTo>
                    <a:pt x="176" y="469"/>
                  </a:lnTo>
                  <a:lnTo>
                    <a:pt x="210" y="485"/>
                  </a:lnTo>
                  <a:lnTo>
                    <a:pt x="206" y="511"/>
                  </a:lnTo>
                  <a:lnTo>
                    <a:pt x="161" y="522"/>
                  </a:lnTo>
                  <a:lnTo>
                    <a:pt x="109" y="526"/>
                  </a:lnTo>
                  <a:lnTo>
                    <a:pt x="56" y="548"/>
                  </a:lnTo>
                  <a:lnTo>
                    <a:pt x="16" y="570"/>
                  </a:lnTo>
                  <a:lnTo>
                    <a:pt x="0" y="560"/>
                  </a:lnTo>
                  <a:lnTo>
                    <a:pt x="0" y="522"/>
                  </a:lnTo>
                  <a:lnTo>
                    <a:pt x="30" y="451"/>
                  </a:lnTo>
                  <a:lnTo>
                    <a:pt x="45" y="368"/>
                  </a:lnTo>
                  <a:lnTo>
                    <a:pt x="52" y="252"/>
                  </a:lnTo>
                  <a:lnTo>
                    <a:pt x="38" y="147"/>
                  </a:lnTo>
                  <a:lnTo>
                    <a:pt x="23" y="65"/>
                  </a:lnTo>
                  <a:lnTo>
                    <a:pt x="38" y="0"/>
                  </a:lnTo>
                  <a:lnTo>
                    <a:pt x="52"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8" name="Freeform 61">
              <a:extLst>
                <a:ext uri="{FF2B5EF4-FFF2-40B4-BE49-F238E27FC236}">
                  <a16:creationId xmlns:a16="http://schemas.microsoft.com/office/drawing/2014/main" id="{6B702B12-371F-4304-ACCA-B2544FCBB07C}"/>
                </a:ext>
              </a:extLst>
            </p:cNvPr>
            <p:cNvSpPr/>
            <p:nvPr/>
          </p:nvSpPr>
          <p:spPr bwMode="auto">
            <a:xfrm>
              <a:off x="1092" y="3448"/>
              <a:ext cx="338" cy="664"/>
            </a:xfrm>
            <a:custGeom>
              <a:avLst/>
              <a:gdLst>
                <a:gd name="T0" fmla="*/ 72 w 338"/>
                <a:gd name="T1" fmla="*/ 7 h 665"/>
                <a:gd name="T2" fmla="*/ 19 w 338"/>
                <a:gd name="T3" fmla="*/ 0 h 665"/>
                <a:gd name="T4" fmla="*/ 0 w 338"/>
                <a:gd name="T5" fmla="*/ 38 h 665"/>
                <a:gd name="T6" fmla="*/ 19 w 338"/>
                <a:gd name="T7" fmla="*/ 82 h 665"/>
                <a:gd name="T8" fmla="*/ 72 w 338"/>
                <a:gd name="T9" fmla="*/ 157 h 665"/>
                <a:gd name="T10" fmla="*/ 112 w 338"/>
                <a:gd name="T11" fmla="*/ 267 h 665"/>
                <a:gd name="T12" fmla="*/ 127 w 338"/>
                <a:gd name="T13" fmla="*/ 356 h 665"/>
                <a:gd name="T14" fmla="*/ 120 w 338"/>
                <a:gd name="T15" fmla="*/ 450 h 665"/>
                <a:gd name="T16" fmla="*/ 105 w 338"/>
                <a:gd name="T17" fmla="*/ 570 h 665"/>
                <a:gd name="T18" fmla="*/ 90 w 338"/>
                <a:gd name="T19" fmla="*/ 638 h 665"/>
                <a:gd name="T20" fmla="*/ 98 w 338"/>
                <a:gd name="T21" fmla="*/ 664 h 665"/>
                <a:gd name="T22" fmla="*/ 124 w 338"/>
                <a:gd name="T23" fmla="*/ 664 h 665"/>
                <a:gd name="T24" fmla="*/ 172 w 338"/>
                <a:gd name="T25" fmla="*/ 641 h 665"/>
                <a:gd name="T26" fmla="*/ 247 w 338"/>
                <a:gd name="T27" fmla="*/ 626 h 665"/>
                <a:gd name="T28" fmla="*/ 326 w 338"/>
                <a:gd name="T29" fmla="*/ 626 h 665"/>
                <a:gd name="T30" fmla="*/ 337 w 338"/>
                <a:gd name="T31" fmla="*/ 604 h 665"/>
                <a:gd name="T32" fmla="*/ 292 w 338"/>
                <a:gd name="T33" fmla="*/ 574 h 665"/>
                <a:gd name="T34" fmla="*/ 269 w 338"/>
                <a:gd name="T35" fmla="*/ 574 h 665"/>
                <a:gd name="T36" fmla="*/ 172 w 338"/>
                <a:gd name="T37" fmla="*/ 604 h 665"/>
                <a:gd name="T38" fmla="*/ 143 w 338"/>
                <a:gd name="T39" fmla="*/ 615 h 665"/>
                <a:gd name="T40" fmla="*/ 135 w 338"/>
                <a:gd name="T41" fmla="*/ 600 h 665"/>
                <a:gd name="T42" fmla="*/ 150 w 338"/>
                <a:gd name="T43" fmla="*/ 503 h 665"/>
                <a:gd name="T44" fmla="*/ 169 w 338"/>
                <a:gd name="T45" fmla="*/ 397 h 665"/>
                <a:gd name="T46" fmla="*/ 172 w 338"/>
                <a:gd name="T47" fmla="*/ 304 h 665"/>
                <a:gd name="T48" fmla="*/ 157 w 338"/>
                <a:gd name="T49" fmla="*/ 210 h 665"/>
                <a:gd name="T50" fmla="*/ 131 w 338"/>
                <a:gd name="T51" fmla="*/ 101 h 665"/>
                <a:gd name="T52" fmla="*/ 101 w 338"/>
                <a:gd name="T53" fmla="*/ 19 h 665"/>
                <a:gd name="T54" fmla="*/ 72 w 338"/>
                <a:gd name="T55" fmla="*/ 7 h 66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38"/>
                <a:gd name="T85" fmla="*/ 0 h 665"/>
                <a:gd name="T86" fmla="*/ 338 w 338"/>
                <a:gd name="T87" fmla="*/ 665 h 66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38" h="665">
                  <a:moveTo>
                    <a:pt x="72" y="7"/>
                  </a:moveTo>
                  <a:lnTo>
                    <a:pt x="19" y="0"/>
                  </a:lnTo>
                  <a:lnTo>
                    <a:pt x="0" y="38"/>
                  </a:lnTo>
                  <a:lnTo>
                    <a:pt x="19" y="82"/>
                  </a:lnTo>
                  <a:lnTo>
                    <a:pt x="72" y="157"/>
                  </a:lnTo>
                  <a:lnTo>
                    <a:pt x="112" y="267"/>
                  </a:lnTo>
                  <a:lnTo>
                    <a:pt x="127" y="356"/>
                  </a:lnTo>
                  <a:lnTo>
                    <a:pt x="120" y="450"/>
                  </a:lnTo>
                  <a:lnTo>
                    <a:pt x="105" y="570"/>
                  </a:lnTo>
                  <a:lnTo>
                    <a:pt x="90" y="638"/>
                  </a:lnTo>
                  <a:lnTo>
                    <a:pt x="98" y="664"/>
                  </a:lnTo>
                  <a:lnTo>
                    <a:pt x="124" y="664"/>
                  </a:lnTo>
                  <a:lnTo>
                    <a:pt x="172" y="641"/>
                  </a:lnTo>
                  <a:lnTo>
                    <a:pt x="247" y="626"/>
                  </a:lnTo>
                  <a:lnTo>
                    <a:pt x="326" y="626"/>
                  </a:lnTo>
                  <a:lnTo>
                    <a:pt x="337" y="604"/>
                  </a:lnTo>
                  <a:lnTo>
                    <a:pt x="292" y="574"/>
                  </a:lnTo>
                  <a:lnTo>
                    <a:pt x="269" y="574"/>
                  </a:lnTo>
                  <a:lnTo>
                    <a:pt x="172" y="604"/>
                  </a:lnTo>
                  <a:lnTo>
                    <a:pt x="143" y="615"/>
                  </a:lnTo>
                  <a:lnTo>
                    <a:pt x="135" y="600"/>
                  </a:lnTo>
                  <a:lnTo>
                    <a:pt x="150" y="503"/>
                  </a:lnTo>
                  <a:lnTo>
                    <a:pt x="169" y="397"/>
                  </a:lnTo>
                  <a:lnTo>
                    <a:pt x="172" y="304"/>
                  </a:lnTo>
                  <a:lnTo>
                    <a:pt x="157" y="210"/>
                  </a:lnTo>
                  <a:lnTo>
                    <a:pt x="131" y="101"/>
                  </a:lnTo>
                  <a:lnTo>
                    <a:pt x="101" y="19"/>
                  </a:lnTo>
                  <a:lnTo>
                    <a:pt x="72" y="7"/>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9" name="Rectangle 62">
              <a:extLst>
                <a:ext uri="{FF2B5EF4-FFF2-40B4-BE49-F238E27FC236}">
                  <a16:creationId xmlns:a16="http://schemas.microsoft.com/office/drawing/2014/main" id="{5D49B7E8-130F-4591-9AB6-C577ED687F23}"/>
                </a:ext>
              </a:extLst>
            </p:cNvPr>
            <p:cNvSpPr>
              <a:spLocks noChangeArrowheads="1"/>
            </p:cNvSpPr>
            <p:nvPr/>
          </p:nvSpPr>
          <p:spPr bwMode="auto">
            <a:xfrm>
              <a:off x="596" y="4006"/>
              <a:ext cx="1816" cy="620"/>
            </a:xfrm>
            <a:prstGeom prst="rect">
              <a:avLst/>
            </a:prstGeom>
            <a:noFill/>
            <a:ln w="9525">
              <a:noFill/>
              <a:miter lim="800000"/>
            </a:ln>
            <a:effectLst/>
          </p:spPr>
          <p:txBody>
            <a:bodyPr wrap="none" lIns="92075" tIns="46038" rIns="92075" bIns="46038">
              <a:spAutoFit/>
            </a:bodyPr>
            <a:lstStyle/>
            <a:p>
              <a:pPr fontAlgn="auto">
                <a:spcBef>
                  <a:spcPct val="20000"/>
                </a:spcBef>
                <a:spcAft>
                  <a:spcPts val="0"/>
                </a:spcAft>
                <a:defRPr/>
              </a:pPr>
              <a:r>
                <a:rPr kumimoji="1" lang="zh-CN" altLang="en-US" sz="2800" kern="0" dirty="0">
                  <a:solidFill>
                    <a:srgbClr val="FF3300"/>
                  </a:solidFill>
                  <a:effectLst>
                    <a:outerShdw blurRad="38100" dist="38100" dir="2700000" algn="tl">
                      <a:srgbClr val="000000"/>
                    </a:outerShdw>
                  </a:effectLst>
                  <a:latin typeface="华文仿宋" panose="02010600040101010101" pitchFamily="2" charset="-122"/>
                  <a:ea typeface="华文仿宋" panose="02010600040101010101" pitchFamily="2" charset="-122"/>
                </a:rPr>
                <a:t>测试评估</a:t>
              </a:r>
            </a:p>
          </p:txBody>
        </p:sp>
        <p:graphicFrame>
          <p:nvGraphicFramePr>
            <p:cNvPr id="60" name="Object 8">
              <a:extLst>
                <a:ext uri="{FF2B5EF4-FFF2-40B4-BE49-F238E27FC236}">
                  <a16:creationId xmlns:a16="http://schemas.microsoft.com/office/drawing/2014/main" id="{1717B48F-5F58-4012-8D17-7D32D05E0A93}"/>
                </a:ext>
              </a:extLst>
            </p:cNvPr>
            <p:cNvGraphicFramePr>
              <a:graphicFrameLocks/>
            </p:cNvGraphicFramePr>
            <p:nvPr/>
          </p:nvGraphicFramePr>
          <p:xfrm>
            <a:off x="1421" y="2683"/>
            <a:ext cx="259" cy="382"/>
          </p:xfrm>
          <a:graphic>
            <a:graphicData uri="http://schemas.openxmlformats.org/presentationml/2006/ole">
              <mc:AlternateContent xmlns:mc="http://schemas.openxmlformats.org/markup-compatibility/2006">
                <mc:Choice xmlns:v="urn:schemas-microsoft-com:vml" Requires="v">
                  <p:oleObj spid="_x0000_s27677" r:id="rId9" imgW="2490299" imgH="3663192" progId="">
                    <p:embed/>
                  </p:oleObj>
                </mc:Choice>
                <mc:Fallback>
                  <p:oleObj r:id="rId9" imgW="2490299" imgH="3663192" progId="">
                    <p:embed/>
                    <p:pic>
                      <p:nvPicPr>
                        <p:cNvPr id="60" name="Object 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1" y="2683"/>
                          <a:ext cx="259"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3167957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F0E94C-0089-4E04-92A0-123778E5373B}"/>
              </a:ext>
            </a:extLst>
          </p:cNvPr>
          <p:cNvSpPr/>
          <p:nvPr/>
        </p:nvSpPr>
        <p:spPr>
          <a:xfrm>
            <a:off x="7422802" y="441851"/>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3" name="矩形 2">
            <a:extLst>
              <a:ext uri="{FF2B5EF4-FFF2-40B4-BE49-F238E27FC236}">
                <a16:creationId xmlns:a16="http://schemas.microsoft.com/office/drawing/2014/main" id="{0E3EAACA-359E-4E26-84EF-71C286993DB9}"/>
              </a:ext>
            </a:extLst>
          </p:cNvPr>
          <p:cNvSpPr/>
          <p:nvPr/>
        </p:nvSpPr>
        <p:spPr>
          <a:xfrm>
            <a:off x="5103256" y="1196462"/>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软件测试过程</a:t>
            </a:r>
            <a:endParaRPr lang="en-US" altLang="zh-CN" sz="3200" b="1" dirty="0">
              <a:latin typeface="华文仿宋" panose="02010600040101010101" pitchFamily="2" charset="-122"/>
              <a:ea typeface="华文仿宋" panose="02010600040101010101" pitchFamily="2" charset="-122"/>
            </a:endParaRPr>
          </a:p>
        </p:txBody>
      </p:sp>
      <p:grpSp>
        <p:nvGrpSpPr>
          <p:cNvPr id="4" name="组合 3">
            <a:extLst>
              <a:ext uri="{FF2B5EF4-FFF2-40B4-BE49-F238E27FC236}">
                <a16:creationId xmlns:a16="http://schemas.microsoft.com/office/drawing/2014/main" id="{A5946F37-8510-45D5-8CBB-3325EA156E81}"/>
              </a:ext>
            </a:extLst>
          </p:cNvPr>
          <p:cNvGrpSpPr/>
          <p:nvPr/>
        </p:nvGrpSpPr>
        <p:grpSpPr>
          <a:xfrm>
            <a:off x="3612318" y="2385343"/>
            <a:ext cx="5431493" cy="4087380"/>
            <a:chOff x="2163107" y="1889626"/>
            <a:chExt cx="5431493" cy="4087380"/>
          </a:xfrm>
        </p:grpSpPr>
        <p:grpSp>
          <p:nvGrpSpPr>
            <p:cNvPr id="5" name="Group 7">
              <a:extLst>
                <a:ext uri="{FF2B5EF4-FFF2-40B4-BE49-F238E27FC236}">
                  <a16:creationId xmlns:a16="http://schemas.microsoft.com/office/drawing/2014/main" id="{CCB9D7D2-B956-4E5E-887F-70CF1A2A562E}"/>
                </a:ext>
              </a:extLst>
            </p:cNvPr>
            <p:cNvGrpSpPr>
              <a:grpSpLocks/>
            </p:cNvGrpSpPr>
            <p:nvPr/>
          </p:nvGrpSpPr>
          <p:grpSpPr bwMode="auto">
            <a:xfrm>
              <a:off x="2163107" y="2130229"/>
              <a:ext cx="1624013" cy="1959431"/>
              <a:chOff x="374" y="501"/>
              <a:chExt cx="1411" cy="2146"/>
            </a:xfrm>
          </p:grpSpPr>
          <p:graphicFrame>
            <p:nvGraphicFramePr>
              <p:cNvPr id="59" name="Object 4">
                <a:extLst>
                  <a:ext uri="{FF2B5EF4-FFF2-40B4-BE49-F238E27FC236}">
                    <a16:creationId xmlns:a16="http://schemas.microsoft.com/office/drawing/2014/main" id="{7FE9CF8B-8888-4519-9BA5-321A2716EF4D}"/>
                  </a:ext>
                </a:extLst>
              </p:cNvPr>
              <p:cNvGraphicFramePr>
                <a:graphicFrameLocks/>
              </p:cNvGraphicFramePr>
              <p:nvPr/>
            </p:nvGraphicFramePr>
            <p:xfrm>
              <a:off x="414" y="501"/>
              <a:ext cx="1371" cy="1684"/>
            </p:xfrm>
            <a:graphic>
              <a:graphicData uri="http://schemas.openxmlformats.org/presentationml/2006/ole">
                <mc:AlternateContent xmlns:mc="http://schemas.openxmlformats.org/markup-compatibility/2006">
                  <mc:Choice xmlns:v="urn:schemas-microsoft-com:vml" Requires="v">
                    <p:oleObj spid="_x0000_s28698" r:id="rId3" imgW="2979111" imgH="3659389" progId="">
                      <p:embed/>
                    </p:oleObj>
                  </mc:Choice>
                  <mc:Fallback>
                    <p:oleObj r:id="rId3" imgW="2979111" imgH="3659389" progId="">
                      <p:embed/>
                      <p:pic>
                        <p:nvPicPr>
                          <p:cNvPr id="6"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 y="501"/>
                            <a:ext cx="1371" cy="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 name="Rectangle 6">
                <a:extLst>
                  <a:ext uri="{FF2B5EF4-FFF2-40B4-BE49-F238E27FC236}">
                    <a16:creationId xmlns:a16="http://schemas.microsoft.com/office/drawing/2014/main" id="{289A4F77-0D13-4691-BB0E-50E2A0A9682D}"/>
                  </a:ext>
                </a:extLst>
              </p:cNvPr>
              <p:cNvSpPr>
                <a:spLocks noChangeArrowheads="1"/>
              </p:cNvSpPr>
              <p:nvPr/>
            </p:nvSpPr>
            <p:spPr bwMode="auto">
              <a:xfrm>
                <a:off x="374" y="2073"/>
                <a:ext cx="1409" cy="574"/>
              </a:xfrm>
              <a:prstGeom prst="rect">
                <a:avLst/>
              </a:prstGeom>
              <a:noFill/>
              <a:ln w="9525">
                <a:noFill/>
                <a:miter lim="800000"/>
              </a:ln>
              <a:effectLst/>
            </p:spPr>
            <p:txBody>
              <a:bodyPr wrap="none" lIns="92075" tIns="46038" rIns="92075" bIns="46038">
                <a:spAutoFit/>
              </a:bodyPr>
              <a:lstStyle/>
              <a:p>
                <a:pPr fontAlgn="auto">
                  <a:spcBef>
                    <a:spcPct val="20000"/>
                  </a:spcBef>
                  <a:spcAft>
                    <a:spcPts val="0"/>
                  </a:spcAft>
                  <a:defRPr/>
                </a:pPr>
                <a:r>
                  <a:rPr kumimoji="1" lang="zh-CN" altLang="en-US" sz="2800" kern="0" dirty="0">
                    <a:solidFill>
                      <a:srgbClr val="FF3300"/>
                    </a:solidFill>
                    <a:effectLst>
                      <a:outerShdw blurRad="38100" dist="38100" dir="2700000" algn="tl">
                        <a:srgbClr val="000000"/>
                      </a:outerShdw>
                    </a:effectLst>
                    <a:latin typeface="仿宋" panose="02010609060101010101" pitchFamily="49" charset="-122"/>
                    <a:ea typeface="仿宋" panose="02010609060101010101" pitchFamily="49" charset="-122"/>
                  </a:rPr>
                  <a:t>测试计划</a:t>
                </a:r>
              </a:p>
            </p:txBody>
          </p:sp>
        </p:grpSp>
        <p:sp>
          <p:nvSpPr>
            <p:cNvPr id="6" name="Arc 8">
              <a:extLst>
                <a:ext uri="{FF2B5EF4-FFF2-40B4-BE49-F238E27FC236}">
                  <a16:creationId xmlns:a16="http://schemas.microsoft.com/office/drawing/2014/main" id="{BCC5B81D-C7C2-4A86-BFA9-F3CF7B0B5428}"/>
                </a:ext>
              </a:extLst>
            </p:cNvPr>
            <p:cNvSpPr/>
            <p:nvPr/>
          </p:nvSpPr>
          <p:spPr bwMode="auto">
            <a:xfrm rot="9751814">
              <a:off x="3986213" y="2500814"/>
              <a:ext cx="1268412" cy="428625"/>
            </a:xfrm>
            <a:custGeom>
              <a:avLst/>
              <a:gdLst>
                <a:gd name="T0" fmla="*/ 2147483647 w 37391"/>
                <a:gd name="T1" fmla="*/ 2147483647 h 21600"/>
                <a:gd name="T2" fmla="*/ 0 w 37391"/>
                <a:gd name="T3" fmla="*/ 2147483647 h 21600"/>
                <a:gd name="T4" fmla="*/ 2147483647 w 37391"/>
                <a:gd name="T5" fmla="*/ 0 h 21600"/>
                <a:gd name="T6" fmla="*/ 0 60000 65536"/>
                <a:gd name="T7" fmla="*/ 0 60000 65536"/>
                <a:gd name="T8" fmla="*/ 0 60000 65536"/>
                <a:gd name="T9" fmla="*/ 0 w 37391"/>
                <a:gd name="T10" fmla="*/ 0 h 21600"/>
                <a:gd name="T11" fmla="*/ 37391 w 37391"/>
                <a:gd name="T12" fmla="*/ 21600 h 21600"/>
              </a:gdLst>
              <a:ahLst/>
              <a:cxnLst>
                <a:cxn ang="T6">
                  <a:pos x="T0" y="T1"/>
                </a:cxn>
                <a:cxn ang="T7">
                  <a:pos x="T2" y="T3"/>
                </a:cxn>
                <a:cxn ang="T8">
                  <a:pos x="T4" y="T5"/>
                </a:cxn>
              </a:cxnLst>
              <a:rect l="T9" t="T10" r="T11" b="T12"/>
              <a:pathLst>
                <a:path w="37391" h="21600" fill="none" extrusionOk="0">
                  <a:moveTo>
                    <a:pt x="37391" y="12212"/>
                  </a:moveTo>
                  <a:cubicBezTo>
                    <a:pt x="33363" y="18087"/>
                    <a:pt x="26698" y="21599"/>
                    <a:pt x="19575" y="21600"/>
                  </a:cubicBezTo>
                  <a:cubicBezTo>
                    <a:pt x="11181" y="21600"/>
                    <a:pt x="3548" y="16737"/>
                    <a:pt x="-1" y="9131"/>
                  </a:cubicBezTo>
                </a:path>
                <a:path w="37391" h="21600" stroke="0" extrusionOk="0">
                  <a:moveTo>
                    <a:pt x="37391" y="12212"/>
                  </a:moveTo>
                  <a:cubicBezTo>
                    <a:pt x="33363" y="18087"/>
                    <a:pt x="26698" y="21599"/>
                    <a:pt x="19575" y="21600"/>
                  </a:cubicBezTo>
                  <a:cubicBezTo>
                    <a:pt x="11181" y="21600"/>
                    <a:pt x="3548" y="16737"/>
                    <a:pt x="-1" y="9131"/>
                  </a:cubicBezTo>
                  <a:lnTo>
                    <a:pt x="19575" y="0"/>
                  </a:lnTo>
                  <a:close/>
                </a:path>
              </a:pathLst>
            </a:custGeom>
            <a:noFill/>
            <a:ln w="50800" cap="rnd">
              <a:solidFill>
                <a:srgbClr val="80808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nvGrpSpPr>
            <p:cNvPr id="7" name="Group 45">
              <a:extLst>
                <a:ext uri="{FF2B5EF4-FFF2-40B4-BE49-F238E27FC236}">
                  <a16:creationId xmlns:a16="http://schemas.microsoft.com/office/drawing/2014/main" id="{4E704D8F-08B1-47E4-9EB3-D4263E13604A}"/>
                </a:ext>
              </a:extLst>
            </p:cNvPr>
            <p:cNvGrpSpPr>
              <a:grpSpLocks/>
            </p:cNvGrpSpPr>
            <p:nvPr/>
          </p:nvGrpSpPr>
          <p:grpSpPr bwMode="auto">
            <a:xfrm>
              <a:off x="5322888" y="1889626"/>
              <a:ext cx="1820862" cy="1948564"/>
              <a:chOff x="2486" y="838"/>
              <a:chExt cx="1429" cy="1624"/>
            </a:xfrm>
          </p:grpSpPr>
          <p:grpSp>
            <p:nvGrpSpPr>
              <p:cNvPr id="23" name="Group 11">
                <a:extLst>
                  <a:ext uri="{FF2B5EF4-FFF2-40B4-BE49-F238E27FC236}">
                    <a16:creationId xmlns:a16="http://schemas.microsoft.com/office/drawing/2014/main" id="{285A6B87-0911-4626-809F-02E150CEAE70}"/>
                  </a:ext>
                </a:extLst>
              </p:cNvPr>
              <p:cNvGrpSpPr>
                <a:grpSpLocks/>
              </p:cNvGrpSpPr>
              <p:nvPr/>
            </p:nvGrpSpPr>
            <p:grpSpPr bwMode="auto">
              <a:xfrm>
                <a:off x="2486" y="838"/>
                <a:ext cx="1429" cy="1624"/>
                <a:chOff x="2486" y="838"/>
                <a:chExt cx="1429" cy="1624"/>
              </a:xfrm>
            </p:grpSpPr>
            <p:graphicFrame>
              <p:nvGraphicFramePr>
                <p:cNvPr id="57" name="Object 5">
                  <a:extLst>
                    <a:ext uri="{FF2B5EF4-FFF2-40B4-BE49-F238E27FC236}">
                      <a16:creationId xmlns:a16="http://schemas.microsoft.com/office/drawing/2014/main" id="{830C6F6D-2771-47D5-867D-9BF8B094D5C0}"/>
                    </a:ext>
                  </a:extLst>
                </p:cNvPr>
                <p:cNvGraphicFramePr>
                  <a:graphicFrameLocks/>
                </p:cNvGraphicFramePr>
                <p:nvPr/>
              </p:nvGraphicFramePr>
              <p:xfrm>
                <a:off x="2519" y="838"/>
                <a:ext cx="1396" cy="1300"/>
              </p:xfrm>
              <a:graphic>
                <a:graphicData uri="http://schemas.openxmlformats.org/presentationml/2006/ole">
                  <mc:AlternateContent xmlns:mc="http://schemas.openxmlformats.org/markup-compatibility/2006">
                    <mc:Choice xmlns:v="urn:schemas-microsoft-com:vml" Requires="v">
                      <p:oleObj spid="_x0000_s28699" r:id="rId5" imgW="3660136" imgH="2745736" progId="">
                        <p:embed/>
                      </p:oleObj>
                    </mc:Choice>
                    <mc:Fallback>
                      <p:oleObj r:id="rId5" imgW="3660136" imgH="2745736" progId="">
                        <p:embed/>
                        <p:pic>
                          <p:nvPicPr>
                            <p:cNvPr id="44"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9" y="838"/>
                              <a:ext cx="1396" cy="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 name="Rectangle 10">
                  <a:extLst>
                    <a:ext uri="{FF2B5EF4-FFF2-40B4-BE49-F238E27FC236}">
                      <a16:creationId xmlns:a16="http://schemas.microsoft.com/office/drawing/2014/main" id="{A4058EC3-6006-4F36-98E4-D2A66F484FAA}"/>
                    </a:ext>
                  </a:extLst>
                </p:cNvPr>
                <p:cNvSpPr>
                  <a:spLocks noChangeArrowheads="1"/>
                </p:cNvSpPr>
                <p:nvPr/>
              </p:nvSpPr>
              <p:spPr bwMode="auto">
                <a:xfrm>
                  <a:off x="2486" y="2025"/>
                  <a:ext cx="1273" cy="437"/>
                </a:xfrm>
                <a:prstGeom prst="rect">
                  <a:avLst/>
                </a:prstGeom>
                <a:noFill/>
                <a:ln w="9525">
                  <a:noFill/>
                  <a:miter lim="800000"/>
                </a:ln>
                <a:effectLst/>
              </p:spPr>
              <p:txBody>
                <a:bodyPr wrap="none" lIns="92075" tIns="46038" rIns="92075" bIns="46038">
                  <a:spAutoFit/>
                </a:bodyPr>
                <a:lstStyle/>
                <a:p>
                  <a:pPr fontAlgn="auto">
                    <a:spcBef>
                      <a:spcPct val="20000"/>
                    </a:spcBef>
                    <a:spcAft>
                      <a:spcPts val="0"/>
                    </a:spcAft>
                    <a:defRPr/>
                  </a:pPr>
                  <a:r>
                    <a:rPr kumimoji="1" lang="zh-CN" altLang="en-US" sz="2800" kern="0" dirty="0">
                      <a:solidFill>
                        <a:srgbClr val="FF3300"/>
                      </a:solidFill>
                      <a:effectLst>
                        <a:outerShdw blurRad="38100" dist="38100" dir="2700000" algn="tl">
                          <a:srgbClr val="000000"/>
                        </a:outerShdw>
                      </a:effectLst>
                      <a:latin typeface="华文仿宋" panose="02010600040101010101" pitchFamily="2" charset="-122"/>
                      <a:ea typeface="华文仿宋" panose="02010600040101010101" pitchFamily="2" charset="-122"/>
                    </a:rPr>
                    <a:t>测试设计</a:t>
                  </a:r>
                </a:p>
              </p:txBody>
            </p:sp>
          </p:grpSp>
          <p:grpSp>
            <p:nvGrpSpPr>
              <p:cNvPr id="24" name="Group 44">
                <a:extLst>
                  <a:ext uri="{FF2B5EF4-FFF2-40B4-BE49-F238E27FC236}">
                    <a16:creationId xmlns:a16="http://schemas.microsoft.com/office/drawing/2014/main" id="{8D448CED-2EA4-4979-818E-E4ADF4718C46}"/>
                  </a:ext>
                </a:extLst>
              </p:cNvPr>
              <p:cNvGrpSpPr>
                <a:grpSpLocks/>
              </p:cNvGrpSpPr>
              <p:nvPr/>
            </p:nvGrpSpPr>
            <p:grpSpPr bwMode="auto">
              <a:xfrm>
                <a:off x="2583" y="1262"/>
                <a:ext cx="202" cy="323"/>
                <a:chOff x="2583" y="1262"/>
                <a:chExt cx="202" cy="323"/>
              </a:xfrm>
            </p:grpSpPr>
            <p:grpSp>
              <p:nvGrpSpPr>
                <p:cNvPr id="25" name="Group 21">
                  <a:extLst>
                    <a:ext uri="{FF2B5EF4-FFF2-40B4-BE49-F238E27FC236}">
                      <a16:creationId xmlns:a16="http://schemas.microsoft.com/office/drawing/2014/main" id="{3B4988ED-0EA5-4496-B121-67DB0C0240F3}"/>
                    </a:ext>
                  </a:extLst>
                </p:cNvPr>
                <p:cNvGrpSpPr>
                  <a:grpSpLocks/>
                </p:cNvGrpSpPr>
                <p:nvPr/>
              </p:nvGrpSpPr>
              <p:grpSpPr bwMode="auto">
                <a:xfrm>
                  <a:off x="2624" y="1355"/>
                  <a:ext cx="161" cy="230"/>
                  <a:chOff x="2624" y="1355"/>
                  <a:chExt cx="161" cy="230"/>
                </a:xfrm>
              </p:grpSpPr>
              <p:grpSp>
                <p:nvGrpSpPr>
                  <p:cNvPr id="48" name="Group 15">
                    <a:extLst>
                      <a:ext uri="{FF2B5EF4-FFF2-40B4-BE49-F238E27FC236}">
                        <a16:creationId xmlns:a16="http://schemas.microsoft.com/office/drawing/2014/main" id="{35FBF528-953B-4FF1-885E-8B1582E82852}"/>
                      </a:ext>
                    </a:extLst>
                  </p:cNvPr>
                  <p:cNvGrpSpPr>
                    <a:grpSpLocks/>
                  </p:cNvGrpSpPr>
                  <p:nvPr/>
                </p:nvGrpSpPr>
                <p:grpSpPr bwMode="auto">
                  <a:xfrm>
                    <a:off x="2632" y="1355"/>
                    <a:ext cx="153" cy="189"/>
                    <a:chOff x="2632" y="1355"/>
                    <a:chExt cx="153" cy="189"/>
                  </a:xfrm>
                </p:grpSpPr>
                <p:sp>
                  <p:nvSpPr>
                    <p:cNvPr id="54" name="Freeform 12">
                      <a:extLst>
                        <a:ext uri="{FF2B5EF4-FFF2-40B4-BE49-F238E27FC236}">
                          <a16:creationId xmlns:a16="http://schemas.microsoft.com/office/drawing/2014/main" id="{D61F9105-F900-471B-819C-FFBE66F739F5}"/>
                        </a:ext>
                      </a:extLst>
                    </p:cNvPr>
                    <p:cNvSpPr/>
                    <p:nvPr/>
                  </p:nvSpPr>
                  <p:spPr bwMode="auto">
                    <a:xfrm>
                      <a:off x="2632" y="1355"/>
                      <a:ext cx="153" cy="189"/>
                    </a:xfrm>
                    <a:custGeom>
                      <a:avLst/>
                      <a:gdLst>
                        <a:gd name="T0" fmla="*/ 0 w 153"/>
                        <a:gd name="T1" fmla="*/ 61 h 189"/>
                        <a:gd name="T2" fmla="*/ 115 w 153"/>
                        <a:gd name="T3" fmla="*/ 188 h 189"/>
                        <a:gd name="T4" fmla="*/ 119 w 153"/>
                        <a:gd name="T5" fmla="*/ 136 h 189"/>
                        <a:gd name="T6" fmla="*/ 152 w 153"/>
                        <a:gd name="T7" fmla="*/ 111 h 189"/>
                        <a:gd name="T8" fmla="*/ 34 w 153"/>
                        <a:gd name="T9" fmla="*/ 0 h 189"/>
                        <a:gd name="T10" fmla="*/ 0 w 153"/>
                        <a:gd name="T11" fmla="*/ 61 h 189"/>
                        <a:gd name="T12" fmla="*/ 0 60000 65536"/>
                        <a:gd name="T13" fmla="*/ 0 60000 65536"/>
                        <a:gd name="T14" fmla="*/ 0 60000 65536"/>
                        <a:gd name="T15" fmla="*/ 0 60000 65536"/>
                        <a:gd name="T16" fmla="*/ 0 60000 65536"/>
                        <a:gd name="T17" fmla="*/ 0 60000 65536"/>
                        <a:gd name="T18" fmla="*/ 0 w 153"/>
                        <a:gd name="T19" fmla="*/ 0 h 189"/>
                        <a:gd name="T20" fmla="*/ 153 w 153"/>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53" h="189">
                          <a:moveTo>
                            <a:pt x="0" y="61"/>
                          </a:moveTo>
                          <a:lnTo>
                            <a:pt x="115" y="188"/>
                          </a:lnTo>
                          <a:lnTo>
                            <a:pt x="119" y="136"/>
                          </a:lnTo>
                          <a:lnTo>
                            <a:pt x="152" y="111"/>
                          </a:lnTo>
                          <a:lnTo>
                            <a:pt x="34" y="0"/>
                          </a:lnTo>
                          <a:lnTo>
                            <a:pt x="0" y="61"/>
                          </a:lnTo>
                        </a:path>
                      </a:pathLst>
                    </a:custGeom>
                    <a:solidFill>
                      <a:srgbClr val="0000E0"/>
                    </a:solidFill>
                    <a:ln w="12700" cap="rnd">
                      <a:solidFill>
                        <a:srgbClr val="000000"/>
                      </a:solidFill>
                      <a:round/>
                    </a:ln>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5" name="Freeform 13">
                      <a:extLst>
                        <a:ext uri="{FF2B5EF4-FFF2-40B4-BE49-F238E27FC236}">
                          <a16:creationId xmlns:a16="http://schemas.microsoft.com/office/drawing/2014/main" id="{B2F58355-1F93-4D3A-BA69-A12798291D45}"/>
                        </a:ext>
                      </a:extLst>
                    </p:cNvPr>
                    <p:cNvSpPr/>
                    <p:nvPr/>
                  </p:nvSpPr>
                  <p:spPr bwMode="auto">
                    <a:xfrm>
                      <a:off x="2670" y="1380"/>
                      <a:ext cx="41" cy="124"/>
                    </a:xfrm>
                    <a:custGeom>
                      <a:avLst/>
                      <a:gdLst>
                        <a:gd name="T0" fmla="*/ 11 w 43"/>
                        <a:gd name="T1" fmla="*/ 0 h 125"/>
                        <a:gd name="T2" fmla="*/ 42 w 43"/>
                        <a:gd name="T3" fmla="*/ 124 h 125"/>
                        <a:gd name="T4" fmla="*/ 16 w 43"/>
                        <a:gd name="T5" fmla="*/ 96 h 125"/>
                        <a:gd name="T6" fmla="*/ 0 w 43"/>
                        <a:gd name="T7" fmla="*/ 3 h 125"/>
                        <a:gd name="T8" fmla="*/ 11 w 43"/>
                        <a:gd name="T9" fmla="*/ 0 h 125"/>
                        <a:gd name="T10" fmla="*/ 0 60000 65536"/>
                        <a:gd name="T11" fmla="*/ 0 60000 65536"/>
                        <a:gd name="T12" fmla="*/ 0 60000 65536"/>
                        <a:gd name="T13" fmla="*/ 0 60000 65536"/>
                        <a:gd name="T14" fmla="*/ 0 60000 65536"/>
                        <a:gd name="T15" fmla="*/ 0 w 43"/>
                        <a:gd name="T16" fmla="*/ 0 h 125"/>
                        <a:gd name="T17" fmla="*/ 43 w 43"/>
                        <a:gd name="T18" fmla="*/ 125 h 125"/>
                      </a:gdLst>
                      <a:ahLst/>
                      <a:cxnLst>
                        <a:cxn ang="T10">
                          <a:pos x="T0" y="T1"/>
                        </a:cxn>
                        <a:cxn ang="T11">
                          <a:pos x="T2" y="T3"/>
                        </a:cxn>
                        <a:cxn ang="T12">
                          <a:pos x="T4" y="T5"/>
                        </a:cxn>
                        <a:cxn ang="T13">
                          <a:pos x="T6" y="T7"/>
                        </a:cxn>
                        <a:cxn ang="T14">
                          <a:pos x="T8" y="T9"/>
                        </a:cxn>
                      </a:cxnLst>
                      <a:rect l="T15" t="T16" r="T17" b="T18"/>
                      <a:pathLst>
                        <a:path w="43" h="125">
                          <a:moveTo>
                            <a:pt x="11" y="0"/>
                          </a:moveTo>
                          <a:lnTo>
                            <a:pt x="42" y="124"/>
                          </a:lnTo>
                          <a:lnTo>
                            <a:pt x="16" y="96"/>
                          </a:lnTo>
                          <a:lnTo>
                            <a:pt x="0" y="3"/>
                          </a:lnTo>
                          <a:lnTo>
                            <a:pt x="11" y="0"/>
                          </a:lnTo>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6" name="Oval 14">
                      <a:extLst>
                        <a:ext uri="{FF2B5EF4-FFF2-40B4-BE49-F238E27FC236}">
                          <a16:creationId xmlns:a16="http://schemas.microsoft.com/office/drawing/2014/main" id="{4350217E-30F1-4F26-A4C2-7ECC989E818E}"/>
                        </a:ext>
                      </a:extLst>
                    </p:cNvPr>
                    <p:cNvSpPr>
                      <a:spLocks noChangeArrowheads="1"/>
                    </p:cNvSpPr>
                    <p:nvPr/>
                  </p:nvSpPr>
                  <p:spPr bwMode="auto">
                    <a:xfrm rot="-1560000">
                      <a:off x="2674" y="1374"/>
                      <a:ext cx="21" cy="29"/>
                    </a:xfrm>
                    <a:prstGeom prst="ellipse">
                      <a:avLst/>
                    </a:pr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grpSp>
                <p:nvGrpSpPr>
                  <p:cNvPr id="49" name="Group 20">
                    <a:extLst>
                      <a:ext uri="{FF2B5EF4-FFF2-40B4-BE49-F238E27FC236}">
                        <a16:creationId xmlns:a16="http://schemas.microsoft.com/office/drawing/2014/main" id="{0D03D647-BAC3-4ECF-AABA-25129FBDE620}"/>
                      </a:ext>
                    </a:extLst>
                  </p:cNvPr>
                  <p:cNvGrpSpPr>
                    <a:grpSpLocks/>
                  </p:cNvGrpSpPr>
                  <p:nvPr/>
                </p:nvGrpSpPr>
                <p:grpSpPr bwMode="auto">
                  <a:xfrm>
                    <a:off x="2624" y="1379"/>
                    <a:ext cx="86" cy="206"/>
                    <a:chOff x="2624" y="1379"/>
                    <a:chExt cx="86" cy="206"/>
                  </a:xfrm>
                </p:grpSpPr>
                <p:sp>
                  <p:nvSpPr>
                    <p:cNvPr id="50" name="Freeform 16">
                      <a:extLst>
                        <a:ext uri="{FF2B5EF4-FFF2-40B4-BE49-F238E27FC236}">
                          <a16:creationId xmlns:a16="http://schemas.microsoft.com/office/drawing/2014/main" id="{A8771EB3-ECF3-4A47-A9AD-2D3B2170516D}"/>
                        </a:ext>
                      </a:extLst>
                    </p:cNvPr>
                    <p:cNvSpPr/>
                    <p:nvPr/>
                  </p:nvSpPr>
                  <p:spPr bwMode="auto">
                    <a:xfrm>
                      <a:off x="2624" y="1379"/>
                      <a:ext cx="86" cy="206"/>
                    </a:xfrm>
                    <a:custGeom>
                      <a:avLst/>
                      <a:gdLst>
                        <a:gd name="T0" fmla="*/ 52 w 86"/>
                        <a:gd name="T1" fmla="*/ 0 h 206"/>
                        <a:gd name="T2" fmla="*/ 85 w 86"/>
                        <a:gd name="T3" fmla="*/ 184 h 206"/>
                        <a:gd name="T4" fmla="*/ 48 w 86"/>
                        <a:gd name="T5" fmla="*/ 166 h 206"/>
                        <a:gd name="T6" fmla="*/ 17 w 86"/>
                        <a:gd name="T7" fmla="*/ 205 h 206"/>
                        <a:gd name="T8" fmla="*/ 0 w 86"/>
                        <a:gd name="T9" fmla="*/ 13 h 206"/>
                        <a:gd name="T10" fmla="*/ 52 w 86"/>
                        <a:gd name="T11" fmla="*/ 0 h 206"/>
                        <a:gd name="T12" fmla="*/ 0 60000 65536"/>
                        <a:gd name="T13" fmla="*/ 0 60000 65536"/>
                        <a:gd name="T14" fmla="*/ 0 60000 65536"/>
                        <a:gd name="T15" fmla="*/ 0 60000 65536"/>
                        <a:gd name="T16" fmla="*/ 0 60000 65536"/>
                        <a:gd name="T17" fmla="*/ 0 60000 65536"/>
                        <a:gd name="T18" fmla="*/ 0 w 86"/>
                        <a:gd name="T19" fmla="*/ 0 h 206"/>
                        <a:gd name="T20" fmla="*/ 86 w 86"/>
                        <a:gd name="T21" fmla="*/ 206 h 206"/>
                      </a:gdLst>
                      <a:ahLst/>
                      <a:cxnLst>
                        <a:cxn ang="T12">
                          <a:pos x="T0" y="T1"/>
                        </a:cxn>
                        <a:cxn ang="T13">
                          <a:pos x="T2" y="T3"/>
                        </a:cxn>
                        <a:cxn ang="T14">
                          <a:pos x="T4" y="T5"/>
                        </a:cxn>
                        <a:cxn ang="T15">
                          <a:pos x="T6" y="T7"/>
                        </a:cxn>
                        <a:cxn ang="T16">
                          <a:pos x="T8" y="T9"/>
                        </a:cxn>
                        <a:cxn ang="T17">
                          <a:pos x="T10" y="T11"/>
                        </a:cxn>
                      </a:cxnLst>
                      <a:rect l="T18" t="T19" r="T20" b="T21"/>
                      <a:pathLst>
                        <a:path w="86" h="206">
                          <a:moveTo>
                            <a:pt x="52" y="0"/>
                          </a:moveTo>
                          <a:lnTo>
                            <a:pt x="85" y="184"/>
                          </a:lnTo>
                          <a:lnTo>
                            <a:pt x="48" y="166"/>
                          </a:lnTo>
                          <a:lnTo>
                            <a:pt x="17" y="205"/>
                          </a:lnTo>
                          <a:lnTo>
                            <a:pt x="0" y="13"/>
                          </a:lnTo>
                          <a:lnTo>
                            <a:pt x="52" y="0"/>
                          </a:lnTo>
                        </a:path>
                      </a:pathLst>
                    </a:custGeom>
                    <a:solidFill>
                      <a:srgbClr val="0000FF"/>
                    </a:solidFill>
                    <a:ln w="12700" cap="rnd">
                      <a:solidFill>
                        <a:srgbClr val="000000"/>
                      </a:solidFill>
                      <a:round/>
                    </a:ln>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1" name="Oval 17">
                      <a:extLst>
                        <a:ext uri="{FF2B5EF4-FFF2-40B4-BE49-F238E27FC236}">
                          <a16:creationId xmlns:a16="http://schemas.microsoft.com/office/drawing/2014/main" id="{65531A19-E6C4-4D65-9B2C-272AE7408F5F}"/>
                        </a:ext>
                      </a:extLst>
                    </p:cNvPr>
                    <p:cNvSpPr>
                      <a:spLocks noChangeArrowheads="1"/>
                    </p:cNvSpPr>
                    <p:nvPr/>
                  </p:nvSpPr>
                  <p:spPr bwMode="auto">
                    <a:xfrm rot="-1560000">
                      <a:off x="2627" y="1402"/>
                      <a:ext cx="22" cy="29"/>
                    </a:xfrm>
                    <a:prstGeom prst="ellipse">
                      <a:avLst/>
                    </a:pr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2" name="Oval 18">
                      <a:extLst>
                        <a:ext uri="{FF2B5EF4-FFF2-40B4-BE49-F238E27FC236}">
                          <a16:creationId xmlns:a16="http://schemas.microsoft.com/office/drawing/2014/main" id="{EF0716AD-84AA-4740-A1F9-A9E9154C5A94}"/>
                        </a:ext>
                      </a:extLst>
                    </p:cNvPr>
                    <p:cNvSpPr>
                      <a:spLocks noChangeArrowheads="1"/>
                    </p:cNvSpPr>
                    <p:nvPr/>
                  </p:nvSpPr>
                  <p:spPr bwMode="auto">
                    <a:xfrm rot="-1560000">
                      <a:off x="2643" y="1402"/>
                      <a:ext cx="21" cy="29"/>
                    </a:xfrm>
                    <a:prstGeom prst="ellipse">
                      <a:avLst/>
                    </a:pr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53" name="Oval 19">
                      <a:extLst>
                        <a:ext uri="{FF2B5EF4-FFF2-40B4-BE49-F238E27FC236}">
                          <a16:creationId xmlns:a16="http://schemas.microsoft.com/office/drawing/2014/main" id="{24A01E16-AAF3-4223-9B0B-74C1BDB99B63}"/>
                        </a:ext>
                      </a:extLst>
                    </p:cNvPr>
                    <p:cNvSpPr>
                      <a:spLocks noChangeArrowheads="1"/>
                    </p:cNvSpPr>
                    <p:nvPr/>
                  </p:nvSpPr>
                  <p:spPr bwMode="auto">
                    <a:xfrm rot="-1560000">
                      <a:off x="2659" y="1394"/>
                      <a:ext cx="22" cy="29"/>
                    </a:xfrm>
                    <a:prstGeom prst="ellipse">
                      <a:avLst/>
                    </a:pr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grpSp>
            <p:grpSp>
              <p:nvGrpSpPr>
                <p:cNvPr id="26" name="Group 43">
                  <a:extLst>
                    <a:ext uri="{FF2B5EF4-FFF2-40B4-BE49-F238E27FC236}">
                      <a16:creationId xmlns:a16="http://schemas.microsoft.com/office/drawing/2014/main" id="{78FF1521-67AC-49D8-8D71-DB7A263D3998}"/>
                    </a:ext>
                  </a:extLst>
                </p:cNvPr>
                <p:cNvGrpSpPr>
                  <a:grpSpLocks/>
                </p:cNvGrpSpPr>
                <p:nvPr/>
              </p:nvGrpSpPr>
              <p:grpSpPr bwMode="auto">
                <a:xfrm>
                  <a:off x="2583" y="1262"/>
                  <a:ext cx="114" cy="161"/>
                  <a:chOff x="2583" y="1262"/>
                  <a:chExt cx="114" cy="161"/>
                </a:xfrm>
              </p:grpSpPr>
              <p:sp>
                <p:nvSpPr>
                  <p:cNvPr id="27" name="Oval 22">
                    <a:extLst>
                      <a:ext uri="{FF2B5EF4-FFF2-40B4-BE49-F238E27FC236}">
                        <a16:creationId xmlns:a16="http://schemas.microsoft.com/office/drawing/2014/main" id="{B45130C4-AE9A-4EBB-84A7-617D2E184DF4}"/>
                      </a:ext>
                    </a:extLst>
                  </p:cNvPr>
                  <p:cNvSpPr>
                    <a:spLocks noChangeArrowheads="1"/>
                  </p:cNvSpPr>
                  <p:nvPr/>
                </p:nvSpPr>
                <p:spPr bwMode="auto">
                  <a:xfrm rot="-1560000">
                    <a:off x="2649" y="1267"/>
                    <a:ext cx="15"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8" name="Oval 23">
                    <a:extLst>
                      <a:ext uri="{FF2B5EF4-FFF2-40B4-BE49-F238E27FC236}">
                        <a16:creationId xmlns:a16="http://schemas.microsoft.com/office/drawing/2014/main" id="{3D225C1F-BD39-41E2-BD14-06906246F850}"/>
                      </a:ext>
                    </a:extLst>
                  </p:cNvPr>
                  <p:cNvSpPr>
                    <a:spLocks noChangeArrowheads="1"/>
                  </p:cNvSpPr>
                  <p:nvPr/>
                </p:nvSpPr>
                <p:spPr bwMode="auto">
                  <a:xfrm rot="-1560000">
                    <a:off x="2586" y="1313"/>
                    <a:ext cx="12"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29" name="Oval 24">
                    <a:extLst>
                      <a:ext uri="{FF2B5EF4-FFF2-40B4-BE49-F238E27FC236}">
                        <a16:creationId xmlns:a16="http://schemas.microsoft.com/office/drawing/2014/main" id="{99657E21-BF77-4D27-999F-0D9EA00F7275}"/>
                      </a:ext>
                    </a:extLst>
                  </p:cNvPr>
                  <p:cNvSpPr>
                    <a:spLocks noChangeArrowheads="1"/>
                  </p:cNvSpPr>
                  <p:nvPr/>
                </p:nvSpPr>
                <p:spPr bwMode="auto">
                  <a:xfrm rot="-1560000">
                    <a:off x="2669" y="1283"/>
                    <a:ext cx="14"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0" name="Oval 25">
                    <a:extLst>
                      <a:ext uri="{FF2B5EF4-FFF2-40B4-BE49-F238E27FC236}">
                        <a16:creationId xmlns:a16="http://schemas.microsoft.com/office/drawing/2014/main" id="{AF3B6746-0D93-4C9A-B904-8CC1F7A5B09B}"/>
                      </a:ext>
                    </a:extLst>
                  </p:cNvPr>
                  <p:cNvSpPr>
                    <a:spLocks noChangeArrowheads="1"/>
                  </p:cNvSpPr>
                  <p:nvPr/>
                </p:nvSpPr>
                <p:spPr bwMode="auto">
                  <a:xfrm rot="-1560000">
                    <a:off x="2604" y="1390"/>
                    <a:ext cx="15" cy="22"/>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1" name="Oval 26">
                    <a:extLst>
                      <a:ext uri="{FF2B5EF4-FFF2-40B4-BE49-F238E27FC236}">
                        <a16:creationId xmlns:a16="http://schemas.microsoft.com/office/drawing/2014/main" id="{F6D60114-2C2B-4A65-8F22-B324B3606C62}"/>
                      </a:ext>
                    </a:extLst>
                  </p:cNvPr>
                  <p:cNvSpPr>
                    <a:spLocks noChangeArrowheads="1"/>
                  </p:cNvSpPr>
                  <p:nvPr/>
                </p:nvSpPr>
                <p:spPr bwMode="auto">
                  <a:xfrm rot="-1560000">
                    <a:off x="2683" y="1337"/>
                    <a:ext cx="14" cy="22"/>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2" name="Oval 27">
                    <a:extLst>
                      <a:ext uri="{FF2B5EF4-FFF2-40B4-BE49-F238E27FC236}">
                        <a16:creationId xmlns:a16="http://schemas.microsoft.com/office/drawing/2014/main" id="{105D6305-CE0F-49B1-BA22-9CBEB58F0CAC}"/>
                      </a:ext>
                    </a:extLst>
                  </p:cNvPr>
                  <p:cNvSpPr>
                    <a:spLocks noChangeArrowheads="1"/>
                  </p:cNvSpPr>
                  <p:nvPr/>
                </p:nvSpPr>
                <p:spPr bwMode="auto">
                  <a:xfrm rot="-1560000">
                    <a:off x="2611" y="1268"/>
                    <a:ext cx="15" cy="20"/>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3" name="Oval 28">
                    <a:extLst>
                      <a:ext uri="{FF2B5EF4-FFF2-40B4-BE49-F238E27FC236}">
                        <a16:creationId xmlns:a16="http://schemas.microsoft.com/office/drawing/2014/main" id="{661399CE-1A7C-401E-94E3-581E2AFE758C}"/>
                      </a:ext>
                    </a:extLst>
                  </p:cNvPr>
                  <p:cNvSpPr>
                    <a:spLocks noChangeArrowheads="1"/>
                  </p:cNvSpPr>
                  <p:nvPr/>
                </p:nvSpPr>
                <p:spPr bwMode="auto">
                  <a:xfrm rot="-1560000">
                    <a:off x="2631" y="1259"/>
                    <a:ext cx="14"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4" name="Oval 29">
                    <a:extLst>
                      <a:ext uri="{FF2B5EF4-FFF2-40B4-BE49-F238E27FC236}">
                        <a16:creationId xmlns:a16="http://schemas.microsoft.com/office/drawing/2014/main" id="{89E1C68A-E462-475D-A6D9-F8CDE3B495BA}"/>
                      </a:ext>
                    </a:extLst>
                  </p:cNvPr>
                  <p:cNvSpPr>
                    <a:spLocks noChangeArrowheads="1"/>
                  </p:cNvSpPr>
                  <p:nvPr/>
                </p:nvSpPr>
                <p:spPr bwMode="auto">
                  <a:xfrm rot="-1560000">
                    <a:off x="2594" y="1288"/>
                    <a:ext cx="11"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5" name="Oval 30">
                    <a:extLst>
                      <a:ext uri="{FF2B5EF4-FFF2-40B4-BE49-F238E27FC236}">
                        <a16:creationId xmlns:a16="http://schemas.microsoft.com/office/drawing/2014/main" id="{55270324-6420-4FFC-84E0-CCC27D79F234}"/>
                      </a:ext>
                    </a:extLst>
                  </p:cNvPr>
                  <p:cNvSpPr>
                    <a:spLocks noChangeArrowheads="1"/>
                  </p:cNvSpPr>
                  <p:nvPr/>
                </p:nvSpPr>
                <p:spPr bwMode="auto">
                  <a:xfrm rot="-1560000">
                    <a:off x="2583" y="1342"/>
                    <a:ext cx="14"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6" name="Oval 31">
                    <a:extLst>
                      <a:ext uri="{FF2B5EF4-FFF2-40B4-BE49-F238E27FC236}">
                        <a16:creationId xmlns:a16="http://schemas.microsoft.com/office/drawing/2014/main" id="{AA5A75E2-4CBB-466E-B72E-B33BD282C20F}"/>
                      </a:ext>
                    </a:extLst>
                  </p:cNvPr>
                  <p:cNvSpPr>
                    <a:spLocks noChangeArrowheads="1"/>
                  </p:cNvSpPr>
                  <p:nvPr/>
                </p:nvSpPr>
                <p:spPr bwMode="auto">
                  <a:xfrm rot="-1560000">
                    <a:off x="2591" y="1370"/>
                    <a:ext cx="15"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7" name="Oval 32">
                    <a:extLst>
                      <a:ext uri="{FF2B5EF4-FFF2-40B4-BE49-F238E27FC236}">
                        <a16:creationId xmlns:a16="http://schemas.microsoft.com/office/drawing/2014/main" id="{7E163581-B7CF-4E05-8233-5990DA4493BE}"/>
                      </a:ext>
                    </a:extLst>
                  </p:cNvPr>
                  <p:cNvSpPr>
                    <a:spLocks noChangeArrowheads="1"/>
                  </p:cNvSpPr>
                  <p:nvPr/>
                </p:nvSpPr>
                <p:spPr bwMode="auto">
                  <a:xfrm rot="-1560000">
                    <a:off x="2624" y="1402"/>
                    <a:ext cx="14"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8" name="Oval 33">
                    <a:extLst>
                      <a:ext uri="{FF2B5EF4-FFF2-40B4-BE49-F238E27FC236}">
                        <a16:creationId xmlns:a16="http://schemas.microsoft.com/office/drawing/2014/main" id="{A12CADF2-CB2D-44E5-9523-C646838D81D2}"/>
                      </a:ext>
                    </a:extLst>
                  </p:cNvPr>
                  <p:cNvSpPr>
                    <a:spLocks noChangeArrowheads="1"/>
                  </p:cNvSpPr>
                  <p:nvPr/>
                </p:nvSpPr>
                <p:spPr bwMode="auto">
                  <a:xfrm rot="-1560000">
                    <a:off x="2679" y="1305"/>
                    <a:ext cx="15" cy="25"/>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39" name="Oval 34">
                    <a:extLst>
                      <a:ext uri="{FF2B5EF4-FFF2-40B4-BE49-F238E27FC236}">
                        <a16:creationId xmlns:a16="http://schemas.microsoft.com/office/drawing/2014/main" id="{291DD1B0-B00C-4B04-A633-1B4F1B3B1514}"/>
                      </a:ext>
                    </a:extLst>
                  </p:cNvPr>
                  <p:cNvSpPr>
                    <a:spLocks noChangeArrowheads="1"/>
                  </p:cNvSpPr>
                  <p:nvPr/>
                </p:nvSpPr>
                <p:spPr bwMode="auto">
                  <a:xfrm rot="-1560000">
                    <a:off x="2677" y="1365"/>
                    <a:ext cx="14" cy="22"/>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0" name="Oval 35">
                    <a:extLst>
                      <a:ext uri="{FF2B5EF4-FFF2-40B4-BE49-F238E27FC236}">
                        <a16:creationId xmlns:a16="http://schemas.microsoft.com/office/drawing/2014/main" id="{FCABFD19-9784-4479-8333-CE0ED3F3DE5A}"/>
                      </a:ext>
                    </a:extLst>
                  </p:cNvPr>
                  <p:cNvSpPr>
                    <a:spLocks noChangeArrowheads="1"/>
                  </p:cNvSpPr>
                  <p:nvPr/>
                </p:nvSpPr>
                <p:spPr bwMode="auto">
                  <a:xfrm rot="-1560000">
                    <a:off x="2663" y="1387"/>
                    <a:ext cx="15" cy="21"/>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1" name="Oval 36">
                    <a:extLst>
                      <a:ext uri="{FF2B5EF4-FFF2-40B4-BE49-F238E27FC236}">
                        <a16:creationId xmlns:a16="http://schemas.microsoft.com/office/drawing/2014/main" id="{7DD39547-251E-4075-AC40-CABD9E2A0CA9}"/>
                      </a:ext>
                    </a:extLst>
                  </p:cNvPr>
                  <p:cNvSpPr>
                    <a:spLocks noChangeArrowheads="1"/>
                  </p:cNvSpPr>
                  <p:nvPr/>
                </p:nvSpPr>
                <p:spPr bwMode="auto">
                  <a:xfrm rot="-1560000">
                    <a:off x="2644" y="1400"/>
                    <a:ext cx="15" cy="20"/>
                  </a:xfrm>
                  <a:prstGeom prst="ellipse">
                    <a:avLst/>
                  </a:prstGeom>
                  <a:solidFill>
                    <a:srgbClr val="FF800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2" name="Oval 37">
                    <a:extLst>
                      <a:ext uri="{FF2B5EF4-FFF2-40B4-BE49-F238E27FC236}">
                        <a16:creationId xmlns:a16="http://schemas.microsoft.com/office/drawing/2014/main" id="{EE6A52C1-AD59-4939-AC42-0E9083982C04}"/>
                      </a:ext>
                    </a:extLst>
                  </p:cNvPr>
                  <p:cNvSpPr>
                    <a:spLocks noChangeArrowheads="1"/>
                  </p:cNvSpPr>
                  <p:nvPr/>
                </p:nvSpPr>
                <p:spPr bwMode="auto">
                  <a:xfrm rot="-1560000">
                    <a:off x="2592" y="1272"/>
                    <a:ext cx="97" cy="140"/>
                  </a:xfrm>
                  <a:prstGeom prst="ellipse">
                    <a:avLst/>
                  </a:prstGeom>
                  <a:solidFill>
                    <a:srgbClr val="FFA040"/>
                  </a:solidFill>
                  <a:ln w="12700">
                    <a:solidFill>
                      <a:srgbClr val="000000"/>
                    </a:solidFill>
                    <a:round/>
                  </a:ln>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3" name="Oval 38">
                    <a:extLst>
                      <a:ext uri="{FF2B5EF4-FFF2-40B4-BE49-F238E27FC236}">
                        <a16:creationId xmlns:a16="http://schemas.microsoft.com/office/drawing/2014/main" id="{894CF731-FA26-4DA0-BB1F-8EA1034F7886}"/>
                      </a:ext>
                    </a:extLst>
                  </p:cNvPr>
                  <p:cNvSpPr>
                    <a:spLocks noChangeArrowheads="1"/>
                  </p:cNvSpPr>
                  <p:nvPr/>
                </p:nvSpPr>
                <p:spPr bwMode="auto">
                  <a:xfrm rot="-1560000">
                    <a:off x="2591" y="1276"/>
                    <a:ext cx="101" cy="140"/>
                  </a:xfrm>
                  <a:prstGeom prst="ellipse">
                    <a:avLst/>
                  </a:prstGeom>
                  <a:solidFill>
                    <a:srgbClr val="E07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4" name="Oval 39">
                    <a:extLst>
                      <a:ext uri="{FF2B5EF4-FFF2-40B4-BE49-F238E27FC236}">
                        <a16:creationId xmlns:a16="http://schemas.microsoft.com/office/drawing/2014/main" id="{B4627D81-E921-49C8-BED1-E141CB08BACA}"/>
                      </a:ext>
                    </a:extLst>
                  </p:cNvPr>
                  <p:cNvSpPr>
                    <a:spLocks noChangeArrowheads="1"/>
                  </p:cNvSpPr>
                  <p:nvPr/>
                </p:nvSpPr>
                <p:spPr bwMode="auto">
                  <a:xfrm rot="-1560000">
                    <a:off x="2591" y="1272"/>
                    <a:ext cx="98" cy="142"/>
                  </a:xfrm>
                  <a:prstGeom prst="ellipse">
                    <a:avLst/>
                  </a:prstGeom>
                  <a:solidFill>
                    <a:srgbClr val="FF8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5" name="Oval 40">
                    <a:extLst>
                      <a:ext uri="{FF2B5EF4-FFF2-40B4-BE49-F238E27FC236}">
                        <a16:creationId xmlns:a16="http://schemas.microsoft.com/office/drawing/2014/main" id="{5AA3E46E-19FD-4581-9876-C7A3483FC6DD}"/>
                      </a:ext>
                    </a:extLst>
                  </p:cNvPr>
                  <p:cNvSpPr>
                    <a:spLocks noChangeArrowheads="1"/>
                  </p:cNvSpPr>
                  <p:nvPr/>
                </p:nvSpPr>
                <p:spPr bwMode="auto">
                  <a:xfrm rot="-1560000">
                    <a:off x="2592" y="1276"/>
                    <a:ext cx="97" cy="135"/>
                  </a:xfrm>
                  <a:prstGeom prst="ellipse">
                    <a:avLst/>
                  </a:prstGeom>
                  <a:solidFill>
                    <a:srgbClr val="E07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6" name="Oval 41">
                    <a:extLst>
                      <a:ext uri="{FF2B5EF4-FFF2-40B4-BE49-F238E27FC236}">
                        <a16:creationId xmlns:a16="http://schemas.microsoft.com/office/drawing/2014/main" id="{D141A599-8734-4397-BEBA-CBEA1EC6D3CC}"/>
                      </a:ext>
                    </a:extLst>
                  </p:cNvPr>
                  <p:cNvSpPr>
                    <a:spLocks noChangeArrowheads="1"/>
                  </p:cNvSpPr>
                  <p:nvPr/>
                </p:nvSpPr>
                <p:spPr bwMode="auto">
                  <a:xfrm rot="-1560000">
                    <a:off x="2594" y="1280"/>
                    <a:ext cx="95" cy="131"/>
                  </a:xfrm>
                  <a:prstGeom prst="ellipse">
                    <a:avLst/>
                  </a:prstGeom>
                  <a:solidFill>
                    <a:srgbClr val="FFA04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47" name="Oval 42">
                    <a:extLst>
                      <a:ext uri="{FF2B5EF4-FFF2-40B4-BE49-F238E27FC236}">
                        <a16:creationId xmlns:a16="http://schemas.microsoft.com/office/drawing/2014/main" id="{A3F16D69-BADB-4D4E-B328-D8DE17F16F0A}"/>
                      </a:ext>
                    </a:extLst>
                  </p:cNvPr>
                  <p:cNvSpPr>
                    <a:spLocks noChangeArrowheads="1"/>
                  </p:cNvSpPr>
                  <p:nvPr/>
                </p:nvSpPr>
                <p:spPr bwMode="auto">
                  <a:xfrm rot="-1560000">
                    <a:off x="2593" y="1276"/>
                    <a:ext cx="91" cy="132"/>
                  </a:xfrm>
                  <a:prstGeom prst="ellipse">
                    <a:avLst/>
                  </a:prstGeom>
                  <a:solidFill>
                    <a:srgbClr val="FF8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grpSp>
        </p:grpSp>
        <p:sp>
          <p:nvSpPr>
            <p:cNvPr id="8" name="Arc 46">
              <a:extLst>
                <a:ext uri="{FF2B5EF4-FFF2-40B4-BE49-F238E27FC236}">
                  <a16:creationId xmlns:a16="http://schemas.microsoft.com/office/drawing/2014/main" id="{3245DC00-5CF1-43C1-B824-B303984FF6A1}"/>
                </a:ext>
              </a:extLst>
            </p:cNvPr>
            <p:cNvSpPr/>
            <p:nvPr/>
          </p:nvSpPr>
          <p:spPr bwMode="auto">
            <a:xfrm rot="15570180">
              <a:off x="6230144" y="3211220"/>
              <a:ext cx="1658937" cy="1069975"/>
            </a:xfrm>
            <a:custGeom>
              <a:avLst/>
              <a:gdLst>
                <a:gd name="T0" fmla="*/ 2147483647 w 37391"/>
                <a:gd name="T1" fmla="*/ 2147483647 h 21600"/>
                <a:gd name="T2" fmla="*/ 0 w 37391"/>
                <a:gd name="T3" fmla="*/ 2147483647 h 21600"/>
                <a:gd name="T4" fmla="*/ 2147483647 w 37391"/>
                <a:gd name="T5" fmla="*/ 0 h 21600"/>
                <a:gd name="T6" fmla="*/ 0 60000 65536"/>
                <a:gd name="T7" fmla="*/ 0 60000 65536"/>
                <a:gd name="T8" fmla="*/ 0 60000 65536"/>
                <a:gd name="T9" fmla="*/ 0 w 37391"/>
                <a:gd name="T10" fmla="*/ 0 h 21600"/>
                <a:gd name="T11" fmla="*/ 37391 w 37391"/>
                <a:gd name="T12" fmla="*/ 21600 h 21600"/>
              </a:gdLst>
              <a:ahLst/>
              <a:cxnLst>
                <a:cxn ang="T6">
                  <a:pos x="T0" y="T1"/>
                </a:cxn>
                <a:cxn ang="T7">
                  <a:pos x="T2" y="T3"/>
                </a:cxn>
                <a:cxn ang="T8">
                  <a:pos x="T4" y="T5"/>
                </a:cxn>
              </a:cxnLst>
              <a:rect l="T9" t="T10" r="T11" b="T12"/>
              <a:pathLst>
                <a:path w="37391" h="21600" fill="none" extrusionOk="0">
                  <a:moveTo>
                    <a:pt x="37391" y="12212"/>
                  </a:moveTo>
                  <a:cubicBezTo>
                    <a:pt x="33363" y="18087"/>
                    <a:pt x="26698" y="21599"/>
                    <a:pt x="19575" y="21600"/>
                  </a:cubicBezTo>
                  <a:cubicBezTo>
                    <a:pt x="11181" y="21600"/>
                    <a:pt x="3548" y="16737"/>
                    <a:pt x="-1" y="9131"/>
                  </a:cubicBezTo>
                </a:path>
                <a:path w="37391" h="21600" stroke="0" extrusionOk="0">
                  <a:moveTo>
                    <a:pt x="37391" y="12212"/>
                  </a:moveTo>
                  <a:cubicBezTo>
                    <a:pt x="33363" y="18087"/>
                    <a:pt x="26698" y="21599"/>
                    <a:pt x="19575" y="21600"/>
                  </a:cubicBezTo>
                  <a:cubicBezTo>
                    <a:pt x="11181" y="21600"/>
                    <a:pt x="3548" y="16737"/>
                    <a:pt x="-1" y="9131"/>
                  </a:cubicBezTo>
                  <a:lnTo>
                    <a:pt x="19575" y="0"/>
                  </a:lnTo>
                  <a:close/>
                </a:path>
              </a:pathLst>
            </a:custGeom>
            <a:noFill/>
            <a:ln w="50800" cap="rnd">
              <a:solidFill>
                <a:srgbClr val="80808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nvGrpSpPr>
            <p:cNvPr id="9" name="Group 53">
              <a:extLst>
                <a:ext uri="{FF2B5EF4-FFF2-40B4-BE49-F238E27FC236}">
                  <a16:creationId xmlns:a16="http://schemas.microsoft.com/office/drawing/2014/main" id="{733E02BB-1A80-4876-B8DB-9163AC73AA64}"/>
                </a:ext>
              </a:extLst>
            </p:cNvPr>
            <p:cNvGrpSpPr>
              <a:grpSpLocks/>
            </p:cNvGrpSpPr>
            <p:nvPr/>
          </p:nvGrpSpPr>
          <p:grpSpPr bwMode="auto">
            <a:xfrm>
              <a:off x="5356226" y="4266114"/>
              <a:ext cx="1668240" cy="1662425"/>
              <a:chOff x="3597" y="2643"/>
              <a:chExt cx="1500" cy="1552"/>
            </a:xfrm>
          </p:grpSpPr>
          <p:graphicFrame>
            <p:nvGraphicFramePr>
              <p:cNvPr id="21" name="Object 7">
                <a:extLst>
                  <a:ext uri="{FF2B5EF4-FFF2-40B4-BE49-F238E27FC236}">
                    <a16:creationId xmlns:a16="http://schemas.microsoft.com/office/drawing/2014/main" id="{0FF5044F-AE66-4BEA-BDDE-9A018BBAB99E}"/>
                  </a:ext>
                </a:extLst>
              </p:cNvPr>
              <p:cNvGraphicFramePr>
                <a:graphicFrameLocks/>
              </p:cNvGraphicFramePr>
              <p:nvPr/>
            </p:nvGraphicFramePr>
            <p:xfrm>
              <a:off x="3597" y="2643"/>
              <a:ext cx="1251" cy="1088"/>
            </p:xfrm>
            <a:graphic>
              <a:graphicData uri="http://schemas.openxmlformats.org/presentationml/2006/ole">
                <mc:AlternateContent xmlns:mc="http://schemas.openxmlformats.org/markup-compatibility/2006">
                  <mc:Choice xmlns:v="urn:schemas-microsoft-com:vml" Requires="v">
                    <p:oleObj spid="_x0000_s28700" r:id="rId7" imgW="3657917" imgH="3182069" progId="">
                      <p:embed/>
                    </p:oleObj>
                  </mc:Choice>
                  <mc:Fallback>
                    <p:oleObj r:id="rId7" imgW="3657917" imgH="3182069" progId="">
                      <p:embed/>
                      <p:pic>
                        <p:nvPicPr>
                          <p:cNvPr id="48" name="Object 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97" y="2643"/>
                            <a:ext cx="1251" cy="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 name="Rectangle 52">
                <a:extLst>
                  <a:ext uri="{FF2B5EF4-FFF2-40B4-BE49-F238E27FC236}">
                    <a16:creationId xmlns:a16="http://schemas.microsoft.com/office/drawing/2014/main" id="{C1E63EA7-9D66-44DE-AEA9-4303CFEECD60}"/>
                  </a:ext>
                </a:extLst>
              </p:cNvPr>
              <p:cNvSpPr>
                <a:spLocks noChangeArrowheads="1"/>
              </p:cNvSpPr>
              <p:nvPr/>
            </p:nvSpPr>
            <p:spPr bwMode="auto">
              <a:xfrm>
                <a:off x="3638" y="3706"/>
                <a:ext cx="1459" cy="489"/>
              </a:xfrm>
              <a:prstGeom prst="rect">
                <a:avLst/>
              </a:prstGeom>
              <a:noFill/>
              <a:ln w="9525">
                <a:noFill/>
                <a:miter lim="800000"/>
              </a:ln>
              <a:effectLst/>
            </p:spPr>
            <p:txBody>
              <a:bodyPr wrap="none" lIns="92075" tIns="46038" rIns="92075" bIns="46038">
                <a:spAutoFit/>
              </a:bodyPr>
              <a:lstStyle/>
              <a:p>
                <a:pPr fontAlgn="auto">
                  <a:spcBef>
                    <a:spcPct val="20000"/>
                  </a:spcBef>
                  <a:spcAft>
                    <a:spcPts val="0"/>
                  </a:spcAft>
                  <a:defRPr/>
                </a:pPr>
                <a:r>
                  <a:rPr kumimoji="1" lang="zh-CN" altLang="en-US" sz="2800" kern="0" dirty="0">
                    <a:solidFill>
                      <a:srgbClr val="FF3300"/>
                    </a:solidFill>
                    <a:effectLst>
                      <a:outerShdw blurRad="38100" dist="38100" dir="2700000" algn="tl">
                        <a:srgbClr val="000000"/>
                      </a:outerShdw>
                    </a:effectLst>
                    <a:latin typeface="华文仿宋" panose="02010600040101010101" pitchFamily="2" charset="-122"/>
                    <a:ea typeface="华文仿宋" panose="02010600040101010101" pitchFamily="2" charset="-122"/>
                  </a:rPr>
                  <a:t>测试执行</a:t>
                </a:r>
              </a:p>
            </p:txBody>
          </p:sp>
        </p:grpSp>
        <p:sp>
          <p:nvSpPr>
            <p:cNvPr id="10" name="Arc 54">
              <a:extLst>
                <a:ext uri="{FF2B5EF4-FFF2-40B4-BE49-F238E27FC236}">
                  <a16:creationId xmlns:a16="http://schemas.microsoft.com/office/drawing/2014/main" id="{898CF51E-CFD2-48ED-9EB5-FA256DFE9431}"/>
                </a:ext>
              </a:extLst>
            </p:cNvPr>
            <p:cNvSpPr/>
            <p:nvPr/>
          </p:nvSpPr>
          <p:spPr bwMode="auto">
            <a:xfrm rot="10800000">
              <a:off x="3892550" y="4982076"/>
              <a:ext cx="1277938" cy="422275"/>
            </a:xfrm>
            <a:custGeom>
              <a:avLst/>
              <a:gdLst>
                <a:gd name="T0" fmla="*/ 0 w 37320"/>
                <a:gd name="T1" fmla="*/ 2147483647 h 21600"/>
                <a:gd name="T2" fmla="*/ 2147483647 w 37320"/>
                <a:gd name="T3" fmla="*/ 2147483647 h 21600"/>
                <a:gd name="T4" fmla="*/ 2147483647 w 37320"/>
                <a:gd name="T5" fmla="*/ 2147483647 h 21600"/>
                <a:gd name="T6" fmla="*/ 0 60000 65536"/>
                <a:gd name="T7" fmla="*/ 0 60000 65536"/>
                <a:gd name="T8" fmla="*/ 0 60000 65536"/>
                <a:gd name="T9" fmla="*/ 0 w 37320"/>
                <a:gd name="T10" fmla="*/ 0 h 21600"/>
                <a:gd name="T11" fmla="*/ 37320 w 37320"/>
                <a:gd name="T12" fmla="*/ 21600 h 21600"/>
              </a:gdLst>
              <a:ahLst/>
              <a:cxnLst>
                <a:cxn ang="T6">
                  <a:pos x="T0" y="T1"/>
                </a:cxn>
                <a:cxn ang="T7">
                  <a:pos x="T2" y="T3"/>
                </a:cxn>
                <a:cxn ang="T8">
                  <a:pos x="T4" y="T5"/>
                </a:cxn>
              </a:cxnLst>
              <a:rect l="T9" t="T10" r="T11" b="T12"/>
              <a:pathLst>
                <a:path w="37320" h="21600" fill="none" extrusionOk="0">
                  <a:moveTo>
                    <a:pt x="0" y="9356"/>
                  </a:moveTo>
                  <a:cubicBezTo>
                    <a:pt x="4030" y="3498"/>
                    <a:pt x="10685" y="-1"/>
                    <a:pt x="17795" y="0"/>
                  </a:cubicBezTo>
                  <a:cubicBezTo>
                    <a:pt x="26145" y="0"/>
                    <a:pt x="33748" y="4813"/>
                    <a:pt x="37319" y="12362"/>
                  </a:cubicBezTo>
                </a:path>
                <a:path w="37320" h="21600" stroke="0" extrusionOk="0">
                  <a:moveTo>
                    <a:pt x="0" y="9356"/>
                  </a:moveTo>
                  <a:cubicBezTo>
                    <a:pt x="4030" y="3498"/>
                    <a:pt x="10685" y="-1"/>
                    <a:pt x="17795" y="0"/>
                  </a:cubicBezTo>
                  <a:cubicBezTo>
                    <a:pt x="26145" y="0"/>
                    <a:pt x="33748" y="4813"/>
                    <a:pt x="37319" y="12362"/>
                  </a:cubicBezTo>
                  <a:lnTo>
                    <a:pt x="17795" y="21600"/>
                  </a:lnTo>
                  <a:close/>
                </a:path>
              </a:pathLst>
            </a:custGeom>
            <a:noFill/>
            <a:ln w="50800" cap="rnd">
              <a:solidFill>
                <a:srgbClr val="80808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grpSp>
          <p:nvGrpSpPr>
            <p:cNvPr id="11" name="Group 64">
              <a:extLst>
                <a:ext uri="{FF2B5EF4-FFF2-40B4-BE49-F238E27FC236}">
                  <a16:creationId xmlns:a16="http://schemas.microsoft.com/office/drawing/2014/main" id="{2B3B788C-CEBC-48EC-B36F-EC2796C1777D}"/>
                </a:ext>
              </a:extLst>
            </p:cNvPr>
            <p:cNvGrpSpPr>
              <a:grpSpLocks/>
            </p:cNvGrpSpPr>
            <p:nvPr/>
          </p:nvGrpSpPr>
          <p:grpSpPr bwMode="auto">
            <a:xfrm>
              <a:off x="2532063" y="4215314"/>
              <a:ext cx="1622138" cy="1761692"/>
              <a:chOff x="596" y="2540"/>
              <a:chExt cx="1816" cy="2086"/>
            </a:xfrm>
          </p:grpSpPr>
          <p:sp>
            <p:nvSpPr>
              <p:cNvPr id="12" name="Freeform 55">
                <a:extLst>
                  <a:ext uri="{FF2B5EF4-FFF2-40B4-BE49-F238E27FC236}">
                    <a16:creationId xmlns:a16="http://schemas.microsoft.com/office/drawing/2014/main" id="{5010040B-1EFB-4D7E-ABF9-63610D90F908}"/>
                  </a:ext>
                </a:extLst>
              </p:cNvPr>
              <p:cNvSpPr/>
              <p:nvPr/>
            </p:nvSpPr>
            <p:spPr bwMode="auto">
              <a:xfrm>
                <a:off x="1325" y="2540"/>
                <a:ext cx="595" cy="771"/>
              </a:xfrm>
              <a:custGeom>
                <a:avLst/>
                <a:gdLst>
                  <a:gd name="T0" fmla="*/ 7 w 595"/>
                  <a:gd name="T1" fmla="*/ 161 h 770"/>
                  <a:gd name="T2" fmla="*/ 3 w 595"/>
                  <a:gd name="T3" fmla="*/ 101 h 770"/>
                  <a:gd name="T4" fmla="*/ 33 w 595"/>
                  <a:gd name="T5" fmla="*/ 45 h 770"/>
                  <a:gd name="T6" fmla="*/ 90 w 595"/>
                  <a:gd name="T7" fmla="*/ 0 h 770"/>
                  <a:gd name="T8" fmla="*/ 175 w 595"/>
                  <a:gd name="T9" fmla="*/ 19 h 770"/>
                  <a:gd name="T10" fmla="*/ 250 w 595"/>
                  <a:gd name="T11" fmla="*/ 71 h 770"/>
                  <a:gd name="T12" fmla="*/ 344 w 595"/>
                  <a:gd name="T13" fmla="*/ 112 h 770"/>
                  <a:gd name="T14" fmla="*/ 445 w 595"/>
                  <a:gd name="T15" fmla="*/ 154 h 770"/>
                  <a:gd name="T16" fmla="*/ 539 w 595"/>
                  <a:gd name="T17" fmla="*/ 210 h 770"/>
                  <a:gd name="T18" fmla="*/ 594 w 595"/>
                  <a:gd name="T19" fmla="*/ 262 h 770"/>
                  <a:gd name="T20" fmla="*/ 583 w 595"/>
                  <a:gd name="T21" fmla="*/ 278 h 770"/>
                  <a:gd name="T22" fmla="*/ 478 w 595"/>
                  <a:gd name="T23" fmla="*/ 375 h 770"/>
                  <a:gd name="T24" fmla="*/ 441 w 595"/>
                  <a:gd name="T25" fmla="*/ 428 h 770"/>
                  <a:gd name="T26" fmla="*/ 433 w 595"/>
                  <a:gd name="T27" fmla="*/ 477 h 770"/>
                  <a:gd name="T28" fmla="*/ 429 w 595"/>
                  <a:gd name="T29" fmla="*/ 540 h 770"/>
                  <a:gd name="T30" fmla="*/ 423 w 595"/>
                  <a:gd name="T31" fmla="*/ 623 h 770"/>
                  <a:gd name="T32" fmla="*/ 404 w 595"/>
                  <a:gd name="T33" fmla="*/ 709 h 770"/>
                  <a:gd name="T34" fmla="*/ 374 w 595"/>
                  <a:gd name="T35" fmla="*/ 757 h 770"/>
                  <a:gd name="T36" fmla="*/ 344 w 595"/>
                  <a:gd name="T37" fmla="*/ 769 h 770"/>
                  <a:gd name="T38" fmla="*/ 310 w 595"/>
                  <a:gd name="T39" fmla="*/ 743 h 770"/>
                  <a:gd name="T40" fmla="*/ 254 w 595"/>
                  <a:gd name="T41" fmla="*/ 709 h 770"/>
                  <a:gd name="T42" fmla="*/ 194 w 595"/>
                  <a:gd name="T43" fmla="*/ 672 h 770"/>
                  <a:gd name="T44" fmla="*/ 127 w 595"/>
                  <a:gd name="T45" fmla="*/ 645 h 770"/>
                  <a:gd name="T46" fmla="*/ 67 w 595"/>
                  <a:gd name="T47" fmla="*/ 637 h 770"/>
                  <a:gd name="T48" fmla="*/ 37 w 595"/>
                  <a:gd name="T49" fmla="*/ 589 h 770"/>
                  <a:gd name="T50" fmla="*/ 15 w 595"/>
                  <a:gd name="T51" fmla="*/ 518 h 770"/>
                  <a:gd name="T52" fmla="*/ 0 w 595"/>
                  <a:gd name="T53" fmla="*/ 402 h 770"/>
                  <a:gd name="T54" fmla="*/ 3 w 595"/>
                  <a:gd name="T55" fmla="*/ 300 h 770"/>
                  <a:gd name="T56" fmla="*/ 11 w 595"/>
                  <a:gd name="T57" fmla="*/ 240 h 770"/>
                  <a:gd name="T58" fmla="*/ 37 w 595"/>
                  <a:gd name="T59" fmla="*/ 240 h 770"/>
                  <a:gd name="T60" fmla="*/ 33 w 595"/>
                  <a:gd name="T61" fmla="*/ 341 h 770"/>
                  <a:gd name="T62" fmla="*/ 33 w 595"/>
                  <a:gd name="T63" fmla="*/ 450 h 770"/>
                  <a:gd name="T64" fmla="*/ 48 w 595"/>
                  <a:gd name="T65" fmla="*/ 514 h 770"/>
                  <a:gd name="T66" fmla="*/ 74 w 595"/>
                  <a:gd name="T67" fmla="*/ 589 h 770"/>
                  <a:gd name="T68" fmla="*/ 134 w 595"/>
                  <a:gd name="T69" fmla="*/ 619 h 770"/>
                  <a:gd name="T70" fmla="*/ 216 w 595"/>
                  <a:gd name="T71" fmla="*/ 641 h 770"/>
                  <a:gd name="T72" fmla="*/ 284 w 595"/>
                  <a:gd name="T73" fmla="*/ 679 h 770"/>
                  <a:gd name="T74" fmla="*/ 348 w 595"/>
                  <a:gd name="T75" fmla="*/ 724 h 770"/>
                  <a:gd name="T76" fmla="*/ 374 w 595"/>
                  <a:gd name="T77" fmla="*/ 694 h 770"/>
                  <a:gd name="T78" fmla="*/ 389 w 595"/>
                  <a:gd name="T79" fmla="*/ 630 h 770"/>
                  <a:gd name="T80" fmla="*/ 396 w 595"/>
                  <a:gd name="T81" fmla="*/ 548 h 770"/>
                  <a:gd name="T82" fmla="*/ 404 w 595"/>
                  <a:gd name="T83" fmla="*/ 461 h 770"/>
                  <a:gd name="T84" fmla="*/ 429 w 595"/>
                  <a:gd name="T85" fmla="*/ 386 h 770"/>
                  <a:gd name="T86" fmla="*/ 504 w 595"/>
                  <a:gd name="T87" fmla="*/ 308 h 770"/>
                  <a:gd name="T88" fmla="*/ 539 w 595"/>
                  <a:gd name="T89" fmla="*/ 266 h 770"/>
                  <a:gd name="T90" fmla="*/ 535 w 595"/>
                  <a:gd name="T91" fmla="*/ 251 h 770"/>
                  <a:gd name="T92" fmla="*/ 441 w 595"/>
                  <a:gd name="T93" fmla="*/ 187 h 770"/>
                  <a:gd name="T94" fmla="*/ 348 w 595"/>
                  <a:gd name="T95" fmla="*/ 146 h 770"/>
                  <a:gd name="T96" fmla="*/ 269 w 595"/>
                  <a:gd name="T97" fmla="*/ 109 h 770"/>
                  <a:gd name="T98" fmla="*/ 220 w 595"/>
                  <a:gd name="T99" fmla="*/ 86 h 770"/>
                  <a:gd name="T100" fmla="*/ 171 w 595"/>
                  <a:gd name="T101" fmla="*/ 57 h 770"/>
                  <a:gd name="T102" fmla="*/ 142 w 595"/>
                  <a:gd name="T103" fmla="*/ 41 h 770"/>
                  <a:gd name="T104" fmla="*/ 93 w 595"/>
                  <a:gd name="T105" fmla="*/ 37 h 770"/>
                  <a:gd name="T106" fmla="*/ 63 w 595"/>
                  <a:gd name="T107" fmla="*/ 64 h 770"/>
                  <a:gd name="T108" fmla="*/ 41 w 595"/>
                  <a:gd name="T109" fmla="*/ 105 h 770"/>
                  <a:gd name="T110" fmla="*/ 41 w 595"/>
                  <a:gd name="T111" fmla="*/ 142 h 770"/>
                  <a:gd name="T112" fmla="*/ 37 w 595"/>
                  <a:gd name="T113" fmla="*/ 180 h 770"/>
                  <a:gd name="T114" fmla="*/ 7 w 595"/>
                  <a:gd name="T115" fmla="*/ 161 h 77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95"/>
                  <a:gd name="T175" fmla="*/ 0 h 770"/>
                  <a:gd name="T176" fmla="*/ 595 w 595"/>
                  <a:gd name="T177" fmla="*/ 770 h 77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95" h="770">
                    <a:moveTo>
                      <a:pt x="7" y="161"/>
                    </a:moveTo>
                    <a:lnTo>
                      <a:pt x="3" y="101"/>
                    </a:lnTo>
                    <a:lnTo>
                      <a:pt x="33" y="45"/>
                    </a:lnTo>
                    <a:lnTo>
                      <a:pt x="90" y="0"/>
                    </a:lnTo>
                    <a:lnTo>
                      <a:pt x="175" y="19"/>
                    </a:lnTo>
                    <a:lnTo>
                      <a:pt x="250" y="71"/>
                    </a:lnTo>
                    <a:lnTo>
                      <a:pt x="344" y="112"/>
                    </a:lnTo>
                    <a:lnTo>
                      <a:pt x="445" y="154"/>
                    </a:lnTo>
                    <a:lnTo>
                      <a:pt x="539" y="210"/>
                    </a:lnTo>
                    <a:lnTo>
                      <a:pt x="594" y="262"/>
                    </a:lnTo>
                    <a:lnTo>
                      <a:pt x="583" y="278"/>
                    </a:lnTo>
                    <a:lnTo>
                      <a:pt x="478" y="375"/>
                    </a:lnTo>
                    <a:lnTo>
                      <a:pt x="441" y="428"/>
                    </a:lnTo>
                    <a:lnTo>
                      <a:pt x="433" y="477"/>
                    </a:lnTo>
                    <a:lnTo>
                      <a:pt x="429" y="540"/>
                    </a:lnTo>
                    <a:lnTo>
                      <a:pt x="423" y="623"/>
                    </a:lnTo>
                    <a:lnTo>
                      <a:pt x="404" y="709"/>
                    </a:lnTo>
                    <a:lnTo>
                      <a:pt x="374" y="757"/>
                    </a:lnTo>
                    <a:lnTo>
                      <a:pt x="344" y="769"/>
                    </a:lnTo>
                    <a:lnTo>
                      <a:pt x="310" y="743"/>
                    </a:lnTo>
                    <a:lnTo>
                      <a:pt x="254" y="709"/>
                    </a:lnTo>
                    <a:lnTo>
                      <a:pt x="194" y="672"/>
                    </a:lnTo>
                    <a:lnTo>
                      <a:pt x="127" y="645"/>
                    </a:lnTo>
                    <a:lnTo>
                      <a:pt x="67" y="637"/>
                    </a:lnTo>
                    <a:lnTo>
                      <a:pt x="37" y="589"/>
                    </a:lnTo>
                    <a:lnTo>
                      <a:pt x="15" y="518"/>
                    </a:lnTo>
                    <a:lnTo>
                      <a:pt x="0" y="402"/>
                    </a:lnTo>
                    <a:lnTo>
                      <a:pt x="3" y="300"/>
                    </a:lnTo>
                    <a:lnTo>
                      <a:pt x="11" y="240"/>
                    </a:lnTo>
                    <a:lnTo>
                      <a:pt x="37" y="240"/>
                    </a:lnTo>
                    <a:lnTo>
                      <a:pt x="33" y="341"/>
                    </a:lnTo>
                    <a:lnTo>
                      <a:pt x="33" y="450"/>
                    </a:lnTo>
                    <a:lnTo>
                      <a:pt x="48" y="514"/>
                    </a:lnTo>
                    <a:lnTo>
                      <a:pt x="74" y="589"/>
                    </a:lnTo>
                    <a:lnTo>
                      <a:pt x="134" y="619"/>
                    </a:lnTo>
                    <a:lnTo>
                      <a:pt x="216" y="641"/>
                    </a:lnTo>
                    <a:lnTo>
                      <a:pt x="284" y="679"/>
                    </a:lnTo>
                    <a:lnTo>
                      <a:pt x="348" y="724"/>
                    </a:lnTo>
                    <a:lnTo>
                      <a:pt x="374" y="694"/>
                    </a:lnTo>
                    <a:lnTo>
                      <a:pt x="389" y="630"/>
                    </a:lnTo>
                    <a:lnTo>
                      <a:pt x="396" y="548"/>
                    </a:lnTo>
                    <a:lnTo>
                      <a:pt x="404" y="461"/>
                    </a:lnTo>
                    <a:lnTo>
                      <a:pt x="429" y="386"/>
                    </a:lnTo>
                    <a:lnTo>
                      <a:pt x="504" y="308"/>
                    </a:lnTo>
                    <a:lnTo>
                      <a:pt x="539" y="266"/>
                    </a:lnTo>
                    <a:lnTo>
                      <a:pt x="535" y="251"/>
                    </a:lnTo>
                    <a:lnTo>
                      <a:pt x="441" y="187"/>
                    </a:lnTo>
                    <a:lnTo>
                      <a:pt x="348" y="146"/>
                    </a:lnTo>
                    <a:lnTo>
                      <a:pt x="269" y="109"/>
                    </a:lnTo>
                    <a:lnTo>
                      <a:pt x="220" y="86"/>
                    </a:lnTo>
                    <a:lnTo>
                      <a:pt x="171" y="57"/>
                    </a:lnTo>
                    <a:lnTo>
                      <a:pt x="142" y="41"/>
                    </a:lnTo>
                    <a:lnTo>
                      <a:pt x="93" y="37"/>
                    </a:lnTo>
                    <a:lnTo>
                      <a:pt x="63" y="64"/>
                    </a:lnTo>
                    <a:lnTo>
                      <a:pt x="41" y="105"/>
                    </a:lnTo>
                    <a:lnTo>
                      <a:pt x="41" y="142"/>
                    </a:lnTo>
                    <a:lnTo>
                      <a:pt x="37" y="180"/>
                    </a:lnTo>
                    <a:lnTo>
                      <a:pt x="7" y="161"/>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3" name="Freeform 56">
                <a:extLst>
                  <a:ext uri="{FF2B5EF4-FFF2-40B4-BE49-F238E27FC236}">
                    <a16:creationId xmlns:a16="http://schemas.microsoft.com/office/drawing/2014/main" id="{8A58211C-B712-4D1D-BA63-C0D7A737F7C8}"/>
                  </a:ext>
                </a:extLst>
              </p:cNvPr>
              <p:cNvSpPr/>
              <p:nvPr/>
            </p:nvSpPr>
            <p:spPr bwMode="auto">
              <a:xfrm>
                <a:off x="1017" y="2880"/>
                <a:ext cx="810" cy="276"/>
              </a:xfrm>
              <a:custGeom>
                <a:avLst/>
                <a:gdLst>
                  <a:gd name="T0" fmla="*/ 0 w 809"/>
                  <a:gd name="T1" fmla="*/ 214 h 275"/>
                  <a:gd name="T2" fmla="*/ 18 w 809"/>
                  <a:gd name="T3" fmla="*/ 191 h 275"/>
                  <a:gd name="T4" fmla="*/ 59 w 809"/>
                  <a:gd name="T5" fmla="*/ 184 h 275"/>
                  <a:gd name="T6" fmla="*/ 191 w 809"/>
                  <a:gd name="T7" fmla="*/ 210 h 275"/>
                  <a:gd name="T8" fmla="*/ 317 w 809"/>
                  <a:gd name="T9" fmla="*/ 233 h 275"/>
                  <a:gd name="T10" fmla="*/ 475 w 809"/>
                  <a:gd name="T11" fmla="*/ 229 h 275"/>
                  <a:gd name="T12" fmla="*/ 620 w 809"/>
                  <a:gd name="T13" fmla="*/ 198 h 275"/>
                  <a:gd name="T14" fmla="*/ 711 w 809"/>
                  <a:gd name="T15" fmla="*/ 146 h 275"/>
                  <a:gd name="T16" fmla="*/ 699 w 809"/>
                  <a:gd name="T17" fmla="*/ 105 h 275"/>
                  <a:gd name="T18" fmla="*/ 714 w 809"/>
                  <a:gd name="T19" fmla="*/ 49 h 275"/>
                  <a:gd name="T20" fmla="*/ 748 w 809"/>
                  <a:gd name="T21" fmla="*/ 19 h 275"/>
                  <a:gd name="T22" fmla="*/ 785 w 809"/>
                  <a:gd name="T23" fmla="*/ 0 h 275"/>
                  <a:gd name="T24" fmla="*/ 800 w 809"/>
                  <a:gd name="T25" fmla="*/ 41 h 275"/>
                  <a:gd name="T26" fmla="*/ 808 w 809"/>
                  <a:gd name="T27" fmla="*/ 82 h 275"/>
                  <a:gd name="T28" fmla="*/ 792 w 809"/>
                  <a:gd name="T29" fmla="*/ 161 h 275"/>
                  <a:gd name="T30" fmla="*/ 755 w 809"/>
                  <a:gd name="T31" fmla="*/ 184 h 275"/>
                  <a:gd name="T32" fmla="*/ 665 w 809"/>
                  <a:gd name="T33" fmla="*/ 214 h 275"/>
                  <a:gd name="T34" fmla="*/ 568 w 809"/>
                  <a:gd name="T35" fmla="*/ 240 h 275"/>
                  <a:gd name="T36" fmla="*/ 407 w 809"/>
                  <a:gd name="T37" fmla="*/ 270 h 275"/>
                  <a:gd name="T38" fmla="*/ 258 w 809"/>
                  <a:gd name="T39" fmla="*/ 274 h 275"/>
                  <a:gd name="T40" fmla="*/ 55 w 809"/>
                  <a:gd name="T41" fmla="*/ 255 h 275"/>
                  <a:gd name="T42" fmla="*/ 0 w 809"/>
                  <a:gd name="T43" fmla="*/ 214 h 27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09"/>
                  <a:gd name="T67" fmla="*/ 0 h 275"/>
                  <a:gd name="T68" fmla="*/ 809 w 809"/>
                  <a:gd name="T69" fmla="*/ 275 h 27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09" h="275">
                    <a:moveTo>
                      <a:pt x="0" y="214"/>
                    </a:moveTo>
                    <a:lnTo>
                      <a:pt x="18" y="191"/>
                    </a:lnTo>
                    <a:lnTo>
                      <a:pt x="59" y="184"/>
                    </a:lnTo>
                    <a:lnTo>
                      <a:pt x="191" y="210"/>
                    </a:lnTo>
                    <a:lnTo>
                      <a:pt x="317" y="233"/>
                    </a:lnTo>
                    <a:lnTo>
                      <a:pt x="475" y="229"/>
                    </a:lnTo>
                    <a:lnTo>
                      <a:pt x="620" y="198"/>
                    </a:lnTo>
                    <a:lnTo>
                      <a:pt x="711" y="146"/>
                    </a:lnTo>
                    <a:lnTo>
                      <a:pt x="699" y="105"/>
                    </a:lnTo>
                    <a:lnTo>
                      <a:pt x="714" y="49"/>
                    </a:lnTo>
                    <a:lnTo>
                      <a:pt x="748" y="19"/>
                    </a:lnTo>
                    <a:lnTo>
                      <a:pt x="785" y="0"/>
                    </a:lnTo>
                    <a:lnTo>
                      <a:pt x="800" y="41"/>
                    </a:lnTo>
                    <a:lnTo>
                      <a:pt x="808" y="82"/>
                    </a:lnTo>
                    <a:lnTo>
                      <a:pt x="792" y="161"/>
                    </a:lnTo>
                    <a:lnTo>
                      <a:pt x="755" y="184"/>
                    </a:lnTo>
                    <a:lnTo>
                      <a:pt x="665" y="214"/>
                    </a:lnTo>
                    <a:lnTo>
                      <a:pt x="568" y="240"/>
                    </a:lnTo>
                    <a:lnTo>
                      <a:pt x="407" y="270"/>
                    </a:lnTo>
                    <a:lnTo>
                      <a:pt x="258" y="274"/>
                    </a:lnTo>
                    <a:lnTo>
                      <a:pt x="55" y="255"/>
                    </a:lnTo>
                    <a:lnTo>
                      <a:pt x="0" y="214"/>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4" name="Freeform 57">
                <a:extLst>
                  <a:ext uri="{FF2B5EF4-FFF2-40B4-BE49-F238E27FC236}">
                    <a16:creationId xmlns:a16="http://schemas.microsoft.com/office/drawing/2014/main" id="{207785C4-076B-4179-87EB-044ACFC9725A}"/>
                  </a:ext>
                </a:extLst>
              </p:cNvPr>
              <p:cNvSpPr/>
              <p:nvPr/>
            </p:nvSpPr>
            <p:spPr bwMode="auto">
              <a:xfrm>
                <a:off x="953" y="2687"/>
                <a:ext cx="439" cy="391"/>
              </a:xfrm>
              <a:custGeom>
                <a:avLst/>
                <a:gdLst>
                  <a:gd name="T0" fmla="*/ 12 w 439"/>
                  <a:gd name="T1" fmla="*/ 390 h 391"/>
                  <a:gd name="T2" fmla="*/ 0 w 439"/>
                  <a:gd name="T3" fmla="*/ 353 h 391"/>
                  <a:gd name="T4" fmla="*/ 22 w 439"/>
                  <a:gd name="T5" fmla="*/ 319 h 391"/>
                  <a:gd name="T6" fmla="*/ 97 w 439"/>
                  <a:gd name="T7" fmla="*/ 289 h 391"/>
                  <a:gd name="T8" fmla="*/ 184 w 439"/>
                  <a:gd name="T9" fmla="*/ 282 h 391"/>
                  <a:gd name="T10" fmla="*/ 243 w 439"/>
                  <a:gd name="T11" fmla="*/ 263 h 391"/>
                  <a:gd name="T12" fmla="*/ 281 w 439"/>
                  <a:gd name="T13" fmla="*/ 229 h 391"/>
                  <a:gd name="T14" fmla="*/ 322 w 439"/>
                  <a:gd name="T15" fmla="*/ 154 h 391"/>
                  <a:gd name="T16" fmla="*/ 355 w 439"/>
                  <a:gd name="T17" fmla="*/ 71 h 391"/>
                  <a:gd name="T18" fmla="*/ 355 w 439"/>
                  <a:gd name="T19" fmla="*/ 30 h 391"/>
                  <a:gd name="T20" fmla="*/ 374 w 439"/>
                  <a:gd name="T21" fmla="*/ 8 h 391"/>
                  <a:gd name="T22" fmla="*/ 400 w 439"/>
                  <a:gd name="T23" fmla="*/ 0 h 391"/>
                  <a:gd name="T24" fmla="*/ 426 w 439"/>
                  <a:gd name="T25" fmla="*/ 19 h 391"/>
                  <a:gd name="T26" fmla="*/ 438 w 439"/>
                  <a:gd name="T27" fmla="*/ 60 h 391"/>
                  <a:gd name="T28" fmla="*/ 434 w 439"/>
                  <a:gd name="T29" fmla="*/ 113 h 391"/>
                  <a:gd name="T30" fmla="*/ 419 w 439"/>
                  <a:gd name="T31" fmla="*/ 150 h 391"/>
                  <a:gd name="T32" fmla="*/ 404 w 439"/>
                  <a:gd name="T33" fmla="*/ 150 h 391"/>
                  <a:gd name="T34" fmla="*/ 397 w 439"/>
                  <a:gd name="T35" fmla="*/ 135 h 391"/>
                  <a:gd name="T36" fmla="*/ 374 w 439"/>
                  <a:gd name="T37" fmla="*/ 132 h 391"/>
                  <a:gd name="T38" fmla="*/ 333 w 439"/>
                  <a:gd name="T39" fmla="*/ 188 h 391"/>
                  <a:gd name="T40" fmla="*/ 284 w 439"/>
                  <a:gd name="T41" fmla="*/ 274 h 391"/>
                  <a:gd name="T42" fmla="*/ 251 w 439"/>
                  <a:gd name="T43" fmla="*/ 311 h 391"/>
                  <a:gd name="T44" fmla="*/ 184 w 439"/>
                  <a:gd name="T45" fmla="*/ 334 h 391"/>
                  <a:gd name="T46" fmla="*/ 105 w 439"/>
                  <a:gd name="T47" fmla="*/ 357 h 391"/>
                  <a:gd name="T48" fmla="*/ 53 w 439"/>
                  <a:gd name="T49" fmla="*/ 375 h 391"/>
                  <a:gd name="T50" fmla="*/ 12 w 439"/>
                  <a:gd name="T51" fmla="*/ 390 h 39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39"/>
                  <a:gd name="T79" fmla="*/ 0 h 391"/>
                  <a:gd name="T80" fmla="*/ 439 w 439"/>
                  <a:gd name="T81" fmla="*/ 391 h 39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39" h="391">
                    <a:moveTo>
                      <a:pt x="12" y="390"/>
                    </a:moveTo>
                    <a:lnTo>
                      <a:pt x="0" y="353"/>
                    </a:lnTo>
                    <a:lnTo>
                      <a:pt x="22" y="319"/>
                    </a:lnTo>
                    <a:lnTo>
                      <a:pt x="97" y="289"/>
                    </a:lnTo>
                    <a:lnTo>
                      <a:pt x="184" y="282"/>
                    </a:lnTo>
                    <a:lnTo>
                      <a:pt x="243" y="263"/>
                    </a:lnTo>
                    <a:lnTo>
                      <a:pt x="281" y="229"/>
                    </a:lnTo>
                    <a:lnTo>
                      <a:pt x="322" y="154"/>
                    </a:lnTo>
                    <a:lnTo>
                      <a:pt x="355" y="71"/>
                    </a:lnTo>
                    <a:lnTo>
                      <a:pt x="355" y="30"/>
                    </a:lnTo>
                    <a:lnTo>
                      <a:pt x="374" y="8"/>
                    </a:lnTo>
                    <a:lnTo>
                      <a:pt x="400" y="0"/>
                    </a:lnTo>
                    <a:lnTo>
                      <a:pt x="426" y="19"/>
                    </a:lnTo>
                    <a:lnTo>
                      <a:pt x="438" y="60"/>
                    </a:lnTo>
                    <a:lnTo>
                      <a:pt x="434" y="113"/>
                    </a:lnTo>
                    <a:lnTo>
                      <a:pt x="419" y="150"/>
                    </a:lnTo>
                    <a:lnTo>
                      <a:pt x="404" y="150"/>
                    </a:lnTo>
                    <a:lnTo>
                      <a:pt x="397" y="135"/>
                    </a:lnTo>
                    <a:lnTo>
                      <a:pt x="374" y="132"/>
                    </a:lnTo>
                    <a:lnTo>
                      <a:pt x="333" y="188"/>
                    </a:lnTo>
                    <a:lnTo>
                      <a:pt x="284" y="274"/>
                    </a:lnTo>
                    <a:lnTo>
                      <a:pt x="251" y="311"/>
                    </a:lnTo>
                    <a:lnTo>
                      <a:pt x="184" y="334"/>
                    </a:lnTo>
                    <a:lnTo>
                      <a:pt x="105" y="357"/>
                    </a:lnTo>
                    <a:lnTo>
                      <a:pt x="53" y="375"/>
                    </a:lnTo>
                    <a:lnTo>
                      <a:pt x="12" y="39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5" name="Freeform 58">
                <a:extLst>
                  <a:ext uri="{FF2B5EF4-FFF2-40B4-BE49-F238E27FC236}">
                    <a16:creationId xmlns:a16="http://schemas.microsoft.com/office/drawing/2014/main" id="{9A34B73D-FBF5-481F-9FC8-AF062715C59A}"/>
                  </a:ext>
                </a:extLst>
              </p:cNvPr>
              <p:cNvSpPr/>
              <p:nvPr/>
            </p:nvSpPr>
            <p:spPr bwMode="auto">
              <a:xfrm>
                <a:off x="898" y="3019"/>
                <a:ext cx="334" cy="579"/>
              </a:xfrm>
              <a:custGeom>
                <a:avLst/>
                <a:gdLst>
                  <a:gd name="T0" fmla="*/ 0 w 334"/>
                  <a:gd name="T1" fmla="*/ 76 h 579"/>
                  <a:gd name="T2" fmla="*/ 18 w 334"/>
                  <a:gd name="T3" fmla="*/ 31 h 579"/>
                  <a:gd name="T4" fmla="*/ 44 w 334"/>
                  <a:gd name="T5" fmla="*/ 0 h 579"/>
                  <a:gd name="T6" fmla="*/ 111 w 334"/>
                  <a:gd name="T7" fmla="*/ 0 h 579"/>
                  <a:gd name="T8" fmla="*/ 179 w 334"/>
                  <a:gd name="T9" fmla="*/ 31 h 579"/>
                  <a:gd name="T10" fmla="*/ 258 w 334"/>
                  <a:gd name="T11" fmla="*/ 116 h 579"/>
                  <a:gd name="T12" fmla="*/ 298 w 334"/>
                  <a:gd name="T13" fmla="*/ 184 h 579"/>
                  <a:gd name="T14" fmla="*/ 325 w 334"/>
                  <a:gd name="T15" fmla="*/ 278 h 579"/>
                  <a:gd name="T16" fmla="*/ 333 w 334"/>
                  <a:gd name="T17" fmla="*/ 386 h 579"/>
                  <a:gd name="T18" fmla="*/ 318 w 334"/>
                  <a:gd name="T19" fmla="*/ 503 h 579"/>
                  <a:gd name="T20" fmla="*/ 280 w 334"/>
                  <a:gd name="T21" fmla="*/ 559 h 579"/>
                  <a:gd name="T22" fmla="*/ 213 w 334"/>
                  <a:gd name="T23" fmla="*/ 578 h 579"/>
                  <a:gd name="T24" fmla="*/ 172 w 334"/>
                  <a:gd name="T25" fmla="*/ 575 h 579"/>
                  <a:gd name="T26" fmla="*/ 138 w 334"/>
                  <a:gd name="T27" fmla="*/ 555 h 579"/>
                  <a:gd name="T28" fmla="*/ 108 w 334"/>
                  <a:gd name="T29" fmla="*/ 529 h 579"/>
                  <a:gd name="T30" fmla="*/ 97 w 334"/>
                  <a:gd name="T31" fmla="*/ 484 h 579"/>
                  <a:gd name="T32" fmla="*/ 104 w 334"/>
                  <a:gd name="T33" fmla="*/ 439 h 579"/>
                  <a:gd name="T34" fmla="*/ 130 w 334"/>
                  <a:gd name="T35" fmla="*/ 413 h 579"/>
                  <a:gd name="T36" fmla="*/ 149 w 334"/>
                  <a:gd name="T37" fmla="*/ 383 h 579"/>
                  <a:gd name="T38" fmla="*/ 156 w 334"/>
                  <a:gd name="T39" fmla="*/ 346 h 579"/>
                  <a:gd name="T40" fmla="*/ 156 w 334"/>
                  <a:gd name="T41" fmla="*/ 311 h 579"/>
                  <a:gd name="T42" fmla="*/ 142 w 334"/>
                  <a:gd name="T43" fmla="*/ 282 h 579"/>
                  <a:gd name="T44" fmla="*/ 89 w 334"/>
                  <a:gd name="T45" fmla="*/ 229 h 579"/>
                  <a:gd name="T46" fmla="*/ 26 w 334"/>
                  <a:gd name="T47" fmla="*/ 169 h 579"/>
                  <a:gd name="T48" fmla="*/ 3 w 334"/>
                  <a:gd name="T49" fmla="*/ 120 h 579"/>
                  <a:gd name="T50" fmla="*/ 0 w 334"/>
                  <a:gd name="T51" fmla="*/ 76 h 57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34"/>
                  <a:gd name="T79" fmla="*/ 0 h 579"/>
                  <a:gd name="T80" fmla="*/ 334 w 334"/>
                  <a:gd name="T81" fmla="*/ 579 h 57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34" h="579">
                    <a:moveTo>
                      <a:pt x="0" y="76"/>
                    </a:moveTo>
                    <a:lnTo>
                      <a:pt x="18" y="31"/>
                    </a:lnTo>
                    <a:lnTo>
                      <a:pt x="44" y="0"/>
                    </a:lnTo>
                    <a:lnTo>
                      <a:pt x="111" y="0"/>
                    </a:lnTo>
                    <a:lnTo>
                      <a:pt x="179" y="31"/>
                    </a:lnTo>
                    <a:lnTo>
                      <a:pt x="258" y="116"/>
                    </a:lnTo>
                    <a:lnTo>
                      <a:pt x="298" y="184"/>
                    </a:lnTo>
                    <a:lnTo>
                      <a:pt x="325" y="278"/>
                    </a:lnTo>
                    <a:lnTo>
                      <a:pt x="333" y="386"/>
                    </a:lnTo>
                    <a:lnTo>
                      <a:pt x="318" y="503"/>
                    </a:lnTo>
                    <a:lnTo>
                      <a:pt x="280" y="559"/>
                    </a:lnTo>
                    <a:lnTo>
                      <a:pt x="213" y="578"/>
                    </a:lnTo>
                    <a:lnTo>
                      <a:pt x="172" y="575"/>
                    </a:lnTo>
                    <a:lnTo>
                      <a:pt x="138" y="555"/>
                    </a:lnTo>
                    <a:lnTo>
                      <a:pt x="108" y="529"/>
                    </a:lnTo>
                    <a:lnTo>
                      <a:pt x="97" y="484"/>
                    </a:lnTo>
                    <a:lnTo>
                      <a:pt x="104" y="439"/>
                    </a:lnTo>
                    <a:lnTo>
                      <a:pt x="130" y="413"/>
                    </a:lnTo>
                    <a:lnTo>
                      <a:pt x="149" y="383"/>
                    </a:lnTo>
                    <a:lnTo>
                      <a:pt x="156" y="346"/>
                    </a:lnTo>
                    <a:lnTo>
                      <a:pt x="156" y="311"/>
                    </a:lnTo>
                    <a:lnTo>
                      <a:pt x="142" y="282"/>
                    </a:lnTo>
                    <a:lnTo>
                      <a:pt x="89" y="229"/>
                    </a:lnTo>
                    <a:lnTo>
                      <a:pt x="26" y="169"/>
                    </a:lnTo>
                    <a:lnTo>
                      <a:pt x="3" y="120"/>
                    </a:lnTo>
                    <a:lnTo>
                      <a:pt x="0" y="76"/>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6" name="Freeform 59">
                <a:extLst>
                  <a:ext uri="{FF2B5EF4-FFF2-40B4-BE49-F238E27FC236}">
                    <a16:creationId xmlns:a16="http://schemas.microsoft.com/office/drawing/2014/main" id="{1598F08A-CFF9-4C9D-9B0F-5EE4858B9B71}"/>
                  </a:ext>
                </a:extLst>
              </p:cNvPr>
              <p:cNvSpPr/>
              <p:nvPr/>
            </p:nvSpPr>
            <p:spPr bwMode="auto">
              <a:xfrm>
                <a:off x="823" y="2626"/>
                <a:ext cx="341" cy="305"/>
              </a:xfrm>
              <a:custGeom>
                <a:avLst/>
                <a:gdLst>
                  <a:gd name="T0" fmla="*/ 250 w 342"/>
                  <a:gd name="T1" fmla="*/ 166 h 305"/>
                  <a:gd name="T2" fmla="*/ 224 w 342"/>
                  <a:gd name="T3" fmla="*/ 113 h 305"/>
                  <a:gd name="T4" fmla="*/ 176 w 342"/>
                  <a:gd name="T5" fmla="*/ 49 h 305"/>
                  <a:gd name="T6" fmla="*/ 131 w 342"/>
                  <a:gd name="T7" fmla="*/ 8 h 305"/>
                  <a:gd name="T8" fmla="*/ 78 w 342"/>
                  <a:gd name="T9" fmla="*/ 0 h 305"/>
                  <a:gd name="T10" fmla="*/ 34 w 342"/>
                  <a:gd name="T11" fmla="*/ 16 h 305"/>
                  <a:gd name="T12" fmla="*/ 3 w 342"/>
                  <a:gd name="T13" fmla="*/ 53 h 305"/>
                  <a:gd name="T14" fmla="*/ 0 w 342"/>
                  <a:gd name="T15" fmla="*/ 105 h 305"/>
                  <a:gd name="T16" fmla="*/ 22 w 342"/>
                  <a:gd name="T17" fmla="*/ 180 h 305"/>
                  <a:gd name="T18" fmla="*/ 78 w 342"/>
                  <a:gd name="T19" fmla="*/ 251 h 305"/>
                  <a:gd name="T20" fmla="*/ 142 w 342"/>
                  <a:gd name="T21" fmla="*/ 300 h 305"/>
                  <a:gd name="T22" fmla="*/ 202 w 342"/>
                  <a:gd name="T23" fmla="*/ 304 h 305"/>
                  <a:gd name="T24" fmla="*/ 239 w 342"/>
                  <a:gd name="T25" fmla="*/ 289 h 305"/>
                  <a:gd name="T26" fmla="*/ 247 w 342"/>
                  <a:gd name="T27" fmla="*/ 267 h 305"/>
                  <a:gd name="T28" fmla="*/ 250 w 342"/>
                  <a:gd name="T29" fmla="*/ 233 h 305"/>
                  <a:gd name="T30" fmla="*/ 295 w 342"/>
                  <a:gd name="T31" fmla="*/ 241 h 305"/>
                  <a:gd name="T32" fmla="*/ 325 w 342"/>
                  <a:gd name="T33" fmla="*/ 255 h 305"/>
                  <a:gd name="T34" fmla="*/ 341 w 342"/>
                  <a:gd name="T35" fmla="*/ 233 h 305"/>
                  <a:gd name="T36" fmla="*/ 325 w 342"/>
                  <a:gd name="T37" fmla="*/ 218 h 305"/>
                  <a:gd name="T38" fmla="*/ 276 w 342"/>
                  <a:gd name="T39" fmla="*/ 199 h 305"/>
                  <a:gd name="T40" fmla="*/ 247 w 342"/>
                  <a:gd name="T41" fmla="*/ 188 h 305"/>
                  <a:gd name="T42" fmla="*/ 250 w 342"/>
                  <a:gd name="T43" fmla="*/ 166 h 30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42"/>
                  <a:gd name="T67" fmla="*/ 0 h 305"/>
                  <a:gd name="T68" fmla="*/ 342 w 342"/>
                  <a:gd name="T69" fmla="*/ 305 h 30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42" h="305">
                    <a:moveTo>
                      <a:pt x="250" y="166"/>
                    </a:moveTo>
                    <a:lnTo>
                      <a:pt x="224" y="113"/>
                    </a:lnTo>
                    <a:lnTo>
                      <a:pt x="176" y="49"/>
                    </a:lnTo>
                    <a:lnTo>
                      <a:pt x="131" y="8"/>
                    </a:lnTo>
                    <a:lnTo>
                      <a:pt x="78" y="0"/>
                    </a:lnTo>
                    <a:lnTo>
                      <a:pt x="34" y="16"/>
                    </a:lnTo>
                    <a:lnTo>
                      <a:pt x="3" y="53"/>
                    </a:lnTo>
                    <a:lnTo>
                      <a:pt x="0" y="105"/>
                    </a:lnTo>
                    <a:lnTo>
                      <a:pt x="22" y="180"/>
                    </a:lnTo>
                    <a:lnTo>
                      <a:pt x="78" y="251"/>
                    </a:lnTo>
                    <a:lnTo>
                      <a:pt x="142" y="300"/>
                    </a:lnTo>
                    <a:lnTo>
                      <a:pt x="202" y="304"/>
                    </a:lnTo>
                    <a:lnTo>
                      <a:pt x="239" y="289"/>
                    </a:lnTo>
                    <a:lnTo>
                      <a:pt x="247" y="267"/>
                    </a:lnTo>
                    <a:lnTo>
                      <a:pt x="250" y="233"/>
                    </a:lnTo>
                    <a:lnTo>
                      <a:pt x="295" y="241"/>
                    </a:lnTo>
                    <a:lnTo>
                      <a:pt x="325" y="255"/>
                    </a:lnTo>
                    <a:lnTo>
                      <a:pt x="341" y="233"/>
                    </a:lnTo>
                    <a:lnTo>
                      <a:pt x="325" y="218"/>
                    </a:lnTo>
                    <a:lnTo>
                      <a:pt x="276" y="199"/>
                    </a:lnTo>
                    <a:lnTo>
                      <a:pt x="247" y="188"/>
                    </a:lnTo>
                    <a:lnTo>
                      <a:pt x="250" y="166"/>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7" name="Freeform 60">
                <a:extLst>
                  <a:ext uri="{FF2B5EF4-FFF2-40B4-BE49-F238E27FC236}">
                    <a16:creationId xmlns:a16="http://schemas.microsoft.com/office/drawing/2014/main" id="{8E45457B-0032-4AF1-B1C6-AB1524BEE445}"/>
                  </a:ext>
                </a:extLst>
              </p:cNvPr>
              <p:cNvSpPr/>
              <p:nvPr/>
            </p:nvSpPr>
            <p:spPr bwMode="auto">
              <a:xfrm>
                <a:off x="976" y="3499"/>
                <a:ext cx="211" cy="571"/>
              </a:xfrm>
              <a:custGeom>
                <a:avLst/>
                <a:gdLst>
                  <a:gd name="T0" fmla="*/ 52 w 211"/>
                  <a:gd name="T1" fmla="*/ 0 h 571"/>
                  <a:gd name="T2" fmla="*/ 90 w 211"/>
                  <a:gd name="T3" fmla="*/ 4 h 571"/>
                  <a:gd name="T4" fmla="*/ 116 w 211"/>
                  <a:gd name="T5" fmla="*/ 53 h 571"/>
                  <a:gd name="T6" fmla="*/ 109 w 211"/>
                  <a:gd name="T7" fmla="*/ 102 h 571"/>
                  <a:gd name="T8" fmla="*/ 97 w 211"/>
                  <a:gd name="T9" fmla="*/ 203 h 571"/>
                  <a:gd name="T10" fmla="*/ 101 w 211"/>
                  <a:gd name="T11" fmla="*/ 267 h 571"/>
                  <a:gd name="T12" fmla="*/ 97 w 211"/>
                  <a:gd name="T13" fmla="*/ 331 h 571"/>
                  <a:gd name="T14" fmla="*/ 68 w 211"/>
                  <a:gd name="T15" fmla="*/ 462 h 571"/>
                  <a:gd name="T16" fmla="*/ 60 w 211"/>
                  <a:gd name="T17" fmla="*/ 495 h 571"/>
                  <a:gd name="T18" fmla="*/ 68 w 211"/>
                  <a:gd name="T19" fmla="*/ 503 h 571"/>
                  <a:gd name="T20" fmla="*/ 109 w 211"/>
                  <a:gd name="T21" fmla="*/ 481 h 571"/>
                  <a:gd name="T22" fmla="*/ 176 w 211"/>
                  <a:gd name="T23" fmla="*/ 469 h 571"/>
                  <a:gd name="T24" fmla="*/ 210 w 211"/>
                  <a:gd name="T25" fmla="*/ 485 h 571"/>
                  <a:gd name="T26" fmla="*/ 206 w 211"/>
                  <a:gd name="T27" fmla="*/ 511 h 571"/>
                  <a:gd name="T28" fmla="*/ 161 w 211"/>
                  <a:gd name="T29" fmla="*/ 522 h 571"/>
                  <a:gd name="T30" fmla="*/ 109 w 211"/>
                  <a:gd name="T31" fmla="*/ 526 h 571"/>
                  <a:gd name="T32" fmla="*/ 56 w 211"/>
                  <a:gd name="T33" fmla="*/ 548 h 571"/>
                  <a:gd name="T34" fmla="*/ 16 w 211"/>
                  <a:gd name="T35" fmla="*/ 570 h 571"/>
                  <a:gd name="T36" fmla="*/ 0 w 211"/>
                  <a:gd name="T37" fmla="*/ 560 h 571"/>
                  <a:gd name="T38" fmla="*/ 0 w 211"/>
                  <a:gd name="T39" fmla="*/ 522 h 571"/>
                  <a:gd name="T40" fmla="*/ 30 w 211"/>
                  <a:gd name="T41" fmla="*/ 451 h 571"/>
                  <a:gd name="T42" fmla="*/ 45 w 211"/>
                  <a:gd name="T43" fmla="*/ 368 h 571"/>
                  <a:gd name="T44" fmla="*/ 52 w 211"/>
                  <a:gd name="T45" fmla="*/ 252 h 571"/>
                  <a:gd name="T46" fmla="*/ 38 w 211"/>
                  <a:gd name="T47" fmla="*/ 147 h 571"/>
                  <a:gd name="T48" fmla="*/ 23 w 211"/>
                  <a:gd name="T49" fmla="*/ 65 h 571"/>
                  <a:gd name="T50" fmla="*/ 38 w 211"/>
                  <a:gd name="T51" fmla="*/ 0 h 571"/>
                  <a:gd name="T52" fmla="*/ 52 w 211"/>
                  <a:gd name="T53" fmla="*/ 0 h 5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11"/>
                  <a:gd name="T82" fmla="*/ 0 h 571"/>
                  <a:gd name="T83" fmla="*/ 211 w 211"/>
                  <a:gd name="T84" fmla="*/ 571 h 5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11" h="571">
                    <a:moveTo>
                      <a:pt x="52" y="0"/>
                    </a:moveTo>
                    <a:lnTo>
                      <a:pt x="90" y="4"/>
                    </a:lnTo>
                    <a:lnTo>
                      <a:pt x="116" y="53"/>
                    </a:lnTo>
                    <a:lnTo>
                      <a:pt x="109" y="102"/>
                    </a:lnTo>
                    <a:lnTo>
                      <a:pt x="97" y="203"/>
                    </a:lnTo>
                    <a:lnTo>
                      <a:pt x="101" y="267"/>
                    </a:lnTo>
                    <a:lnTo>
                      <a:pt x="97" y="331"/>
                    </a:lnTo>
                    <a:lnTo>
                      <a:pt x="68" y="462"/>
                    </a:lnTo>
                    <a:lnTo>
                      <a:pt x="60" y="495"/>
                    </a:lnTo>
                    <a:lnTo>
                      <a:pt x="68" y="503"/>
                    </a:lnTo>
                    <a:lnTo>
                      <a:pt x="109" y="481"/>
                    </a:lnTo>
                    <a:lnTo>
                      <a:pt x="176" y="469"/>
                    </a:lnTo>
                    <a:lnTo>
                      <a:pt x="210" y="485"/>
                    </a:lnTo>
                    <a:lnTo>
                      <a:pt x="206" y="511"/>
                    </a:lnTo>
                    <a:lnTo>
                      <a:pt x="161" y="522"/>
                    </a:lnTo>
                    <a:lnTo>
                      <a:pt x="109" y="526"/>
                    </a:lnTo>
                    <a:lnTo>
                      <a:pt x="56" y="548"/>
                    </a:lnTo>
                    <a:lnTo>
                      <a:pt x="16" y="570"/>
                    </a:lnTo>
                    <a:lnTo>
                      <a:pt x="0" y="560"/>
                    </a:lnTo>
                    <a:lnTo>
                      <a:pt x="0" y="522"/>
                    </a:lnTo>
                    <a:lnTo>
                      <a:pt x="30" y="451"/>
                    </a:lnTo>
                    <a:lnTo>
                      <a:pt x="45" y="368"/>
                    </a:lnTo>
                    <a:lnTo>
                      <a:pt x="52" y="252"/>
                    </a:lnTo>
                    <a:lnTo>
                      <a:pt x="38" y="147"/>
                    </a:lnTo>
                    <a:lnTo>
                      <a:pt x="23" y="65"/>
                    </a:lnTo>
                    <a:lnTo>
                      <a:pt x="38" y="0"/>
                    </a:lnTo>
                    <a:lnTo>
                      <a:pt x="52"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8" name="Freeform 61">
                <a:extLst>
                  <a:ext uri="{FF2B5EF4-FFF2-40B4-BE49-F238E27FC236}">
                    <a16:creationId xmlns:a16="http://schemas.microsoft.com/office/drawing/2014/main" id="{446F1F4F-19CE-4081-A7F3-ABD8BB061997}"/>
                  </a:ext>
                </a:extLst>
              </p:cNvPr>
              <p:cNvSpPr/>
              <p:nvPr/>
            </p:nvSpPr>
            <p:spPr bwMode="auto">
              <a:xfrm>
                <a:off x="1092" y="3448"/>
                <a:ext cx="338" cy="664"/>
              </a:xfrm>
              <a:custGeom>
                <a:avLst/>
                <a:gdLst>
                  <a:gd name="T0" fmla="*/ 72 w 338"/>
                  <a:gd name="T1" fmla="*/ 7 h 665"/>
                  <a:gd name="T2" fmla="*/ 19 w 338"/>
                  <a:gd name="T3" fmla="*/ 0 h 665"/>
                  <a:gd name="T4" fmla="*/ 0 w 338"/>
                  <a:gd name="T5" fmla="*/ 38 h 665"/>
                  <a:gd name="T6" fmla="*/ 19 w 338"/>
                  <a:gd name="T7" fmla="*/ 82 h 665"/>
                  <a:gd name="T8" fmla="*/ 72 w 338"/>
                  <a:gd name="T9" fmla="*/ 157 h 665"/>
                  <a:gd name="T10" fmla="*/ 112 w 338"/>
                  <a:gd name="T11" fmla="*/ 267 h 665"/>
                  <a:gd name="T12" fmla="*/ 127 w 338"/>
                  <a:gd name="T13" fmla="*/ 356 h 665"/>
                  <a:gd name="T14" fmla="*/ 120 w 338"/>
                  <a:gd name="T15" fmla="*/ 450 h 665"/>
                  <a:gd name="T16" fmla="*/ 105 w 338"/>
                  <a:gd name="T17" fmla="*/ 570 h 665"/>
                  <a:gd name="T18" fmla="*/ 90 w 338"/>
                  <a:gd name="T19" fmla="*/ 638 h 665"/>
                  <a:gd name="T20" fmla="*/ 98 w 338"/>
                  <a:gd name="T21" fmla="*/ 664 h 665"/>
                  <a:gd name="T22" fmla="*/ 124 w 338"/>
                  <a:gd name="T23" fmla="*/ 664 h 665"/>
                  <a:gd name="T24" fmla="*/ 172 w 338"/>
                  <a:gd name="T25" fmla="*/ 641 h 665"/>
                  <a:gd name="T26" fmla="*/ 247 w 338"/>
                  <a:gd name="T27" fmla="*/ 626 h 665"/>
                  <a:gd name="T28" fmla="*/ 326 w 338"/>
                  <a:gd name="T29" fmla="*/ 626 h 665"/>
                  <a:gd name="T30" fmla="*/ 337 w 338"/>
                  <a:gd name="T31" fmla="*/ 604 h 665"/>
                  <a:gd name="T32" fmla="*/ 292 w 338"/>
                  <a:gd name="T33" fmla="*/ 574 h 665"/>
                  <a:gd name="T34" fmla="*/ 269 w 338"/>
                  <a:gd name="T35" fmla="*/ 574 h 665"/>
                  <a:gd name="T36" fmla="*/ 172 w 338"/>
                  <a:gd name="T37" fmla="*/ 604 h 665"/>
                  <a:gd name="T38" fmla="*/ 143 w 338"/>
                  <a:gd name="T39" fmla="*/ 615 h 665"/>
                  <a:gd name="T40" fmla="*/ 135 w 338"/>
                  <a:gd name="T41" fmla="*/ 600 h 665"/>
                  <a:gd name="T42" fmla="*/ 150 w 338"/>
                  <a:gd name="T43" fmla="*/ 503 h 665"/>
                  <a:gd name="T44" fmla="*/ 169 w 338"/>
                  <a:gd name="T45" fmla="*/ 397 h 665"/>
                  <a:gd name="T46" fmla="*/ 172 w 338"/>
                  <a:gd name="T47" fmla="*/ 304 h 665"/>
                  <a:gd name="T48" fmla="*/ 157 w 338"/>
                  <a:gd name="T49" fmla="*/ 210 h 665"/>
                  <a:gd name="T50" fmla="*/ 131 w 338"/>
                  <a:gd name="T51" fmla="*/ 101 h 665"/>
                  <a:gd name="T52" fmla="*/ 101 w 338"/>
                  <a:gd name="T53" fmla="*/ 19 h 665"/>
                  <a:gd name="T54" fmla="*/ 72 w 338"/>
                  <a:gd name="T55" fmla="*/ 7 h 66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38"/>
                  <a:gd name="T85" fmla="*/ 0 h 665"/>
                  <a:gd name="T86" fmla="*/ 338 w 338"/>
                  <a:gd name="T87" fmla="*/ 665 h 66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38" h="665">
                    <a:moveTo>
                      <a:pt x="72" y="7"/>
                    </a:moveTo>
                    <a:lnTo>
                      <a:pt x="19" y="0"/>
                    </a:lnTo>
                    <a:lnTo>
                      <a:pt x="0" y="38"/>
                    </a:lnTo>
                    <a:lnTo>
                      <a:pt x="19" y="82"/>
                    </a:lnTo>
                    <a:lnTo>
                      <a:pt x="72" y="157"/>
                    </a:lnTo>
                    <a:lnTo>
                      <a:pt x="112" y="267"/>
                    </a:lnTo>
                    <a:lnTo>
                      <a:pt x="127" y="356"/>
                    </a:lnTo>
                    <a:lnTo>
                      <a:pt x="120" y="450"/>
                    </a:lnTo>
                    <a:lnTo>
                      <a:pt x="105" y="570"/>
                    </a:lnTo>
                    <a:lnTo>
                      <a:pt x="90" y="638"/>
                    </a:lnTo>
                    <a:lnTo>
                      <a:pt x="98" y="664"/>
                    </a:lnTo>
                    <a:lnTo>
                      <a:pt x="124" y="664"/>
                    </a:lnTo>
                    <a:lnTo>
                      <a:pt x="172" y="641"/>
                    </a:lnTo>
                    <a:lnTo>
                      <a:pt x="247" y="626"/>
                    </a:lnTo>
                    <a:lnTo>
                      <a:pt x="326" y="626"/>
                    </a:lnTo>
                    <a:lnTo>
                      <a:pt x="337" y="604"/>
                    </a:lnTo>
                    <a:lnTo>
                      <a:pt x="292" y="574"/>
                    </a:lnTo>
                    <a:lnTo>
                      <a:pt x="269" y="574"/>
                    </a:lnTo>
                    <a:lnTo>
                      <a:pt x="172" y="604"/>
                    </a:lnTo>
                    <a:lnTo>
                      <a:pt x="143" y="615"/>
                    </a:lnTo>
                    <a:lnTo>
                      <a:pt x="135" y="600"/>
                    </a:lnTo>
                    <a:lnTo>
                      <a:pt x="150" y="503"/>
                    </a:lnTo>
                    <a:lnTo>
                      <a:pt x="169" y="397"/>
                    </a:lnTo>
                    <a:lnTo>
                      <a:pt x="172" y="304"/>
                    </a:lnTo>
                    <a:lnTo>
                      <a:pt x="157" y="210"/>
                    </a:lnTo>
                    <a:lnTo>
                      <a:pt x="131" y="101"/>
                    </a:lnTo>
                    <a:lnTo>
                      <a:pt x="101" y="19"/>
                    </a:lnTo>
                    <a:lnTo>
                      <a:pt x="72" y="7"/>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800">
                    <a:solidFill>
                      <a:schemeClr val="tx1"/>
                    </a:solidFill>
                    <a:latin typeface="Impact" pitchFamily="34" charset="0"/>
                    <a:ea typeface="方正大黑简体" pitchFamily="2" charset="-122"/>
                  </a:defRPr>
                </a:lvl1pPr>
                <a:lvl2pPr marL="742950" indent="-285750">
                  <a:defRPr kumimoji="1" sz="2800">
                    <a:solidFill>
                      <a:schemeClr val="tx1"/>
                    </a:solidFill>
                    <a:latin typeface="Impact" pitchFamily="34" charset="0"/>
                    <a:ea typeface="方正大黑简体" pitchFamily="2" charset="-122"/>
                  </a:defRPr>
                </a:lvl2pPr>
                <a:lvl3pPr marL="1143000" indent="-228600">
                  <a:defRPr kumimoji="1" sz="2800">
                    <a:solidFill>
                      <a:schemeClr val="tx1"/>
                    </a:solidFill>
                    <a:latin typeface="Impact" pitchFamily="34" charset="0"/>
                    <a:ea typeface="方正大黑简体" pitchFamily="2" charset="-122"/>
                  </a:defRPr>
                </a:lvl3pPr>
                <a:lvl4pPr marL="1600200" indent="-228600">
                  <a:defRPr kumimoji="1" sz="2800">
                    <a:solidFill>
                      <a:schemeClr val="tx1"/>
                    </a:solidFill>
                    <a:latin typeface="Impact" pitchFamily="34" charset="0"/>
                    <a:ea typeface="方正大黑简体" pitchFamily="2" charset="-122"/>
                  </a:defRPr>
                </a:lvl4pPr>
                <a:lvl5pPr marL="2057400" indent="-228600">
                  <a:defRPr kumimoji="1" sz="2800">
                    <a:solidFill>
                      <a:schemeClr val="tx1"/>
                    </a:solidFill>
                    <a:latin typeface="Impact" pitchFamily="34" charset="0"/>
                    <a:ea typeface="方正大黑简体" pitchFamily="2" charset="-122"/>
                  </a:defRPr>
                </a:lvl5pPr>
                <a:lvl6pPr marL="2514600" indent="-228600" fontAlgn="base">
                  <a:spcBef>
                    <a:spcPct val="0"/>
                  </a:spcBef>
                  <a:spcAft>
                    <a:spcPct val="0"/>
                  </a:spcAft>
                  <a:defRPr kumimoji="1" sz="2800">
                    <a:solidFill>
                      <a:schemeClr val="tx1"/>
                    </a:solidFill>
                    <a:latin typeface="Impact" pitchFamily="34" charset="0"/>
                    <a:ea typeface="方正大黑简体" pitchFamily="2" charset="-122"/>
                  </a:defRPr>
                </a:lvl6pPr>
                <a:lvl7pPr marL="2971800" indent="-228600" fontAlgn="base">
                  <a:spcBef>
                    <a:spcPct val="0"/>
                  </a:spcBef>
                  <a:spcAft>
                    <a:spcPct val="0"/>
                  </a:spcAft>
                  <a:defRPr kumimoji="1" sz="2800">
                    <a:solidFill>
                      <a:schemeClr val="tx1"/>
                    </a:solidFill>
                    <a:latin typeface="Impact" pitchFamily="34" charset="0"/>
                    <a:ea typeface="方正大黑简体" pitchFamily="2" charset="-122"/>
                  </a:defRPr>
                </a:lvl7pPr>
                <a:lvl8pPr marL="3429000" indent="-228600" fontAlgn="base">
                  <a:spcBef>
                    <a:spcPct val="0"/>
                  </a:spcBef>
                  <a:spcAft>
                    <a:spcPct val="0"/>
                  </a:spcAft>
                  <a:defRPr kumimoji="1" sz="2800">
                    <a:solidFill>
                      <a:schemeClr val="tx1"/>
                    </a:solidFill>
                    <a:latin typeface="Impact" pitchFamily="34" charset="0"/>
                    <a:ea typeface="方正大黑简体" pitchFamily="2" charset="-122"/>
                  </a:defRPr>
                </a:lvl8pPr>
                <a:lvl9pPr marL="3886200" indent="-228600" fontAlgn="base">
                  <a:spcBef>
                    <a:spcPct val="0"/>
                  </a:spcBef>
                  <a:spcAft>
                    <a:spcPct val="0"/>
                  </a:spcAft>
                  <a:defRPr kumimoji="1" sz="2800">
                    <a:solidFill>
                      <a:schemeClr val="tx1"/>
                    </a:solidFill>
                    <a:latin typeface="Impact" pitchFamily="34" charset="0"/>
                    <a:ea typeface="方正大黑简体" pitchFamily="2" charset="-122"/>
                  </a:defRPr>
                </a:lvl9pPr>
              </a:lstStyle>
              <a:p>
                <a:pPr fontAlgn="auto">
                  <a:spcBef>
                    <a:spcPct val="20000"/>
                  </a:spcBef>
                  <a:spcAft>
                    <a:spcPts val="0"/>
                  </a:spcAft>
                  <a:buFontTx/>
                  <a:buChar char="•"/>
                  <a:defRPr/>
                </a:pPr>
                <a:endParaRPr lang="zh-CN" altLang="en-US" kern="0">
                  <a:solidFill>
                    <a:srgbClr val="000000"/>
                  </a:solidFill>
                  <a:latin typeface="微软雅黑" pitchFamily="34" charset="-122"/>
                  <a:ea typeface="微软雅黑" pitchFamily="34" charset="-122"/>
                  <a:cs typeface="+mn-cs"/>
                </a:endParaRPr>
              </a:p>
            </p:txBody>
          </p:sp>
          <p:sp>
            <p:nvSpPr>
              <p:cNvPr id="19" name="Rectangle 62">
                <a:extLst>
                  <a:ext uri="{FF2B5EF4-FFF2-40B4-BE49-F238E27FC236}">
                    <a16:creationId xmlns:a16="http://schemas.microsoft.com/office/drawing/2014/main" id="{86D874C6-8497-45CA-9C4F-3BB3BE18BF4D}"/>
                  </a:ext>
                </a:extLst>
              </p:cNvPr>
              <p:cNvSpPr>
                <a:spLocks noChangeArrowheads="1"/>
              </p:cNvSpPr>
              <p:nvPr/>
            </p:nvSpPr>
            <p:spPr bwMode="auto">
              <a:xfrm>
                <a:off x="596" y="4006"/>
                <a:ext cx="1816" cy="620"/>
              </a:xfrm>
              <a:prstGeom prst="rect">
                <a:avLst/>
              </a:prstGeom>
              <a:noFill/>
              <a:ln w="9525">
                <a:noFill/>
                <a:miter lim="800000"/>
              </a:ln>
              <a:effectLst/>
            </p:spPr>
            <p:txBody>
              <a:bodyPr wrap="none" lIns="92075" tIns="46038" rIns="92075" bIns="46038">
                <a:spAutoFit/>
              </a:bodyPr>
              <a:lstStyle/>
              <a:p>
                <a:pPr fontAlgn="auto">
                  <a:spcBef>
                    <a:spcPct val="20000"/>
                  </a:spcBef>
                  <a:spcAft>
                    <a:spcPts val="0"/>
                  </a:spcAft>
                  <a:defRPr/>
                </a:pPr>
                <a:r>
                  <a:rPr kumimoji="1" lang="zh-CN" altLang="en-US" sz="2800" kern="0" dirty="0">
                    <a:solidFill>
                      <a:srgbClr val="FF3300"/>
                    </a:solidFill>
                    <a:effectLst>
                      <a:outerShdw blurRad="38100" dist="38100" dir="2700000" algn="tl">
                        <a:srgbClr val="000000"/>
                      </a:outerShdw>
                    </a:effectLst>
                    <a:latin typeface="华文仿宋" panose="02010600040101010101" pitchFamily="2" charset="-122"/>
                    <a:ea typeface="华文仿宋" panose="02010600040101010101" pitchFamily="2" charset="-122"/>
                  </a:rPr>
                  <a:t>测试评估</a:t>
                </a:r>
              </a:p>
            </p:txBody>
          </p:sp>
          <p:graphicFrame>
            <p:nvGraphicFramePr>
              <p:cNvPr id="20" name="Object 8">
                <a:extLst>
                  <a:ext uri="{FF2B5EF4-FFF2-40B4-BE49-F238E27FC236}">
                    <a16:creationId xmlns:a16="http://schemas.microsoft.com/office/drawing/2014/main" id="{FDE4336B-ACA6-4FD1-84EE-8E414E26AE2E}"/>
                  </a:ext>
                </a:extLst>
              </p:cNvPr>
              <p:cNvGraphicFramePr>
                <a:graphicFrameLocks/>
              </p:cNvGraphicFramePr>
              <p:nvPr/>
            </p:nvGraphicFramePr>
            <p:xfrm>
              <a:off x="1421" y="2683"/>
              <a:ext cx="259" cy="382"/>
            </p:xfrm>
            <a:graphic>
              <a:graphicData uri="http://schemas.openxmlformats.org/presentationml/2006/ole">
                <mc:AlternateContent xmlns:mc="http://schemas.openxmlformats.org/markup-compatibility/2006">
                  <mc:Choice xmlns:v="urn:schemas-microsoft-com:vml" Requires="v">
                    <p:oleObj spid="_x0000_s28701" r:id="rId9" imgW="2490299" imgH="3663192" progId="">
                      <p:embed/>
                    </p:oleObj>
                  </mc:Choice>
                  <mc:Fallback>
                    <p:oleObj r:id="rId9" imgW="2490299" imgH="3663192" progId="">
                      <p:embed/>
                      <p:pic>
                        <p:nvPicPr>
                          <p:cNvPr id="60" name="Object 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1" y="2683"/>
                            <a:ext cx="259"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sp>
        <p:nvSpPr>
          <p:cNvPr id="61" name="Rectangle 3">
            <a:extLst>
              <a:ext uri="{FF2B5EF4-FFF2-40B4-BE49-F238E27FC236}">
                <a16:creationId xmlns:a16="http://schemas.microsoft.com/office/drawing/2014/main" id="{7ADB0B54-4FC4-443B-A815-F5704F862864}"/>
              </a:ext>
            </a:extLst>
          </p:cNvPr>
          <p:cNvSpPr txBox="1">
            <a:spLocks noChangeArrowheads="1"/>
          </p:cNvSpPr>
          <p:nvPr/>
        </p:nvSpPr>
        <p:spPr bwMode="auto">
          <a:xfrm>
            <a:off x="1707246" y="1927168"/>
            <a:ext cx="2801937"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2800">
                <a:solidFill>
                  <a:schemeClr val="tx1"/>
                </a:solidFill>
                <a:latin typeface="微软雅黑" pitchFamily="34" charset="-122"/>
                <a:ea typeface="微软雅黑" pitchFamily="34" charset="-122"/>
                <a:cs typeface="+mn-cs"/>
              </a:defRPr>
            </a:lvl1pPr>
            <a:lvl2pPr marL="742950" indent="-285750" algn="l" rtl="0" eaLnBrk="0" fontAlgn="base" hangingPunct="0">
              <a:spcBef>
                <a:spcPct val="20000"/>
              </a:spcBef>
              <a:spcAft>
                <a:spcPct val="0"/>
              </a:spcAft>
              <a:buChar char="–"/>
              <a:defRPr kumimoji="1" sz="2400">
                <a:solidFill>
                  <a:schemeClr val="tx1"/>
                </a:solidFill>
                <a:latin typeface="微软雅黑" pitchFamily="34" charset="-122"/>
                <a:ea typeface="微软雅黑" pitchFamily="34" charset="-122"/>
              </a:defRPr>
            </a:lvl2pPr>
            <a:lvl3pPr marL="1143000" indent="-228600" algn="l" rtl="0" eaLnBrk="0" fontAlgn="base" hangingPunct="0">
              <a:spcBef>
                <a:spcPct val="20000"/>
              </a:spcBef>
              <a:spcAft>
                <a:spcPct val="0"/>
              </a:spcAft>
              <a:buChar char="•"/>
              <a:defRPr kumimoji="1" sz="2000">
                <a:solidFill>
                  <a:schemeClr val="tx1"/>
                </a:solidFill>
                <a:latin typeface="微软雅黑" pitchFamily="34" charset="-122"/>
                <a:ea typeface="微软雅黑" pitchFamily="34" charset="-122"/>
              </a:defRPr>
            </a:lvl3pPr>
            <a:lvl4pPr marL="1600200" indent="-228600" algn="l" rtl="0" eaLnBrk="0" fontAlgn="base" hangingPunct="0">
              <a:spcBef>
                <a:spcPct val="20000"/>
              </a:spcBef>
              <a:spcAft>
                <a:spcPct val="0"/>
              </a:spcAft>
              <a:buChar char="–"/>
              <a:defRPr kumimoji="1" sz="2000">
                <a:solidFill>
                  <a:schemeClr val="tx1"/>
                </a:solidFill>
                <a:latin typeface="微软雅黑" pitchFamily="34" charset="-122"/>
                <a:ea typeface="微软雅黑" pitchFamily="34" charset="-122"/>
              </a:defRPr>
            </a:lvl4pPr>
            <a:lvl5pPr marL="2057400" indent="-228600" algn="l" rtl="0" eaLnBrk="0" fontAlgn="base" hangingPunct="0">
              <a:spcBef>
                <a:spcPct val="20000"/>
              </a:spcBef>
              <a:spcAft>
                <a:spcPct val="0"/>
              </a:spcAft>
              <a:buChar char="»"/>
              <a:defRPr kumimoji="1" sz="2000">
                <a:solidFill>
                  <a:schemeClr val="tx1"/>
                </a:solidFill>
                <a:latin typeface="微软雅黑" pitchFamily="34" charset="-122"/>
                <a:ea typeface="微软雅黑" pitchFamily="34" charset="-122"/>
              </a:defRPr>
            </a:lvl5pPr>
            <a:lvl6pPr marL="2514600" indent="-228600" algn="l" rtl="0" fontAlgn="base">
              <a:spcBef>
                <a:spcPct val="20000"/>
              </a:spcBef>
              <a:spcAft>
                <a:spcPct val="0"/>
              </a:spcAft>
              <a:buChar char="»"/>
              <a:defRPr kumimoji="1">
                <a:solidFill>
                  <a:schemeClr val="tx1"/>
                </a:solidFill>
                <a:latin typeface="+mn-lt"/>
                <a:ea typeface="+mn-ea"/>
              </a:defRPr>
            </a:lvl6pPr>
            <a:lvl7pPr marL="2971800" indent="-228600" algn="l" rtl="0" fontAlgn="base">
              <a:spcBef>
                <a:spcPct val="20000"/>
              </a:spcBef>
              <a:spcAft>
                <a:spcPct val="0"/>
              </a:spcAft>
              <a:buChar char="»"/>
              <a:defRPr kumimoji="1">
                <a:solidFill>
                  <a:schemeClr val="tx1"/>
                </a:solidFill>
                <a:latin typeface="+mn-lt"/>
                <a:ea typeface="+mn-ea"/>
              </a:defRPr>
            </a:lvl7pPr>
            <a:lvl8pPr marL="3429000" indent="-228600" algn="l" rtl="0" fontAlgn="base">
              <a:spcBef>
                <a:spcPct val="20000"/>
              </a:spcBef>
              <a:spcAft>
                <a:spcPct val="0"/>
              </a:spcAft>
              <a:buChar char="»"/>
              <a:defRPr kumimoji="1">
                <a:solidFill>
                  <a:schemeClr val="tx1"/>
                </a:solidFill>
                <a:latin typeface="+mn-lt"/>
                <a:ea typeface="+mn-ea"/>
              </a:defRPr>
            </a:lvl8pPr>
            <a:lvl9pPr marL="3886200" indent="-228600" algn="l" rtl="0" fontAlgn="base">
              <a:spcBef>
                <a:spcPct val="20000"/>
              </a:spcBef>
              <a:spcAft>
                <a:spcPct val="0"/>
              </a:spcAft>
              <a:buChar char="»"/>
              <a:defRPr kumimoji="1">
                <a:solidFill>
                  <a:schemeClr val="tx1"/>
                </a:solidFill>
                <a:latin typeface="+mn-lt"/>
                <a:ea typeface="+mn-ea"/>
              </a:defRPr>
            </a:lvl9pPr>
          </a:lstStyle>
          <a:p>
            <a:pPr>
              <a:buFontTx/>
              <a:buChar char="•"/>
              <a:defRPr/>
            </a:pPr>
            <a:r>
              <a:rPr lang="zh-CN" altLang="zh-CN" sz="1600" kern="0" dirty="0">
                <a:latin typeface="华文仿宋" panose="02010600040101010101" pitchFamily="2" charset="-122"/>
                <a:ea typeface="华文仿宋" panose="02010600040101010101" pitchFamily="2" charset="-122"/>
              </a:rPr>
              <a:t>确定测试范围、测试策略</a:t>
            </a:r>
          </a:p>
          <a:p>
            <a:pPr>
              <a:buFontTx/>
              <a:buChar char="•"/>
              <a:defRPr/>
            </a:pPr>
            <a:r>
              <a:rPr lang="zh-CN" altLang="zh-CN" sz="1600" kern="0" dirty="0">
                <a:latin typeface="华文仿宋" panose="02010600040101010101" pitchFamily="2" charset="-122"/>
                <a:ea typeface="华文仿宋" panose="02010600040101010101" pitchFamily="2" charset="-122"/>
              </a:rPr>
              <a:t>规划测试任务日程表</a:t>
            </a:r>
          </a:p>
          <a:p>
            <a:pPr>
              <a:buFontTx/>
              <a:buChar char="•"/>
              <a:defRPr/>
            </a:pPr>
            <a:r>
              <a:rPr lang="zh-CN" altLang="zh-CN" sz="1600" kern="0" dirty="0">
                <a:latin typeface="华文仿宋" panose="02010600040101010101" pitchFamily="2" charset="-122"/>
                <a:ea typeface="华文仿宋" panose="02010600040101010101" pitchFamily="2" charset="-122"/>
              </a:rPr>
              <a:t>安排测试资源</a:t>
            </a:r>
          </a:p>
          <a:p>
            <a:pPr>
              <a:buFontTx/>
              <a:buChar char="•"/>
              <a:defRPr/>
            </a:pPr>
            <a:r>
              <a:rPr lang="zh-CN" altLang="zh-CN" sz="1600" kern="0" dirty="0">
                <a:latin typeface="华文仿宋" panose="02010600040101010101" pitchFamily="2" charset="-122"/>
                <a:ea typeface="华文仿宋" panose="02010600040101010101" pitchFamily="2" charset="-122"/>
              </a:rPr>
              <a:t>评估测试风险</a:t>
            </a:r>
          </a:p>
          <a:p>
            <a:pPr>
              <a:buFontTx/>
              <a:buChar char="•"/>
              <a:defRPr/>
            </a:pPr>
            <a:r>
              <a:rPr lang="zh-CN" altLang="zh-CN" sz="1600" kern="0" dirty="0">
                <a:latin typeface="华文仿宋" panose="02010600040101010101" pitchFamily="2" charset="-122"/>
                <a:ea typeface="华文仿宋" panose="02010600040101010101" pitchFamily="2" charset="-122"/>
              </a:rPr>
              <a:t>制定风险控制策略</a:t>
            </a:r>
          </a:p>
        </p:txBody>
      </p:sp>
      <p:sp>
        <p:nvSpPr>
          <p:cNvPr id="62" name="Rectangle 3">
            <a:extLst>
              <a:ext uri="{FF2B5EF4-FFF2-40B4-BE49-F238E27FC236}">
                <a16:creationId xmlns:a16="http://schemas.microsoft.com/office/drawing/2014/main" id="{AA9808C7-E1A6-4A4B-B086-1391B0621E83}"/>
              </a:ext>
            </a:extLst>
          </p:cNvPr>
          <p:cNvSpPr txBox="1">
            <a:spLocks noChangeArrowheads="1"/>
          </p:cNvSpPr>
          <p:nvPr/>
        </p:nvSpPr>
        <p:spPr bwMode="auto">
          <a:xfrm>
            <a:off x="8394183" y="1915416"/>
            <a:ext cx="23749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a:defRPr/>
            </a:pPr>
            <a:r>
              <a:rPr lang="zh-CN" altLang="zh-CN" sz="1600" kern="0" dirty="0">
                <a:latin typeface="华文仿宋" panose="02010600040101010101" pitchFamily="2" charset="-122"/>
                <a:ea typeface="华文仿宋" panose="02010600040101010101" pitchFamily="2" charset="-122"/>
              </a:rPr>
              <a:t>制定测试方案</a:t>
            </a:r>
          </a:p>
          <a:p>
            <a:pPr>
              <a:defRPr/>
            </a:pPr>
            <a:r>
              <a:rPr lang="zh-CN" altLang="zh-CN" sz="1600" kern="0" dirty="0">
                <a:latin typeface="华文仿宋" panose="02010600040101010101" pitchFamily="2" charset="-122"/>
                <a:ea typeface="华文仿宋" panose="02010600040101010101" pitchFamily="2" charset="-122"/>
              </a:rPr>
              <a:t>设计测试用例</a:t>
            </a:r>
          </a:p>
          <a:p>
            <a:pPr>
              <a:defRPr/>
            </a:pPr>
            <a:r>
              <a:rPr lang="zh-CN" altLang="zh-CN" sz="1600" kern="0" dirty="0">
                <a:latin typeface="华文仿宋" panose="02010600040101010101" pitchFamily="2" charset="-122"/>
                <a:ea typeface="华文仿宋" panose="02010600040101010101" pitchFamily="2" charset="-122"/>
              </a:rPr>
              <a:t>开发自动化测试脚本</a:t>
            </a:r>
          </a:p>
        </p:txBody>
      </p:sp>
      <p:sp>
        <p:nvSpPr>
          <p:cNvPr id="63" name="Rectangle 3">
            <a:extLst>
              <a:ext uri="{FF2B5EF4-FFF2-40B4-BE49-F238E27FC236}">
                <a16:creationId xmlns:a16="http://schemas.microsoft.com/office/drawing/2014/main" id="{68F35535-EAB8-43C6-AD65-6E8CCDC51F22}"/>
              </a:ext>
            </a:extLst>
          </p:cNvPr>
          <p:cNvSpPr txBox="1">
            <a:spLocks noChangeArrowheads="1"/>
          </p:cNvSpPr>
          <p:nvPr/>
        </p:nvSpPr>
        <p:spPr bwMode="auto">
          <a:xfrm>
            <a:off x="8158320" y="4534806"/>
            <a:ext cx="26035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a:defRPr/>
            </a:pPr>
            <a:r>
              <a:rPr lang="zh-CN" altLang="zh-CN" sz="1600" kern="0" dirty="0">
                <a:latin typeface="华文仿宋" panose="02010600040101010101" pitchFamily="2" charset="-122"/>
                <a:ea typeface="华文仿宋" panose="02010600040101010101" pitchFamily="2" charset="-122"/>
              </a:rPr>
              <a:t>搭建测试环境</a:t>
            </a:r>
          </a:p>
          <a:p>
            <a:pPr>
              <a:defRPr/>
            </a:pPr>
            <a:r>
              <a:rPr lang="zh-CN" altLang="zh-CN" sz="1600" kern="0" dirty="0">
                <a:latin typeface="华文仿宋" panose="02010600040101010101" pitchFamily="2" charset="-122"/>
                <a:ea typeface="华文仿宋" panose="02010600040101010101" pitchFamily="2" charset="-122"/>
              </a:rPr>
              <a:t>配置测试数据</a:t>
            </a:r>
          </a:p>
          <a:p>
            <a:pPr>
              <a:defRPr/>
            </a:pPr>
            <a:r>
              <a:rPr lang="zh-CN" altLang="zh-CN" sz="1600" kern="0" dirty="0">
                <a:latin typeface="华文仿宋" panose="02010600040101010101" pitchFamily="2" charset="-122"/>
                <a:ea typeface="华文仿宋" panose="02010600040101010101" pitchFamily="2" charset="-122"/>
              </a:rPr>
              <a:t>执行测试用例并记录测试结果</a:t>
            </a:r>
          </a:p>
          <a:p>
            <a:pPr>
              <a:defRPr/>
            </a:pPr>
            <a:r>
              <a:rPr lang="zh-CN" altLang="zh-CN" sz="1600" kern="0" dirty="0">
                <a:latin typeface="华文仿宋" panose="02010600040101010101" pitchFamily="2" charset="-122"/>
                <a:ea typeface="华文仿宋" panose="02010600040101010101" pitchFamily="2" charset="-122"/>
              </a:rPr>
              <a:t>报告缺陷</a:t>
            </a:r>
          </a:p>
          <a:p>
            <a:pPr>
              <a:defRPr/>
            </a:pPr>
            <a:r>
              <a:rPr lang="zh-CN" altLang="zh-CN" sz="1600" kern="0" dirty="0">
                <a:latin typeface="华文仿宋" panose="02010600040101010101" pitchFamily="2" charset="-122"/>
                <a:ea typeface="华文仿宋" panose="02010600040101010101" pitchFamily="2" charset="-122"/>
              </a:rPr>
              <a:t>分析、处理、跟踪缺陷</a:t>
            </a:r>
          </a:p>
        </p:txBody>
      </p:sp>
      <p:sp>
        <p:nvSpPr>
          <p:cNvPr id="64" name="Rectangle 3">
            <a:extLst>
              <a:ext uri="{FF2B5EF4-FFF2-40B4-BE49-F238E27FC236}">
                <a16:creationId xmlns:a16="http://schemas.microsoft.com/office/drawing/2014/main" id="{BE4A24FE-6212-4301-A6BB-C2C159E75E5B}"/>
              </a:ext>
            </a:extLst>
          </p:cNvPr>
          <p:cNvSpPr txBox="1">
            <a:spLocks noChangeArrowheads="1"/>
          </p:cNvSpPr>
          <p:nvPr/>
        </p:nvSpPr>
        <p:spPr bwMode="auto">
          <a:xfrm>
            <a:off x="1936610" y="5494404"/>
            <a:ext cx="1893887"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a:defRPr/>
            </a:pPr>
            <a:r>
              <a:rPr lang="zh-CN" altLang="zh-CN" sz="1600" kern="0" dirty="0">
                <a:latin typeface="华文仿宋" panose="02010600040101010101" pitchFamily="2" charset="-122"/>
                <a:ea typeface="华文仿宋" panose="02010600040101010101" pitchFamily="2" charset="-122"/>
              </a:rPr>
              <a:t>分析测试结果</a:t>
            </a:r>
          </a:p>
          <a:p>
            <a:pPr>
              <a:defRPr/>
            </a:pPr>
            <a:r>
              <a:rPr lang="zh-CN" altLang="zh-CN" sz="1600" kern="0" dirty="0">
                <a:latin typeface="华文仿宋" panose="02010600040101010101" pitchFamily="2" charset="-122"/>
                <a:ea typeface="华文仿宋" panose="02010600040101010101" pitchFamily="2" charset="-122"/>
              </a:rPr>
              <a:t>编制测试报告</a:t>
            </a:r>
          </a:p>
          <a:p>
            <a:pPr>
              <a:defRPr/>
            </a:pPr>
            <a:r>
              <a:rPr lang="zh-CN" altLang="zh-CN" sz="1600" kern="0" dirty="0">
                <a:latin typeface="华文仿宋" panose="02010600040101010101" pitchFamily="2" charset="-122"/>
                <a:ea typeface="华文仿宋" panose="02010600040101010101" pitchFamily="2" charset="-122"/>
              </a:rPr>
              <a:t>提交测试文档</a:t>
            </a:r>
          </a:p>
        </p:txBody>
      </p:sp>
    </p:spTree>
    <p:extLst>
      <p:ext uri="{BB962C8B-B14F-4D97-AF65-F5344CB8AC3E}">
        <p14:creationId xmlns:p14="http://schemas.microsoft.com/office/powerpoint/2010/main" val="7453507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D273AA0-76CE-4174-ACFF-8CCC8AAB3C46}"/>
              </a:ext>
            </a:extLst>
          </p:cNvPr>
          <p:cNvSpPr/>
          <p:nvPr/>
        </p:nvSpPr>
        <p:spPr>
          <a:xfrm>
            <a:off x="7565415" y="316017"/>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5" name="矩形 4">
            <a:extLst>
              <a:ext uri="{FF2B5EF4-FFF2-40B4-BE49-F238E27FC236}">
                <a16:creationId xmlns:a16="http://schemas.microsoft.com/office/drawing/2014/main" id="{D562CD49-CFDA-40B4-97E8-A13BD61D6099}"/>
              </a:ext>
            </a:extLst>
          </p:cNvPr>
          <p:cNvSpPr/>
          <p:nvPr/>
        </p:nvSpPr>
        <p:spPr>
          <a:xfrm>
            <a:off x="5243359" y="1123737"/>
            <a:ext cx="3467616"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软件测试基本原则</a:t>
            </a:r>
            <a:endParaRPr lang="en-US" altLang="zh-CN" sz="3200" b="1" dirty="0">
              <a:latin typeface="华文仿宋" panose="02010600040101010101" pitchFamily="2" charset="-122"/>
              <a:ea typeface="华文仿宋" panose="02010600040101010101" pitchFamily="2" charset="-122"/>
            </a:endParaRPr>
          </a:p>
        </p:txBody>
      </p:sp>
      <p:sp>
        <p:nvSpPr>
          <p:cNvPr id="7" name="Rectangle 3">
            <a:extLst>
              <a:ext uri="{FF2B5EF4-FFF2-40B4-BE49-F238E27FC236}">
                <a16:creationId xmlns:a16="http://schemas.microsoft.com/office/drawing/2014/main" id="{6F38A96E-61CB-4565-AE67-C81EA89205B2}"/>
              </a:ext>
            </a:extLst>
          </p:cNvPr>
          <p:cNvSpPr txBox="1">
            <a:spLocks noChangeArrowheads="1"/>
          </p:cNvSpPr>
          <p:nvPr/>
        </p:nvSpPr>
        <p:spPr bwMode="auto">
          <a:xfrm>
            <a:off x="2682185" y="1963723"/>
            <a:ext cx="7769225" cy="472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eaLnBrk="1" hangingPunct="1">
              <a:buFontTx/>
              <a:buNone/>
              <a:defRPr/>
            </a:pPr>
            <a:r>
              <a:rPr lang="zh-CN" altLang="zh-CN" kern="0" dirty="0"/>
              <a:t>1 – Testing shows presence of defects</a:t>
            </a:r>
          </a:p>
          <a:p>
            <a:pPr eaLnBrk="1" hangingPunct="1">
              <a:buFontTx/>
              <a:buNone/>
              <a:defRPr/>
            </a:pPr>
            <a:r>
              <a:rPr lang="zh-CN" altLang="zh-CN" kern="0" dirty="0"/>
              <a:t>2 – Exhaustive testing is impossible</a:t>
            </a:r>
          </a:p>
          <a:p>
            <a:pPr eaLnBrk="1" hangingPunct="1">
              <a:buFontTx/>
              <a:buNone/>
              <a:defRPr/>
            </a:pPr>
            <a:r>
              <a:rPr lang="zh-CN" altLang="zh-CN" kern="0" dirty="0"/>
              <a:t>3 – Early testing</a:t>
            </a:r>
          </a:p>
          <a:p>
            <a:pPr eaLnBrk="1" hangingPunct="1">
              <a:buFontTx/>
              <a:buNone/>
              <a:defRPr/>
            </a:pPr>
            <a:r>
              <a:rPr lang="zh-CN" altLang="zh-CN" kern="0" dirty="0"/>
              <a:t>4 – Defect clustering</a:t>
            </a:r>
          </a:p>
          <a:p>
            <a:pPr eaLnBrk="1" hangingPunct="1">
              <a:buFontTx/>
              <a:buNone/>
              <a:defRPr/>
            </a:pPr>
            <a:r>
              <a:rPr lang="zh-CN" altLang="zh-CN" kern="0" dirty="0"/>
              <a:t>5 – Pesticide paradox</a:t>
            </a:r>
          </a:p>
          <a:p>
            <a:pPr eaLnBrk="1" hangingPunct="1">
              <a:buFontTx/>
              <a:buNone/>
              <a:defRPr/>
            </a:pPr>
            <a:r>
              <a:rPr lang="zh-CN" altLang="zh-CN" kern="0" dirty="0"/>
              <a:t>6 – Testing is context dependent</a:t>
            </a:r>
          </a:p>
          <a:p>
            <a:pPr eaLnBrk="1" hangingPunct="1">
              <a:buFontTx/>
              <a:buNone/>
              <a:defRPr/>
            </a:pPr>
            <a:r>
              <a:rPr lang="zh-CN" altLang="zh-CN" kern="0" dirty="0"/>
              <a:t>7 – Absence-of-errors fallacy</a:t>
            </a:r>
          </a:p>
        </p:txBody>
      </p:sp>
    </p:spTree>
    <p:extLst>
      <p:ext uri="{BB962C8B-B14F-4D97-AF65-F5344CB8AC3E}">
        <p14:creationId xmlns:p14="http://schemas.microsoft.com/office/powerpoint/2010/main" val="26463954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72D6CCF-894B-4D61-BB51-AF52322EE737}"/>
              </a:ext>
            </a:extLst>
          </p:cNvPr>
          <p:cNvSpPr/>
          <p:nvPr/>
        </p:nvSpPr>
        <p:spPr>
          <a:xfrm>
            <a:off x="8630817" y="265683"/>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5" name="Rectangle 3">
            <a:extLst>
              <a:ext uri="{FF2B5EF4-FFF2-40B4-BE49-F238E27FC236}">
                <a16:creationId xmlns:a16="http://schemas.microsoft.com/office/drawing/2014/main" id="{D51C763B-D90E-49C5-85EF-CE0CC88F99F0}"/>
              </a:ext>
            </a:extLst>
          </p:cNvPr>
          <p:cNvSpPr txBox="1">
            <a:spLocks noChangeArrowheads="1"/>
          </p:cNvSpPr>
          <p:nvPr/>
        </p:nvSpPr>
        <p:spPr bwMode="auto">
          <a:xfrm>
            <a:off x="1526797" y="1729557"/>
            <a:ext cx="9954010" cy="469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eaLnBrk="1" hangingPunct="1">
              <a:buFontTx/>
              <a:buAutoNum type="arabicPeriod"/>
              <a:defRPr/>
            </a:pPr>
            <a:r>
              <a:rPr lang="zh-CN" altLang="zh-CN" kern="0" dirty="0">
                <a:latin typeface="华文仿宋" panose="02010600040101010101" pitchFamily="2" charset="-122"/>
                <a:ea typeface="华文仿宋" panose="02010600040101010101" pitchFamily="2" charset="-122"/>
              </a:rPr>
              <a:t>测试可以证明缺陷存在，但不能证明缺陷不存在</a:t>
            </a:r>
          </a:p>
          <a:p>
            <a:pPr eaLnBrk="1" hangingPunct="1">
              <a:buFontTx/>
              <a:buAutoNum type="arabicPeriod"/>
              <a:defRPr/>
            </a:pPr>
            <a:r>
              <a:rPr lang="zh-CN" altLang="zh-CN" kern="0" dirty="0">
                <a:latin typeface="华文仿宋" panose="02010600040101010101" pitchFamily="2" charset="-122"/>
                <a:ea typeface="华文仿宋" panose="02010600040101010101" pitchFamily="2" charset="-122"/>
              </a:rPr>
              <a:t>穷尽测试</a:t>
            </a:r>
            <a:r>
              <a:rPr lang="zh-CN" altLang="en-US" kern="0" dirty="0">
                <a:latin typeface="华文仿宋" panose="02010600040101010101" pitchFamily="2" charset="-122"/>
                <a:ea typeface="华文仿宋" panose="02010600040101010101" pitchFamily="2" charset="-122"/>
              </a:rPr>
              <a:t>是</a:t>
            </a:r>
            <a:r>
              <a:rPr lang="zh-CN" altLang="zh-CN" kern="0" dirty="0">
                <a:latin typeface="华文仿宋" panose="02010600040101010101" pitchFamily="2" charset="-122"/>
                <a:ea typeface="华文仿宋" panose="02010600040101010101" pitchFamily="2" charset="-122"/>
              </a:rPr>
              <a:t>不可能的</a:t>
            </a:r>
          </a:p>
          <a:p>
            <a:pPr eaLnBrk="1" hangingPunct="1">
              <a:buFontTx/>
              <a:buAutoNum type="arabicPeriod"/>
              <a:defRPr/>
            </a:pPr>
            <a:r>
              <a:rPr lang="zh-CN" altLang="zh-CN" kern="0" dirty="0">
                <a:latin typeface="华文仿宋" panose="02010600040101010101" pitchFamily="2" charset="-122"/>
                <a:ea typeface="华文仿宋" panose="02010600040101010101" pitchFamily="2" charset="-122"/>
              </a:rPr>
              <a:t>测试活动应尽早开始</a:t>
            </a:r>
          </a:p>
          <a:p>
            <a:pPr eaLnBrk="1" hangingPunct="1">
              <a:buFontTx/>
              <a:buAutoNum type="arabicPeriod"/>
              <a:defRPr/>
            </a:pPr>
            <a:r>
              <a:rPr lang="zh-CN" altLang="zh-CN" kern="0" dirty="0">
                <a:latin typeface="华文仿宋" panose="02010600040101010101" pitchFamily="2" charset="-122"/>
                <a:ea typeface="华文仿宋" panose="02010600040101010101" pitchFamily="2" charset="-122"/>
              </a:rPr>
              <a:t>缺陷集群性</a:t>
            </a:r>
          </a:p>
          <a:p>
            <a:pPr eaLnBrk="1" hangingPunct="1">
              <a:buFontTx/>
              <a:buAutoNum type="arabicPeriod"/>
              <a:defRPr/>
            </a:pPr>
            <a:r>
              <a:rPr lang="zh-CN" altLang="zh-CN" kern="0" dirty="0">
                <a:latin typeface="华文仿宋" panose="02010600040101010101" pitchFamily="2" charset="-122"/>
                <a:ea typeface="华文仿宋" panose="02010600040101010101" pitchFamily="2" charset="-122"/>
              </a:rPr>
              <a:t>杀虫剂悖论</a:t>
            </a:r>
            <a:endParaRPr lang="en-US" altLang="zh-CN" kern="0" dirty="0">
              <a:latin typeface="华文仿宋" panose="02010600040101010101" pitchFamily="2" charset="-122"/>
              <a:ea typeface="华文仿宋" panose="02010600040101010101" pitchFamily="2" charset="-122"/>
            </a:endParaRPr>
          </a:p>
          <a:p>
            <a:pPr eaLnBrk="1" hangingPunct="1">
              <a:buFontTx/>
              <a:buAutoNum type="arabicPeriod"/>
              <a:defRPr/>
            </a:pPr>
            <a:r>
              <a:rPr lang="zh-CN" altLang="en-US" kern="0" dirty="0">
                <a:latin typeface="华文仿宋" panose="02010600040101010101" pitchFamily="2" charset="-122"/>
                <a:ea typeface="华文仿宋" panose="02010600040101010101" pitchFamily="2" charset="-122"/>
              </a:rPr>
              <a:t>测试与环境相关</a:t>
            </a:r>
            <a:endParaRPr lang="zh-CN" altLang="zh-CN" kern="0" dirty="0">
              <a:latin typeface="华文仿宋" panose="02010600040101010101" pitchFamily="2" charset="-122"/>
              <a:ea typeface="华文仿宋" panose="02010600040101010101" pitchFamily="2" charset="-122"/>
            </a:endParaRPr>
          </a:p>
          <a:p>
            <a:pPr eaLnBrk="1" hangingPunct="1">
              <a:buFontTx/>
              <a:buAutoNum type="arabicPeriod"/>
              <a:defRPr/>
            </a:pPr>
            <a:r>
              <a:rPr lang="zh-CN" altLang="zh-CN" kern="0" dirty="0">
                <a:latin typeface="华文仿宋" panose="02010600040101010101" pitchFamily="2" charset="-122"/>
                <a:ea typeface="华文仿宋" panose="02010600040101010101" pitchFamily="2" charset="-122"/>
              </a:rPr>
              <a:t>没有失效</a:t>
            </a:r>
            <a:r>
              <a:rPr lang="en-US" altLang="zh-CN" kern="0" dirty="0">
                <a:latin typeface="华文仿宋" panose="02010600040101010101" pitchFamily="2" charset="-122"/>
                <a:ea typeface="华文仿宋" panose="02010600040101010101" pitchFamily="2" charset="-122"/>
              </a:rPr>
              <a:t>/</a:t>
            </a:r>
            <a:r>
              <a:rPr lang="zh-CN" altLang="en-US" kern="0" dirty="0">
                <a:latin typeface="华文仿宋" panose="02010600040101010101" pitchFamily="2" charset="-122"/>
                <a:ea typeface="华文仿宋" panose="02010600040101010101" pitchFamily="2" charset="-122"/>
              </a:rPr>
              <a:t>缺陷不代表系统是可用的</a:t>
            </a:r>
            <a:endParaRPr lang="zh-CN" altLang="zh-CN" kern="0" dirty="0">
              <a:latin typeface="华文仿宋" panose="02010600040101010101" pitchFamily="2" charset="-122"/>
              <a:ea typeface="华文仿宋" panose="02010600040101010101" pitchFamily="2" charset="-122"/>
            </a:endParaRPr>
          </a:p>
        </p:txBody>
      </p:sp>
      <p:sp>
        <p:nvSpPr>
          <p:cNvPr id="7" name="矩形 6">
            <a:extLst>
              <a:ext uri="{FF2B5EF4-FFF2-40B4-BE49-F238E27FC236}">
                <a16:creationId xmlns:a16="http://schemas.microsoft.com/office/drawing/2014/main" id="{D6570927-3CF2-494C-AB07-E81ED2633149}"/>
              </a:ext>
            </a:extLst>
          </p:cNvPr>
          <p:cNvSpPr/>
          <p:nvPr/>
        </p:nvSpPr>
        <p:spPr>
          <a:xfrm>
            <a:off x="3700596" y="727348"/>
            <a:ext cx="3467616"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软件测试基本原则</a:t>
            </a:r>
            <a:endParaRPr lang="en-US" altLang="zh-CN" sz="32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42807906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DF97FAD-15E4-45F1-8AD7-EF75A25A910C}"/>
              </a:ext>
            </a:extLst>
          </p:cNvPr>
          <p:cNvSpPr/>
          <p:nvPr/>
        </p:nvSpPr>
        <p:spPr>
          <a:xfrm>
            <a:off x="8504982" y="450240"/>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5" name="Rectangle 3">
            <a:extLst>
              <a:ext uri="{FF2B5EF4-FFF2-40B4-BE49-F238E27FC236}">
                <a16:creationId xmlns:a16="http://schemas.microsoft.com/office/drawing/2014/main" id="{44F0CF06-01EB-45F9-9F48-A0F5F999B13E}"/>
              </a:ext>
            </a:extLst>
          </p:cNvPr>
          <p:cNvSpPr txBox="1">
            <a:spLocks noChangeArrowheads="1"/>
          </p:cNvSpPr>
          <p:nvPr/>
        </p:nvSpPr>
        <p:spPr bwMode="auto">
          <a:xfrm>
            <a:off x="1493240" y="2497361"/>
            <a:ext cx="10204125" cy="360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eaLnBrk="1" hangingPunct="1">
              <a:buFontTx/>
              <a:buAutoNum type="arabicPeriod"/>
              <a:defRPr/>
            </a:pPr>
            <a:r>
              <a:rPr lang="zh-CN" altLang="en-US" kern="0" dirty="0">
                <a:latin typeface="华文仿宋" panose="02010600040101010101" pitchFamily="2" charset="-122"/>
                <a:ea typeface="华文仿宋" panose="02010600040101010101" pitchFamily="2" charset="-122"/>
              </a:rPr>
              <a:t>并非所有软件缺陷都要修复</a:t>
            </a:r>
            <a:endParaRPr lang="en-US" altLang="zh-CN" kern="0" dirty="0">
              <a:latin typeface="华文仿宋" panose="02010600040101010101" pitchFamily="2" charset="-122"/>
              <a:ea typeface="华文仿宋" panose="02010600040101010101" pitchFamily="2" charset="-122"/>
            </a:endParaRPr>
          </a:p>
          <a:p>
            <a:pPr eaLnBrk="1" hangingPunct="1">
              <a:buFontTx/>
              <a:buAutoNum type="arabicPeriod"/>
              <a:defRPr/>
            </a:pPr>
            <a:r>
              <a:rPr lang="zh-CN" altLang="en-US" kern="0" dirty="0">
                <a:latin typeface="华文仿宋" panose="02010600040101010101" pitchFamily="2" charset="-122"/>
                <a:ea typeface="华文仿宋" panose="02010600040101010101" pitchFamily="2" charset="-122"/>
              </a:rPr>
              <a:t>什么时候才叫缺陷难以说清</a:t>
            </a:r>
            <a:endParaRPr lang="en-US" altLang="zh-CN" kern="0" dirty="0">
              <a:latin typeface="华文仿宋" panose="02010600040101010101" pitchFamily="2" charset="-122"/>
              <a:ea typeface="华文仿宋" panose="02010600040101010101" pitchFamily="2" charset="-122"/>
            </a:endParaRPr>
          </a:p>
          <a:p>
            <a:pPr eaLnBrk="1" hangingPunct="1">
              <a:buFontTx/>
              <a:buAutoNum type="arabicPeriod"/>
              <a:defRPr/>
            </a:pPr>
            <a:r>
              <a:rPr lang="zh-CN" altLang="en-US" kern="0" dirty="0">
                <a:latin typeface="华文仿宋" panose="02010600040101010101" pitchFamily="2" charset="-122"/>
                <a:ea typeface="华文仿宋" panose="02010600040101010101" pitchFamily="2" charset="-122"/>
              </a:rPr>
              <a:t>程序员应当避免测试自己的程序</a:t>
            </a:r>
            <a:endParaRPr lang="en-US" altLang="zh-CN" kern="0" dirty="0">
              <a:latin typeface="华文仿宋" panose="02010600040101010101" pitchFamily="2" charset="-122"/>
              <a:ea typeface="华文仿宋" panose="02010600040101010101" pitchFamily="2" charset="-122"/>
            </a:endParaRPr>
          </a:p>
          <a:p>
            <a:pPr eaLnBrk="1" hangingPunct="1">
              <a:buFontTx/>
              <a:buAutoNum type="arabicPeriod"/>
              <a:defRPr/>
            </a:pPr>
            <a:r>
              <a:rPr lang="zh-CN" altLang="en-US" kern="0" dirty="0">
                <a:latin typeface="华文仿宋" panose="02010600040101010101" pitchFamily="2" charset="-122"/>
                <a:ea typeface="华文仿宋" panose="02010600040101010101" pitchFamily="2" charset="-122"/>
              </a:rPr>
              <a:t>软件测试员在产品小组中不受欢迎（检查和批评、挑毛病、公布问题）</a:t>
            </a:r>
            <a:endParaRPr lang="en-US" altLang="zh-CN" kern="0" dirty="0">
              <a:latin typeface="华文仿宋" panose="02010600040101010101" pitchFamily="2" charset="-122"/>
              <a:ea typeface="华文仿宋" panose="02010600040101010101" pitchFamily="2" charset="-122"/>
            </a:endParaRPr>
          </a:p>
          <a:p>
            <a:pPr marL="0" indent="0" eaLnBrk="1" hangingPunct="1">
              <a:buFont typeface="Wingdings" pitchFamily="2" charset="2"/>
              <a:buNone/>
              <a:defRPr/>
            </a:pPr>
            <a:endParaRPr lang="zh-CN" altLang="zh-CN" kern="0" dirty="0">
              <a:latin typeface="华文仿宋" panose="02010600040101010101" pitchFamily="2" charset="-122"/>
              <a:ea typeface="华文仿宋" panose="02010600040101010101" pitchFamily="2" charset="-122"/>
            </a:endParaRPr>
          </a:p>
        </p:txBody>
      </p:sp>
      <p:sp>
        <p:nvSpPr>
          <p:cNvPr id="7" name="矩形 6">
            <a:extLst>
              <a:ext uri="{FF2B5EF4-FFF2-40B4-BE49-F238E27FC236}">
                <a16:creationId xmlns:a16="http://schemas.microsoft.com/office/drawing/2014/main" id="{8F44955B-91A4-4831-8935-139D6005271E}"/>
              </a:ext>
            </a:extLst>
          </p:cNvPr>
          <p:cNvSpPr/>
          <p:nvPr/>
        </p:nvSpPr>
        <p:spPr>
          <a:xfrm>
            <a:off x="6182926" y="1257960"/>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软件测试原则</a:t>
            </a:r>
            <a:endParaRPr lang="en-US" altLang="zh-CN" sz="32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7701520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7A32FC3-F72E-4910-B22A-26C6EAFBE3B4}"/>
              </a:ext>
            </a:extLst>
          </p:cNvPr>
          <p:cNvSpPr/>
          <p:nvPr/>
        </p:nvSpPr>
        <p:spPr>
          <a:xfrm>
            <a:off x="8437870" y="198571"/>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5" name="Rectangle 3">
            <a:extLst>
              <a:ext uri="{FF2B5EF4-FFF2-40B4-BE49-F238E27FC236}">
                <a16:creationId xmlns:a16="http://schemas.microsoft.com/office/drawing/2014/main" id="{1AED00AA-0F0D-41DB-8A08-34D26E173DDB}"/>
              </a:ext>
            </a:extLst>
          </p:cNvPr>
          <p:cNvSpPr txBox="1">
            <a:spLocks noChangeArrowheads="1"/>
          </p:cNvSpPr>
          <p:nvPr/>
        </p:nvSpPr>
        <p:spPr bwMode="auto">
          <a:xfrm>
            <a:off x="3330992" y="1075705"/>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gn="ctr">
              <a:buFontTx/>
              <a:buNone/>
              <a:defRPr/>
            </a:pPr>
            <a:r>
              <a:rPr lang="zh-CN" altLang="en-US" b="1" kern="0" dirty="0">
                <a:solidFill>
                  <a:schemeClr val="tx2"/>
                </a:solidFill>
                <a:latin typeface="仿宋" panose="02010609060101010101" pitchFamily="49" charset="-122"/>
                <a:ea typeface="仿宋" panose="02010609060101010101" pitchFamily="49" charset="-122"/>
              </a:rPr>
              <a:t>测试的规律</a:t>
            </a:r>
            <a:r>
              <a:rPr lang="en-US" altLang="zh-CN" b="1" kern="0" dirty="0">
                <a:solidFill>
                  <a:schemeClr val="tx2"/>
                </a:solidFill>
                <a:latin typeface="仿宋" panose="02010609060101010101" pitchFamily="49" charset="-122"/>
                <a:ea typeface="仿宋" panose="02010609060101010101" pitchFamily="49" charset="-122"/>
              </a:rPr>
              <a:t>——80-20</a:t>
            </a:r>
            <a:r>
              <a:rPr lang="zh-CN" altLang="en-US" b="1" kern="0" dirty="0">
                <a:solidFill>
                  <a:schemeClr val="tx2"/>
                </a:solidFill>
                <a:latin typeface="仿宋" panose="02010609060101010101" pitchFamily="49" charset="-122"/>
                <a:ea typeface="仿宋" panose="02010609060101010101" pitchFamily="49" charset="-122"/>
              </a:rPr>
              <a:t>原则</a:t>
            </a:r>
            <a:endParaRPr lang="zh-CN" altLang="zh-CN" b="1" kern="0" dirty="0">
              <a:solidFill>
                <a:schemeClr val="tx2"/>
              </a:solidFill>
              <a:latin typeface="仿宋" panose="02010609060101010101" pitchFamily="49" charset="-122"/>
              <a:ea typeface="仿宋" panose="02010609060101010101" pitchFamily="49" charset="-122"/>
            </a:endParaRPr>
          </a:p>
        </p:txBody>
      </p:sp>
      <p:pic>
        <p:nvPicPr>
          <p:cNvPr id="7" name="图片 3">
            <a:extLst>
              <a:ext uri="{FF2B5EF4-FFF2-40B4-BE49-F238E27FC236}">
                <a16:creationId xmlns:a16="http://schemas.microsoft.com/office/drawing/2014/main" id="{502B936F-6553-4F3C-9269-BF62BA114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7744" y="2485087"/>
            <a:ext cx="2725738"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a:extLst>
              <a:ext uri="{FF2B5EF4-FFF2-40B4-BE49-F238E27FC236}">
                <a16:creationId xmlns:a16="http://schemas.microsoft.com/office/drawing/2014/main" id="{26A440EC-3017-4D51-A3BA-35A96CFFE41B}"/>
              </a:ext>
            </a:extLst>
          </p:cNvPr>
          <p:cNvSpPr txBox="1">
            <a:spLocks noChangeArrowheads="1"/>
          </p:cNvSpPr>
          <p:nvPr/>
        </p:nvSpPr>
        <p:spPr bwMode="auto">
          <a:xfrm>
            <a:off x="5285064" y="1854850"/>
            <a:ext cx="4173043" cy="335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marL="0" indent="0" eaLnBrk="1" hangingPunct="1">
              <a:buFont typeface="Wingdings" pitchFamily="2" charset="2"/>
              <a:buNone/>
              <a:defRPr/>
            </a:pPr>
            <a:r>
              <a:rPr lang="en-US" altLang="zh-CN" kern="0" dirty="0">
                <a:latin typeface="楷体" panose="02010609060101010101" pitchFamily="49" charset="-122"/>
                <a:ea typeface="楷体" panose="02010609060101010101" pitchFamily="49" charset="-122"/>
              </a:rPr>
              <a:t>    </a:t>
            </a:r>
            <a:r>
              <a:rPr lang="en-US" altLang="zh-CN" sz="2800" kern="0" dirty="0">
                <a:latin typeface="楷体" panose="02010609060101010101" pitchFamily="49" charset="-122"/>
                <a:ea typeface="楷体" panose="02010609060101010101" pitchFamily="49" charset="-122"/>
              </a:rPr>
              <a:t>80%</a:t>
            </a:r>
            <a:r>
              <a:rPr lang="zh-CN" altLang="en-US" sz="2800" kern="0" dirty="0">
                <a:latin typeface="楷体" panose="02010609060101010101" pitchFamily="49" charset="-122"/>
                <a:ea typeface="楷体" panose="02010609060101010101" pitchFamily="49" charset="-122"/>
              </a:rPr>
              <a:t>的软件缺陷聚集在</a:t>
            </a:r>
            <a:r>
              <a:rPr lang="en-US" altLang="zh-CN" sz="2800" kern="0" dirty="0">
                <a:latin typeface="楷体" panose="02010609060101010101" pitchFamily="49" charset="-122"/>
                <a:ea typeface="楷体" panose="02010609060101010101" pitchFamily="49" charset="-122"/>
              </a:rPr>
              <a:t>20%</a:t>
            </a:r>
            <a:r>
              <a:rPr lang="zh-CN" altLang="en-US" sz="2800" kern="0" dirty="0">
                <a:latin typeface="楷体" panose="02010609060101010101" pitchFamily="49" charset="-122"/>
                <a:ea typeface="楷体" panose="02010609060101010101" pitchFamily="49" charset="-122"/>
              </a:rPr>
              <a:t>的模块中，经常出错的模块改错后还会经常出错。</a:t>
            </a:r>
            <a:endParaRPr lang="en-US" altLang="zh-CN" sz="2800" kern="0" dirty="0">
              <a:latin typeface="楷体" panose="02010609060101010101" pitchFamily="49" charset="-122"/>
              <a:ea typeface="楷体" panose="02010609060101010101" pitchFamily="49" charset="-122"/>
            </a:endParaRPr>
          </a:p>
          <a:p>
            <a:pPr marL="0" indent="0" eaLnBrk="1" hangingPunct="1">
              <a:buFont typeface="Wingdings" pitchFamily="2" charset="2"/>
              <a:buNone/>
              <a:defRPr/>
            </a:pPr>
            <a:r>
              <a:rPr lang="en-US" altLang="zh-CN" sz="2800" kern="0" dirty="0">
                <a:latin typeface="楷体" panose="02010609060101010101" pitchFamily="49" charset="-122"/>
                <a:ea typeface="楷体" panose="02010609060101010101" pitchFamily="49" charset="-122"/>
              </a:rPr>
              <a:t>    80%</a:t>
            </a:r>
            <a:r>
              <a:rPr lang="zh-CN" altLang="en-US" sz="2800" kern="0" dirty="0">
                <a:latin typeface="楷体" panose="02010609060101010101" pitchFamily="49" charset="-122"/>
                <a:ea typeface="楷体" panose="02010609060101010101" pitchFamily="49" charset="-122"/>
              </a:rPr>
              <a:t>的软件缺陷常常生存在软件</a:t>
            </a:r>
            <a:r>
              <a:rPr lang="en-US" altLang="zh-CN" sz="2800" kern="0" dirty="0">
                <a:latin typeface="楷体" panose="02010609060101010101" pitchFamily="49" charset="-122"/>
                <a:ea typeface="楷体" panose="02010609060101010101" pitchFamily="49" charset="-122"/>
              </a:rPr>
              <a:t>20%</a:t>
            </a:r>
            <a:r>
              <a:rPr lang="zh-CN" altLang="en-US" sz="2800" kern="0" dirty="0">
                <a:latin typeface="楷体" panose="02010609060101010101" pitchFamily="49" charset="-122"/>
                <a:ea typeface="楷体" panose="02010609060101010101" pitchFamily="49" charset="-122"/>
              </a:rPr>
              <a:t>的空间里。</a:t>
            </a:r>
            <a:endParaRPr lang="en-US" altLang="zh-CN" sz="2800" kern="0" dirty="0">
              <a:latin typeface="楷体" panose="02010609060101010101" pitchFamily="49" charset="-122"/>
              <a:ea typeface="楷体" panose="02010609060101010101" pitchFamily="49" charset="-122"/>
            </a:endParaRPr>
          </a:p>
          <a:p>
            <a:pPr marL="0" indent="0" eaLnBrk="1" hangingPunct="1">
              <a:buFont typeface="Wingdings" pitchFamily="2" charset="2"/>
              <a:buNone/>
              <a:defRPr/>
            </a:pPr>
            <a:endParaRPr lang="zh-CN" altLang="zh-CN" kern="0" dirty="0">
              <a:latin typeface="楷体" panose="02010609060101010101" pitchFamily="49" charset="-122"/>
              <a:ea typeface="楷体" panose="02010609060101010101" pitchFamily="49" charset="-122"/>
            </a:endParaRPr>
          </a:p>
        </p:txBody>
      </p:sp>
      <p:pic>
        <p:nvPicPr>
          <p:cNvPr id="11" name="图片 7">
            <a:extLst>
              <a:ext uri="{FF2B5EF4-FFF2-40B4-BE49-F238E27FC236}">
                <a16:creationId xmlns:a16="http://schemas.microsoft.com/office/drawing/2014/main" id="{AD4CFA02-D5C9-4742-8668-1A2473FEA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835" y="2338454"/>
            <a:ext cx="3262313" cy="182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a:extLst>
              <a:ext uri="{FF2B5EF4-FFF2-40B4-BE49-F238E27FC236}">
                <a16:creationId xmlns:a16="http://schemas.microsoft.com/office/drawing/2014/main" id="{50FEC7FE-6F7A-435F-99A0-4262244F1199}"/>
              </a:ext>
            </a:extLst>
          </p:cNvPr>
          <p:cNvSpPr/>
          <p:nvPr/>
        </p:nvSpPr>
        <p:spPr>
          <a:xfrm>
            <a:off x="3657228" y="5392486"/>
            <a:ext cx="7188186" cy="584775"/>
          </a:xfrm>
          <a:prstGeom prst="rect">
            <a:avLst/>
          </a:prstGeom>
          <a:noFill/>
        </p:spPr>
        <p:txBody>
          <a:bodyPr wrap="none">
            <a:spAutoFit/>
          </a:bodyPr>
          <a:lstStyle/>
          <a:p>
            <a:pPr algn="ctr" eaLnBrk="0" hangingPunct="0">
              <a:buFontTx/>
              <a:buNone/>
              <a:defRPr/>
            </a:pPr>
            <a:r>
              <a:rPr lang="zh-CN" altLang="en-US" sz="3200" b="1" dirty="0">
                <a:ln w="22225">
                  <a:solidFill>
                    <a:schemeClr val="accent2"/>
                  </a:solidFill>
                  <a:prstDash val="solid"/>
                </a:ln>
                <a:latin typeface="仿宋" panose="02010609060101010101" pitchFamily="49" charset="-122"/>
                <a:ea typeface="仿宋" panose="02010609060101010101" pitchFamily="49" charset="-122"/>
              </a:rPr>
              <a:t>记住：常常光临软件高危多发“地段”</a:t>
            </a:r>
          </a:p>
        </p:txBody>
      </p:sp>
    </p:spTree>
    <p:extLst>
      <p:ext uri="{BB962C8B-B14F-4D97-AF65-F5344CB8AC3E}">
        <p14:creationId xmlns:p14="http://schemas.microsoft.com/office/powerpoint/2010/main" val="16384007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A91663F-32CE-4C2B-BFEB-E5EF92504389}"/>
              </a:ext>
            </a:extLst>
          </p:cNvPr>
          <p:cNvSpPr/>
          <p:nvPr/>
        </p:nvSpPr>
        <p:spPr>
          <a:xfrm>
            <a:off x="7691249" y="41668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3" name="矩形 2">
            <a:extLst>
              <a:ext uri="{FF2B5EF4-FFF2-40B4-BE49-F238E27FC236}">
                <a16:creationId xmlns:a16="http://schemas.microsoft.com/office/drawing/2014/main" id="{A32EB103-7778-48D7-A00D-E5A187B40BA4}"/>
              </a:ext>
            </a:extLst>
          </p:cNvPr>
          <p:cNvSpPr/>
          <p:nvPr/>
        </p:nvSpPr>
        <p:spPr>
          <a:xfrm>
            <a:off x="2705973" y="4466914"/>
            <a:ext cx="8553450" cy="1766637"/>
          </a:xfrm>
          <a:prstGeom prst="rect">
            <a:avLst/>
          </a:prstGeom>
        </p:spPr>
        <p:txBody>
          <a:bodyPr>
            <a:spAutoFit/>
          </a:bodyPr>
          <a:lstStyle/>
          <a:p>
            <a:pPr marL="342900" indent="-342900" eaLnBrk="0" hangingPunct="0">
              <a:spcBef>
                <a:spcPct val="20000"/>
              </a:spcBef>
              <a:buFontTx/>
              <a:buChar char="•"/>
              <a:defRPr/>
            </a:pPr>
            <a:r>
              <a:rPr lang="zh-CN" altLang="en-US" sz="3200" kern="0" dirty="0">
                <a:solidFill>
                  <a:srgbClr val="1D528D"/>
                </a:solidFill>
                <a:latin typeface="仿宋" panose="02010609060101010101" pitchFamily="49" charset="-122"/>
                <a:ea typeface="仿宋" panose="02010609060101010101" pitchFamily="49" charset="-122"/>
              </a:rPr>
              <a:t>早点找出缺陷</a:t>
            </a:r>
            <a:endParaRPr lang="en-US" altLang="zh-CN" sz="3200" kern="0" dirty="0">
              <a:solidFill>
                <a:srgbClr val="1D528D"/>
              </a:solidFill>
              <a:latin typeface="仿宋" panose="02010609060101010101" pitchFamily="49" charset="-122"/>
              <a:ea typeface="仿宋" panose="02010609060101010101" pitchFamily="49" charset="-122"/>
            </a:endParaRPr>
          </a:p>
          <a:p>
            <a:pPr marL="342900" indent="-342900" eaLnBrk="0" hangingPunct="0">
              <a:spcBef>
                <a:spcPct val="20000"/>
              </a:spcBef>
              <a:buFontTx/>
              <a:buChar char="•"/>
              <a:defRPr/>
            </a:pPr>
            <a:r>
              <a:rPr lang="zh-CN" altLang="en-US" sz="3200" kern="0" dirty="0">
                <a:solidFill>
                  <a:srgbClr val="1D528D"/>
                </a:solidFill>
                <a:latin typeface="仿宋" panose="02010609060101010101" pitchFamily="49" charset="-122"/>
                <a:ea typeface="仿宋" panose="02010609060101010101" pitchFamily="49" charset="-122"/>
              </a:rPr>
              <a:t>控制情绪</a:t>
            </a:r>
            <a:endParaRPr lang="en-US" altLang="zh-CN" sz="3200" kern="0" dirty="0">
              <a:solidFill>
                <a:srgbClr val="1D528D"/>
              </a:solidFill>
              <a:latin typeface="仿宋" panose="02010609060101010101" pitchFamily="49" charset="-122"/>
              <a:ea typeface="仿宋" panose="02010609060101010101" pitchFamily="49" charset="-122"/>
            </a:endParaRPr>
          </a:p>
          <a:p>
            <a:pPr marL="342900" indent="-342900" eaLnBrk="0" hangingPunct="0">
              <a:spcBef>
                <a:spcPct val="20000"/>
              </a:spcBef>
              <a:buFontTx/>
              <a:buChar char="•"/>
              <a:defRPr/>
            </a:pPr>
            <a:r>
              <a:rPr lang="zh-CN" altLang="en-US" sz="3200" kern="0" dirty="0">
                <a:solidFill>
                  <a:srgbClr val="1D528D"/>
                </a:solidFill>
                <a:latin typeface="仿宋" panose="02010609060101010101" pitchFamily="49" charset="-122"/>
                <a:ea typeface="仿宋" panose="02010609060101010101" pitchFamily="49" charset="-122"/>
              </a:rPr>
              <a:t>不要总是报告坏消息</a:t>
            </a:r>
            <a:endParaRPr lang="zh-CN" altLang="zh-CN" sz="3200" kern="0" dirty="0">
              <a:solidFill>
                <a:srgbClr val="1D528D"/>
              </a:solidFill>
              <a:latin typeface="仿宋" panose="02010609060101010101" pitchFamily="49" charset="-122"/>
              <a:ea typeface="仿宋" panose="02010609060101010101" pitchFamily="49" charset="-122"/>
            </a:endParaRPr>
          </a:p>
        </p:txBody>
      </p:sp>
      <p:pic>
        <p:nvPicPr>
          <p:cNvPr id="4" name="图片 2">
            <a:extLst>
              <a:ext uri="{FF2B5EF4-FFF2-40B4-BE49-F238E27FC236}">
                <a16:creationId xmlns:a16="http://schemas.microsoft.com/office/drawing/2014/main" id="{DED90E53-0668-445E-97C7-D88AC3F144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3023" y="2635097"/>
            <a:ext cx="4064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39">
            <a:extLst>
              <a:ext uri="{FF2B5EF4-FFF2-40B4-BE49-F238E27FC236}">
                <a16:creationId xmlns:a16="http://schemas.microsoft.com/office/drawing/2014/main" id="{CA96FAF8-6383-42EC-9160-B2BF26778056}"/>
              </a:ext>
            </a:extLst>
          </p:cNvPr>
          <p:cNvSpPr>
            <a:spLocks noChangeArrowheads="1"/>
          </p:cNvSpPr>
          <p:nvPr/>
        </p:nvSpPr>
        <p:spPr bwMode="auto">
          <a:xfrm rot="20580000">
            <a:off x="1947464" y="1782358"/>
            <a:ext cx="6426201" cy="1620837"/>
          </a:xfrm>
          <a:prstGeom prst="star16">
            <a:avLst>
              <a:gd name="adj" fmla="val 37500"/>
            </a:avLst>
          </a:prstGeom>
          <a:solidFill>
            <a:srgbClr val="FFFF00"/>
          </a:solidFill>
          <a:ln w="12700">
            <a:solidFill>
              <a:schemeClr val="tx1"/>
            </a:solidFill>
            <a:miter lim="800000"/>
          </a:ln>
          <a:effectLst>
            <a:outerShdw dist="107763" dir="18900000" algn="ctr" rotWithShape="0">
              <a:schemeClr val="bg2"/>
            </a:outerShdw>
          </a:effectLst>
        </p:spPr>
        <p:txBody>
          <a:bodyPr wrap="none" lIns="92075" tIns="46038" rIns="92075" bIns="46038" anchor="ctr"/>
          <a:lstStyle/>
          <a:p>
            <a:pPr algn="ctr"/>
            <a:r>
              <a:rPr lang="zh-CN" altLang="en-US" sz="3200" b="1" dirty="0">
                <a:solidFill>
                  <a:schemeClr val="bg1"/>
                </a:solidFill>
                <a:effectLst>
                  <a:outerShdw blurRad="38100" dist="38100" dir="2700000" algn="tl">
                    <a:srgbClr val="000000"/>
                  </a:outerShdw>
                </a:effectLst>
                <a:latin typeface="楷体_GB2312" pitchFamily="49" charset="-122"/>
                <a:ea typeface="楷体_GB2312" pitchFamily="49" charset="-122"/>
              </a:rPr>
              <a:t>给不受欢迎的测试员一点建议</a:t>
            </a:r>
          </a:p>
        </p:txBody>
      </p:sp>
    </p:spTree>
    <p:extLst>
      <p:ext uri="{BB962C8B-B14F-4D97-AF65-F5344CB8AC3E}">
        <p14:creationId xmlns:p14="http://schemas.microsoft.com/office/powerpoint/2010/main" val="426900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ppt_x</p:attrName>
                                        </p:attrNameLst>
                                      </p:cBhvr>
                                      <p:tavLst>
                                        <p:tav tm="0">
                                          <p:val>
                                            <p:fltVal val="0.5"/>
                                          </p:val>
                                        </p:tav>
                                        <p:tav tm="100000">
                                          <p:val>
                                            <p:strVal val="#ppt_x"/>
                                          </p:val>
                                        </p:tav>
                                      </p:tavLst>
                                    </p:anim>
                                    <p:anim calcmode="lin" valueType="num">
                                      <p:cBhvr>
                                        <p:cTn id="10" dur="500" fill="hold"/>
                                        <p:tgtEl>
                                          <p:spTgt spid="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E7C8A3B-61F3-46AC-B0FB-86DCB2F602BD}"/>
              </a:ext>
            </a:extLst>
          </p:cNvPr>
          <p:cNvSpPr/>
          <p:nvPr/>
        </p:nvSpPr>
        <p:spPr>
          <a:xfrm>
            <a:off x="7749973" y="206960"/>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5" name="矩形 4">
            <a:extLst>
              <a:ext uri="{FF2B5EF4-FFF2-40B4-BE49-F238E27FC236}">
                <a16:creationId xmlns:a16="http://schemas.microsoft.com/office/drawing/2014/main" id="{82EE9B0F-D4FE-424C-944B-F58FAD0D0B78}"/>
              </a:ext>
            </a:extLst>
          </p:cNvPr>
          <p:cNvSpPr/>
          <p:nvPr/>
        </p:nvSpPr>
        <p:spPr>
          <a:xfrm>
            <a:off x="5496497" y="1068020"/>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软件测试理念</a:t>
            </a:r>
            <a:endParaRPr lang="en-US" altLang="zh-CN" sz="3200" b="1" dirty="0">
              <a:latin typeface="华文仿宋" panose="02010600040101010101" pitchFamily="2" charset="-122"/>
              <a:ea typeface="华文仿宋" panose="02010600040101010101" pitchFamily="2" charset="-122"/>
            </a:endParaRPr>
          </a:p>
        </p:txBody>
      </p:sp>
      <p:sp>
        <p:nvSpPr>
          <p:cNvPr id="7" name="Rectangle 3">
            <a:extLst>
              <a:ext uri="{FF2B5EF4-FFF2-40B4-BE49-F238E27FC236}">
                <a16:creationId xmlns:a16="http://schemas.microsoft.com/office/drawing/2014/main" id="{EA18A4B5-BB99-4ED4-A06C-F351C6D45CAB}"/>
              </a:ext>
            </a:extLst>
          </p:cNvPr>
          <p:cNvSpPr txBox="1">
            <a:spLocks noChangeArrowheads="1"/>
          </p:cNvSpPr>
          <p:nvPr/>
        </p:nvSpPr>
        <p:spPr bwMode="auto">
          <a:xfrm>
            <a:off x="2406240" y="1652795"/>
            <a:ext cx="7769225"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eaLnBrk="1" hangingPunct="1">
              <a:defRPr/>
            </a:pPr>
            <a:r>
              <a:rPr lang="zh-CN" altLang="zh-CN" sz="2800" kern="0" dirty="0">
                <a:latin typeface="华文仿宋" panose="02010600040101010101" pitchFamily="2" charset="-122"/>
                <a:ea typeface="华文仿宋" panose="02010600040101010101" pitchFamily="2" charset="-122"/>
              </a:rPr>
              <a:t>明确的目标</a:t>
            </a:r>
            <a:endParaRPr lang="en-US" altLang="zh-CN" sz="2800" kern="0" dirty="0">
              <a:latin typeface="华文仿宋" panose="02010600040101010101" pitchFamily="2" charset="-122"/>
              <a:ea typeface="华文仿宋" panose="02010600040101010101" pitchFamily="2" charset="-122"/>
            </a:endParaRPr>
          </a:p>
          <a:p>
            <a:pPr marL="0" indent="0" eaLnBrk="1" hangingPunct="1">
              <a:buFont typeface="Wingdings" pitchFamily="2" charset="2"/>
              <a:buNone/>
              <a:defRPr/>
            </a:pPr>
            <a:r>
              <a:rPr lang="en-US" altLang="zh-CN" sz="2800" kern="0" dirty="0">
                <a:solidFill>
                  <a:schemeClr val="tx2"/>
                </a:solidFill>
                <a:latin typeface="华文仿宋" panose="02010600040101010101" pitchFamily="2" charset="-122"/>
                <a:ea typeface="华文仿宋" panose="02010600040101010101" pitchFamily="2" charset="-122"/>
              </a:rPr>
              <a:t>    </a:t>
            </a:r>
            <a:r>
              <a:rPr lang="zh-CN" altLang="zh-CN" sz="2800" kern="0" dirty="0">
                <a:solidFill>
                  <a:schemeClr val="tx2"/>
                </a:solidFill>
                <a:latin typeface="华文仿宋" panose="02010600040101010101" pitchFamily="2" charset="-122"/>
                <a:ea typeface="华文仿宋" panose="02010600040101010101" pitchFamily="2" charset="-122"/>
              </a:rPr>
              <a:t>人们通常是目标驱动的，人们通常根据管理者或利益相关方确定的目标制定计划，比如发现缺陷或证明软件系统能正常工作。因此，一定要明确测试的目标。</a:t>
            </a:r>
          </a:p>
        </p:txBody>
      </p:sp>
      <p:pic>
        <p:nvPicPr>
          <p:cNvPr id="9" name="图片 8">
            <a:extLst>
              <a:ext uri="{FF2B5EF4-FFF2-40B4-BE49-F238E27FC236}">
                <a16:creationId xmlns:a16="http://schemas.microsoft.com/office/drawing/2014/main" id="{512918CD-5F73-4270-98F3-2686D72967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5937" y="3688545"/>
            <a:ext cx="471487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64045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2E879C1-9E29-470C-B866-1A6BE2956A8C}"/>
              </a:ext>
            </a:extLst>
          </p:cNvPr>
          <p:cNvSpPr/>
          <p:nvPr/>
        </p:nvSpPr>
        <p:spPr>
          <a:xfrm>
            <a:off x="8152644" y="257294"/>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pic>
        <p:nvPicPr>
          <p:cNvPr id="5" name="图片 1">
            <a:extLst>
              <a:ext uri="{FF2B5EF4-FFF2-40B4-BE49-F238E27FC236}">
                <a16:creationId xmlns:a16="http://schemas.microsoft.com/office/drawing/2014/main" id="{6D85210E-C572-4A23-BEC7-9832A181B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0671" y="3553143"/>
            <a:ext cx="4064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a:extLst>
              <a:ext uri="{FF2B5EF4-FFF2-40B4-BE49-F238E27FC236}">
                <a16:creationId xmlns:a16="http://schemas.microsoft.com/office/drawing/2014/main" id="{56C4FA51-25C9-45E4-A382-54AB934A7DB5}"/>
              </a:ext>
            </a:extLst>
          </p:cNvPr>
          <p:cNvSpPr txBox="1">
            <a:spLocks noChangeArrowheads="1"/>
          </p:cNvSpPr>
          <p:nvPr/>
        </p:nvSpPr>
        <p:spPr bwMode="auto">
          <a:xfrm>
            <a:off x="2835263" y="1260793"/>
            <a:ext cx="776922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eaLnBrk="1" hangingPunct="1">
              <a:defRPr/>
            </a:pPr>
            <a:r>
              <a:rPr lang="zh-CN" altLang="zh-CN" kern="0" dirty="0">
                <a:latin typeface="仿宋" panose="02010609060101010101" pitchFamily="49" charset="-122"/>
                <a:ea typeface="仿宋" panose="02010609060101010101" pitchFamily="49" charset="-122"/>
              </a:rPr>
              <a:t>独立的测试</a:t>
            </a:r>
            <a:endParaRPr lang="en-US" altLang="zh-CN" kern="0" dirty="0">
              <a:latin typeface="仿宋" panose="02010609060101010101" pitchFamily="49" charset="-122"/>
              <a:ea typeface="仿宋" panose="02010609060101010101" pitchFamily="49" charset="-122"/>
            </a:endParaRPr>
          </a:p>
          <a:p>
            <a:pPr marL="0" indent="0" eaLnBrk="1" hangingPunct="1">
              <a:buFont typeface="Wingdings" pitchFamily="2" charset="2"/>
              <a:buNone/>
              <a:defRPr/>
            </a:pPr>
            <a:r>
              <a:rPr lang="zh-CN" altLang="en-US" kern="0" dirty="0">
                <a:solidFill>
                  <a:schemeClr val="tx2"/>
                </a:solidFill>
                <a:latin typeface="仿宋" panose="02010609060101010101" pitchFamily="49" charset="-122"/>
                <a:ea typeface="仿宋" panose="02010609060101010101" pitchFamily="49" charset="-122"/>
              </a:rPr>
              <a:t>   </a:t>
            </a:r>
            <a:r>
              <a:rPr lang="zh-CN" altLang="zh-CN" kern="0" dirty="0">
                <a:solidFill>
                  <a:schemeClr val="tx2"/>
                </a:solidFill>
                <a:latin typeface="仿宋" panose="02010609060101010101" pitchFamily="49" charset="-122"/>
                <a:ea typeface="仿宋" panose="02010609060101010101" pitchFamily="49" charset="-122"/>
              </a:rPr>
              <a:t>开发人员很难发现自己程序中的问题，最好采用独立测试。独立的程度可有以下几种：</a:t>
            </a:r>
          </a:p>
          <a:p>
            <a:pPr marL="519430" lvl="1" indent="-66675" eaLnBrk="1" hangingPunct="1">
              <a:defRPr/>
            </a:pPr>
            <a:r>
              <a:rPr lang="zh-CN" altLang="zh-CN" sz="3200" kern="0" dirty="0">
                <a:solidFill>
                  <a:schemeClr val="tx2"/>
                </a:solidFill>
                <a:latin typeface="仿宋" panose="02010609060101010101" pitchFamily="49" charset="-122"/>
                <a:ea typeface="仿宋" panose="02010609060101010101" pitchFamily="49" charset="-122"/>
              </a:rPr>
              <a:t>同事互测</a:t>
            </a:r>
          </a:p>
          <a:p>
            <a:pPr marL="519430" lvl="1" indent="-66675" eaLnBrk="1" hangingPunct="1">
              <a:defRPr/>
            </a:pPr>
            <a:r>
              <a:rPr lang="zh-CN" altLang="zh-CN" sz="3200" kern="0" dirty="0">
                <a:solidFill>
                  <a:schemeClr val="tx2"/>
                </a:solidFill>
                <a:latin typeface="仿宋" panose="02010609060101010101" pitchFamily="49" charset="-122"/>
                <a:ea typeface="仿宋" panose="02010609060101010101" pitchFamily="49" charset="-122"/>
              </a:rPr>
              <a:t>专门的测试团队</a:t>
            </a:r>
          </a:p>
          <a:p>
            <a:pPr marL="519430" lvl="1" indent="-66675" eaLnBrk="1" hangingPunct="1">
              <a:defRPr/>
            </a:pPr>
            <a:r>
              <a:rPr lang="zh-CN" altLang="zh-CN" sz="3200" kern="0" dirty="0">
                <a:solidFill>
                  <a:schemeClr val="tx2"/>
                </a:solidFill>
                <a:latin typeface="仿宋" panose="02010609060101010101" pitchFamily="49" charset="-122"/>
                <a:ea typeface="仿宋" panose="02010609060101010101" pitchFamily="49" charset="-122"/>
              </a:rPr>
              <a:t>专门的测试机构</a:t>
            </a:r>
            <a:endParaRPr lang="en-US" altLang="zh-CN" sz="3200" kern="0" dirty="0">
              <a:solidFill>
                <a:schemeClr val="tx2"/>
              </a:solidFill>
              <a:latin typeface="仿宋" panose="02010609060101010101" pitchFamily="49" charset="-122"/>
              <a:ea typeface="仿宋" panose="02010609060101010101" pitchFamily="49" charset="-122"/>
            </a:endParaRPr>
          </a:p>
          <a:p>
            <a:pPr marL="452755" lvl="1" indent="0" eaLnBrk="1" hangingPunct="1">
              <a:buNone/>
              <a:defRPr/>
            </a:pPr>
            <a:r>
              <a:rPr lang="en-US" altLang="zh-CN" sz="3200" kern="0" dirty="0">
                <a:solidFill>
                  <a:schemeClr val="tx2"/>
                </a:solidFill>
                <a:latin typeface="仿宋" panose="02010609060101010101" pitchFamily="49" charset="-122"/>
                <a:ea typeface="仿宋" panose="02010609060101010101" pitchFamily="49" charset="-122"/>
              </a:rPr>
              <a:t> </a:t>
            </a:r>
            <a:r>
              <a:rPr lang="zh-CN" altLang="zh-CN" sz="3200" kern="0" dirty="0">
                <a:solidFill>
                  <a:schemeClr val="tx2"/>
                </a:solidFill>
                <a:latin typeface="仿宋" panose="02010609060101010101" pitchFamily="49" charset="-122"/>
                <a:ea typeface="仿宋" panose="02010609060101010101" pitchFamily="49" charset="-122"/>
              </a:rPr>
              <a:t>（第三方测试）</a:t>
            </a:r>
          </a:p>
        </p:txBody>
      </p:sp>
      <p:sp>
        <p:nvSpPr>
          <p:cNvPr id="9" name="矩形 8">
            <a:extLst>
              <a:ext uri="{FF2B5EF4-FFF2-40B4-BE49-F238E27FC236}">
                <a16:creationId xmlns:a16="http://schemas.microsoft.com/office/drawing/2014/main" id="{A080AAC7-59A3-4C07-B856-46F99F03D130}"/>
              </a:ext>
            </a:extLst>
          </p:cNvPr>
          <p:cNvSpPr/>
          <p:nvPr/>
        </p:nvSpPr>
        <p:spPr>
          <a:xfrm>
            <a:off x="5899168" y="1118354"/>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软件测试理念</a:t>
            </a:r>
            <a:endParaRPr lang="en-US" altLang="zh-CN" sz="32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42040699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D18435A-0E9C-4686-B807-7F40538B369B}"/>
              </a:ext>
            </a:extLst>
          </p:cNvPr>
          <p:cNvSpPr/>
          <p:nvPr/>
        </p:nvSpPr>
        <p:spPr>
          <a:xfrm>
            <a:off x="7774510" y="403752"/>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5" name="Rectangle 3">
            <a:extLst>
              <a:ext uri="{FF2B5EF4-FFF2-40B4-BE49-F238E27FC236}">
                <a16:creationId xmlns:a16="http://schemas.microsoft.com/office/drawing/2014/main" id="{4DA44712-B83D-4862-9296-12F19BC850CA}"/>
              </a:ext>
            </a:extLst>
          </p:cNvPr>
          <p:cNvSpPr txBox="1">
            <a:spLocks noChangeArrowheads="1"/>
          </p:cNvSpPr>
          <p:nvPr/>
        </p:nvSpPr>
        <p:spPr bwMode="auto">
          <a:xfrm>
            <a:off x="2486974" y="2272756"/>
            <a:ext cx="86042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52" tIns="45227" rIns="90452" bIns="45227"/>
          <a:lstStyle>
            <a:lvl1pPr marL="339725" indent="-339725" defTabSz="904875">
              <a:defRPr>
                <a:solidFill>
                  <a:schemeClr val="tx1"/>
                </a:solidFill>
                <a:latin typeface="Verdana" panose="020B0604030504040204" pitchFamily="34" charset="0"/>
                <a:ea typeface="宋体" panose="02010600030101010101" pitchFamily="2" charset="-122"/>
              </a:defRPr>
            </a:lvl1pPr>
            <a:lvl2pPr defTabSz="904875">
              <a:defRPr>
                <a:solidFill>
                  <a:schemeClr val="tx1"/>
                </a:solidFill>
                <a:latin typeface="Verdana" panose="020B0604030504040204" pitchFamily="34" charset="0"/>
                <a:ea typeface="宋体" panose="02010600030101010101" pitchFamily="2" charset="-122"/>
              </a:defRPr>
            </a:lvl2pPr>
            <a:lvl3pPr defTabSz="904875">
              <a:defRPr>
                <a:solidFill>
                  <a:schemeClr val="tx1"/>
                </a:solidFill>
                <a:latin typeface="Verdana" panose="020B0604030504040204" pitchFamily="34" charset="0"/>
                <a:ea typeface="宋体" panose="02010600030101010101" pitchFamily="2" charset="-122"/>
              </a:defRPr>
            </a:lvl3pPr>
            <a:lvl4pPr defTabSz="904875">
              <a:defRPr>
                <a:solidFill>
                  <a:schemeClr val="tx1"/>
                </a:solidFill>
                <a:latin typeface="Verdana" panose="020B0604030504040204" pitchFamily="34" charset="0"/>
                <a:ea typeface="宋体" panose="02010600030101010101" pitchFamily="2" charset="-122"/>
              </a:defRPr>
            </a:lvl4pPr>
            <a:lvl5pPr defTabSz="904875">
              <a:defRPr>
                <a:solidFill>
                  <a:schemeClr val="tx1"/>
                </a:solidFill>
                <a:latin typeface="Verdana" panose="020B0604030504040204" pitchFamily="34" charset="0"/>
                <a:ea typeface="宋体" panose="02010600030101010101" pitchFamily="2" charset="-122"/>
              </a:defRPr>
            </a:lvl5pPr>
            <a:lvl6pPr defTabSz="904875"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defTabSz="904875"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defTabSz="904875"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defTabSz="904875"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buClr>
                <a:srgbClr val="003366"/>
              </a:buClr>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海湾战争后，美国军方提出</a:t>
            </a:r>
            <a:r>
              <a:rPr lang="zh-CN"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战争状态下士兵的“生存能力”比“作战能力”更为重要。其实这是废话，但军方接下来的实验却很有意思。军方指派一名坦克防护装甲专家负责研制坦克装甲，这位专家接到命令后马上去找毕业于麻省理工学院的一位著名破坏力专家做搭档，两人各带一个研究小组开展工作，一为研制小组，一为破坏小组。起初，研制小组开进场的坦克总是能被破坏小组轻易炸毁，研制小组不断更换材料、改变设计，终于有一天，破坏小组使出浑身解数，甚至将高爆炸药裹在防护装甲上也未能摧毁它－世界上最坚固的坦克装甲在这种近乎疯狂的破坏与反破坏过程中诞生。</a:t>
            </a:r>
          </a:p>
          <a:p>
            <a:pPr>
              <a:buClr>
                <a:srgbClr val="003366"/>
              </a:buClr>
              <a:buFont typeface="Arial" panose="020B0604020202020204" pitchFamily="34" charset="0"/>
              <a:buChar char="•"/>
            </a:pPr>
            <a:endParaRPr lang="zh-CN" altLang="zh-CN" sz="2400" dirty="0">
              <a:latin typeface="仿宋" panose="02010609060101010101" pitchFamily="49" charset="-122"/>
              <a:ea typeface="仿宋" panose="02010609060101010101" pitchFamily="49" charset="-122"/>
            </a:endParaRPr>
          </a:p>
        </p:txBody>
      </p:sp>
      <p:sp>
        <p:nvSpPr>
          <p:cNvPr id="7" name="矩形 6">
            <a:extLst>
              <a:ext uri="{FF2B5EF4-FFF2-40B4-BE49-F238E27FC236}">
                <a16:creationId xmlns:a16="http://schemas.microsoft.com/office/drawing/2014/main" id="{0C9C8B4C-2F11-431D-9B92-7029E79F157C}"/>
              </a:ext>
            </a:extLst>
          </p:cNvPr>
          <p:cNvSpPr/>
          <p:nvPr/>
        </p:nvSpPr>
        <p:spPr>
          <a:xfrm>
            <a:off x="5681054" y="1302912"/>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软件测试理念</a:t>
            </a:r>
            <a:endParaRPr lang="en-US" altLang="zh-CN" sz="32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9623349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DC8006A-B4CC-4166-A325-95C390496787}"/>
              </a:ext>
            </a:extLst>
          </p:cNvPr>
          <p:cNvSpPr/>
          <p:nvPr/>
        </p:nvSpPr>
        <p:spPr>
          <a:xfrm>
            <a:off x="7908734" y="53797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pic>
        <p:nvPicPr>
          <p:cNvPr id="5" name="图片 2">
            <a:extLst>
              <a:ext uri="{FF2B5EF4-FFF2-40B4-BE49-F238E27FC236}">
                <a16:creationId xmlns:a16="http://schemas.microsoft.com/office/drawing/2014/main" id="{53B3348E-F5CA-46F8-A36D-B3AC503E8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3083" y="3395039"/>
            <a:ext cx="24892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a:extLst>
              <a:ext uri="{FF2B5EF4-FFF2-40B4-BE49-F238E27FC236}">
                <a16:creationId xmlns:a16="http://schemas.microsoft.com/office/drawing/2014/main" id="{8ADE6031-C9F1-4E74-A6B6-0D80A278AC06}"/>
              </a:ext>
            </a:extLst>
          </p:cNvPr>
          <p:cNvSpPr txBox="1">
            <a:spLocks noChangeArrowheads="1"/>
          </p:cNvSpPr>
          <p:nvPr/>
        </p:nvSpPr>
        <p:spPr bwMode="auto">
          <a:xfrm>
            <a:off x="2448478" y="1660219"/>
            <a:ext cx="776922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eaLnBrk="1" hangingPunct="1">
              <a:defRPr/>
            </a:pPr>
            <a:r>
              <a:rPr lang="zh-CN" altLang="zh-CN" sz="2800" kern="0" dirty="0">
                <a:latin typeface="仿宋" panose="02010609060101010101" pitchFamily="49" charset="-122"/>
                <a:ea typeface="仿宋" panose="02010609060101010101" pitchFamily="49" charset="-122"/>
              </a:rPr>
              <a:t>良好的沟通</a:t>
            </a:r>
          </a:p>
          <a:p>
            <a:pPr lvl="1" eaLnBrk="1" hangingPunct="1">
              <a:defRPr/>
            </a:pPr>
            <a:r>
              <a:rPr lang="zh-CN" altLang="zh-CN" kern="0" dirty="0">
                <a:solidFill>
                  <a:schemeClr val="tx2"/>
                </a:solidFill>
                <a:latin typeface="仿宋" panose="02010609060101010101" pitchFamily="49" charset="-122"/>
                <a:ea typeface="仿宋" panose="02010609060101010101" pitchFamily="49" charset="-122"/>
              </a:rPr>
              <a:t>软件开发是建设性的工作，而软件测试则通常是破坏性的工作，从某种角度而言，他们是矛盾的。良好的沟通可降低测试人员和开发人员之间不愉快的感觉。</a:t>
            </a:r>
          </a:p>
          <a:p>
            <a:pPr lvl="1" eaLnBrk="1" hangingPunct="1">
              <a:defRPr/>
            </a:pPr>
            <a:r>
              <a:rPr lang="zh-CN" altLang="zh-CN" kern="0" dirty="0">
                <a:solidFill>
                  <a:schemeClr val="tx2"/>
                </a:solidFill>
                <a:latin typeface="仿宋" panose="02010609060101010101" pitchFamily="49" charset="-122"/>
                <a:ea typeface="仿宋" panose="02010609060101010101" pitchFamily="49" charset="-122"/>
              </a:rPr>
              <a:t>测试人员和测试组长之间也需要良好的、建设性的沟通</a:t>
            </a:r>
          </a:p>
        </p:txBody>
      </p:sp>
      <p:sp>
        <p:nvSpPr>
          <p:cNvPr id="9" name="矩形 8">
            <a:extLst>
              <a:ext uri="{FF2B5EF4-FFF2-40B4-BE49-F238E27FC236}">
                <a16:creationId xmlns:a16="http://schemas.microsoft.com/office/drawing/2014/main" id="{4D47F4DB-FBA5-4D7E-ABD7-137E7EB00BF1}"/>
              </a:ext>
            </a:extLst>
          </p:cNvPr>
          <p:cNvSpPr/>
          <p:nvPr/>
        </p:nvSpPr>
        <p:spPr>
          <a:xfrm>
            <a:off x="5815278" y="1437135"/>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软件测试理念</a:t>
            </a:r>
            <a:endParaRPr lang="en-US" altLang="zh-CN" sz="32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7645219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47C3976-0882-437E-A40F-3179C3B4B8FB}"/>
              </a:ext>
            </a:extLst>
          </p:cNvPr>
          <p:cNvSpPr/>
          <p:nvPr/>
        </p:nvSpPr>
        <p:spPr>
          <a:xfrm>
            <a:off x="7883568" y="21080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pic>
        <p:nvPicPr>
          <p:cNvPr id="5" name="图片 6">
            <a:extLst>
              <a:ext uri="{FF2B5EF4-FFF2-40B4-BE49-F238E27FC236}">
                <a16:creationId xmlns:a16="http://schemas.microsoft.com/office/drawing/2014/main" id="{DA472B03-AEDE-414C-A966-26062014F6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7125" y="4138161"/>
            <a:ext cx="3932237" cy="261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a:extLst>
              <a:ext uri="{FF2B5EF4-FFF2-40B4-BE49-F238E27FC236}">
                <a16:creationId xmlns:a16="http://schemas.microsoft.com/office/drawing/2014/main" id="{5DEB176A-CC59-4CA6-ACDD-D3A623821939}"/>
              </a:ext>
            </a:extLst>
          </p:cNvPr>
          <p:cNvSpPr txBox="1">
            <a:spLocks noChangeArrowheads="1"/>
          </p:cNvSpPr>
          <p:nvPr/>
        </p:nvSpPr>
        <p:spPr bwMode="auto">
          <a:xfrm>
            <a:off x="2682392" y="1144929"/>
            <a:ext cx="532765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ClrTx/>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Tx/>
              <a:buSzPct val="80000"/>
              <a:buFont typeface="Wingdings" pitchFamily="2" charset="2"/>
              <a:buChar char="Ø"/>
              <a:defRPr sz="2800">
                <a:solidFill>
                  <a:schemeClr val="tx1"/>
                </a:solidFill>
                <a:latin typeface="+mn-lt"/>
              </a:defRPr>
            </a:lvl2pPr>
            <a:lvl3pPr marL="1143000" indent="-228600" algn="l" rtl="0" eaLnBrk="0" fontAlgn="base" hangingPunct="0">
              <a:spcBef>
                <a:spcPct val="20000"/>
              </a:spcBef>
              <a:spcAft>
                <a:spcPct val="0"/>
              </a:spcAft>
              <a:buClrTx/>
              <a:buSzPct val="60000"/>
              <a:buFont typeface="Wingdings" pitchFamily="2" charset="2"/>
              <a:buChar char="Ø"/>
              <a:defRPr sz="2400">
                <a:solidFill>
                  <a:schemeClr val="tx1"/>
                </a:solidFill>
                <a:latin typeface="+mn-lt"/>
              </a:defRPr>
            </a:lvl3pPr>
            <a:lvl4pPr marL="1600200" indent="-228600" algn="l" rtl="0" eaLnBrk="0" fontAlgn="base" hangingPunct="0">
              <a:spcBef>
                <a:spcPct val="20000"/>
              </a:spcBef>
              <a:spcAft>
                <a:spcPct val="0"/>
              </a:spcAft>
              <a:buClrTx/>
              <a:buSzPct val="60000"/>
              <a:buFont typeface="Wingdings" pitchFamily="2" charset="2"/>
              <a:buChar char="Ø"/>
              <a:defRPr sz="20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Ø"/>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a:lstStyle>
          <a:p>
            <a:pPr eaLnBrk="1" hangingPunct="1">
              <a:lnSpc>
                <a:spcPct val="90000"/>
              </a:lnSpc>
              <a:defRPr/>
            </a:pPr>
            <a:r>
              <a:rPr lang="zh-CN" altLang="en-US" kern="0" dirty="0">
                <a:latin typeface="黑体" pitchFamily="49" charset="-122"/>
                <a:ea typeface="黑体" pitchFamily="49" charset="-122"/>
              </a:rPr>
              <a:t>改进沟通技巧</a:t>
            </a:r>
          </a:p>
        </p:txBody>
      </p:sp>
      <p:sp>
        <p:nvSpPr>
          <p:cNvPr id="9" name="Rectangle 3">
            <a:extLst>
              <a:ext uri="{FF2B5EF4-FFF2-40B4-BE49-F238E27FC236}">
                <a16:creationId xmlns:a16="http://schemas.microsoft.com/office/drawing/2014/main" id="{453F9C6A-3A9A-4FD1-ADBF-ADB9456959C3}"/>
              </a:ext>
            </a:extLst>
          </p:cNvPr>
          <p:cNvSpPr txBox="1">
            <a:spLocks noChangeArrowheads="1"/>
          </p:cNvSpPr>
          <p:nvPr/>
        </p:nvSpPr>
        <p:spPr bwMode="auto">
          <a:xfrm>
            <a:off x="956346" y="1794216"/>
            <a:ext cx="941526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52" tIns="45227" rIns="90452" bIns="45227"/>
          <a:lstStyle>
            <a:lvl1pPr marL="339725" indent="-339725" algn="l" defTabSz="904875" rtl="0" eaLnBrk="0" fontAlgn="base" hangingPunct="0">
              <a:spcBef>
                <a:spcPct val="20000"/>
              </a:spcBef>
              <a:spcAft>
                <a:spcPct val="0"/>
              </a:spcAft>
              <a:buClr>
                <a:srgbClr val="003366"/>
              </a:buClr>
              <a:buChar char="•"/>
              <a:defRPr sz="3200">
                <a:solidFill>
                  <a:schemeClr val="tx1"/>
                </a:solidFill>
                <a:latin typeface="+mn-lt"/>
                <a:ea typeface="+mn-ea"/>
                <a:cs typeface="+mn-cs"/>
              </a:defRPr>
            </a:lvl1pPr>
            <a:lvl2pPr marL="735330" indent="-282575" algn="l" defTabSz="904875" rtl="0" eaLnBrk="0" fontAlgn="base" hangingPunct="0">
              <a:spcBef>
                <a:spcPct val="20000"/>
              </a:spcBef>
              <a:spcAft>
                <a:spcPct val="0"/>
              </a:spcAft>
              <a:buClr>
                <a:srgbClr val="003366"/>
              </a:buClr>
              <a:buChar char="–"/>
              <a:defRPr sz="2800">
                <a:solidFill>
                  <a:schemeClr val="tx1"/>
                </a:solidFill>
                <a:latin typeface="+mn-lt"/>
                <a:ea typeface="+mn-ea"/>
              </a:defRPr>
            </a:lvl2pPr>
            <a:lvl3pPr marL="1130300" indent="-225425" algn="l" defTabSz="904875" rtl="0" eaLnBrk="0" fontAlgn="base" hangingPunct="0">
              <a:spcBef>
                <a:spcPct val="20000"/>
              </a:spcBef>
              <a:spcAft>
                <a:spcPct val="0"/>
              </a:spcAft>
              <a:buClr>
                <a:srgbClr val="003366"/>
              </a:buClr>
              <a:buChar char="•"/>
              <a:defRPr sz="2400">
                <a:solidFill>
                  <a:schemeClr val="tx1"/>
                </a:solidFill>
                <a:latin typeface="+mn-lt"/>
                <a:ea typeface="+mn-ea"/>
              </a:defRPr>
            </a:lvl3pPr>
            <a:lvl4pPr marL="1583055" indent="-225425" algn="l" defTabSz="904875" rtl="0" eaLnBrk="0" fontAlgn="base" hangingPunct="0">
              <a:spcBef>
                <a:spcPct val="20000"/>
              </a:spcBef>
              <a:spcAft>
                <a:spcPct val="0"/>
              </a:spcAft>
              <a:buClr>
                <a:srgbClr val="003366"/>
              </a:buClr>
              <a:buFont typeface="Times" panose="02020603050405020304" pitchFamily="18" charset="0"/>
              <a:buChar char="▪"/>
              <a:defRPr sz="2000">
                <a:solidFill>
                  <a:schemeClr val="tx1"/>
                </a:solidFill>
                <a:latin typeface="+mn-lt"/>
                <a:ea typeface="+mn-ea"/>
              </a:defRPr>
            </a:lvl4pPr>
            <a:lvl5pPr marL="2035175" indent="-225425" algn="l" defTabSz="904875" rtl="0" eaLnBrk="0" fontAlgn="base" hangingPunct="0">
              <a:spcBef>
                <a:spcPct val="20000"/>
              </a:spcBef>
              <a:spcAft>
                <a:spcPct val="0"/>
              </a:spcAft>
              <a:buClr>
                <a:srgbClr val="003366"/>
              </a:buClr>
              <a:buFont typeface="Times" panose="02020603050405020304" pitchFamily="18" charset="0"/>
              <a:buChar char="○"/>
              <a:defRPr sz="1600">
                <a:solidFill>
                  <a:schemeClr val="tx1"/>
                </a:solidFill>
                <a:latin typeface="+mn-lt"/>
                <a:ea typeface="+mn-ea"/>
              </a:defRPr>
            </a:lvl5pPr>
            <a:lvl6pPr marL="2492375" indent="-225425" algn="l" defTabSz="904875" rtl="0" eaLnBrk="0" fontAlgn="base" hangingPunct="0">
              <a:spcBef>
                <a:spcPct val="20000"/>
              </a:spcBef>
              <a:spcAft>
                <a:spcPct val="0"/>
              </a:spcAft>
              <a:buClr>
                <a:srgbClr val="003366"/>
              </a:buClr>
              <a:buFont typeface="Times" pitchFamily="18" charset="0"/>
              <a:buChar char="○"/>
              <a:defRPr sz="1600">
                <a:solidFill>
                  <a:schemeClr val="tx1"/>
                </a:solidFill>
                <a:latin typeface="+mn-lt"/>
                <a:ea typeface="+mn-ea"/>
              </a:defRPr>
            </a:lvl6pPr>
            <a:lvl7pPr marL="2949575" indent="-225425" algn="l" defTabSz="904875" rtl="0" eaLnBrk="0" fontAlgn="base" hangingPunct="0">
              <a:spcBef>
                <a:spcPct val="20000"/>
              </a:spcBef>
              <a:spcAft>
                <a:spcPct val="0"/>
              </a:spcAft>
              <a:buClr>
                <a:srgbClr val="003366"/>
              </a:buClr>
              <a:buFont typeface="Times" pitchFamily="18" charset="0"/>
              <a:buChar char="○"/>
              <a:defRPr sz="1600">
                <a:solidFill>
                  <a:schemeClr val="tx1"/>
                </a:solidFill>
                <a:latin typeface="+mn-lt"/>
                <a:ea typeface="+mn-ea"/>
              </a:defRPr>
            </a:lvl7pPr>
            <a:lvl8pPr marL="3406775" indent="-225425" algn="l" defTabSz="904875" rtl="0" eaLnBrk="0" fontAlgn="base" hangingPunct="0">
              <a:spcBef>
                <a:spcPct val="20000"/>
              </a:spcBef>
              <a:spcAft>
                <a:spcPct val="0"/>
              </a:spcAft>
              <a:buClr>
                <a:srgbClr val="003366"/>
              </a:buClr>
              <a:buFont typeface="Times" pitchFamily="18" charset="0"/>
              <a:buChar char="○"/>
              <a:defRPr sz="1600">
                <a:solidFill>
                  <a:schemeClr val="tx1"/>
                </a:solidFill>
                <a:latin typeface="+mn-lt"/>
                <a:ea typeface="+mn-ea"/>
              </a:defRPr>
            </a:lvl8pPr>
            <a:lvl9pPr marL="3863975" indent="-225425" algn="l" defTabSz="904875" rtl="0" eaLnBrk="0" fontAlgn="base" hangingPunct="0">
              <a:spcBef>
                <a:spcPct val="20000"/>
              </a:spcBef>
              <a:spcAft>
                <a:spcPct val="0"/>
              </a:spcAft>
              <a:buClr>
                <a:srgbClr val="003366"/>
              </a:buClr>
              <a:buFont typeface="Times" pitchFamily="18" charset="0"/>
              <a:buChar char="○"/>
              <a:defRPr sz="1600">
                <a:solidFill>
                  <a:schemeClr val="tx1"/>
                </a:solidFill>
                <a:latin typeface="+mn-lt"/>
                <a:ea typeface="+mn-ea"/>
              </a:defRPr>
            </a:lvl9pPr>
          </a:lstStyle>
          <a:p>
            <a:pPr eaLnBrk="1" hangingPunct="1">
              <a:buFontTx/>
              <a:buChar char="•"/>
              <a:defRPr/>
            </a:pPr>
            <a:r>
              <a:rPr lang="zh-CN" altLang="zh-CN" sz="2800" kern="0" dirty="0">
                <a:solidFill>
                  <a:srgbClr val="000000"/>
                </a:solidFill>
                <a:latin typeface="仿宋" panose="02010609060101010101" pitchFamily="49" charset="-122"/>
                <a:ea typeface="仿宋" panose="02010609060101010101" pitchFamily="49" charset="-122"/>
              </a:rPr>
              <a:t>协作而非对立。切记-所</a:t>
            </a:r>
            <a:r>
              <a:rPr lang="zh-CN" altLang="en-US" sz="2800" kern="0" dirty="0">
                <a:solidFill>
                  <a:srgbClr val="000000"/>
                </a:solidFill>
                <a:latin typeface="仿宋" panose="02010609060101010101" pitchFamily="49" charset="-122"/>
                <a:ea typeface="仿宋" panose="02010609060101010101" pitchFamily="49" charset="-122"/>
              </a:rPr>
              <a:t>有</a:t>
            </a:r>
            <a:r>
              <a:rPr lang="zh-CN" altLang="zh-CN" sz="2800" kern="0" dirty="0">
                <a:solidFill>
                  <a:srgbClr val="000000"/>
                </a:solidFill>
                <a:latin typeface="仿宋" panose="02010609060101010101" pitchFamily="49" charset="-122"/>
                <a:ea typeface="仿宋" panose="02010609060101010101" pitchFamily="49" charset="-122"/>
              </a:rPr>
              <a:t>人员都是为着一个共同的目标，即高质量的软件系统</a:t>
            </a:r>
          </a:p>
          <a:p>
            <a:pPr eaLnBrk="1" hangingPunct="1">
              <a:buFontTx/>
              <a:buChar char="•"/>
              <a:defRPr/>
            </a:pPr>
            <a:r>
              <a:rPr lang="zh-CN" altLang="zh-CN" sz="2800" kern="0" dirty="0">
                <a:solidFill>
                  <a:srgbClr val="000000"/>
                </a:solidFill>
                <a:latin typeface="仿宋" panose="02010609060101010101" pitchFamily="49" charset="-122"/>
                <a:ea typeface="仿宋" panose="02010609060101010101" pitchFamily="49" charset="-122"/>
              </a:rPr>
              <a:t>关注事实，而不是针对人 </a:t>
            </a:r>
          </a:p>
          <a:p>
            <a:pPr eaLnBrk="1" hangingPunct="1">
              <a:buFontTx/>
              <a:buChar char="•"/>
              <a:defRPr/>
            </a:pPr>
            <a:r>
              <a:rPr lang="zh-CN" altLang="zh-CN" sz="2800" kern="0" dirty="0">
                <a:solidFill>
                  <a:srgbClr val="000000"/>
                </a:solidFill>
                <a:latin typeface="仿宋" panose="02010609060101010101" pitchFamily="49" charset="-122"/>
                <a:ea typeface="仿宋" panose="02010609060101010101" pitchFamily="49" charset="-122"/>
              </a:rPr>
              <a:t>设身处地</a:t>
            </a:r>
          </a:p>
          <a:p>
            <a:pPr eaLnBrk="1" hangingPunct="1">
              <a:buFontTx/>
              <a:buChar char="•"/>
              <a:defRPr/>
            </a:pPr>
            <a:r>
              <a:rPr lang="zh-CN" altLang="zh-CN" sz="2800" kern="0" dirty="0">
                <a:solidFill>
                  <a:srgbClr val="000000"/>
                </a:solidFill>
                <a:latin typeface="仿宋" panose="02010609060101010101" pitchFamily="49" charset="-122"/>
                <a:ea typeface="仿宋" panose="02010609060101010101" pitchFamily="49" charset="-122"/>
              </a:rPr>
              <a:t>确信别人明白了你说的东西，同时也要确信你明白了别人想表达的意思</a:t>
            </a:r>
          </a:p>
        </p:txBody>
      </p:sp>
      <p:sp>
        <p:nvSpPr>
          <p:cNvPr id="11" name="矩形 10">
            <a:extLst>
              <a:ext uri="{FF2B5EF4-FFF2-40B4-BE49-F238E27FC236}">
                <a16:creationId xmlns:a16="http://schemas.microsoft.com/office/drawing/2014/main" id="{4EDD4EEE-7A37-418E-8729-958BE6B90A97}"/>
              </a:ext>
            </a:extLst>
          </p:cNvPr>
          <p:cNvSpPr/>
          <p:nvPr/>
        </p:nvSpPr>
        <p:spPr>
          <a:xfrm>
            <a:off x="5790112" y="1109965"/>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软件测试理念</a:t>
            </a:r>
            <a:endParaRPr lang="en-US" altLang="zh-CN" sz="32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7339146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3C9808C-278B-4C14-A430-228AB59EACB7}"/>
              </a:ext>
            </a:extLst>
          </p:cNvPr>
          <p:cNvSpPr/>
          <p:nvPr/>
        </p:nvSpPr>
        <p:spPr>
          <a:xfrm>
            <a:off x="7548008" y="395362"/>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5" name="矩形 4">
            <a:extLst>
              <a:ext uri="{FF2B5EF4-FFF2-40B4-BE49-F238E27FC236}">
                <a16:creationId xmlns:a16="http://schemas.microsoft.com/office/drawing/2014/main" id="{9DA26C4C-7E83-424F-BABC-A3A52830337A}"/>
              </a:ext>
            </a:extLst>
          </p:cNvPr>
          <p:cNvSpPr/>
          <p:nvPr/>
        </p:nvSpPr>
        <p:spPr>
          <a:xfrm>
            <a:off x="5255658" y="2309316"/>
            <a:ext cx="5280612" cy="1200329"/>
          </a:xfrm>
          <a:prstGeom prst="rect">
            <a:avLst/>
          </a:prstGeom>
          <a:noFill/>
        </p:spPr>
        <p:txBody>
          <a:bodyPr wrap="none">
            <a:spAutoFit/>
          </a:bodyPr>
          <a:lstStyle/>
          <a:p>
            <a:pPr algn="ctr" eaLnBrk="0" hangingPunct="0">
              <a:buFontTx/>
              <a:buNone/>
              <a:defRPr/>
            </a:pPr>
            <a:r>
              <a:rPr lang="zh-CN" altLang="en-US" sz="3600" b="1" dirty="0">
                <a:ln w="22225">
                  <a:solidFill>
                    <a:schemeClr val="accent2"/>
                  </a:solidFill>
                  <a:prstDash val="solid"/>
                </a:ln>
                <a:solidFill>
                  <a:schemeClr val="accent2">
                    <a:lumMod val="40000"/>
                    <a:lumOff val="60000"/>
                  </a:schemeClr>
                </a:solidFill>
                <a:latin typeface="Verdana" pitchFamily="34" charset="0"/>
                <a:cs typeface="+mn-cs"/>
              </a:rPr>
              <a:t>“在宇宙的历史中，</a:t>
            </a:r>
            <a:endParaRPr lang="en-US" altLang="zh-CN" sz="3600" b="1" dirty="0">
              <a:ln w="22225">
                <a:solidFill>
                  <a:schemeClr val="accent2"/>
                </a:solidFill>
                <a:prstDash val="solid"/>
              </a:ln>
              <a:solidFill>
                <a:schemeClr val="accent2">
                  <a:lumMod val="40000"/>
                  <a:lumOff val="60000"/>
                </a:schemeClr>
              </a:solidFill>
              <a:latin typeface="Verdana" pitchFamily="34" charset="0"/>
              <a:cs typeface="+mn-cs"/>
            </a:endParaRPr>
          </a:p>
          <a:p>
            <a:pPr algn="ctr" eaLnBrk="0" hangingPunct="0">
              <a:buFontTx/>
              <a:buNone/>
              <a:defRPr/>
            </a:pPr>
            <a:r>
              <a:rPr lang="zh-CN" altLang="en-US" sz="3600" b="1" dirty="0">
                <a:ln w="22225">
                  <a:solidFill>
                    <a:schemeClr val="accent2"/>
                  </a:solidFill>
                  <a:prstDash val="solid"/>
                </a:ln>
                <a:solidFill>
                  <a:schemeClr val="accent2">
                    <a:lumMod val="40000"/>
                    <a:lumOff val="60000"/>
                  </a:schemeClr>
                </a:solidFill>
                <a:latin typeface="Verdana" pitchFamily="34" charset="0"/>
                <a:cs typeface="+mn-cs"/>
              </a:rPr>
              <a:t>毁灭总是比创建更容易”</a:t>
            </a:r>
          </a:p>
        </p:txBody>
      </p:sp>
      <p:sp>
        <p:nvSpPr>
          <p:cNvPr id="7" name="矩形 6">
            <a:extLst>
              <a:ext uri="{FF2B5EF4-FFF2-40B4-BE49-F238E27FC236}">
                <a16:creationId xmlns:a16="http://schemas.microsoft.com/office/drawing/2014/main" id="{0A1CEB76-AEB1-4298-AA57-9D579F229373}"/>
              </a:ext>
            </a:extLst>
          </p:cNvPr>
          <p:cNvSpPr/>
          <p:nvPr/>
        </p:nvSpPr>
        <p:spPr>
          <a:xfrm>
            <a:off x="5242115" y="5333956"/>
            <a:ext cx="5280025" cy="1200150"/>
          </a:xfrm>
          <a:prstGeom prst="rect">
            <a:avLst/>
          </a:prstGeom>
        </p:spPr>
        <p:txBody>
          <a:bodyPr wrap="none">
            <a:spAutoFit/>
          </a:bodyPr>
          <a:lstStyle/>
          <a:p>
            <a:pPr algn="ctr">
              <a:buFontTx/>
              <a:buNone/>
              <a:defRPr/>
            </a:pPr>
            <a:r>
              <a:rPr lang="zh-CN" altLang="en-US" sz="3600" b="1" i="1" dirty="0">
                <a:solidFill>
                  <a:srgbClr val="FF0066"/>
                </a:solidFill>
                <a:effectLst>
                  <a:outerShdw blurRad="38100" dist="38100" dir="2700000" algn="tl">
                    <a:srgbClr val="C0C0C0"/>
                  </a:outerShdw>
                </a:effectLst>
                <a:latin typeface="Verdana" pitchFamily="34" charset="0"/>
                <a:cs typeface="+mn-cs"/>
              </a:rPr>
              <a:t>软件测试人员的工作似乎</a:t>
            </a:r>
            <a:endParaRPr lang="en-US" altLang="zh-CN" sz="3600" b="1" i="1" dirty="0">
              <a:solidFill>
                <a:srgbClr val="FF0066"/>
              </a:solidFill>
              <a:effectLst>
                <a:outerShdw blurRad="38100" dist="38100" dir="2700000" algn="tl">
                  <a:srgbClr val="C0C0C0"/>
                </a:outerShdw>
              </a:effectLst>
              <a:latin typeface="Verdana" pitchFamily="34" charset="0"/>
              <a:cs typeface="+mn-cs"/>
            </a:endParaRPr>
          </a:p>
          <a:p>
            <a:pPr algn="ctr">
              <a:buFontTx/>
              <a:buNone/>
              <a:defRPr/>
            </a:pPr>
            <a:r>
              <a:rPr lang="zh-CN" altLang="en-US" sz="3600" b="1" i="1" dirty="0">
                <a:solidFill>
                  <a:srgbClr val="FF0066"/>
                </a:solidFill>
                <a:effectLst>
                  <a:outerShdw blurRad="38100" dist="38100" dir="2700000" algn="tl">
                    <a:srgbClr val="C0C0C0"/>
                  </a:outerShdw>
                </a:effectLst>
                <a:latin typeface="Verdana" pitchFamily="34" charset="0"/>
                <a:cs typeface="+mn-cs"/>
              </a:rPr>
              <a:t>比程序员容易一些？</a:t>
            </a:r>
            <a:endParaRPr lang="en-US" altLang="zh-CN" sz="3600" b="1" i="1" dirty="0">
              <a:solidFill>
                <a:srgbClr val="FF0066"/>
              </a:solidFill>
              <a:effectLst>
                <a:outerShdw blurRad="38100" dist="38100" dir="2700000" algn="tl">
                  <a:srgbClr val="C0C0C0"/>
                </a:outerShdw>
              </a:effectLst>
              <a:latin typeface="Verdana" pitchFamily="34" charset="0"/>
              <a:cs typeface="+mn-cs"/>
            </a:endParaRPr>
          </a:p>
        </p:txBody>
      </p:sp>
      <p:pic>
        <p:nvPicPr>
          <p:cNvPr id="9" name="图片 6">
            <a:extLst>
              <a:ext uri="{FF2B5EF4-FFF2-40B4-BE49-F238E27FC236}">
                <a16:creationId xmlns:a16="http://schemas.microsoft.com/office/drawing/2014/main" id="{B474FEFF-EEAA-4346-BE2D-ECBBD7FAD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740" y="1541418"/>
            <a:ext cx="2303462"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9">
            <a:extLst>
              <a:ext uri="{FF2B5EF4-FFF2-40B4-BE49-F238E27FC236}">
                <a16:creationId xmlns:a16="http://schemas.microsoft.com/office/drawing/2014/main" id="{FE875F68-E7E0-4991-9F1B-318527D5E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590" y="4900568"/>
            <a:ext cx="1674812"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a:extLst>
              <a:ext uri="{FF2B5EF4-FFF2-40B4-BE49-F238E27FC236}">
                <a16:creationId xmlns:a16="http://schemas.microsoft.com/office/drawing/2014/main" id="{B860439D-135A-450D-A72E-A9E26271C6BE}"/>
              </a:ext>
            </a:extLst>
          </p:cNvPr>
          <p:cNvSpPr/>
          <p:nvPr/>
        </p:nvSpPr>
        <p:spPr>
          <a:xfrm>
            <a:off x="5454552" y="1294522"/>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软件测试人员</a:t>
            </a:r>
            <a:endParaRPr lang="en-US" altLang="zh-CN" sz="32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8274944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EEDCFCB-2605-4BB5-8B19-C8FF957840A0}"/>
              </a:ext>
            </a:extLst>
          </p:cNvPr>
          <p:cNvSpPr/>
          <p:nvPr/>
        </p:nvSpPr>
        <p:spPr>
          <a:xfrm>
            <a:off x="7992624" y="286306"/>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3" name="灯片编号占位符 5">
            <a:extLst>
              <a:ext uri="{FF2B5EF4-FFF2-40B4-BE49-F238E27FC236}">
                <a16:creationId xmlns:a16="http://schemas.microsoft.com/office/drawing/2014/main" id="{5115F11B-9613-490E-A58D-096B9988FBA8}"/>
              </a:ext>
            </a:extLst>
          </p:cNvPr>
          <p:cNvSpPr txBox="1">
            <a:spLocks noChangeArrowheads="1"/>
          </p:cNvSpPr>
          <p:nvPr/>
        </p:nvSpPr>
        <p:spPr bwMode="auto">
          <a:xfrm>
            <a:off x="8614081" y="6559987"/>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r"/>
            <a:fld id="{2357894B-EB7C-4DAD-A466-CCC6F89250A4}" type="slidenum">
              <a:rPr lang="zh-CN" altLang="en-US" sz="1200">
                <a:solidFill>
                  <a:srgbClr val="939494"/>
                </a:solidFill>
                <a:latin typeface="Verdana" panose="020B0604030504040204" pitchFamily="34" charset="0"/>
              </a:rPr>
              <a:pPr algn="r"/>
              <a:t>69</a:t>
            </a:fld>
            <a:endParaRPr lang="en-US" altLang="zh-CN" sz="1200">
              <a:solidFill>
                <a:srgbClr val="939494"/>
              </a:solidFill>
            </a:endParaRPr>
          </a:p>
        </p:txBody>
      </p:sp>
      <p:sp>
        <p:nvSpPr>
          <p:cNvPr id="4" name="Rectangle 5">
            <a:extLst>
              <a:ext uri="{FF2B5EF4-FFF2-40B4-BE49-F238E27FC236}">
                <a16:creationId xmlns:a16="http://schemas.microsoft.com/office/drawing/2014/main" id="{026F5E40-D9BD-4738-A346-97EE05E796AE}"/>
              </a:ext>
            </a:extLst>
          </p:cNvPr>
          <p:cNvSpPr>
            <a:spLocks noChangeArrowheads="1"/>
          </p:cNvSpPr>
          <p:nvPr/>
        </p:nvSpPr>
        <p:spPr bwMode="auto">
          <a:xfrm>
            <a:off x="6636056" y="3311962"/>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3600" b="1">
              <a:solidFill>
                <a:srgbClr val="414345"/>
              </a:solidFill>
              <a:latin typeface="Verdana" panose="020B0604030504040204" pitchFamily="34" charset="0"/>
            </a:endParaRPr>
          </a:p>
        </p:txBody>
      </p:sp>
      <p:sp>
        <p:nvSpPr>
          <p:cNvPr id="5" name="Rectangle 6">
            <a:extLst>
              <a:ext uri="{FF2B5EF4-FFF2-40B4-BE49-F238E27FC236}">
                <a16:creationId xmlns:a16="http://schemas.microsoft.com/office/drawing/2014/main" id="{28D38BF3-36B4-43B5-9BD4-08403F38BE26}"/>
              </a:ext>
            </a:extLst>
          </p:cNvPr>
          <p:cNvSpPr>
            <a:spLocks noChangeArrowheads="1"/>
          </p:cNvSpPr>
          <p:nvPr/>
        </p:nvSpPr>
        <p:spPr bwMode="auto">
          <a:xfrm>
            <a:off x="3070531" y="1880037"/>
            <a:ext cx="533400" cy="4953000"/>
          </a:xfrm>
          <a:prstGeom prst="rect">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rgbClr val="99CCFF"/>
                    </a:gs>
                    <a:gs pos="50000">
                      <a:schemeClr val="bg1"/>
                    </a:gs>
                    <a:gs pos="100000">
                      <a:srgbClr val="99CCFF"/>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zh-CN" altLang="zh-CN">
                <a:solidFill>
                  <a:srgbClr val="0E0900"/>
                </a:solidFill>
                <a:ea typeface="黑体" pitchFamily="49" charset="-122"/>
                <a:cs typeface="+mn-cs"/>
              </a:rPr>
              <a:t>软件</a:t>
            </a:r>
          </a:p>
          <a:p>
            <a:pPr algn="ctr">
              <a:defRPr/>
            </a:pPr>
            <a:endParaRPr lang="zh-CN" altLang="zh-CN">
              <a:solidFill>
                <a:srgbClr val="0E0900"/>
              </a:solidFill>
              <a:ea typeface="黑体" pitchFamily="49" charset="-122"/>
              <a:cs typeface="+mn-cs"/>
            </a:endParaRPr>
          </a:p>
          <a:p>
            <a:pPr algn="ctr">
              <a:defRPr/>
            </a:pPr>
            <a:endParaRPr lang="zh-CN" altLang="zh-CN">
              <a:solidFill>
                <a:srgbClr val="0E0900"/>
              </a:solidFill>
              <a:ea typeface="黑体" pitchFamily="49" charset="-122"/>
              <a:cs typeface="+mn-cs"/>
            </a:endParaRPr>
          </a:p>
          <a:p>
            <a:pPr algn="ctr">
              <a:defRPr/>
            </a:pPr>
            <a:r>
              <a:rPr lang="zh-CN" altLang="zh-CN">
                <a:solidFill>
                  <a:srgbClr val="0E0900"/>
                </a:solidFill>
                <a:ea typeface="黑体" pitchFamily="49" charset="-122"/>
                <a:cs typeface="+mn-cs"/>
              </a:rPr>
              <a:t>测试</a:t>
            </a:r>
          </a:p>
          <a:p>
            <a:pPr algn="ctr">
              <a:defRPr/>
            </a:pPr>
            <a:endParaRPr lang="zh-CN" altLang="zh-CN">
              <a:solidFill>
                <a:srgbClr val="0E0900"/>
              </a:solidFill>
              <a:ea typeface="黑体" pitchFamily="49" charset="-122"/>
              <a:cs typeface="+mn-cs"/>
            </a:endParaRPr>
          </a:p>
          <a:p>
            <a:pPr algn="ctr">
              <a:defRPr/>
            </a:pPr>
            <a:endParaRPr lang="zh-CN" altLang="zh-CN">
              <a:solidFill>
                <a:srgbClr val="0E0900"/>
              </a:solidFill>
              <a:ea typeface="黑体" pitchFamily="49" charset="-122"/>
              <a:cs typeface="+mn-cs"/>
            </a:endParaRPr>
          </a:p>
          <a:p>
            <a:pPr algn="ctr">
              <a:defRPr/>
            </a:pPr>
            <a:r>
              <a:rPr lang="zh-CN" altLang="zh-CN">
                <a:solidFill>
                  <a:srgbClr val="0E0900"/>
                </a:solidFill>
                <a:ea typeface="黑体" pitchFamily="49" charset="-122"/>
                <a:cs typeface="+mn-cs"/>
              </a:rPr>
              <a:t>工程</a:t>
            </a:r>
          </a:p>
          <a:p>
            <a:pPr algn="ctr">
              <a:defRPr/>
            </a:pPr>
            <a:endParaRPr lang="zh-CN" altLang="zh-CN">
              <a:solidFill>
                <a:srgbClr val="0E0900"/>
              </a:solidFill>
              <a:ea typeface="黑体" pitchFamily="49" charset="-122"/>
              <a:cs typeface="+mn-cs"/>
            </a:endParaRPr>
          </a:p>
          <a:p>
            <a:pPr algn="ctr">
              <a:defRPr/>
            </a:pPr>
            <a:r>
              <a:rPr lang="zh-CN" altLang="zh-CN">
                <a:solidFill>
                  <a:srgbClr val="0E0900"/>
                </a:solidFill>
                <a:ea typeface="黑体" pitchFamily="49" charset="-122"/>
                <a:cs typeface="+mn-cs"/>
              </a:rPr>
              <a:t>师</a:t>
            </a:r>
          </a:p>
        </p:txBody>
      </p:sp>
      <p:grpSp>
        <p:nvGrpSpPr>
          <p:cNvPr id="6" name="Group 7">
            <a:extLst>
              <a:ext uri="{FF2B5EF4-FFF2-40B4-BE49-F238E27FC236}">
                <a16:creationId xmlns:a16="http://schemas.microsoft.com/office/drawing/2014/main" id="{76EE92D7-CECC-4438-B0C9-24C09788BDDB}"/>
              </a:ext>
            </a:extLst>
          </p:cNvPr>
          <p:cNvGrpSpPr>
            <a:grpSpLocks/>
          </p:cNvGrpSpPr>
          <p:nvPr/>
        </p:nvGrpSpPr>
        <p:grpSpPr bwMode="auto">
          <a:xfrm>
            <a:off x="3603931" y="1689537"/>
            <a:ext cx="5508625" cy="1485900"/>
            <a:chOff x="0" y="-24"/>
            <a:chExt cx="3470" cy="936"/>
          </a:xfrm>
        </p:grpSpPr>
        <p:sp>
          <p:nvSpPr>
            <p:cNvPr id="7" name="Rectangle 8">
              <a:extLst>
                <a:ext uri="{FF2B5EF4-FFF2-40B4-BE49-F238E27FC236}">
                  <a16:creationId xmlns:a16="http://schemas.microsoft.com/office/drawing/2014/main" id="{AAFF4044-115D-4E62-80D7-338C072D2D03}"/>
                </a:ext>
              </a:extLst>
            </p:cNvPr>
            <p:cNvSpPr>
              <a:spLocks noChangeArrowheads="1"/>
            </p:cNvSpPr>
            <p:nvPr/>
          </p:nvSpPr>
          <p:spPr bwMode="auto">
            <a:xfrm>
              <a:off x="350" y="-24"/>
              <a:ext cx="3120" cy="576"/>
            </a:xfrm>
            <a:prstGeom prst="rect">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defRPr/>
              </a:pPr>
              <a:r>
                <a:rPr lang="zh-CN" altLang="zh-CN" sz="2000" dirty="0">
                  <a:solidFill>
                    <a:srgbClr val="0E0900"/>
                  </a:solidFill>
                  <a:latin typeface="黑体" pitchFamily="49" charset="-122"/>
                  <a:ea typeface="黑体" pitchFamily="49" charset="-122"/>
                  <a:cs typeface="+mn-cs"/>
                </a:rPr>
                <a:t>[广义]所有的软件系统都需要的</a:t>
              </a:r>
              <a:r>
                <a:rPr lang="zh-CN" altLang="zh-CN" sz="2000" b="1" dirty="0">
                  <a:solidFill>
                    <a:srgbClr val="0E0900"/>
                  </a:solidFill>
                  <a:latin typeface="黑体" pitchFamily="49" charset="-122"/>
                  <a:ea typeface="黑体" pitchFamily="49" charset="-122"/>
                  <a:cs typeface="+mn-cs"/>
                </a:rPr>
                <a:t>基础知识</a:t>
              </a:r>
              <a:r>
                <a:rPr lang="zh-CN" altLang="zh-CN" sz="2000" dirty="0">
                  <a:solidFill>
                    <a:srgbClr val="0E0900"/>
                  </a:solidFill>
                  <a:latin typeface="黑体" pitchFamily="49" charset="-122"/>
                  <a:ea typeface="黑体" pitchFamily="49" charset="-122"/>
                  <a:cs typeface="+mn-cs"/>
                </a:rPr>
                <a:t>包括：基本的编程能力、面向对象方法、操作系统、数据库、计算机网络……</a:t>
              </a:r>
            </a:p>
          </p:txBody>
        </p:sp>
        <p:sp>
          <p:nvSpPr>
            <p:cNvPr id="8" name="Rectangle 9">
              <a:extLst>
                <a:ext uri="{FF2B5EF4-FFF2-40B4-BE49-F238E27FC236}">
                  <a16:creationId xmlns:a16="http://schemas.microsoft.com/office/drawing/2014/main" id="{75259231-1469-4597-9E49-025B652344F8}"/>
                </a:ext>
              </a:extLst>
            </p:cNvPr>
            <p:cNvSpPr>
              <a:spLocks noChangeArrowheads="1"/>
            </p:cNvSpPr>
            <p:nvPr/>
          </p:nvSpPr>
          <p:spPr bwMode="auto">
            <a:xfrm>
              <a:off x="336" y="576"/>
              <a:ext cx="3120" cy="336"/>
            </a:xfrm>
            <a:prstGeom prst="rect">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defRPr/>
              </a:pPr>
              <a:r>
                <a:rPr lang="zh-CN" altLang="zh-CN" sz="2000" dirty="0">
                  <a:solidFill>
                    <a:srgbClr val="0E0900"/>
                  </a:solidFill>
                  <a:latin typeface="黑体" pitchFamily="49" charset="-122"/>
                  <a:ea typeface="黑体" pitchFamily="49" charset="-122"/>
                  <a:cs typeface="+mn-cs"/>
                </a:rPr>
                <a:t>[针对性]对具体产品线的</a:t>
              </a:r>
              <a:r>
                <a:rPr lang="zh-CN" altLang="zh-CN" sz="2000" b="1" dirty="0">
                  <a:solidFill>
                    <a:srgbClr val="0E0900"/>
                  </a:solidFill>
                  <a:latin typeface="黑体" pitchFamily="49" charset="-122"/>
                  <a:ea typeface="黑体" pitchFamily="49" charset="-122"/>
                  <a:cs typeface="+mn-cs"/>
                </a:rPr>
                <a:t>业务知识</a:t>
              </a:r>
            </a:p>
          </p:txBody>
        </p:sp>
        <p:sp>
          <p:nvSpPr>
            <p:cNvPr id="9" name="AutoShape 10">
              <a:extLst>
                <a:ext uri="{FF2B5EF4-FFF2-40B4-BE49-F238E27FC236}">
                  <a16:creationId xmlns:a16="http://schemas.microsoft.com/office/drawing/2014/main" id="{7ADF950E-6DA0-44E3-885B-52874F382575}"/>
                </a:ext>
              </a:extLst>
            </p:cNvPr>
            <p:cNvSpPr>
              <a:spLocks noChangeArrowheads="1"/>
            </p:cNvSpPr>
            <p:nvPr/>
          </p:nvSpPr>
          <p:spPr bwMode="auto">
            <a:xfrm>
              <a:off x="0" y="384"/>
              <a:ext cx="336" cy="288"/>
            </a:xfrm>
            <a:prstGeom prst="rightArrow">
              <a:avLst>
                <a:gd name="adj1" fmla="val 50000"/>
                <a:gd name="adj2" fmla="val 29167"/>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434547"/>
                </a:solidFill>
                <a:cs typeface="+mn-cs"/>
              </a:endParaRPr>
            </a:p>
          </p:txBody>
        </p:sp>
      </p:grpSp>
      <p:grpSp>
        <p:nvGrpSpPr>
          <p:cNvPr id="10" name="Group 11">
            <a:extLst>
              <a:ext uri="{FF2B5EF4-FFF2-40B4-BE49-F238E27FC236}">
                <a16:creationId xmlns:a16="http://schemas.microsoft.com/office/drawing/2014/main" id="{200E5B94-8F00-402C-AF66-6FBAED1CBE54}"/>
              </a:ext>
            </a:extLst>
          </p:cNvPr>
          <p:cNvGrpSpPr>
            <a:grpSpLocks/>
          </p:cNvGrpSpPr>
          <p:nvPr/>
        </p:nvGrpSpPr>
        <p:grpSpPr bwMode="auto">
          <a:xfrm>
            <a:off x="3603931" y="3327837"/>
            <a:ext cx="5486400" cy="1371600"/>
            <a:chOff x="0" y="0"/>
            <a:chExt cx="3456" cy="864"/>
          </a:xfrm>
        </p:grpSpPr>
        <p:sp>
          <p:nvSpPr>
            <p:cNvPr id="11" name="Rectangle 12">
              <a:extLst>
                <a:ext uri="{FF2B5EF4-FFF2-40B4-BE49-F238E27FC236}">
                  <a16:creationId xmlns:a16="http://schemas.microsoft.com/office/drawing/2014/main" id="{A71CC04B-522B-48DF-9DB4-77751461A924}"/>
                </a:ext>
              </a:extLst>
            </p:cNvPr>
            <p:cNvSpPr>
              <a:spLocks noChangeArrowheads="1"/>
            </p:cNvSpPr>
            <p:nvPr/>
          </p:nvSpPr>
          <p:spPr bwMode="auto">
            <a:xfrm>
              <a:off x="336" y="0"/>
              <a:ext cx="3120" cy="864"/>
            </a:xfrm>
            <a:prstGeom prst="rect">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defRPr/>
              </a:pPr>
              <a:r>
                <a:rPr lang="zh-CN" altLang="zh-CN" sz="2000">
                  <a:solidFill>
                    <a:srgbClr val="0E0900"/>
                  </a:solidFill>
                  <a:latin typeface="黑体" pitchFamily="49" charset="-122"/>
                  <a:ea typeface="黑体" pitchFamily="49" charset="-122"/>
                  <a:cs typeface="+mn-cs"/>
                </a:rPr>
                <a:t>测试基础知识</a:t>
              </a:r>
            </a:p>
            <a:p>
              <a:pPr>
                <a:defRPr/>
              </a:pPr>
              <a:r>
                <a:rPr lang="zh-CN" altLang="zh-CN" sz="2000">
                  <a:solidFill>
                    <a:srgbClr val="0E0900"/>
                  </a:solidFill>
                  <a:latin typeface="黑体" pitchFamily="49" charset="-122"/>
                  <a:ea typeface="黑体" pitchFamily="49" charset="-122"/>
                  <a:cs typeface="+mn-cs"/>
                </a:rPr>
                <a:t>测试工具</a:t>
              </a:r>
            </a:p>
            <a:p>
              <a:pPr>
                <a:defRPr/>
              </a:pPr>
              <a:r>
                <a:rPr lang="zh-CN" altLang="zh-CN" sz="2000">
                  <a:solidFill>
                    <a:srgbClr val="0E0900"/>
                  </a:solidFill>
                  <a:latin typeface="黑体" pitchFamily="49" charset="-122"/>
                  <a:ea typeface="黑体" pitchFamily="49" charset="-122"/>
                  <a:cs typeface="+mn-cs"/>
                </a:rPr>
                <a:t>自动化测试</a:t>
              </a:r>
            </a:p>
            <a:p>
              <a:pPr>
                <a:defRPr/>
              </a:pPr>
              <a:r>
                <a:rPr lang="zh-CN" altLang="zh-CN" sz="2000">
                  <a:solidFill>
                    <a:srgbClr val="0E0900"/>
                  </a:solidFill>
                  <a:latin typeface="黑体" pitchFamily="49" charset="-122"/>
                  <a:ea typeface="黑体" pitchFamily="49" charset="-122"/>
                  <a:cs typeface="+mn-cs"/>
                </a:rPr>
                <a:t>测试的思维方式  </a:t>
              </a:r>
              <a:r>
                <a:rPr lang="zh-CN" altLang="zh-CN" sz="2000">
                  <a:solidFill>
                    <a:srgbClr val="0E0900"/>
                  </a:solidFill>
                  <a:ea typeface="黑体" pitchFamily="49" charset="-122"/>
                  <a:cs typeface="+mn-cs"/>
                </a:rPr>
                <a:t>…</a:t>
              </a:r>
              <a:r>
                <a:rPr lang="zh-CN" altLang="zh-CN" sz="2000">
                  <a:solidFill>
                    <a:srgbClr val="0E0900"/>
                  </a:solidFill>
                  <a:latin typeface="黑体" pitchFamily="49" charset="-122"/>
                  <a:ea typeface="黑体" pitchFamily="49" charset="-122"/>
                  <a:cs typeface="+mn-cs"/>
                </a:rPr>
                <a:t> </a:t>
              </a:r>
              <a:r>
                <a:rPr lang="zh-CN" altLang="zh-CN" sz="2000">
                  <a:solidFill>
                    <a:srgbClr val="0E0900"/>
                  </a:solidFill>
                  <a:ea typeface="黑体" pitchFamily="49" charset="-122"/>
                  <a:cs typeface="+mn-cs"/>
                </a:rPr>
                <a:t>…</a:t>
              </a:r>
              <a:r>
                <a:rPr lang="zh-CN" altLang="zh-CN" sz="2000">
                  <a:solidFill>
                    <a:srgbClr val="0E0900"/>
                  </a:solidFill>
                  <a:latin typeface="黑体" pitchFamily="49" charset="-122"/>
                  <a:ea typeface="黑体" pitchFamily="49" charset="-122"/>
                  <a:cs typeface="+mn-cs"/>
                </a:rPr>
                <a:t> </a:t>
              </a:r>
              <a:r>
                <a:rPr lang="zh-CN" altLang="zh-CN" sz="2000">
                  <a:solidFill>
                    <a:srgbClr val="0E0900"/>
                  </a:solidFill>
                  <a:ea typeface="黑体" pitchFamily="49" charset="-122"/>
                  <a:cs typeface="+mn-cs"/>
                </a:rPr>
                <a:t>…</a:t>
              </a:r>
              <a:r>
                <a:rPr lang="zh-CN" altLang="zh-CN" sz="2000">
                  <a:solidFill>
                    <a:srgbClr val="0E0900"/>
                  </a:solidFill>
                  <a:latin typeface="黑体" pitchFamily="49" charset="-122"/>
                  <a:ea typeface="黑体" pitchFamily="49" charset="-122"/>
                  <a:cs typeface="+mn-cs"/>
                </a:rPr>
                <a:t> </a:t>
              </a:r>
              <a:r>
                <a:rPr lang="zh-CN" altLang="zh-CN" sz="2000">
                  <a:solidFill>
                    <a:srgbClr val="0E0900"/>
                  </a:solidFill>
                  <a:ea typeface="黑体" pitchFamily="49" charset="-122"/>
                  <a:cs typeface="+mn-cs"/>
                </a:rPr>
                <a:t>…</a:t>
              </a:r>
              <a:endParaRPr lang="zh-CN" altLang="zh-CN" sz="2000">
                <a:solidFill>
                  <a:srgbClr val="0E0900"/>
                </a:solidFill>
                <a:latin typeface="黑体" pitchFamily="49" charset="-122"/>
                <a:ea typeface="黑体" pitchFamily="49" charset="-122"/>
                <a:cs typeface="+mn-cs"/>
              </a:endParaRPr>
            </a:p>
          </p:txBody>
        </p:sp>
        <p:sp>
          <p:nvSpPr>
            <p:cNvPr id="12" name="AutoShape 13">
              <a:extLst>
                <a:ext uri="{FF2B5EF4-FFF2-40B4-BE49-F238E27FC236}">
                  <a16:creationId xmlns:a16="http://schemas.microsoft.com/office/drawing/2014/main" id="{B682DFA4-A893-4831-8C10-E319D7AD3380}"/>
                </a:ext>
              </a:extLst>
            </p:cNvPr>
            <p:cNvSpPr>
              <a:spLocks noChangeArrowheads="1"/>
            </p:cNvSpPr>
            <p:nvPr/>
          </p:nvSpPr>
          <p:spPr bwMode="auto">
            <a:xfrm>
              <a:off x="0" y="288"/>
              <a:ext cx="336" cy="288"/>
            </a:xfrm>
            <a:prstGeom prst="rightArrow">
              <a:avLst>
                <a:gd name="adj1" fmla="val 50000"/>
                <a:gd name="adj2" fmla="val 29167"/>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434547"/>
                </a:solidFill>
                <a:cs typeface="+mn-cs"/>
              </a:endParaRPr>
            </a:p>
          </p:txBody>
        </p:sp>
      </p:grpSp>
      <p:grpSp>
        <p:nvGrpSpPr>
          <p:cNvPr id="13" name="Group 14">
            <a:extLst>
              <a:ext uri="{FF2B5EF4-FFF2-40B4-BE49-F238E27FC236}">
                <a16:creationId xmlns:a16="http://schemas.microsoft.com/office/drawing/2014/main" id="{1BC404F9-7B22-457F-B63B-84C2958D50DF}"/>
              </a:ext>
            </a:extLst>
          </p:cNvPr>
          <p:cNvGrpSpPr>
            <a:grpSpLocks/>
          </p:cNvGrpSpPr>
          <p:nvPr/>
        </p:nvGrpSpPr>
        <p:grpSpPr bwMode="auto">
          <a:xfrm>
            <a:off x="3603931" y="4851837"/>
            <a:ext cx="5486400" cy="1066800"/>
            <a:chOff x="0" y="0"/>
            <a:chExt cx="3456" cy="672"/>
          </a:xfrm>
        </p:grpSpPr>
        <p:sp>
          <p:nvSpPr>
            <p:cNvPr id="14" name="Rectangle 15">
              <a:extLst>
                <a:ext uri="{FF2B5EF4-FFF2-40B4-BE49-F238E27FC236}">
                  <a16:creationId xmlns:a16="http://schemas.microsoft.com/office/drawing/2014/main" id="{8997326E-5A64-48AD-A165-7F8CB3BC3F7D}"/>
                </a:ext>
              </a:extLst>
            </p:cNvPr>
            <p:cNvSpPr>
              <a:spLocks noChangeArrowheads="1"/>
            </p:cNvSpPr>
            <p:nvPr/>
          </p:nvSpPr>
          <p:spPr bwMode="auto">
            <a:xfrm>
              <a:off x="336" y="0"/>
              <a:ext cx="3120" cy="336"/>
            </a:xfrm>
            <a:prstGeom prst="rect">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defRPr/>
              </a:pPr>
              <a:r>
                <a:rPr lang="zh-CN" altLang="zh-CN" sz="2000">
                  <a:solidFill>
                    <a:srgbClr val="0E0900"/>
                  </a:solidFill>
                  <a:latin typeface="黑体" pitchFamily="49" charset="-122"/>
                  <a:ea typeface="黑体" pitchFamily="49" charset="-122"/>
                  <a:cs typeface="+mn-cs"/>
                </a:rPr>
                <a:t>软件工程</a:t>
              </a:r>
            </a:p>
          </p:txBody>
        </p:sp>
        <p:sp>
          <p:nvSpPr>
            <p:cNvPr id="15" name="Rectangle 16">
              <a:extLst>
                <a:ext uri="{FF2B5EF4-FFF2-40B4-BE49-F238E27FC236}">
                  <a16:creationId xmlns:a16="http://schemas.microsoft.com/office/drawing/2014/main" id="{7C90210D-4FE0-4370-B862-6B04C1D38776}"/>
                </a:ext>
              </a:extLst>
            </p:cNvPr>
            <p:cNvSpPr>
              <a:spLocks noChangeArrowheads="1"/>
            </p:cNvSpPr>
            <p:nvPr/>
          </p:nvSpPr>
          <p:spPr bwMode="auto">
            <a:xfrm>
              <a:off x="336" y="336"/>
              <a:ext cx="3120" cy="336"/>
            </a:xfrm>
            <a:prstGeom prst="rect">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defRPr/>
              </a:pPr>
              <a:r>
                <a:rPr lang="zh-CN" altLang="zh-CN" sz="2000">
                  <a:solidFill>
                    <a:srgbClr val="0E0900"/>
                  </a:solidFill>
                  <a:latin typeface="黑体" pitchFamily="49" charset="-122"/>
                  <a:ea typeface="黑体" pitchFamily="49" charset="-122"/>
                  <a:cs typeface="+mn-cs"/>
                </a:rPr>
                <a:t>广度深度</a:t>
              </a:r>
            </a:p>
          </p:txBody>
        </p:sp>
        <p:sp>
          <p:nvSpPr>
            <p:cNvPr id="16" name="AutoShape 17">
              <a:extLst>
                <a:ext uri="{FF2B5EF4-FFF2-40B4-BE49-F238E27FC236}">
                  <a16:creationId xmlns:a16="http://schemas.microsoft.com/office/drawing/2014/main" id="{943BA61C-09FE-4A2F-9BE3-3C2D2FFBECEF}"/>
                </a:ext>
              </a:extLst>
            </p:cNvPr>
            <p:cNvSpPr>
              <a:spLocks noChangeArrowheads="1"/>
            </p:cNvSpPr>
            <p:nvPr/>
          </p:nvSpPr>
          <p:spPr bwMode="auto">
            <a:xfrm>
              <a:off x="0" y="192"/>
              <a:ext cx="336" cy="288"/>
            </a:xfrm>
            <a:prstGeom prst="rightArrow">
              <a:avLst>
                <a:gd name="adj1" fmla="val 50000"/>
                <a:gd name="adj2" fmla="val 29167"/>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434547"/>
                </a:solidFill>
                <a:cs typeface="+mn-cs"/>
              </a:endParaRPr>
            </a:p>
          </p:txBody>
        </p:sp>
      </p:grpSp>
      <p:grpSp>
        <p:nvGrpSpPr>
          <p:cNvPr id="17" name="Group 18">
            <a:extLst>
              <a:ext uri="{FF2B5EF4-FFF2-40B4-BE49-F238E27FC236}">
                <a16:creationId xmlns:a16="http://schemas.microsoft.com/office/drawing/2014/main" id="{C5EA7ACE-F301-4328-B8BD-C48A04E9FC48}"/>
              </a:ext>
            </a:extLst>
          </p:cNvPr>
          <p:cNvGrpSpPr>
            <a:grpSpLocks/>
          </p:cNvGrpSpPr>
          <p:nvPr/>
        </p:nvGrpSpPr>
        <p:grpSpPr bwMode="auto">
          <a:xfrm>
            <a:off x="3603931" y="6147237"/>
            <a:ext cx="4495800" cy="533400"/>
            <a:chOff x="0" y="0"/>
            <a:chExt cx="2832" cy="336"/>
          </a:xfrm>
        </p:grpSpPr>
        <p:sp>
          <p:nvSpPr>
            <p:cNvPr id="18" name="Rectangle 19">
              <a:extLst>
                <a:ext uri="{FF2B5EF4-FFF2-40B4-BE49-F238E27FC236}">
                  <a16:creationId xmlns:a16="http://schemas.microsoft.com/office/drawing/2014/main" id="{0EEF01A2-DB40-4C85-B80E-F2DBF17613D4}"/>
                </a:ext>
              </a:extLst>
            </p:cNvPr>
            <p:cNvSpPr>
              <a:spLocks noChangeArrowheads="1"/>
            </p:cNvSpPr>
            <p:nvPr/>
          </p:nvSpPr>
          <p:spPr bwMode="auto">
            <a:xfrm>
              <a:off x="336" y="0"/>
              <a:ext cx="1248" cy="336"/>
            </a:xfrm>
            <a:prstGeom prst="rect">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zh-CN" altLang="zh-CN" sz="2000">
                  <a:solidFill>
                    <a:srgbClr val="0E0900"/>
                  </a:solidFill>
                  <a:latin typeface="黑体" pitchFamily="49" charset="-122"/>
                  <a:ea typeface="黑体" pitchFamily="49" charset="-122"/>
                  <a:cs typeface="+mn-cs"/>
                </a:rPr>
                <a:t>专业</a:t>
              </a:r>
            </a:p>
          </p:txBody>
        </p:sp>
        <p:sp>
          <p:nvSpPr>
            <p:cNvPr id="19" name="Rectangle 20">
              <a:extLst>
                <a:ext uri="{FF2B5EF4-FFF2-40B4-BE49-F238E27FC236}">
                  <a16:creationId xmlns:a16="http://schemas.microsoft.com/office/drawing/2014/main" id="{20198401-DBE6-4389-981E-DC859C9D8295}"/>
                </a:ext>
              </a:extLst>
            </p:cNvPr>
            <p:cNvSpPr>
              <a:spLocks noChangeArrowheads="1"/>
            </p:cNvSpPr>
            <p:nvPr/>
          </p:nvSpPr>
          <p:spPr bwMode="auto">
            <a:xfrm>
              <a:off x="1728" y="0"/>
              <a:ext cx="1104" cy="336"/>
            </a:xfrm>
            <a:prstGeom prst="rect">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zh-CN" altLang="zh-CN" sz="2000">
                  <a:solidFill>
                    <a:srgbClr val="0E0900"/>
                  </a:solidFill>
                  <a:latin typeface="黑体" pitchFamily="49" charset="-122"/>
                  <a:ea typeface="黑体" pitchFamily="49" charset="-122"/>
                  <a:cs typeface="+mn-cs"/>
                </a:rPr>
                <a:t>敬业</a:t>
              </a:r>
            </a:p>
          </p:txBody>
        </p:sp>
        <p:sp>
          <p:nvSpPr>
            <p:cNvPr id="20" name="AutoShape 21">
              <a:extLst>
                <a:ext uri="{FF2B5EF4-FFF2-40B4-BE49-F238E27FC236}">
                  <a16:creationId xmlns:a16="http://schemas.microsoft.com/office/drawing/2014/main" id="{BB43D7E1-E5D2-409D-BF1D-6D6AE92E6B91}"/>
                </a:ext>
              </a:extLst>
            </p:cNvPr>
            <p:cNvSpPr>
              <a:spLocks noChangeArrowheads="1"/>
            </p:cNvSpPr>
            <p:nvPr/>
          </p:nvSpPr>
          <p:spPr bwMode="auto">
            <a:xfrm>
              <a:off x="0" y="0"/>
              <a:ext cx="336" cy="288"/>
            </a:xfrm>
            <a:prstGeom prst="rightArrow">
              <a:avLst>
                <a:gd name="adj1" fmla="val 50000"/>
                <a:gd name="adj2" fmla="val 29167"/>
              </a:avLst>
            </a:prstGeom>
            <a:noFill/>
            <a:ln w="9525" cap="flat" cmpd="sng">
              <a:solidFill>
                <a:srgbClr val="99CCFF"/>
              </a:solidFill>
              <a:miter lim="800000"/>
            </a:ln>
            <a:effectLst/>
            <a:extLst>
              <a:ext uri="{909E8E84-426E-40DD-AFC4-6F175D3DCCD1}">
                <a14:hiddenFill xmlns:a14="http://schemas.microsoft.com/office/drawing/2010/main">
                  <a:gradFill rotWithShape="0">
                    <a:gsLst>
                      <a:gs pos="0">
                        <a:schemeClr val="accent1"/>
                      </a:gs>
                      <a:gs pos="50000">
                        <a:schemeClr val="bg1"/>
                      </a:gs>
                      <a:gs pos="100000">
                        <a:schemeClr val="accent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434547"/>
                </a:solidFill>
                <a:cs typeface="+mn-cs"/>
              </a:endParaRPr>
            </a:p>
          </p:txBody>
        </p:sp>
      </p:grpSp>
      <p:pic>
        <p:nvPicPr>
          <p:cNvPr id="21" name="Picture 22" descr="PE01562_">
            <a:extLst>
              <a:ext uri="{FF2B5EF4-FFF2-40B4-BE49-F238E27FC236}">
                <a16:creationId xmlns:a16="http://schemas.microsoft.com/office/drawing/2014/main" id="{E2B85697-62E6-452B-921B-48837CF3AD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2624" y="3440549"/>
            <a:ext cx="3352800"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 21">
            <a:extLst>
              <a:ext uri="{FF2B5EF4-FFF2-40B4-BE49-F238E27FC236}">
                <a16:creationId xmlns:a16="http://schemas.microsoft.com/office/drawing/2014/main" id="{F29C09EB-FFD6-411F-A4BA-75AF4E52BFDC}"/>
              </a:ext>
            </a:extLst>
          </p:cNvPr>
          <p:cNvSpPr/>
          <p:nvPr/>
        </p:nvSpPr>
        <p:spPr>
          <a:xfrm>
            <a:off x="5899168" y="1185466"/>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软件测试人员</a:t>
            </a:r>
            <a:endParaRPr lang="en-US" altLang="zh-CN" sz="32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4656519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16EC078-4DF9-46E4-A78C-6B1F9FDEA2C7}"/>
              </a:ext>
            </a:extLst>
          </p:cNvPr>
          <p:cNvSpPr/>
          <p:nvPr/>
        </p:nvSpPr>
        <p:spPr>
          <a:xfrm>
            <a:off x="7472507" y="554753"/>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pic>
        <p:nvPicPr>
          <p:cNvPr id="3" name="图片 1">
            <a:extLst>
              <a:ext uri="{FF2B5EF4-FFF2-40B4-BE49-F238E27FC236}">
                <a16:creationId xmlns:a16="http://schemas.microsoft.com/office/drawing/2014/main" id="{D37091FC-AEAE-4572-82CC-BA621D51E4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7039" y="1708747"/>
            <a:ext cx="325437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1A87A9C-A2F2-47B6-B03A-97C1D3831E9D}"/>
              </a:ext>
            </a:extLst>
          </p:cNvPr>
          <p:cNvSpPr>
            <a:spLocks noGrp="1" noChangeArrowheads="1"/>
          </p:cNvSpPr>
          <p:nvPr>
            <p:ph idx="1"/>
          </p:nvPr>
        </p:nvSpPr>
        <p:spPr>
          <a:xfrm>
            <a:off x="2588514" y="2035772"/>
            <a:ext cx="5327650" cy="4537075"/>
          </a:xfrm>
        </p:spPr>
        <p:txBody>
          <a:bodyPr/>
          <a:lstStyle/>
          <a:p>
            <a:pPr eaLnBrk="1" hangingPunct="1">
              <a:lnSpc>
                <a:spcPct val="90000"/>
              </a:lnSpc>
            </a:pPr>
            <a:r>
              <a:rPr lang="zh-CN" altLang="en-US" dirty="0">
                <a:ea typeface="宋体" panose="02010600030101010101" pitchFamily="2" charset="-122"/>
              </a:rPr>
              <a:t>他们是群探索者</a:t>
            </a:r>
          </a:p>
          <a:p>
            <a:pPr eaLnBrk="1" hangingPunct="1">
              <a:lnSpc>
                <a:spcPct val="90000"/>
              </a:lnSpc>
            </a:pPr>
            <a:r>
              <a:rPr lang="zh-CN" altLang="en-US" dirty="0">
                <a:ea typeface="宋体" panose="02010600030101010101" pitchFamily="2" charset="-122"/>
              </a:rPr>
              <a:t>他们是故障排除员</a:t>
            </a:r>
          </a:p>
          <a:p>
            <a:pPr eaLnBrk="1" hangingPunct="1">
              <a:lnSpc>
                <a:spcPct val="90000"/>
              </a:lnSpc>
            </a:pPr>
            <a:r>
              <a:rPr lang="zh-CN" altLang="en-US" dirty="0">
                <a:ea typeface="宋体" panose="02010600030101010101" pitchFamily="2" charset="-122"/>
              </a:rPr>
              <a:t>他们不放过任何蛛丝马迹</a:t>
            </a:r>
          </a:p>
          <a:p>
            <a:pPr eaLnBrk="1" hangingPunct="1">
              <a:lnSpc>
                <a:spcPct val="90000"/>
              </a:lnSpc>
            </a:pPr>
            <a:r>
              <a:rPr lang="zh-CN" altLang="en-US" dirty="0">
                <a:ea typeface="宋体" panose="02010600030101010101" pitchFamily="2" charset="-122"/>
              </a:rPr>
              <a:t>他们具有创造性</a:t>
            </a:r>
          </a:p>
          <a:p>
            <a:pPr eaLnBrk="1" hangingPunct="1">
              <a:lnSpc>
                <a:spcPct val="90000"/>
              </a:lnSpc>
            </a:pPr>
            <a:r>
              <a:rPr lang="zh-CN" altLang="en-US" dirty="0">
                <a:ea typeface="宋体" panose="02010600030101010101" pitchFamily="2" charset="-122"/>
              </a:rPr>
              <a:t>他们是群追求完美者</a:t>
            </a:r>
          </a:p>
          <a:p>
            <a:pPr eaLnBrk="1" hangingPunct="1">
              <a:lnSpc>
                <a:spcPct val="90000"/>
              </a:lnSpc>
            </a:pPr>
            <a:r>
              <a:rPr lang="zh-CN" altLang="en-US" dirty="0">
                <a:ea typeface="宋体" panose="02010600030101010101" pitchFamily="2" charset="-122"/>
              </a:rPr>
              <a:t>他们判断准确</a:t>
            </a:r>
          </a:p>
          <a:p>
            <a:pPr eaLnBrk="1" hangingPunct="1">
              <a:lnSpc>
                <a:spcPct val="90000"/>
              </a:lnSpc>
            </a:pPr>
            <a:r>
              <a:rPr lang="zh-CN" altLang="en-US" dirty="0">
                <a:ea typeface="宋体" panose="02010600030101010101" pitchFamily="2" charset="-122"/>
              </a:rPr>
              <a:t>他们注重策略和外交</a:t>
            </a:r>
          </a:p>
          <a:p>
            <a:pPr eaLnBrk="1" hangingPunct="1">
              <a:lnSpc>
                <a:spcPct val="90000"/>
              </a:lnSpc>
            </a:pPr>
            <a:r>
              <a:rPr lang="zh-CN" altLang="en-US" dirty="0">
                <a:ea typeface="宋体" panose="02010600030101010101" pitchFamily="2" charset="-122"/>
              </a:rPr>
              <a:t>他们善于说服</a:t>
            </a:r>
          </a:p>
        </p:txBody>
      </p:sp>
      <p:sp>
        <p:nvSpPr>
          <p:cNvPr id="5" name="矩形 4">
            <a:extLst>
              <a:ext uri="{FF2B5EF4-FFF2-40B4-BE49-F238E27FC236}">
                <a16:creationId xmlns:a16="http://schemas.microsoft.com/office/drawing/2014/main" id="{6167E4CE-44B5-403B-B686-7A257DA850CD}"/>
              </a:ext>
            </a:extLst>
          </p:cNvPr>
          <p:cNvSpPr/>
          <p:nvPr/>
        </p:nvSpPr>
        <p:spPr>
          <a:xfrm>
            <a:off x="5379051" y="1453913"/>
            <a:ext cx="2646878" cy="584775"/>
          </a:xfrm>
          <a:prstGeom prst="rect">
            <a:avLst/>
          </a:prstGeom>
        </p:spPr>
        <p:txBody>
          <a:bodyPr wrap="none">
            <a:spAutoFit/>
          </a:bodyPr>
          <a:lstStyle/>
          <a:p>
            <a:r>
              <a:rPr lang="zh-CN" altLang="en-US" sz="3200" b="1" dirty="0">
                <a:latin typeface="华文仿宋" panose="02010600040101010101" pitchFamily="2" charset="-122"/>
                <a:ea typeface="华文仿宋" panose="02010600040101010101" pitchFamily="2" charset="-122"/>
              </a:rPr>
              <a:t>软件测试人员</a:t>
            </a:r>
            <a:endParaRPr lang="en-US" altLang="zh-CN" sz="32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7409801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E094BCF-7025-4850-83BA-4C76CA843F0D}"/>
              </a:ext>
            </a:extLst>
          </p:cNvPr>
          <p:cNvSpPr/>
          <p:nvPr/>
        </p:nvSpPr>
        <p:spPr>
          <a:xfrm>
            <a:off x="7430562" y="277917"/>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sp>
        <p:nvSpPr>
          <p:cNvPr id="3" name="Rectangle 3">
            <a:extLst>
              <a:ext uri="{FF2B5EF4-FFF2-40B4-BE49-F238E27FC236}">
                <a16:creationId xmlns:a16="http://schemas.microsoft.com/office/drawing/2014/main" id="{F31F36D0-3B26-4B60-B8C5-06B3C5922A7D}"/>
              </a:ext>
            </a:extLst>
          </p:cNvPr>
          <p:cNvSpPr>
            <a:spLocks noGrp="1" noChangeArrowheads="1"/>
          </p:cNvSpPr>
          <p:nvPr>
            <p:ph idx="1"/>
          </p:nvPr>
        </p:nvSpPr>
        <p:spPr>
          <a:xfrm>
            <a:off x="2265264" y="1256651"/>
            <a:ext cx="8229600" cy="719137"/>
          </a:xfrm>
          <a:ln>
            <a:miter/>
          </a:ln>
        </p:spPr>
        <p:txBody>
          <a:bodyPr/>
          <a:lstStyle/>
          <a:p>
            <a:pPr algn="ctr" eaLnBrk="1" hangingPunct="1">
              <a:buFontTx/>
              <a:buNone/>
              <a:defRPr/>
            </a:pPr>
            <a:r>
              <a:rPr lang="en-US" altLang="zh-CN" b="1" i="1" dirty="0">
                <a:solidFill>
                  <a:srgbClr val="FF0066"/>
                </a:solidFill>
                <a:effectLst>
                  <a:outerShdw blurRad="38100" dist="38100" dir="2700000" algn="tl">
                    <a:srgbClr val="C0C0C0"/>
                  </a:outerShdw>
                </a:effectLst>
                <a:cs typeface="+mn-cs"/>
              </a:rPr>
              <a:t>Enjoy your work, enjoy testing</a:t>
            </a:r>
          </a:p>
        </p:txBody>
      </p:sp>
      <p:sp>
        <p:nvSpPr>
          <p:cNvPr id="4" name="矩形 3">
            <a:extLst>
              <a:ext uri="{FF2B5EF4-FFF2-40B4-BE49-F238E27FC236}">
                <a16:creationId xmlns:a16="http://schemas.microsoft.com/office/drawing/2014/main" id="{C6E56EDF-A739-4C54-97F0-9B729F80FCCA}"/>
              </a:ext>
            </a:extLst>
          </p:cNvPr>
          <p:cNvSpPr/>
          <p:nvPr/>
        </p:nvSpPr>
        <p:spPr>
          <a:xfrm>
            <a:off x="4333776" y="5376213"/>
            <a:ext cx="4572000" cy="1176338"/>
          </a:xfrm>
          <a:prstGeom prst="rect">
            <a:avLst/>
          </a:prstGeom>
        </p:spPr>
        <p:txBody>
          <a:bodyPr>
            <a:spAutoFit/>
          </a:bodyPr>
          <a:lstStyle/>
          <a:p>
            <a:pPr marL="342900" indent="-342900">
              <a:spcBef>
                <a:spcPct val="20000"/>
              </a:spcBef>
              <a:buFont typeface="Wingdings" pitchFamily="2" charset="2"/>
              <a:buChar char="¦"/>
              <a:defRPr/>
            </a:pPr>
            <a:r>
              <a:rPr lang="zh-CN" altLang="en-US" sz="3200" kern="0" dirty="0">
                <a:solidFill>
                  <a:srgbClr val="1D528D"/>
                </a:solidFill>
                <a:latin typeface="Arial"/>
                <a:ea typeface="+mn-ea"/>
                <a:cs typeface="+mn-cs"/>
              </a:rPr>
              <a:t>做一个好的倾听者</a:t>
            </a:r>
          </a:p>
          <a:p>
            <a:pPr marL="342900" indent="-342900">
              <a:spcBef>
                <a:spcPct val="20000"/>
              </a:spcBef>
              <a:buFont typeface="Wingdings" pitchFamily="2" charset="2"/>
              <a:buChar char="¦"/>
              <a:defRPr/>
            </a:pPr>
            <a:r>
              <a:rPr lang="zh-CN" altLang="en-US" sz="3200" kern="0" dirty="0">
                <a:solidFill>
                  <a:srgbClr val="1D528D"/>
                </a:solidFill>
                <a:latin typeface="Arial"/>
                <a:ea typeface="+mn-ea"/>
                <a:cs typeface="+mn-cs"/>
              </a:rPr>
              <a:t>做一个好的学习者</a:t>
            </a:r>
          </a:p>
        </p:txBody>
      </p:sp>
      <p:pic>
        <p:nvPicPr>
          <p:cNvPr id="5" name="图片 1">
            <a:extLst>
              <a:ext uri="{FF2B5EF4-FFF2-40B4-BE49-F238E27FC236}">
                <a16:creationId xmlns:a16="http://schemas.microsoft.com/office/drawing/2014/main" id="{8E55F0A2-05A6-4D6B-BE57-F863CFDC2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226" y="1959913"/>
            <a:ext cx="7561263"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81675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478CAE2-E5B9-490E-91EF-2644DA5429A1}"/>
              </a:ext>
            </a:extLst>
          </p:cNvPr>
          <p:cNvSpPr/>
          <p:nvPr/>
        </p:nvSpPr>
        <p:spPr>
          <a:xfrm>
            <a:off x="7891956" y="244361"/>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04  </a:t>
            </a:r>
            <a:r>
              <a:rPr lang="zh-CN" altLang="en-US" sz="2400" b="1" kern="100" dirty="0">
                <a:latin typeface="+mj-ea"/>
                <a:cs typeface="Times New Roman" panose="02020603050405020304" pitchFamily="18" charset="0"/>
              </a:rPr>
              <a:t>软件测试那些事</a:t>
            </a:r>
            <a:endParaRPr lang="zh-CN" altLang="zh-CN" sz="2400" b="1" kern="100" dirty="0">
              <a:latin typeface="+mj-ea"/>
              <a:cs typeface="Times New Roman" panose="02020603050405020304" pitchFamily="18" charset="0"/>
            </a:endParaRPr>
          </a:p>
        </p:txBody>
      </p:sp>
      <p:pic>
        <p:nvPicPr>
          <p:cNvPr id="3" name="Picture 3">
            <a:extLst>
              <a:ext uri="{FF2B5EF4-FFF2-40B4-BE49-F238E27FC236}">
                <a16:creationId xmlns:a16="http://schemas.microsoft.com/office/drawing/2014/main" id="{78F42AFD-F2A9-4D69-B02E-019EAAC96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8675" y="1450107"/>
            <a:ext cx="3673475" cy="4764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a:extLst>
              <a:ext uri="{FF2B5EF4-FFF2-40B4-BE49-F238E27FC236}">
                <a16:creationId xmlns:a16="http://schemas.microsoft.com/office/drawing/2014/main" id="{60C1E6DC-8D0A-48A3-A734-028E746735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4165" y="1450107"/>
            <a:ext cx="3308350" cy="4918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9D63B306-0E79-436D-B595-91B50C590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7285"/>
          <a:stretch>
            <a:fillRect/>
          </a:stretch>
        </p:blipFill>
        <p:spPr bwMode="auto">
          <a:xfrm>
            <a:off x="8154638" y="1358667"/>
            <a:ext cx="3313112" cy="507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a16="http://schemas.microsoft.com/office/drawing/2014/main" id="{04ACBEBD-CA58-4E4B-A10B-65A0146E6E3E}"/>
              </a:ext>
            </a:extLst>
          </p:cNvPr>
          <p:cNvSpPr>
            <a:spLocks noChangeArrowheads="1"/>
          </p:cNvSpPr>
          <p:nvPr/>
        </p:nvSpPr>
        <p:spPr bwMode="auto">
          <a:xfrm>
            <a:off x="2978594" y="937345"/>
            <a:ext cx="822960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spcBef>
                <a:spcPct val="20000"/>
              </a:spcBef>
            </a:pPr>
            <a:r>
              <a:rPr lang="en-US" altLang="zh-CN" sz="3600" b="1" i="1" dirty="0">
                <a:solidFill>
                  <a:srgbClr val="FF0066"/>
                </a:solidFill>
                <a:latin typeface="Calibri" panose="020F0502020204030204" pitchFamily="34" charset="0"/>
                <a:sym typeface="Calibri" panose="020F0502020204030204" pitchFamily="34" charset="0"/>
              </a:rPr>
              <a:t>Enjoy your work, enjoy testing</a:t>
            </a:r>
          </a:p>
        </p:txBody>
      </p:sp>
    </p:spTree>
    <p:extLst>
      <p:ext uri="{BB962C8B-B14F-4D97-AF65-F5344CB8AC3E}">
        <p14:creationId xmlns:p14="http://schemas.microsoft.com/office/powerpoint/2010/main" val="233371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to="" calcmode="lin" valueType="num">
                                      <p:cBhvr>
                                        <p:cTn id="17" dur="1" fill="hold"/>
                                        <p:tgtEl>
                                          <p:spTgt spid="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21">
            <a:extLst>
              <a:ext uri="{FF2B5EF4-FFF2-40B4-BE49-F238E27FC236}">
                <a16:creationId xmlns:a16="http://schemas.microsoft.com/office/drawing/2014/main" id="{F27B9EFC-83FD-42CB-AEBE-E48B37BD83F3}"/>
              </a:ext>
            </a:extLst>
          </p:cNvPr>
          <p:cNvSpPr/>
          <p:nvPr/>
        </p:nvSpPr>
        <p:spPr bwMode="auto">
          <a:xfrm rot="8100000" flipV="1">
            <a:off x="4419640" y="1704430"/>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3" name="文本框 2">
            <a:extLst>
              <a:ext uri="{FF2B5EF4-FFF2-40B4-BE49-F238E27FC236}">
                <a16:creationId xmlns:a16="http://schemas.microsoft.com/office/drawing/2014/main" id="{B0E96905-C029-4B8F-AD31-2FA9B298E245}"/>
              </a:ext>
            </a:extLst>
          </p:cNvPr>
          <p:cNvSpPr txBox="1">
            <a:spLocks noChangeArrowheads="1"/>
          </p:cNvSpPr>
          <p:nvPr/>
        </p:nvSpPr>
        <p:spPr bwMode="auto">
          <a:xfrm>
            <a:off x="4495513" y="1740331"/>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4" name="任意多边形 23">
            <a:extLst>
              <a:ext uri="{FF2B5EF4-FFF2-40B4-BE49-F238E27FC236}">
                <a16:creationId xmlns:a16="http://schemas.microsoft.com/office/drawing/2014/main" id="{51F75BCF-A4D9-4B59-AC61-F10E8F9D9E59}"/>
              </a:ext>
            </a:extLst>
          </p:cNvPr>
          <p:cNvSpPr/>
          <p:nvPr/>
        </p:nvSpPr>
        <p:spPr bwMode="auto">
          <a:xfrm rot="8100000" flipV="1">
            <a:off x="4398038" y="5887055"/>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5" name="文本框 42">
            <a:extLst>
              <a:ext uri="{FF2B5EF4-FFF2-40B4-BE49-F238E27FC236}">
                <a16:creationId xmlns:a16="http://schemas.microsoft.com/office/drawing/2014/main" id="{B16892CE-D8E7-4046-984C-7986E44808EC}"/>
              </a:ext>
            </a:extLst>
          </p:cNvPr>
          <p:cNvSpPr txBox="1">
            <a:spLocks noChangeArrowheads="1"/>
          </p:cNvSpPr>
          <p:nvPr/>
        </p:nvSpPr>
        <p:spPr bwMode="auto">
          <a:xfrm>
            <a:off x="4455621" y="5931813"/>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6" name="任意多边形 25">
            <a:extLst>
              <a:ext uri="{FF2B5EF4-FFF2-40B4-BE49-F238E27FC236}">
                <a16:creationId xmlns:a16="http://schemas.microsoft.com/office/drawing/2014/main" id="{E28804F3-568A-41F7-BC65-6EC44C48C4F0}"/>
              </a:ext>
            </a:extLst>
          </p:cNvPr>
          <p:cNvSpPr/>
          <p:nvPr/>
        </p:nvSpPr>
        <p:spPr bwMode="auto">
          <a:xfrm rot="8100000" flipV="1">
            <a:off x="4397526" y="4886562"/>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7" name="文本框 45">
            <a:extLst>
              <a:ext uri="{FF2B5EF4-FFF2-40B4-BE49-F238E27FC236}">
                <a16:creationId xmlns:a16="http://schemas.microsoft.com/office/drawing/2014/main" id="{D7E337A1-F1C0-4E88-BA87-80C1C970ECD7}"/>
              </a:ext>
            </a:extLst>
          </p:cNvPr>
          <p:cNvSpPr txBox="1">
            <a:spLocks noChangeArrowheads="1"/>
          </p:cNvSpPr>
          <p:nvPr/>
        </p:nvSpPr>
        <p:spPr bwMode="auto">
          <a:xfrm>
            <a:off x="4455109" y="4888047"/>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8" name="任意多边形 27">
            <a:extLst>
              <a:ext uri="{FF2B5EF4-FFF2-40B4-BE49-F238E27FC236}">
                <a16:creationId xmlns:a16="http://schemas.microsoft.com/office/drawing/2014/main" id="{2283F3CE-ED06-4D12-B57D-71B9C969AC8D}"/>
              </a:ext>
            </a:extLst>
          </p:cNvPr>
          <p:cNvSpPr/>
          <p:nvPr/>
        </p:nvSpPr>
        <p:spPr bwMode="auto">
          <a:xfrm rot="8100000" flipV="1">
            <a:off x="4396887" y="3833429"/>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9" name="文本框 48">
            <a:extLst>
              <a:ext uri="{FF2B5EF4-FFF2-40B4-BE49-F238E27FC236}">
                <a16:creationId xmlns:a16="http://schemas.microsoft.com/office/drawing/2014/main" id="{3AE3D5D1-FB76-4289-A094-152F7012DBA5}"/>
              </a:ext>
            </a:extLst>
          </p:cNvPr>
          <p:cNvSpPr txBox="1">
            <a:spLocks noChangeArrowheads="1"/>
          </p:cNvSpPr>
          <p:nvPr/>
        </p:nvSpPr>
        <p:spPr bwMode="auto">
          <a:xfrm>
            <a:off x="4455091" y="3875465"/>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10" name="圆角矩形 29">
            <a:extLst>
              <a:ext uri="{FF2B5EF4-FFF2-40B4-BE49-F238E27FC236}">
                <a16:creationId xmlns:a16="http://schemas.microsoft.com/office/drawing/2014/main" id="{B962CE1F-A289-4D17-BD51-4CFE6B64D3EE}"/>
              </a:ext>
            </a:extLst>
          </p:cNvPr>
          <p:cNvSpPr/>
          <p:nvPr/>
        </p:nvSpPr>
        <p:spPr>
          <a:xfrm>
            <a:off x="5518598" y="3807332"/>
            <a:ext cx="437173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en-US" altLang="zh-CN" sz="2000" b="1" kern="100" dirty="0">
                <a:solidFill>
                  <a:schemeClr val="bg1"/>
                </a:solidFill>
                <a:latin typeface="+mj-ea"/>
                <a:ea typeface="+mj-ea"/>
                <a:cs typeface="Times New Roman" panose="02020603050405020304" pitchFamily="18" charset="0"/>
              </a:rPr>
              <a:t>Google</a:t>
            </a:r>
            <a:r>
              <a:rPr lang="zh-CN" altLang="en-US" sz="2000" b="1" kern="100" dirty="0">
                <a:solidFill>
                  <a:schemeClr val="bg1"/>
                </a:solidFill>
                <a:latin typeface="+mj-ea"/>
                <a:ea typeface="+mj-ea"/>
                <a:cs typeface="Times New Roman" panose="02020603050405020304" pitchFamily="18" charset="0"/>
              </a:rPr>
              <a:t>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体会现实</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1" name="圆角矩形 30">
            <a:extLst>
              <a:ext uri="{FF2B5EF4-FFF2-40B4-BE49-F238E27FC236}">
                <a16:creationId xmlns:a16="http://schemas.microsoft.com/office/drawing/2014/main" id="{205ADFA3-2421-4E4A-8C8A-42BE1E0F866B}"/>
              </a:ext>
            </a:extLst>
          </p:cNvPr>
          <p:cNvSpPr/>
          <p:nvPr/>
        </p:nvSpPr>
        <p:spPr>
          <a:xfrm>
            <a:off x="5518598" y="4840778"/>
            <a:ext cx="4372249" cy="55373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软件测试那些事</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
        <p:nvSpPr>
          <p:cNvPr id="12" name="圆角矩形 31">
            <a:extLst>
              <a:ext uri="{FF2B5EF4-FFF2-40B4-BE49-F238E27FC236}">
                <a16:creationId xmlns:a16="http://schemas.microsoft.com/office/drawing/2014/main" id="{DD65DDC7-ED54-42BE-8989-8ED2603AD1D3}"/>
              </a:ext>
            </a:extLst>
          </p:cNvPr>
          <p:cNvSpPr/>
          <p:nvPr/>
        </p:nvSpPr>
        <p:spPr>
          <a:xfrm>
            <a:off x="5519110" y="5813916"/>
            <a:ext cx="4371737" cy="565386"/>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ea typeface="+mj-ea"/>
                <a:cs typeface="Times New Roman" panose="02020603050405020304" pitchFamily="18" charset="0"/>
              </a:rPr>
              <a:t>软件测试与维护</a:t>
            </a:r>
            <a:endParaRPr lang="zh-CN" altLang="en-US" sz="2000" dirty="0">
              <a:solidFill>
                <a:schemeClr val="bg1"/>
              </a:solidFill>
              <a:latin typeface="+mj-ea"/>
              <a:ea typeface="+mj-ea"/>
              <a:cs typeface="Arial Unicode MS" panose="020B0604020202020204" pitchFamily="34" charset="-122"/>
            </a:endParaRPr>
          </a:p>
        </p:txBody>
      </p:sp>
      <p:pic>
        <p:nvPicPr>
          <p:cNvPr id="13" name="Picture 3">
            <a:extLst>
              <a:ext uri="{FF2B5EF4-FFF2-40B4-BE49-F238E27FC236}">
                <a16:creationId xmlns:a16="http://schemas.microsoft.com/office/drawing/2014/main" id="{9CA0CDE4-9985-496B-B66C-C0F9677EC3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7064" y="1623579"/>
            <a:ext cx="2377834" cy="4856464"/>
          </a:xfrm>
          <a:prstGeom prst="rect">
            <a:avLst/>
          </a:prstGeom>
          <a:solidFill>
            <a:srgbClr val="7030A0"/>
          </a:solidFill>
          <a:ln>
            <a:noFill/>
          </a:ln>
        </p:spPr>
      </p:pic>
      <p:grpSp>
        <p:nvGrpSpPr>
          <p:cNvPr id="14" name="组合 13">
            <a:extLst>
              <a:ext uri="{FF2B5EF4-FFF2-40B4-BE49-F238E27FC236}">
                <a16:creationId xmlns:a16="http://schemas.microsoft.com/office/drawing/2014/main" id="{DA2FB96F-E512-4D36-B758-C71B96A0041D}"/>
              </a:ext>
            </a:extLst>
          </p:cNvPr>
          <p:cNvGrpSpPr/>
          <p:nvPr/>
        </p:nvGrpSpPr>
        <p:grpSpPr>
          <a:xfrm>
            <a:off x="2386709" y="1753449"/>
            <a:ext cx="1608190" cy="1498822"/>
            <a:chOff x="346473" y="496025"/>
            <a:chExt cx="1344215" cy="1252800"/>
          </a:xfrm>
          <a:solidFill>
            <a:srgbClr val="7030A0"/>
          </a:solidFill>
        </p:grpSpPr>
        <p:sp>
          <p:nvSpPr>
            <p:cNvPr id="15" name="六边形 19">
              <a:extLst>
                <a:ext uri="{FF2B5EF4-FFF2-40B4-BE49-F238E27FC236}">
                  <a16:creationId xmlns:a16="http://schemas.microsoft.com/office/drawing/2014/main" id="{19E8B866-71AF-4370-B3C4-C94B003F68D7}"/>
                </a:ext>
              </a:extLst>
            </p:cNvPr>
            <p:cNvSpPr>
              <a:spLocks noChangeArrowheads="1"/>
            </p:cNvSpPr>
            <p:nvPr/>
          </p:nvSpPr>
          <p:spPr bwMode="auto">
            <a:xfrm rot="16200000">
              <a:off x="392180" y="496751"/>
              <a:ext cx="1252800" cy="1251347"/>
            </a:xfrm>
            <a:prstGeom prst="chord">
              <a:avLst>
                <a:gd name="adj1" fmla="val 21039823"/>
                <a:gd name="adj2" fmla="val 16726182"/>
              </a:avLst>
            </a:prstGeom>
            <a:grp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16" name="矩形 24">
              <a:extLst>
                <a:ext uri="{FF2B5EF4-FFF2-40B4-BE49-F238E27FC236}">
                  <a16:creationId xmlns:a16="http://schemas.microsoft.com/office/drawing/2014/main" id="{E78CC5DD-195A-4179-8566-A410D8C26CC5}"/>
                </a:ext>
              </a:extLst>
            </p:cNvPr>
            <p:cNvSpPr>
              <a:spLocks noChangeArrowheads="1"/>
            </p:cNvSpPr>
            <p:nvPr/>
          </p:nvSpPr>
          <p:spPr bwMode="auto">
            <a:xfrm>
              <a:off x="346473" y="846473"/>
              <a:ext cx="1344215" cy="544367"/>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grpSp>
      <p:sp>
        <p:nvSpPr>
          <p:cNvPr id="17" name="TextBox 4">
            <a:extLst>
              <a:ext uri="{FF2B5EF4-FFF2-40B4-BE49-F238E27FC236}">
                <a16:creationId xmlns:a16="http://schemas.microsoft.com/office/drawing/2014/main" id="{22898A53-8E74-4564-85AF-DB98212D1AF5}"/>
              </a:ext>
            </a:extLst>
          </p:cNvPr>
          <p:cNvSpPr txBox="1"/>
          <p:nvPr/>
        </p:nvSpPr>
        <p:spPr>
          <a:xfrm>
            <a:off x="7318471" y="363996"/>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sp>
        <p:nvSpPr>
          <p:cNvPr id="18" name="圆角矩形 37">
            <a:extLst>
              <a:ext uri="{FF2B5EF4-FFF2-40B4-BE49-F238E27FC236}">
                <a16:creationId xmlns:a16="http://schemas.microsoft.com/office/drawing/2014/main" id="{CFF65504-0056-44BC-BC58-4FE2570D8D30}"/>
              </a:ext>
            </a:extLst>
          </p:cNvPr>
          <p:cNvSpPr/>
          <p:nvPr/>
        </p:nvSpPr>
        <p:spPr>
          <a:xfrm>
            <a:off x="5541349" y="1678384"/>
            <a:ext cx="434949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mj-ea"/>
                <a:cs typeface="Times New Roman" panose="02020603050405020304" pitchFamily="18" charset="0"/>
              </a:rPr>
              <a:t>项目质量管理与软件测试维护</a:t>
            </a:r>
            <a:endParaRPr lang="zh-CN" altLang="en-US" sz="2000" dirty="0">
              <a:solidFill>
                <a:schemeClr val="bg1"/>
              </a:solidFill>
              <a:latin typeface="+mj-ea"/>
              <a:cs typeface="Arial Unicode MS" panose="020B0604020202020204" pitchFamily="34" charset="-122"/>
            </a:endParaRPr>
          </a:p>
        </p:txBody>
      </p:sp>
      <p:sp>
        <p:nvSpPr>
          <p:cNvPr id="19" name="任意多边形 38">
            <a:extLst>
              <a:ext uri="{FF2B5EF4-FFF2-40B4-BE49-F238E27FC236}">
                <a16:creationId xmlns:a16="http://schemas.microsoft.com/office/drawing/2014/main" id="{1C571803-7C93-49AD-AA6D-E0B985CCEC9C}"/>
              </a:ext>
            </a:extLst>
          </p:cNvPr>
          <p:cNvSpPr/>
          <p:nvPr/>
        </p:nvSpPr>
        <p:spPr bwMode="auto">
          <a:xfrm rot="8100000" flipV="1">
            <a:off x="4419638" y="2731098"/>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0" name="文本框 48">
            <a:extLst>
              <a:ext uri="{FF2B5EF4-FFF2-40B4-BE49-F238E27FC236}">
                <a16:creationId xmlns:a16="http://schemas.microsoft.com/office/drawing/2014/main" id="{B14A6FDA-FB19-4E6D-B7FF-8BCA80A52C3E}"/>
              </a:ext>
            </a:extLst>
          </p:cNvPr>
          <p:cNvSpPr txBox="1">
            <a:spLocks noChangeArrowheads="1"/>
          </p:cNvSpPr>
          <p:nvPr/>
        </p:nvSpPr>
        <p:spPr bwMode="auto">
          <a:xfrm>
            <a:off x="4477842" y="2773134"/>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21" name="圆角矩形 40">
            <a:extLst>
              <a:ext uri="{FF2B5EF4-FFF2-40B4-BE49-F238E27FC236}">
                <a16:creationId xmlns:a16="http://schemas.microsoft.com/office/drawing/2014/main" id="{55007955-CD04-4560-9B2B-854526EFFF11}"/>
              </a:ext>
            </a:extLst>
          </p:cNvPr>
          <p:cNvSpPr/>
          <p:nvPr/>
        </p:nvSpPr>
        <p:spPr>
          <a:xfrm>
            <a:off x="5541349" y="2705001"/>
            <a:ext cx="4371738"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zh-CN" altLang="en-US" sz="2000" b="1" kern="100" dirty="0">
                <a:solidFill>
                  <a:schemeClr val="bg1"/>
                </a:solidFill>
                <a:latin typeface="+mj-ea"/>
                <a:ea typeface="+mj-ea"/>
                <a:cs typeface="Times New Roman" panose="02020603050405020304" pitchFamily="18" charset="0"/>
              </a:rPr>
              <a:t> </a:t>
            </a:r>
            <a:endParaRPr lang="en-US" altLang="zh-CN" sz="2000" b="1" kern="100" dirty="0">
              <a:solidFill>
                <a:schemeClr val="bg1"/>
              </a:solidFill>
              <a:latin typeface="+mj-ea"/>
              <a:ea typeface="+mj-ea"/>
              <a:cs typeface="Times New Roman" panose="02020603050405020304" pitchFamily="18" charset="0"/>
            </a:endParaRPr>
          </a:p>
          <a:p>
            <a:pPr>
              <a:defRPr/>
            </a:pPr>
            <a:r>
              <a:rPr lang="zh-CN" altLang="en-US" sz="2000" b="1" kern="100" dirty="0">
                <a:solidFill>
                  <a:schemeClr val="bg1"/>
                </a:solidFill>
                <a:latin typeface="+mj-ea"/>
                <a:ea typeface="+mj-ea"/>
                <a:cs typeface="Times New Roman" panose="02020603050405020304" pitchFamily="18" charset="0"/>
              </a:rPr>
              <a:t>微软软件测试之道</a:t>
            </a:r>
            <a:r>
              <a:rPr lang="en-US" altLang="zh-CN" sz="2000" b="1" kern="100" dirty="0">
                <a:solidFill>
                  <a:schemeClr val="bg1"/>
                </a:solidFill>
                <a:latin typeface="+mj-ea"/>
                <a:ea typeface="+mj-ea"/>
                <a:cs typeface="Times New Roman" panose="02020603050405020304" pitchFamily="18" charset="0"/>
              </a:rPr>
              <a:t>-</a:t>
            </a:r>
            <a:r>
              <a:rPr lang="zh-CN" altLang="en-US" sz="2000" b="1" kern="100" dirty="0">
                <a:solidFill>
                  <a:schemeClr val="bg1"/>
                </a:solidFill>
                <a:latin typeface="+mj-ea"/>
                <a:ea typeface="+mj-ea"/>
                <a:cs typeface="Times New Roman" panose="02020603050405020304" pitchFamily="18" charset="0"/>
              </a:rPr>
              <a:t>追寻经典</a:t>
            </a:r>
            <a:endParaRPr lang="zh-CN" altLang="zh-CN" sz="2000" b="1" kern="100" dirty="0">
              <a:solidFill>
                <a:schemeClr val="bg1"/>
              </a:solidFill>
              <a:latin typeface="+mj-ea"/>
              <a:ea typeface="+mj-ea"/>
              <a:cs typeface="Times New Roman" panose="02020603050405020304" pitchFamily="18" charset="0"/>
            </a:endParaRPr>
          </a:p>
          <a:p>
            <a:pPr algn="ctr">
              <a:defRPr/>
            </a:pPr>
            <a:endParaRPr lang="zh-CN" altLang="en-US" sz="2000" dirty="0">
              <a:solidFill>
                <a:schemeClr val="bg1"/>
              </a:solidFill>
              <a:latin typeface="+mj-ea"/>
              <a:ea typeface="+mj-ea"/>
              <a:cs typeface="Arial Unicode MS" panose="020B0604020202020204" pitchFamily="34" charset="-122"/>
            </a:endParaRPr>
          </a:p>
        </p:txBody>
      </p:sp>
    </p:spTree>
    <p:extLst>
      <p:ext uri="{BB962C8B-B14F-4D97-AF65-F5344CB8AC3E}">
        <p14:creationId xmlns:p14="http://schemas.microsoft.com/office/powerpoint/2010/main" val="29848133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44C3489-F7FD-4D96-A032-23148649D529}"/>
              </a:ext>
            </a:extLst>
          </p:cNvPr>
          <p:cNvSpPr/>
          <p:nvPr/>
        </p:nvSpPr>
        <p:spPr>
          <a:xfrm>
            <a:off x="8428852" y="319861"/>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5" name="Rectangle 3">
            <a:extLst>
              <a:ext uri="{FF2B5EF4-FFF2-40B4-BE49-F238E27FC236}">
                <a16:creationId xmlns:a16="http://schemas.microsoft.com/office/drawing/2014/main" id="{2E8CDCFC-CB8C-4851-8191-FEF9BD10CDD3}"/>
              </a:ext>
            </a:extLst>
          </p:cNvPr>
          <p:cNvSpPr>
            <a:spLocks noChangeArrowheads="1"/>
          </p:cNvSpPr>
          <p:nvPr/>
        </p:nvSpPr>
        <p:spPr bwMode="auto">
          <a:xfrm>
            <a:off x="989901" y="1439661"/>
            <a:ext cx="10263019" cy="417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SzPct val="60000"/>
              <a:buFont typeface="Wingdings" panose="05000000000000000000" pitchFamily="2" charset="2"/>
              <a:buChar char="n"/>
            </a:pPr>
            <a:r>
              <a:rPr kumimoji="1" lang="zh-CN" altLang="en-US" sz="2400" dirty="0">
                <a:latin typeface="楷体_GB2312" pitchFamily="49" charset="-122"/>
              </a:rPr>
              <a:t> </a:t>
            </a:r>
            <a:r>
              <a:rPr kumimoji="1" lang="zh-CN" altLang="en-US" sz="2400" dirty="0">
                <a:solidFill>
                  <a:schemeClr val="folHlink"/>
                </a:solidFill>
                <a:latin typeface="楷体_GB2312" pitchFamily="49" charset="-122"/>
              </a:rPr>
              <a:t>软件测试</a:t>
            </a:r>
          </a:p>
          <a:p>
            <a:pPr lvl="1">
              <a:spcBef>
                <a:spcPct val="50000"/>
              </a:spcBef>
              <a:buClr>
                <a:schemeClr val="hlink"/>
              </a:buClr>
              <a:buSzPct val="55000"/>
              <a:buFont typeface="Wingdings" panose="05000000000000000000" pitchFamily="2" charset="2"/>
              <a:buChar char="n"/>
            </a:pPr>
            <a:r>
              <a:rPr kumimoji="1" lang="zh-CN" altLang="en-US" dirty="0">
                <a:latin typeface="楷体_GB2312" pitchFamily="49" charset="-122"/>
              </a:rPr>
              <a:t> 软件测试的根本目标：尽可能多地发现并排除软件中潜藏的错误，最终把一个高质量的软件系统交给用户使用,测试目标决定了测试方案和测试用例的设计；</a:t>
            </a:r>
          </a:p>
          <a:p>
            <a:pPr lvl="1">
              <a:spcBef>
                <a:spcPct val="50000"/>
              </a:spcBef>
              <a:buClr>
                <a:schemeClr val="hlink"/>
              </a:buClr>
              <a:buSzPct val="55000"/>
              <a:buFont typeface="Wingdings" panose="05000000000000000000" pitchFamily="2" charset="2"/>
              <a:buChar char="n"/>
            </a:pPr>
            <a:r>
              <a:rPr kumimoji="1" lang="zh-CN" altLang="en-US" dirty="0">
                <a:latin typeface="楷体_GB2312" pitchFamily="49" charset="-122"/>
              </a:rPr>
              <a:t> 观念：测试并不是证明程序是正确的，而是发现错误。</a:t>
            </a:r>
          </a:p>
          <a:p>
            <a:pPr>
              <a:spcBef>
                <a:spcPct val="50000"/>
              </a:spcBef>
              <a:buSzPct val="60000"/>
              <a:buFont typeface="Wingdings" panose="05000000000000000000" pitchFamily="2" charset="2"/>
              <a:buChar char="n"/>
            </a:pPr>
            <a:r>
              <a:rPr kumimoji="1" lang="zh-CN" altLang="en-US" sz="2400" dirty="0">
                <a:latin typeface="楷体_GB2312" pitchFamily="49" charset="-122"/>
              </a:rPr>
              <a:t> </a:t>
            </a:r>
            <a:r>
              <a:rPr kumimoji="1" lang="zh-CN" altLang="en-US" sz="2400" dirty="0">
                <a:solidFill>
                  <a:schemeClr val="folHlink"/>
                </a:solidFill>
                <a:latin typeface="楷体_GB2312" pitchFamily="49" charset="-122"/>
              </a:rPr>
              <a:t>程序调试</a:t>
            </a:r>
          </a:p>
          <a:p>
            <a:pPr lvl="1">
              <a:spcBef>
                <a:spcPct val="50000"/>
              </a:spcBef>
              <a:buClr>
                <a:schemeClr val="hlink"/>
              </a:buClr>
              <a:buSzPct val="55000"/>
              <a:buFont typeface="Wingdings" panose="05000000000000000000" pitchFamily="2" charset="2"/>
              <a:buChar char="n"/>
            </a:pPr>
            <a:r>
              <a:rPr kumimoji="1" lang="zh-CN" altLang="en-US" dirty="0">
                <a:latin typeface="楷体_GB2312" pitchFamily="49" charset="-122"/>
              </a:rPr>
              <a:t> 对测试出现的错误进行诊断，确定错误的位置、原因，并改</a:t>
            </a:r>
          </a:p>
          <a:p>
            <a:pPr lvl="1">
              <a:spcBef>
                <a:spcPct val="20000"/>
              </a:spcBef>
              <a:buClr>
                <a:schemeClr val="hlink"/>
              </a:buClr>
              <a:buSzPct val="55000"/>
              <a:buFont typeface="Wingdings" panose="05000000000000000000" pitchFamily="2" charset="2"/>
              <a:buNone/>
            </a:pPr>
            <a:r>
              <a:rPr kumimoji="1" lang="zh-CN" altLang="en-US" dirty="0">
                <a:latin typeface="楷体_GB2312" pitchFamily="49" charset="-122"/>
              </a:rPr>
              <a:t>  正错误。</a:t>
            </a:r>
            <a:endParaRPr kumimoji="1" lang="zh-CN" altLang="en-US" sz="2400" dirty="0">
              <a:solidFill>
                <a:schemeClr val="folHlink"/>
              </a:solidFill>
              <a:latin typeface="楷体_GB2312" pitchFamily="49" charset="-122"/>
            </a:endParaRPr>
          </a:p>
          <a:p>
            <a:pPr>
              <a:spcBef>
                <a:spcPct val="50000"/>
              </a:spcBef>
              <a:buSzPct val="60000"/>
              <a:buFont typeface="Wingdings" panose="05000000000000000000" pitchFamily="2" charset="2"/>
              <a:buChar char="n"/>
            </a:pPr>
            <a:r>
              <a:rPr kumimoji="1" lang="zh-CN" altLang="en-US" sz="2400" dirty="0">
                <a:solidFill>
                  <a:schemeClr val="folHlink"/>
                </a:solidFill>
                <a:latin typeface="楷体_GB2312" pitchFamily="49" charset="-122"/>
              </a:rPr>
              <a:t> 软件维护</a:t>
            </a:r>
          </a:p>
          <a:p>
            <a:pPr lvl="1">
              <a:spcBef>
                <a:spcPct val="50000"/>
              </a:spcBef>
              <a:buClr>
                <a:schemeClr val="hlink"/>
              </a:buClr>
              <a:buSzPct val="55000"/>
              <a:buFont typeface="Wingdings" panose="05000000000000000000" pitchFamily="2" charset="2"/>
              <a:buChar char="n"/>
            </a:pPr>
            <a:r>
              <a:rPr kumimoji="1" lang="zh-CN" altLang="en-US" dirty="0">
                <a:latin typeface="楷体_GB2312" pitchFamily="49" charset="-122"/>
              </a:rPr>
              <a:t> 是软件生命周期的最后一个阶段，指软件交付使用之后，为了改正错误或满足用户新的需求而修改软件的过程。</a:t>
            </a:r>
          </a:p>
        </p:txBody>
      </p:sp>
    </p:spTree>
    <p:extLst>
      <p:ext uri="{BB962C8B-B14F-4D97-AF65-F5344CB8AC3E}">
        <p14:creationId xmlns:p14="http://schemas.microsoft.com/office/powerpoint/2010/main" val="18116008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646288F-4A20-4E76-BC43-F046C577633E}"/>
              </a:ext>
            </a:extLst>
          </p:cNvPr>
          <p:cNvSpPr/>
          <p:nvPr/>
        </p:nvSpPr>
        <p:spPr>
          <a:xfrm>
            <a:off x="8420463" y="29469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5" name="Rectangle 12">
            <a:extLst>
              <a:ext uri="{FF2B5EF4-FFF2-40B4-BE49-F238E27FC236}">
                <a16:creationId xmlns:a16="http://schemas.microsoft.com/office/drawing/2014/main" id="{688F214B-676B-432C-8625-84D91C4924B7}"/>
              </a:ext>
            </a:extLst>
          </p:cNvPr>
          <p:cNvSpPr>
            <a:spLocks noChangeArrowheads="1"/>
          </p:cNvSpPr>
          <p:nvPr/>
        </p:nvSpPr>
        <p:spPr bwMode="auto">
          <a:xfrm>
            <a:off x="1291905" y="1743267"/>
            <a:ext cx="10100847" cy="4588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SzPct val="60000"/>
              <a:buFont typeface="Wingdings" panose="05000000000000000000" pitchFamily="2" charset="2"/>
              <a:buChar char="n"/>
            </a:pPr>
            <a:r>
              <a:rPr kumimoji="1" lang="zh-CN" altLang="en-US" sz="2400" dirty="0">
                <a:latin typeface="楷体_GB2312" pitchFamily="49" charset="-122"/>
              </a:rPr>
              <a:t> </a:t>
            </a:r>
            <a:r>
              <a:rPr kumimoji="1" lang="zh-CN" altLang="en-US" sz="2400" dirty="0">
                <a:solidFill>
                  <a:schemeClr val="folHlink"/>
                </a:solidFill>
                <a:latin typeface="楷体_GB2312" pitchFamily="49" charset="-122"/>
              </a:rPr>
              <a:t>测试的目的</a:t>
            </a:r>
          </a:p>
          <a:p>
            <a:pPr lvl="1">
              <a:spcBef>
                <a:spcPct val="50000"/>
              </a:spcBef>
              <a:buClr>
                <a:schemeClr val="hlink"/>
              </a:buClr>
              <a:buSzPct val="55000"/>
              <a:buFont typeface="Wingdings" panose="05000000000000000000" pitchFamily="2" charset="2"/>
              <a:buChar char="n"/>
            </a:pPr>
            <a:r>
              <a:rPr kumimoji="1" lang="zh-CN" altLang="en-US" dirty="0">
                <a:latin typeface="楷体_GB2312" pitchFamily="49" charset="-122"/>
              </a:rPr>
              <a:t> 测试是程序的执行过程，目的是发现错误；</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一个好的测试用例在于能够发现迄今为止尚未发现的错误；</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一次成功的测试在于发现了迄今为止尚未发现错误的测试。</a:t>
            </a:r>
          </a:p>
          <a:p>
            <a:pPr>
              <a:spcBef>
                <a:spcPct val="50000"/>
              </a:spcBef>
              <a:buSzPct val="60000"/>
              <a:buFont typeface="Wingdings" panose="05000000000000000000" pitchFamily="2" charset="2"/>
              <a:buChar char="n"/>
            </a:pPr>
            <a:r>
              <a:rPr kumimoji="1" lang="zh-CN" altLang="en-US" sz="2400" dirty="0">
                <a:latin typeface="楷体_GB2312" pitchFamily="49" charset="-122"/>
              </a:rPr>
              <a:t> </a:t>
            </a:r>
            <a:r>
              <a:rPr kumimoji="1" lang="zh-CN" altLang="en-US" sz="2400" dirty="0">
                <a:solidFill>
                  <a:schemeClr val="folHlink"/>
                </a:solidFill>
                <a:latin typeface="楷体_GB2312" pitchFamily="49" charset="-122"/>
              </a:rPr>
              <a:t>测试的原则</a:t>
            </a:r>
          </a:p>
          <a:p>
            <a:pPr lvl="1">
              <a:spcBef>
                <a:spcPct val="50000"/>
              </a:spcBef>
              <a:buClr>
                <a:schemeClr val="hlink"/>
              </a:buClr>
              <a:buSzPct val="55000"/>
              <a:buFont typeface="Wingdings" panose="05000000000000000000" pitchFamily="2" charset="2"/>
              <a:buChar char="n"/>
            </a:pPr>
            <a:r>
              <a:rPr kumimoji="1" lang="zh-CN" altLang="en-US" dirty="0">
                <a:latin typeface="楷体_GB2312" pitchFamily="49" charset="-122"/>
              </a:rPr>
              <a:t> 应当把</a:t>
            </a:r>
            <a:r>
              <a:rPr kumimoji="1" lang="zh-CN" altLang="en-US" dirty="0">
                <a:latin typeface="Times New Roman" panose="02020603050405020304" pitchFamily="18" charset="0"/>
              </a:rPr>
              <a:t>“</a:t>
            </a:r>
            <a:r>
              <a:rPr kumimoji="1" lang="zh-CN" altLang="en-US" dirty="0">
                <a:latin typeface="楷体_GB2312" pitchFamily="49" charset="-122"/>
              </a:rPr>
              <a:t>尽早地和不断地进行测试</a:t>
            </a:r>
            <a:r>
              <a:rPr kumimoji="1" lang="zh-CN" altLang="en-US" dirty="0">
                <a:latin typeface="Times New Roman" panose="02020603050405020304" pitchFamily="18" charset="0"/>
              </a:rPr>
              <a:t>”</a:t>
            </a:r>
            <a:r>
              <a:rPr kumimoji="1" lang="zh-CN" altLang="en-US" dirty="0">
                <a:latin typeface="楷体_GB2312" pitchFamily="49" charset="-122"/>
              </a:rPr>
              <a:t>作为座右铭</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测试应避免程序员自己进行</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测试用例包括测试数据和与其对应的预期输出结果</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测试用例应包括合理的和不合理的输入数据</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注意错误群集的地方</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严格执行测试计划，排除测试的随意性</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全面检查每一次测试结果</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妥善保存测试计划、测试用例、出错统计和最终的分析报告</a:t>
            </a:r>
          </a:p>
        </p:txBody>
      </p:sp>
      <p:sp>
        <p:nvSpPr>
          <p:cNvPr id="7" name="Text Box 2">
            <a:extLst>
              <a:ext uri="{FF2B5EF4-FFF2-40B4-BE49-F238E27FC236}">
                <a16:creationId xmlns:a16="http://schemas.microsoft.com/office/drawing/2014/main" id="{EC169898-DEA0-4A8E-B620-39B36BDBBB63}"/>
              </a:ext>
            </a:extLst>
          </p:cNvPr>
          <p:cNvSpPr txBox="1">
            <a:spLocks noChangeArrowheads="1"/>
          </p:cNvSpPr>
          <p:nvPr/>
        </p:nvSpPr>
        <p:spPr bwMode="auto">
          <a:xfrm>
            <a:off x="973940" y="898976"/>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dirty="0">
                <a:solidFill>
                  <a:schemeClr val="tx2"/>
                </a:solidFill>
                <a:latin typeface="隶书" panose="02010509060101010101" pitchFamily="49" charset="-122"/>
                <a:ea typeface="隶书" panose="02010509060101010101" pitchFamily="49" charset="-122"/>
              </a:rPr>
              <a:t>5.1 </a:t>
            </a:r>
            <a:r>
              <a:rPr lang="zh-CN" altLang="en-US" sz="4000" dirty="0">
                <a:solidFill>
                  <a:schemeClr val="tx2"/>
                </a:solidFill>
                <a:latin typeface="隶书" panose="02010509060101010101" pitchFamily="49" charset="-122"/>
                <a:ea typeface="隶书" panose="02010509060101010101" pitchFamily="49" charset="-122"/>
              </a:rPr>
              <a:t>软件测试</a:t>
            </a:r>
            <a:endParaRPr lang="en-US" altLang="zh-CN" sz="4000" dirty="0">
              <a:solidFill>
                <a:schemeClr val="tx2"/>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501201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BAD3130-DB15-4EB8-B98E-7B29CF880A8D}"/>
              </a:ext>
            </a:extLst>
          </p:cNvPr>
          <p:cNvSpPr/>
          <p:nvPr/>
        </p:nvSpPr>
        <p:spPr>
          <a:xfrm>
            <a:off x="8831523" y="19227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5" name="Text Box 2">
            <a:extLst>
              <a:ext uri="{FF2B5EF4-FFF2-40B4-BE49-F238E27FC236}">
                <a16:creationId xmlns:a16="http://schemas.microsoft.com/office/drawing/2014/main" id="{28A4C36D-EE53-4015-94A4-434336504A9A}"/>
              </a:ext>
            </a:extLst>
          </p:cNvPr>
          <p:cNvSpPr txBox="1">
            <a:spLocks noChangeArrowheads="1"/>
          </p:cNvSpPr>
          <p:nvPr/>
        </p:nvSpPr>
        <p:spPr bwMode="auto">
          <a:xfrm>
            <a:off x="1080264" y="1026765"/>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dirty="0">
                <a:solidFill>
                  <a:schemeClr val="tx2"/>
                </a:solidFill>
                <a:latin typeface="隶书" panose="02010509060101010101" pitchFamily="49" charset="-122"/>
                <a:ea typeface="隶书" panose="02010509060101010101" pitchFamily="49" charset="-122"/>
              </a:rPr>
              <a:t>5.1.1 </a:t>
            </a:r>
            <a:r>
              <a:rPr lang="zh-CN" altLang="en-US" sz="4000" dirty="0">
                <a:solidFill>
                  <a:schemeClr val="tx2"/>
                </a:solidFill>
                <a:latin typeface="隶书" panose="02010509060101010101" pitchFamily="49" charset="-122"/>
                <a:ea typeface="隶书" panose="02010509060101010101" pitchFamily="49" charset="-122"/>
              </a:rPr>
              <a:t>软件测试技术</a:t>
            </a:r>
            <a:endParaRPr lang="en-US" altLang="zh-CN" sz="4000" dirty="0">
              <a:solidFill>
                <a:schemeClr val="tx2"/>
              </a:solidFill>
              <a:latin typeface="隶书" panose="02010509060101010101" pitchFamily="49" charset="-122"/>
              <a:ea typeface="隶书" panose="02010509060101010101" pitchFamily="49" charset="-122"/>
            </a:endParaRPr>
          </a:p>
        </p:txBody>
      </p:sp>
      <p:sp>
        <p:nvSpPr>
          <p:cNvPr id="7" name="Rectangle 3">
            <a:extLst>
              <a:ext uri="{FF2B5EF4-FFF2-40B4-BE49-F238E27FC236}">
                <a16:creationId xmlns:a16="http://schemas.microsoft.com/office/drawing/2014/main" id="{BAA90035-211E-4EC3-9FBC-75FE18610A76}"/>
              </a:ext>
            </a:extLst>
          </p:cNvPr>
          <p:cNvSpPr>
            <a:spLocks noChangeArrowheads="1"/>
          </p:cNvSpPr>
          <p:nvPr/>
        </p:nvSpPr>
        <p:spPr bwMode="auto">
          <a:xfrm>
            <a:off x="502239" y="1874837"/>
            <a:ext cx="11158457" cy="4588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SzPct val="60000"/>
              <a:buFont typeface="Wingdings" panose="05000000000000000000" pitchFamily="2" charset="2"/>
              <a:buNone/>
            </a:pPr>
            <a:r>
              <a:rPr kumimoji="1" lang="zh-CN" altLang="en-US" dirty="0">
                <a:latin typeface="楷体_GB2312" pitchFamily="49" charset="-122"/>
              </a:rPr>
              <a:t>    穷举测试是不可能的，通过组织</a:t>
            </a:r>
            <a:r>
              <a:rPr kumimoji="1" lang="zh-CN" altLang="en-US" dirty="0">
                <a:latin typeface="Times New Roman" panose="02020603050405020304" pitchFamily="18" charset="0"/>
              </a:rPr>
              <a:t>“</a:t>
            </a:r>
            <a:r>
              <a:rPr kumimoji="1" lang="zh-CN" altLang="en-US" dirty="0">
                <a:solidFill>
                  <a:schemeClr val="hlink"/>
                </a:solidFill>
                <a:latin typeface="楷体_GB2312" pitchFamily="49" charset="-122"/>
              </a:rPr>
              <a:t>测试用例</a:t>
            </a:r>
            <a:r>
              <a:rPr kumimoji="1" lang="zh-CN" altLang="en-US" dirty="0">
                <a:latin typeface="Times New Roman" panose="02020603050405020304" pitchFamily="18" charset="0"/>
              </a:rPr>
              <a:t>”</a:t>
            </a:r>
            <a:r>
              <a:rPr kumimoji="1" lang="zh-CN" altLang="en-US" dirty="0">
                <a:latin typeface="楷体_GB2312" pitchFamily="49" charset="-122"/>
              </a:rPr>
              <a:t>进行</a:t>
            </a:r>
            <a:r>
              <a:rPr kumimoji="1" lang="zh-CN" altLang="en-US" dirty="0">
                <a:solidFill>
                  <a:schemeClr val="folHlink"/>
                </a:solidFill>
                <a:latin typeface="楷体_GB2312" pitchFamily="49" charset="-122"/>
              </a:rPr>
              <a:t>抽样测试</a:t>
            </a:r>
            <a:r>
              <a:rPr kumimoji="1" lang="en-US" altLang="zh-CN" dirty="0">
                <a:latin typeface="楷体_GB2312" pitchFamily="49" charset="-122"/>
              </a:rPr>
              <a:t>，</a:t>
            </a:r>
            <a:r>
              <a:rPr kumimoji="1" lang="zh-CN" altLang="en-US" dirty="0">
                <a:latin typeface="楷体_GB2312" pitchFamily="49" charset="-122"/>
              </a:rPr>
              <a:t>选择执行程序中有代表性的通路，最大限度地实现对程序测试的逻辑覆盖。</a:t>
            </a:r>
          </a:p>
          <a:p>
            <a:pPr>
              <a:spcBef>
                <a:spcPct val="30000"/>
              </a:spcBef>
              <a:buSzPct val="60000"/>
              <a:buFont typeface="Wingdings" panose="05000000000000000000" pitchFamily="2" charset="2"/>
              <a:buChar char="n"/>
            </a:pPr>
            <a:r>
              <a:rPr kumimoji="1" lang="zh-CN" altLang="en-US" sz="2400" dirty="0">
                <a:solidFill>
                  <a:schemeClr val="folHlink"/>
                </a:solidFill>
                <a:latin typeface="楷体_GB2312" pitchFamily="49" charset="-122"/>
              </a:rPr>
              <a:t> 测试的方法</a:t>
            </a:r>
            <a:endParaRPr kumimoji="1" lang="en-US" altLang="zh-CN" sz="2400" dirty="0">
              <a:solidFill>
                <a:schemeClr val="folHlink"/>
              </a:solidFill>
              <a:latin typeface="楷体_GB2312" pitchFamily="49" charset="-122"/>
            </a:endParaRPr>
          </a:p>
          <a:p>
            <a:pPr lvl="1">
              <a:spcBef>
                <a:spcPct val="30000"/>
              </a:spcBef>
              <a:buClr>
                <a:schemeClr val="hlink"/>
              </a:buClr>
              <a:buSzPct val="55000"/>
              <a:buFont typeface="Wingdings" panose="05000000000000000000" pitchFamily="2" charset="2"/>
              <a:buChar char="n"/>
            </a:pPr>
            <a:r>
              <a:rPr kumimoji="1" lang="zh-CN" altLang="en-US" dirty="0">
                <a:solidFill>
                  <a:schemeClr val="hlink"/>
                </a:solidFill>
                <a:latin typeface="楷体_GB2312" pitchFamily="49" charset="-122"/>
              </a:rPr>
              <a:t> 黑盒测试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对程序的功能和性能进行测试</a:t>
            </a:r>
          </a:p>
          <a:p>
            <a:pPr lvl="2">
              <a:spcBef>
                <a:spcPct val="10000"/>
              </a:spcBef>
              <a:buSzPct val="50000"/>
              <a:buFont typeface="Wingdings" panose="05000000000000000000" pitchFamily="2" charset="2"/>
              <a:buChar char="n"/>
            </a:pPr>
            <a:r>
              <a:rPr kumimoji="1" lang="zh-CN" altLang="en-US" dirty="0">
                <a:latin typeface="楷体_GB2312" pitchFamily="49" charset="-122"/>
              </a:rPr>
              <a:t> 被测程序当作黑盒，不考虑程序内部数据结构和逻辑通路</a:t>
            </a:r>
          </a:p>
          <a:p>
            <a:pPr lvl="2">
              <a:spcBef>
                <a:spcPct val="10000"/>
              </a:spcBef>
              <a:buSzPct val="50000"/>
              <a:buFont typeface="Wingdings" panose="05000000000000000000" pitchFamily="2" charset="2"/>
              <a:buChar char="n"/>
            </a:pPr>
            <a:r>
              <a:rPr kumimoji="1" lang="zh-CN" altLang="en-US" dirty="0">
                <a:latin typeface="楷体_GB2312" pitchFamily="49" charset="-122"/>
              </a:rPr>
              <a:t> 在程序接口进行测试</a:t>
            </a:r>
          </a:p>
          <a:p>
            <a:pPr lvl="1">
              <a:spcBef>
                <a:spcPct val="10000"/>
              </a:spcBef>
              <a:buClr>
                <a:schemeClr val="hlink"/>
              </a:buClr>
              <a:buSzPct val="55000"/>
              <a:buFont typeface="Wingdings" panose="05000000000000000000" pitchFamily="2" charset="2"/>
              <a:buChar char="n"/>
            </a:pPr>
            <a:r>
              <a:rPr kumimoji="1" lang="zh-CN" altLang="en-US" dirty="0">
                <a:solidFill>
                  <a:schemeClr val="hlink"/>
                </a:solidFill>
                <a:latin typeface="楷体_GB2312" pitchFamily="49" charset="-122"/>
              </a:rPr>
              <a:t> 白盒测试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对程序的逻辑结构进行测试</a:t>
            </a:r>
          </a:p>
          <a:p>
            <a:pPr lvl="2">
              <a:spcBef>
                <a:spcPct val="10000"/>
              </a:spcBef>
              <a:buSzPct val="50000"/>
              <a:buFont typeface="Wingdings" panose="05000000000000000000" pitchFamily="2" charset="2"/>
              <a:buChar char="n"/>
            </a:pPr>
            <a:r>
              <a:rPr kumimoji="1" lang="zh-CN" altLang="en-US" dirty="0">
                <a:latin typeface="楷体_GB2312" pitchFamily="49" charset="-122"/>
              </a:rPr>
              <a:t> 了解程序内部结构和处理过程</a:t>
            </a:r>
          </a:p>
          <a:p>
            <a:pPr lvl="1">
              <a:spcBef>
                <a:spcPct val="10000"/>
              </a:spcBef>
              <a:buClr>
                <a:schemeClr val="hlink"/>
              </a:buClr>
              <a:buSzPct val="55000"/>
              <a:buFont typeface="Wingdings" panose="05000000000000000000" pitchFamily="2" charset="2"/>
              <a:buChar char="n"/>
            </a:pPr>
            <a:r>
              <a:rPr kumimoji="1" lang="zh-CN" altLang="en-US" dirty="0">
                <a:solidFill>
                  <a:schemeClr val="hlink"/>
                </a:solidFill>
                <a:latin typeface="楷体_GB2312" pitchFamily="49" charset="-122"/>
              </a:rPr>
              <a:t> 回归测试</a:t>
            </a:r>
            <a:r>
              <a:rPr kumimoji="1" lang="zh-CN" altLang="en-US" dirty="0">
                <a:latin typeface="楷体_GB2312" pitchFamily="49" charset="-122"/>
              </a:rPr>
              <a:t>：重新执行已经做过测试的某个子集，以保证软件集成</a:t>
            </a:r>
          </a:p>
          <a:p>
            <a:pPr lvl="1">
              <a:spcBef>
                <a:spcPct val="10000"/>
              </a:spcBef>
              <a:buClr>
                <a:schemeClr val="hlink"/>
              </a:buClr>
              <a:buSzPct val="55000"/>
              <a:buFont typeface="Wingdings" panose="05000000000000000000" pitchFamily="2" charset="2"/>
              <a:buNone/>
            </a:pPr>
            <a:r>
              <a:rPr kumimoji="1" lang="zh-CN" altLang="en-US" dirty="0">
                <a:latin typeface="楷体_GB2312" pitchFamily="49" charset="-122"/>
              </a:rPr>
              <a:t>            没有带来非预期的副作用</a:t>
            </a:r>
          </a:p>
          <a:p>
            <a:pPr lvl="1">
              <a:spcBef>
                <a:spcPct val="10000"/>
              </a:spcBef>
              <a:buClr>
                <a:schemeClr val="hlink"/>
              </a:buClr>
              <a:buSzPct val="55000"/>
              <a:buFont typeface="Wingdings" panose="05000000000000000000" pitchFamily="2" charset="2"/>
              <a:buChar char="n"/>
            </a:pPr>
            <a:r>
              <a:rPr kumimoji="1" lang="zh-CN" altLang="en-US" dirty="0">
                <a:solidFill>
                  <a:schemeClr val="hlink"/>
                </a:solidFill>
                <a:latin typeface="楷体_GB2312" pitchFamily="49" charset="-122"/>
              </a:rPr>
              <a:t> </a:t>
            </a:r>
            <a:r>
              <a:rPr kumimoji="1" lang="en-US" altLang="zh-CN" dirty="0">
                <a:solidFill>
                  <a:schemeClr val="hlink"/>
                </a:solidFill>
                <a:latin typeface="楷体_GB2312" pitchFamily="49" charset="-122"/>
              </a:rPr>
              <a:t>α</a:t>
            </a:r>
            <a:r>
              <a:rPr kumimoji="1" lang="zh-CN" altLang="en-US" dirty="0">
                <a:solidFill>
                  <a:schemeClr val="hlink"/>
                </a:solidFill>
                <a:latin typeface="楷体_GB2312" pitchFamily="49" charset="-122"/>
              </a:rPr>
              <a:t>测试</a:t>
            </a:r>
            <a:r>
              <a:rPr kumimoji="1" lang="zh-CN" altLang="en-US" dirty="0">
                <a:latin typeface="楷体_GB2312" pitchFamily="49" charset="-122"/>
              </a:rPr>
              <a:t>：是用户在受控的环境中进行的，开发者记录错误和问题</a:t>
            </a:r>
          </a:p>
          <a:p>
            <a:pPr lvl="1">
              <a:spcBef>
                <a:spcPct val="10000"/>
              </a:spcBef>
              <a:buClr>
                <a:schemeClr val="hlink"/>
              </a:buClr>
              <a:buSzPct val="55000"/>
              <a:buFont typeface="Wingdings" panose="05000000000000000000" pitchFamily="2" charset="2"/>
              <a:buChar char="n"/>
            </a:pPr>
            <a:r>
              <a:rPr kumimoji="1" lang="zh-CN" altLang="en-US" dirty="0">
                <a:solidFill>
                  <a:schemeClr val="hlink"/>
                </a:solidFill>
                <a:latin typeface="楷体_GB2312" pitchFamily="49" charset="-122"/>
              </a:rPr>
              <a:t> </a:t>
            </a:r>
            <a:r>
              <a:rPr kumimoji="1" lang="en-US" altLang="zh-CN" dirty="0">
                <a:solidFill>
                  <a:schemeClr val="hlink"/>
                </a:solidFill>
                <a:latin typeface="楷体_GB2312" pitchFamily="49" charset="-122"/>
              </a:rPr>
              <a:t>β</a:t>
            </a:r>
            <a:r>
              <a:rPr kumimoji="1" lang="zh-CN" altLang="en-US" dirty="0">
                <a:solidFill>
                  <a:schemeClr val="hlink"/>
                </a:solidFill>
                <a:latin typeface="楷体_GB2312" pitchFamily="49" charset="-122"/>
              </a:rPr>
              <a:t>测试</a:t>
            </a:r>
            <a:r>
              <a:rPr kumimoji="1" lang="zh-CN" altLang="en-US" dirty="0">
                <a:latin typeface="楷体_GB2312" pitchFamily="49" charset="-122"/>
              </a:rPr>
              <a:t>：是用户在不受控的环境中进行的，用户记录错误和问题</a:t>
            </a:r>
          </a:p>
        </p:txBody>
      </p:sp>
    </p:spTree>
    <p:extLst>
      <p:ext uri="{BB962C8B-B14F-4D97-AF65-F5344CB8AC3E}">
        <p14:creationId xmlns:p14="http://schemas.microsoft.com/office/powerpoint/2010/main" val="20899209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4BEDF9F-26F8-47E3-B607-8E502A56A81D}"/>
              </a:ext>
            </a:extLst>
          </p:cNvPr>
          <p:cNvSpPr/>
          <p:nvPr/>
        </p:nvSpPr>
        <p:spPr>
          <a:xfrm>
            <a:off x="8563075" y="185638"/>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3" name="AutoShape 9">
            <a:extLst>
              <a:ext uri="{FF2B5EF4-FFF2-40B4-BE49-F238E27FC236}">
                <a16:creationId xmlns:a16="http://schemas.microsoft.com/office/drawing/2014/main" id="{AF1D78C8-6581-4176-B321-55B3C81B5319}"/>
              </a:ext>
            </a:extLst>
          </p:cNvPr>
          <p:cNvSpPr>
            <a:spLocks noChangeArrowheads="1"/>
          </p:cNvSpPr>
          <p:nvPr/>
        </p:nvSpPr>
        <p:spPr bwMode="auto">
          <a:xfrm>
            <a:off x="6486370" y="1891992"/>
            <a:ext cx="5181600" cy="4724400"/>
          </a:xfrm>
          <a:prstGeom prst="wedgeRectCallout">
            <a:avLst>
              <a:gd name="adj1" fmla="val -58028"/>
              <a:gd name="adj2" fmla="val -27014"/>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36000"/>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buSzPct val="60000"/>
              <a:buFont typeface="Wingdings" panose="05000000000000000000" pitchFamily="2" charset="2"/>
              <a:buChar char="n"/>
            </a:pPr>
            <a:r>
              <a:rPr kumimoji="0" lang="zh-CN" altLang="en-US" sz="2000">
                <a:solidFill>
                  <a:schemeClr val="folHlink"/>
                </a:solidFill>
                <a:latin typeface="楷体_GB2312" pitchFamily="49" charset="-122"/>
                <a:ea typeface="楷体_GB2312" pitchFamily="49" charset="-122"/>
              </a:rPr>
              <a:t>划分等价类的启发规则：</a:t>
            </a:r>
            <a:endParaRPr kumimoji="0" lang="zh-CN" altLang="en-US" sz="2000">
              <a:solidFill>
                <a:schemeClr val="folHlink"/>
              </a:solidFill>
              <a:latin typeface="宋体" panose="02010600030101010101" pitchFamily="2" charset="-122"/>
              <a:ea typeface="楷体_GB2312" pitchFamily="49" charset="-122"/>
            </a:endParaRPr>
          </a:p>
          <a:p>
            <a:pPr lvl="1">
              <a:lnSpc>
                <a:spcPct val="120000"/>
              </a:lnSpc>
              <a:spcBef>
                <a:spcPct val="20000"/>
              </a:spcBef>
              <a:buClr>
                <a:schemeClr val="hlink"/>
              </a:buClr>
              <a:buFont typeface="Wingdings" panose="05000000000000000000" pitchFamily="2" charset="2"/>
              <a:buAutoNum type="arabicParenR" startAt="4"/>
            </a:pPr>
            <a:r>
              <a:rPr kumimoji="0" lang="zh-CN" altLang="en-US" sz="2000">
                <a:latin typeface="Tahoma" panose="020B0604030504040204" pitchFamily="34" charset="0"/>
                <a:ea typeface="楷体_GB2312" pitchFamily="49" charset="-122"/>
              </a:rPr>
              <a:t>如果输入条件指定一个</a:t>
            </a:r>
            <a:r>
              <a:rPr kumimoji="0" lang="zh-CN" altLang="en-US" sz="2000">
                <a:solidFill>
                  <a:schemeClr val="hlink"/>
                </a:solidFill>
                <a:latin typeface="Tahoma" panose="020B0604030504040204" pitchFamily="34" charset="0"/>
                <a:ea typeface="楷体_GB2312" pitchFamily="49" charset="-122"/>
              </a:rPr>
              <a:t>输入数据的离散值</a:t>
            </a:r>
            <a:r>
              <a:rPr kumimoji="0" lang="zh-CN" altLang="en-US" sz="2000">
                <a:latin typeface="Tahoma" panose="020B0604030504040204" pitchFamily="34" charset="0"/>
                <a:ea typeface="楷体_GB2312" pitchFamily="49" charset="-122"/>
              </a:rPr>
              <a:t>，且每一种值用不同的处理，则划分为</a:t>
            </a:r>
            <a:r>
              <a:rPr kumimoji="0" lang="zh-CN" altLang="en-US" sz="2000">
                <a:solidFill>
                  <a:schemeClr val="folHlink"/>
                </a:solidFill>
                <a:latin typeface="Tahoma" panose="020B0604030504040204" pitchFamily="34" charset="0"/>
                <a:ea typeface="楷体_GB2312" pitchFamily="49" charset="-122"/>
              </a:rPr>
              <a:t>若干个有效等价类</a:t>
            </a:r>
            <a:r>
              <a:rPr kumimoji="0" lang="zh-CN" altLang="en-US" sz="2000">
                <a:latin typeface="Tahoma" panose="020B0604030504040204" pitchFamily="34" charset="0"/>
                <a:ea typeface="楷体_GB2312" pitchFamily="49" charset="-122"/>
              </a:rPr>
              <a:t>（每个允许的输入值）和</a:t>
            </a:r>
            <a:r>
              <a:rPr kumimoji="0" lang="zh-CN" altLang="en-US" sz="2000">
                <a:solidFill>
                  <a:schemeClr val="folHlink"/>
                </a:solidFill>
                <a:latin typeface="Tahoma" panose="020B0604030504040204" pitchFamily="34" charset="0"/>
                <a:ea typeface="楷体_GB2312" pitchFamily="49" charset="-122"/>
              </a:rPr>
              <a:t>1个无效等价类</a:t>
            </a:r>
            <a:r>
              <a:rPr kumimoji="0" lang="zh-CN" altLang="en-US" sz="2000">
                <a:latin typeface="Tahoma" panose="020B0604030504040204" pitchFamily="34" charset="0"/>
                <a:ea typeface="楷体_GB2312" pitchFamily="49" charset="-122"/>
              </a:rPr>
              <a:t>（任一不允许的输入值）</a:t>
            </a:r>
          </a:p>
          <a:p>
            <a:pPr lvl="1">
              <a:lnSpc>
                <a:spcPct val="120000"/>
              </a:lnSpc>
              <a:spcBef>
                <a:spcPct val="20000"/>
              </a:spcBef>
              <a:buClr>
                <a:schemeClr val="hlink"/>
              </a:buClr>
              <a:buFont typeface="Wingdings" panose="05000000000000000000" pitchFamily="2" charset="2"/>
              <a:buAutoNum type="arabicParenR" startAt="4"/>
            </a:pPr>
            <a:r>
              <a:rPr kumimoji="0" lang="zh-CN" altLang="en-US" sz="2000">
                <a:latin typeface="Tahoma" panose="020B0604030504040204" pitchFamily="34" charset="0"/>
                <a:ea typeface="楷体_GB2312" pitchFamily="49" charset="-122"/>
              </a:rPr>
              <a:t>如果已划分的等价类中的元素不被程序以相同方式处理，应将其</a:t>
            </a:r>
            <a:r>
              <a:rPr kumimoji="0" lang="zh-CN" altLang="en-US" sz="2000">
                <a:solidFill>
                  <a:schemeClr val="folHlink"/>
                </a:solidFill>
                <a:latin typeface="Tahoma" panose="020B0604030504040204" pitchFamily="34" charset="0"/>
                <a:ea typeface="楷体_GB2312" pitchFamily="49" charset="-122"/>
              </a:rPr>
              <a:t>进一步划分成更小的等价类</a:t>
            </a:r>
          </a:p>
        </p:txBody>
      </p:sp>
      <p:sp>
        <p:nvSpPr>
          <p:cNvPr id="4" name="AutoShape 8">
            <a:extLst>
              <a:ext uri="{FF2B5EF4-FFF2-40B4-BE49-F238E27FC236}">
                <a16:creationId xmlns:a16="http://schemas.microsoft.com/office/drawing/2014/main" id="{1A7BC75F-1BFC-4D9C-A40A-7F9DA1B79B8F}"/>
              </a:ext>
            </a:extLst>
          </p:cNvPr>
          <p:cNvSpPr>
            <a:spLocks noChangeArrowheads="1"/>
          </p:cNvSpPr>
          <p:nvPr/>
        </p:nvSpPr>
        <p:spPr bwMode="auto">
          <a:xfrm>
            <a:off x="4867619" y="1947962"/>
            <a:ext cx="5181600" cy="4724400"/>
          </a:xfrm>
          <a:prstGeom prst="wedgeRectCallout">
            <a:avLst>
              <a:gd name="adj1" fmla="val -58028"/>
              <a:gd name="adj2" fmla="val -27014"/>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36000"/>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buSzPct val="60000"/>
              <a:buFont typeface="Wingdings" panose="05000000000000000000" pitchFamily="2" charset="2"/>
              <a:buChar char="n"/>
            </a:pPr>
            <a:r>
              <a:rPr kumimoji="0" lang="zh-CN" altLang="en-US" sz="2000" dirty="0">
                <a:solidFill>
                  <a:schemeClr val="folHlink"/>
                </a:solidFill>
                <a:latin typeface="楷体_GB2312" pitchFamily="49" charset="-122"/>
                <a:ea typeface="楷体_GB2312" pitchFamily="49" charset="-122"/>
              </a:rPr>
              <a:t>划分等价类的启发规则：</a:t>
            </a:r>
          </a:p>
          <a:p>
            <a:pPr lvl="1">
              <a:lnSpc>
                <a:spcPct val="120000"/>
              </a:lnSpc>
              <a:spcBef>
                <a:spcPct val="20000"/>
              </a:spcBef>
              <a:buClr>
                <a:schemeClr val="hlink"/>
              </a:buClr>
              <a:buFont typeface="Wingdings" panose="05000000000000000000" pitchFamily="2" charset="2"/>
              <a:buAutoNum type="arabicParenR"/>
            </a:pPr>
            <a:r>
              <a:rPr kumimoji="0" lang="zh-CN" altLang="en-US" sz="2000" dirty="0">
                <a:solidFill>
                  <a:schemeClr val="folHlink"/>
                </a:solidFill>
                <a:latin typeface="Tahoma" panose="020B0604030504040204" pitchFamily="34" charset="0"/>
                <a:ea typeface="楷体_GB2312" pitchFamily="49" charset="-122"/>
              </a:rPr>
              <a:t>输入值</a:t>
            </a:r>
            <a:r>
              <a:rPr kumimoji="0" lang="zh-CN" altLang="en-US" sz="2000" dirty="0">
                <a:latin typeface="Tahoma" panose="020B0604030504040204" pitchFamily="34" charset="0"/>
                <a:ea typeface="楷体_GB2312" pitchFamily="49" charset="-122"/>
              </a:rPr>
              <a:t>规定了</a:t>
            </a:r>
            <a:r>
              <a:rPr kumimoji="0" lang="zh-CN" altLang="en-US" sz="2000" dirty="0">
                <a:solidFill>
                  <a:schemeClr val="hlink"/>
                </a:solidFill>
                <a:latin typeface="Tahoma" panose="020B0604030504040204" pitchFamily="34" charset="0"/>
                <a:ea typeface="楷体_GB2312" pitchFamily="49" charset="-122"/>
              </a:rPr>
              <a:t>范围</a:t>
            </a:r>
            <a:r>
              <a:rPr kumimoji="0" lang="zh-CN" altLang="en-US" sz="2000" dirty="0">
                <a:latin typeface="Tahoma" panose="020B0604030504040204" pitchFamily="34" charset="0"/>
                <a:ea typeface="楷体_GB2312" pitchFamily="49" charset="-122"/>
              </a:rPr>
              <a:t>，则划分为</a:t>
            </a:r>
            <a:r>
              <a:rPr kumimoji="0" lang="zh-CN" altLang="en-US" sz="2000" dirty="0">
                <a:solidFill>
                  <a:schemeClr val="folHlink"/>
                </a:solidFill>
                <a:latin typeface="Tahoma" panose="020B0604030504040204" pitchFamily="34" charset="0"/>
                <a:ea typeface="楷体_GB2312" pitchFamily="49" charset="-122"/>
              </a:rPr>
              <a:t>1个有效等价类</a:t>
            </a:r>
            <a:r>
              <a:rPr kumimoji="0" lang="zh-CN" altLang="en-US" sz="2000" dirty="0">
                <a:latin typeface="Tahoma" panose="020B0604030504040204" pitchFamily="34" charset="0"/>
                <a:ea typeface="楷体_GB2312" pitchFamily="49" charset="-122"/>
              </a:rPr>
              <a:t>（值在范围内）和</a:t>
            </a:r>
            <a:r>
              <a:rPr kumimoji="0" lang="zh-CN" altLang="en-US" sz="2000" dirty="0">
                <a:solidFill>
                  <a:schemeClr val="folHlink"/>
                </a:solidFill>
                <a:latin typeface="Tahoma" panose="020B0604030504040204" pitchFamily="34" charset="0"/>
                <a:ea typeface="楷体_GB2312" pitchFamily="49" charset="-122"/>
              </a:rPr>
              <a:t>2个无效等价类</a:t>
            </a:r>
            <a:r>
              <a:rPr kumimoji="0" lang="zh-CN" altLang="en-US" sz="2000" dirty="0">
                <a:latin typeface="Tahoma" panose="020B0604030504040204" pitchFamily="34" charset="0"/>
                <a:ea typeface="楷体_GB2312" pitchFamily="49" charset="-122"/>
              </a:rPr>
              <a:t>（值&lt;最小值、值&gt;最大值）</a:t>
            </a:r>
          </a:p>
          <a:p>
            <a:pPr lvl="1">
              <a:lnSpc>
                <a:spcPct val="120000"/>
              </a:lnSpc>
              <a:spcBef>
                <a:spcPct val="20000"/>
              </a:spcBef>
              <a:buClr>
                <a:schemeClr val="hlink"/>
              </a:buClr>
              <a:buFont typeface="Wingdings" panose="05000000000000000000" pitchFamily="2" charset="2"/>
              <a:buAutoNum type="arabicParenR"/>
            </a:pPr>
            <a:r>
              <a:rPr kumimoji="0" lang="zh-CN" altLang="en-US" sz="2000" dirty="0">
                <a:latin typeface="Tahoma" panose="020B0604030504040204" pitchFamily="34" charset="0"/>
                <a:ea typeface="楷体_GB2312" pitchFamily="49" charset="-122"/>
              </a:rPr>
              <a:t>规定了输入数据</a:t>
            </a:r>
            <a:r>
              <a:rPr kumimoji="0" lang="zh-CN" altLang="en-US" sz="2000" dirty="0">
                <a:solidFill>
                  <a:schemeClr val="hlink"/>
                </a:solidFill>
                <a:latin typeface="Tahoma" panose="020B0604030504040204" pitchFamily="34" charset="0"/>
                <a:ea typeface="楷体_GB2312" pitchFamily="49" charset="-122"/>
              </a:rPr>
              <a:t>个数</a:t>
            </a:r>
            <a:r>
              <a:rPr kumimoji="0" lang="zh-CN" altLang="en-US" sz="2000" dirty="0">
                <a:latin typeface="Tahoma" panose="020B0604030504040204" pitchFamily="34" charset="0"/>
                <a:ea typeface="楷体_GB2312" pitchFamily="49" charset="-122"/>
              </a:rPr>
              <a:t>，则划分为</a:t>
            </a:r>
            <a:r>
              <a:rPr kumimoji="0" lang="zh-CN" altLang="en-US" sz="2000" dirty="0">
                <a:solidFill>
                  <a:schemeClr val="folHlink"/>
                </a:solidFill>
                <a:latin typeface="Tahoma" panose="020B0604030504040204" pitchFamily="34" charset="0"/>
                <a:ea typeface="楷体_GB2312" pitchFamily="49" charset="-122"/>
              </a:rPr>
              <a:t>1个有效等价类</a:t>
            </a:r>
            <a:r>
              <a:rPr kumimoji="0" lang="zh-CN" altLang="en-US" sz="2000" dirty="0">
                <a:latin typeface="Tahoma" panose="020B0604030504040204" pitchFamily="34" charset="0"/>
                <a:ea typeface="楷体_GB2312" pitchFamily="49" charset="-122"/>
              </a:rPr>
              <a:t>（输入数据为规定个数）和</a:t>
            </a:r>
            <a:r>
              <a:rPr kumimoji="0" lang="zh-CN" altLang="en-US" sz="2000" dirty="0">
                <a:solidFill>
                  <a:schemeClr val="folHlink"/>
                </a:solidFill>
                <a:latin typeface="Tahoma" panose="020B0604030504040204" pitchFamily="34" charset="0"/>
                <a:ea typeface="楷体_GB2312" pitchFamily="49" charset="-122"/>
              </a:rPr>
              <a:t>2个无效等价类</a:t>
            </a:r>
            <a:r>
              <a:rPr kumimoji="0" lang="zh-CN" altLang="en-US" sz="2000" dirty="0">
                <a:latin typeface="Tahoma" panose="020B0604030504040204" pitchFamily="34" charset="0"/>
                <a:ea typeface="楷体_GB2312" pitchFamily="49" charset="-122"/>
              </a:rPr>
              <a:t>（输入数据&lt;最小数、输入数据&gt;最大数）</a:t>
            </a:r>
          </a:p>
          <a:p>
            <a:pPr lvl="1">
              <a:lnSpc>
                <a:spcPct val="120000"/>
              </a:lnSpc>
              <a:spcBef>
                <a:spcPct val="20000"/>
              </a:spcBef>
              <a:buClr>
                <a:schemeClr val="hlink"/>
              </a:buClr>
              <a:buFont typeface="Wingdings" panose="05000000000000000000" pitchFamily="2" charset="2"/>
              <a:buAutoNum type="arabicParenR"/>
            </a:pPr>
            <a:r>
              <a:rPr kumimoji="0" lang="zh-CN" altLang="en-US" sz="2000" dirty="0">
                <a:latin typeface="Tahoma" panose="020B0604030504040204" pitchFamily="34" charset="0"/>
                <a:ea typeface="楷体_GB2312" pitchFamily="49" charset="-122"/>
              </a:rPr>
              <a:t>输入条件包含一个</a:t>
            </a:r>
            <a:r>
              <a:rPr kumimoji="0" lang="zh-CN" altLang="en-US" sz="2000" dirty="0">
                <a:solidFill>
                  <a:schemeClr val="hlink"/>
                </a:solidFill>
                <a:latin typeface="Tahoma" panose="020B0604030504040204" pitchFamily="34" charset="0"/>
                <a:ea typeface="楷体_GB2312" pitchFamily="49" charset="-122"/>
              </a:rPr>
              <a:t>“必须成立”</a:t>
            </a:r>
            <a:r>
              <a:rPr kumimoji="0" lang="zh-CN" altLang="en-US" sz="2000" dirty="0">
                <a:latin typeface="Tahoma" panose="020B0604030504040204" pitchFamily="34" charset="0"/>
                <a:ea typeface="楷体_GB2312" pitchFamily="49" charset="-122"/>
              </a:rPr>
              <a:t>的情况，则划分为</a:t>
            </a:r>
            <a:r>
              <a:rPr kumimoji="0" lang="zh-CN" altLang="en-US" sz="2000" dirty="0">
                <a:solidFill>
                  <a:schemeClr val="folHlink"/>
                </a:solidFill>
                <a:latin typeface="Tahoma" panose="020B0604030504040204" pitchFamily="34" charset="0"/>
                <a:ea typeface="楷体_GB2312" pitchFamily="49" charset="-122"/>
              </a:rPr>
              <a:t>1个有效等价类</a:t>
            </a:r>
            <a:r>
              <a:rPr kumimoji="0" lang="zh-CN" altLang="en-US" sz="2000" dirty="0">
                <a:latin typeface="Tahoma" panose="020B0604030504040204" pitchFamily="34" charset="0"/>
                <a:ea typeface="楷体_GB2312" pitchFamily="49" charset="-122"/>
              </a:rPr>
              <a:t>（符合规则）和</a:t>
            </a:r>
            <a:r>
              <a:rPr kumimoji="0" lang="zh-CN" altLang="en-US" sz="2000" dirty="0">
                <a:solidFill>
                  <a:schemeClr val="folHlink"/>
                </a:solidFill>
                <a:latin typeface="Tahoma" panose="020B0604030504040204" pitchFamily="34" charset="0"/>
                <a:ea typeface="楷体_GB2312" pitchFamily="49" charset="-122"/>
              </a:rPr>
              <a:t>若干个无效等价类</a:t>
            </a:r>
            <a:r>
              <a:rPr kumimoji="0" lang="zh-CN" altLang="en-US" sz="2000" dirty="0">
                <a:latin typeface="Tahoma" panose="020B0604030504040204" pitchFamily="34" charset="0"/>
                <a:ea typeface="楷体_GB2312" pitchFamily="49" charset="-122"/>
              </a:rPr>
              <a:t>（从各种不同角度违反规则）</a:t>
            </a:r>
          </a:p>
        </p:txBody>
      </p:sp>
      <p:sp>
        <p:nvSpPr>
          <p:cNvPr id="5" name="Text Box 2">
            <a:extLst>
              <a:ext uri="{FF2B5EF4-FFF2-40B4-BE49-F238E27FC236}">
                <a16:creationId xmlns:a16="http://schemas.microsoft.com/office/drawing/2014/main" id="{322209DE-07C0-4C81-84D8-F3EFB50B5C12}"/>
              </a:ext>
            </a:extLst>
          </p:cNvPr>
          <p:cNvSpPr txBox="1">
            <a:spLocks noChangeArrowheads="1"/>
          </p:cNvSpPr>
          <p:nvPr/>
        </p:nvSpPr>
        <p:spPr bwMode="auto">
          <a:xfrm>
            <a:off x="707753" y="745479"/>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dirty="0">
                <a:solidFill>
                  <a:schemeClr val="tx2"/>
                </a:solidFill>
                <a:latin typeface="隶书" panose="02010509060101010101" pitchFamily="49" charset="-122"/>
                <a:ea typeface="隶书" panose="02010509060101010101" pitchFamily="49" charset="-122"/>
              </a:rPr>
              <a:t>5.1.1 </a:t>
            </a:r>
            <a:r>
              <a:rPr lang="zh-CN" altLang="en-US" sz="4000" dirty="0">
                <a:solidFill>
                  <a:schemeClr val="tx2"/>
                </a:solidFill>
                <a:latin typeface="隶书" panose="02010509060101010101" pitchFamily="49" charset="-122"/>
                <a:ea typeface="隶书" panose="02010509060101010101" pitchFamily="49" charset="-122"/>
              </a:rPr>
              <a:t>软件测试技术</a:t>
            </a:r>
            <a:endParaRPr lang="en-US" altLang="zh-CN" sz="4000" dirty="0">
              <a:solidFill>
                <a:schemeClr val="tx2"/>
              </a:solidFill>
              <a:latin typeface="隶书" panose="02010509060101010101" pitchFamily="49" charset="-122"/>
              <a:ea typeface="隶书" panose="02010509060101010101" pitchFamily="49" charset="-122"/>
            </a:endParaRPr>
          </a:p>
        </p:txBody>
      </p:sp>
      <p:sp>
        <p:nvSpPr>
          <p:cNvPr id="6" name="AutoShape 7">
            <a:extLst>
              <a:ext uri="{FF2B5EF4-FFF2-40B4-BE49-F238E27FC236}">
                <a16:creationId xmlns:a16="http://schemas.microsoft.com/office/drawing/2014/main" id="{AA832AD0-DA0D-4D1C-8D82-5364E3FAEDDA}"/>
              </a:ext>
            </a:extLst>
          </p:cNvPr>
          <p:cNvSpPr>
            <a:spLocks noChangeArrowheads="1"/>
          </p:cNvSpPr>
          <p:nvPr/>
        </p:nvSpPr>
        <p:spPr bwMode="auto">
          <a:xfrm>
            <a:off x="5496469" y="1447154"/>
            <a:ext cx="5181600" cy="4724400"/>
          </a:xfrm>
          <a:prstGeom prst="wedgeRectCallout">
            <a:avLst>
              <a:gd name="adj1" fmla="val -58028"/>
              <a:gd name="adj2" fmla="val -27014"/>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buSzPct val="60000"/>
              <a:buFont typeface="Wingdings" panose="05000000000000000000" pitchFamily="2" charset="2"/>
              <a:buChar char="n"/>
            </a:pPr>
            <a:r>
              <a:rPr kumimoji="0" lang="zh-CN" altLang="en-US" sz="2000">
                <a:solidFill>
                  <a:schemeClr val="folHlink"/>
                </a:solidFill>
                <a:latin typeface="楷体_GB2312" pitchFamily="49" charset="-122"/>
                <a:ea typeface="楷体_GB2312" pitchFamily="49" charset="-122"/>
              </a:rPr>
              <a:t>等价类：</a:t>
            </a:r>
            <a:r>
              <a:rPr kumimoji="0" lang="zh-CN" altLang="en-US" sz="2000">
                <a:latin typeface="楷体_GB2312" pitchFamily="49" charset="-122"/>
                <a:ea typeface="楷体_GB2312" pitchFamily="49" charset="-122"/>
              </a:rPr>
              <a:t>某个输入域的子集合，集合中的一个典型值，在</a:t>
            </a:r>
            <a:r>
              <a:rPr kumimoji="0" lang="zh-CN" altLang="en-US" sz="2000">
                <a:solidFill>
                  <a:schemeClr val="hlink"/>
                </a:solidFill>
                <a:latin typeface="楷体_GB2312" pitchFamily="49" charset="-122"/>
                <a:ea typeface="楷体_GB2312" pitchFamily="49" charset="-122"/>
              </a:rPr>
              <a:t>测试中所起的作用</a:t>
            </a:r>
            <a:r>
              <a:rPr kumimoji="0" lang="zh-CN" altLang="en-US" sz="2000">
                <a:latin typeface="楷体_GB2312" pitchFamily="49" charset="-122"/>
                <a:ea typeface="楷体_GB2312" pitchFamily="49" charset="-122"/>
              </a:rPr>
              <a:t>与其它所有值相同</a:t>
            </a:r>
          </a:p>
          <a:p>
            <a:pPr>
              <a:lnSpc>
                <a:spcPct val="120000"/>
              </a:lnSpc>
              <a:spcBef>
                <a:spcPct val="20000"/>
              </a:spcBef>
              <a:buSzPct val="60000"/>
              <a:buFont typeface="Wingdings" panose="05000000000000000000" pitchFamily="2" charset="2"/>
              <a:buChar char="n"/>
            </a:pPr>
            <a:r>
              <a:rPr kumimoji="0" lang="zh-CN" altLang="en-US" sz="2000">
                <a:solidFill>
                  <a:schemeClr val="folHlink"/>
                </a:solidFill>
                <a:latin typeface="楷体_GB2312" pitchFamily="49" charset="-122"/>
                <a:ea typeface="楷体_GB2312" pitchFamily="49" charset="-122"/>
              </a:rPr>
              <a:t>等价类的划分：</a:t>
            </a:r>
            <a:r>
              <a:rPr kumimoji="0" lang="zh-CN" altLang="en-US" sz="2000">
                <a:latin typeface="楷体_GB2312" pitchFamily="49" charset="-122"/>
                <a:ea typeface="楷体_GB2312" pitchFamily="49" charset="-122"/>
              </a:rPr>
              <a:t>根据程序的</a:t>
            </a:r>
            <a:r>
              <a:rPr kumimoji="0" lang="zh-CN" altLang="en-US" sz="2000">
                <a:solidFill>
                  <a:schemeClr val="folHlink"/>
                </a:solidFill>
                <a:latin typeface="楷体_GB2312" pitchFamily="49" charset="-122"/>
                <a:ea typeface="楷体_GB2312" pitchFamily="49" charset="-122"/>
              </a:rPr>
              <a:t>功能说明</a:t>
            </a:r>
            <a:r>
              <a:rPr kumimoji="0" lang="zh-CN" altLang="en-US" sz="2000">
                <a:latin typeface="楷体_GB2312" pitchFamily="49" charset="-122"/>
                <a:ea typeface="楷体_GB2312" pitchFamily="49" charset="-122"/>
              </a:rPr>
              <a:t>和</a:t>
            </a:r>
            <a:r>
              <a:rPr kumimoji="0" lang="zh-CN" altLang="en-US" sz="2000">
                <a:solidFill>
                  <a:schemeClr val="folHlink"/>
                </a:solidFill>
                <a:latin typeface="楷体_GB2312" pitchFamily="49" charset="-122"/>
                <a:ea typeface="楷体_GB2312" pitchFamily="49" charset="-122"/>
              </a:rPr>
              <a:t>输出数据</a:t>
            </a:r>
            <a:r>
              <a:rPr kumimoji="0" lang="zh-CN" altLang="en-US" sz="2000">
                <a:latin typeface="楷体_GB2312" pitchFamily="49" charset="-122"/>
                <a:ea typeface="楷体_GB2312" pitchFamily="49" charset="-122"/>
              </a:rPr>
              <a:t>，来确定</a:t>
            </a:r>
            <a:r>
              <a:rPr kumimoji="0" lang="zh-CN" altLang="en-US" sz="2000">
                <a:solidFill>
                  <a:srgbClr val="A50021"/>
                </a:solidFill>
                <a:latin typeface="楷体_GB2312" pitchFamily="49" charset="-122"/>
                <a:ea typeface="楷体_GB2312" pitchFamily="49" charset="-122"/>
              </a:rPr>
              <a:t>输入数据</a:t>
            </a:r>
            <a:r>
              <a:rPr kumimoji="0" lang="zh-CN" altLang="en-US" sz="2000">
                <a:latin typeface="楷体_GB2312" pitchFamily="49" charset="-122"/>
                <a:ea typeface="楷体_GB2312" pitchFamily="49" charset="-122"/>
              </a:rPr>
              <a:t>的</a:t>
            </a:r>
            <a:r>
              <a:rPr kumimoji="0" lang="zh-CN" altLang="en-US" sz="2000">
                <a:solidFill>
                  <a:schemeClr val="hlink"/>
                </a:solidFill>
                <a:latin typeface="楷体_GB2312" pitchFamily="49" charset="-122"/>
                <a:ea typeface="楷体_GB2312" pitchFamily="49" charset="-122"/>
              </a:rPr>
              <a:t>有效等价类</a:t>
            </a:r>
            <a:r>
              <a:rPr kumimoji="0" lang="zh-CN" altLang="en-US" sz="2000">
                <a:latin typeface="楷体_GB2312" pitchFamily="49" charset="-122"/>
                <a:ea typeface="楷体_GB2312" pitchFamily="49" charset="-122"/>
              </a:rPr>
              <a:t>和</a:t>
            </a:r>
            <a:r>
              <a:rPr kumimoji="0" lang="zh-CN" altLang="en-US" sz="2000">
                <a:solidFill>
                  <a:schemeClr val="hlink"/>
                </a:solidFill>
                <a:latin typeface="楷体_GB2312" pitchFamily="49" charset="-122"/>
                <a:ea typeface="楷体_GB2312" pitchFamily="49" charset="-122"/>
              </a:rPr>
              <a:t>无效等价类</a:t>
            </a:r>
          </a:p>
          <a:p>
            <a:pPr>
              <a:lnSpc>
                <a:spcPct val="120000"/>
              </a:lnSpc>
              <a:spcBef>
                <a:spcPct val="20000"/>
              </a:spcBef>
              <a:buSzPct val="60000"/>
              <a:buFont typeface="Wingdings" panose="05000000000000000000" pitchFamily="2" charset="2"/>
              <a:buChar char="n"/>
            </a:pPr>
            <a:r>
              <a:rPr kumimoji="0" lang="zh-CN" altLang="en-US" sz="2000">
                <a:solidFill>
                  <a:schemeClr val="folHlink"/>
                </a:solidFill>
                <a:latin typeface="楷体_GB2312" pitchFamily="49" charset="-122"/>
                <a:ea typeface="楷体_GB2312" pitchFamily="49" charset="-122"/>
              </a:rPr>
              <a:t>选择测试用例：</a:t>
            </a:r>
          </a:p>
          <a:p>
            <a:pPr lvl="1">
              <a:lnSpc>
                <a:spcPct val="120000"/>
              </a:lnSpc>
              <a:spcBef>
                <a:spcPct val="20000"/>
              </a:spcBef>
              <a:buClr>
                <a:schemeClr val="hlink"/>
              </a:buClr>
              <a:buSzPct val="55000"/>
              <a:buFont typeface="Wingdings" panose="05000000000000000000" pitchFamily="2" charset="2"/>
              <a:buChar char="n"/>
            </a:pPr>
            <a:r>
              <a:rPr kumimoji="0" lang="zh-CN" altLang="en-US" sz="2000">
                <a:latin typeface="宋体" panose="02010600030101010101" pitchFamily="2" charset="-122"/>
                <a:ea typeface="楷体_GB2312" pitchFamily="49" charset="-122"/>
              </a:rPr>
              <a:t>设计一组</a:t>
            </a:r>
            <a:r>
              <a:rPr kumimoji="0" lang="zh-CN" altLang="en-US" sz="2000">
                <a:solidFill>
                  <a:schemeClr val="folHlink"/>
                </a:solidFill>
                <a:latin typeface="宋体" panose="02010600030101010101" pitchFamily="2" charset="-122"/>
                <a:ea typeface="楷体_GB2312" pitchFamily="49" charset="-122"/>
              </a:rPr>
              <a:t>测试用例</a:t>
            </a:r>
            <a:r>
              <a:rPr kumimoji="0" lang="zh-CN" altLang="en-US" sz="2000">
                <a:latin typeface="宋体" panose="02010600030101010101" pitchFamily="2" charset="-122"/>
                <a:ea typeface="楷体_GB2312" pitchFamily="49" charset="-122"/>
              </a:rPr>
              <a:t>，使之尽可能多地</a:t>
            </a:r>
            <a:r>
              <a:rPr kumimoji="0" lang="zh-CN" altLang="en-US" sz="2000">
                <a:solidFill>
                  <a:schemeClr val="folHlink"/>
                </a:solidFill>
                <a:latin typeface="宋体" panose="02010600030101010101" pitchFamily="2" charset="-122"/>
                <a:ea typeface="楷体_GB2312" pitchFamily="49" charset="-122"/>
              </a:rPr>
              <a:t>覆盖</a:t>
            </a:r>
            <a:r>
              <a:rPr kumimoji="0" lang="zh-CN" altLang="en-US" sz="2000">
                <a:latin typeface="宋体" panose="02010600030101010101" pitchFamily="2" charset="-122"/>
                <a:ea typeface="楷体_GB2312" pitchFamily="49" charset="-122"/>
              </a:rPr>
              <a:t>尚未覆盖的</a:t>
            </a:r>
            <a:r>
              <a:rPr kumimoji="0" lang="zh-CN" altLang="en-US" sz="2000">
                <a:solidFill>
                  <a:schemeClr val="hlink"/>
                </a:solidFill>
                <a:latin typeface="宋体" panose="02010600030101010101" pitchFamily="2" charset="-122"/>
                <a:ea typeface="楷体_GB2312" pitchFamily="49" charset="-122"/>
              </a:rPr>
              <a:t>有效等价类</a:t>
            </a:r>
            <a:r>
              <a:rPr kumimoji="0" lang="zh-CN" altLang="en-US" sz="2000">
                <a:latin typeface="宋体" panose="02010600030101010101" pitchFamily="2" charset="-122"/>
                <a:ea typeface="楷体_GB2312" pitchFamily="49" charset="-122"/>
              </a:rPr>
              <a:t>（或</a:t>
            </a:r>
            <a:r>
              <a:rPr kumimoji="0" lang="zh-CN" altLang="en-US" sz="2000">
                <a:solidFill>
                  <a:srgbClr val="A50021"/>
                </a:solidFill>
                <a:latin typeface="宋体" panose="02010600030101010101" pitchFamily="2" charset="-122"/>
                <a:ea typeface="楷体_GB2312" pitchFamily="49" charset="-122"/>
              </a:rPr>
              <a:t>无效等价类</a:t>
            </a:r>
            <a:r>
              <a:rPr kumimoji="0" lang="zh-CN" altLang="en-US" sz="2000">
                <a:latin typeface="宋体" panose="02010600030101010101" pitchFamily="2" charset="-122"/>
                <a:ea typeface="楷体_GB2312" pitchFamily="49" charset="-122"/>
              </a:rPr>
              <a:t>），重复这一步骤，直到所有的</a:t>
            </a:r>
            <a:r>
              <a:rPr kumimoji="0" lang="zh-CN" altLang="en-US" sz="2000">
                <a:solidFill>
                  <a:schemeClr val="hlink"/>
                </a:solidFill>
                <a:latin typeface="宋体" panose="02010600030101010101" pitchFamily="2" charset="-122"/>
                <a:ea typeface="楷体_GB2312" pitchFamily="49" charset="-122"/>
              </a:rPr>
              <a:t>有效等价类</a:t>
            </a:r>
            <a:r>
              <a:rPr kumimoji="0" lang="zh-CN" altLang="en-US" sz="2000">
                <a:latin typeface="宋体" panose="02010600030101010101" pitchFamily="2" charset="-122"/>
                <a:ea typeface="楷体_GB2312" pitchFamily="49" charset="-122"/>
              </a:rPr>
              <a:t>（或</a:t>
            </a:r>
            <a:r>
              <a:rPr kumimoji="0" lang="zh-CN" altLang="en-US" sz="2000">
                <a:solidFill>
                  <a:srgbClr val="A50021"/>
                </a:solidFill>
                <a:latin typeface="宋体" panose="02010600030101010101" pitchFamily="2" charset="-122"/>
                <a:ea typeface="楷体_GB2312" pitchFamily="49" charset="-122"/>
              </a:rPr>
              <a:t>无效等价类</a:t>
            </a:r>
            <a:r>
              <a:rPr kumimoji="0" lang="zh-CN" altLang="en-US" sz="2000">
                <a:latin typeface="宋体" panose="02010600030101010101" pitchFamily="2" charset="-122"/>
                <a:ea typeface="楷体_GB2312" pitchFamily="49" charset="-122"/>
              </a:rPr>
              <a:t>）都被覆盖为止</a:t>
            </a:r>
          </a:p>
        </p:txBody>
      </p:sp>
      <p:sp>
        <p:nvSpPr>
          <p:cNvPr id="7" name="Text Box 10">
            <a:extLst>
              <a:ext uri="{FF2B5EF4-FFF2-40B4-BE49-F238E27FC236}">
                <a16:creationId xmlns:a16="http://schemas.microsoft.com/office/drawing/2014/main" id="{BC1C8287-F266-4116-BE3A-C213870AB9A1}"/>
              </a:ext>
            </a:extLst>
          </p:cNvPr>
          <p:cNvSpPr txBox="1">
            <a:spLocks noChangeArrowheads="1"/>
          </p:cNvSpPr>
          <p:nvPr/>
        </p:nvSpPr>
        <p:spPr bwMode="auto">
          <a:xfrm>
            <a:off x="1129999" y="1891992"/>
            <a:ext cx="3276600" cy="301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buSzPct val="60000"/>
              <a:buFont typeface="Wingdings" panose="05000000000000000000" pitchFamily="2" charset="2"/>
              <a:buChar char="n"/>
            </a:pPr>
            <a:r>
              <a:rPr kumimoji="1" lang="zh-CN" altLang="en-US" sz="2400" dirty="0">
                <a:solidFill>
                  <a:schemeClr val="folHlink"/>
                </a:solidFill>
                <a:latin typeface="楷体_GB2312" pitchFamily="49" charset="-122"/>
              </a:rPr>
              <a:t> 测试用例的产生方法</a:t>
            </a:r>
            <a:endParaRPr kumimoji="1" lang="en-US" altLang="zh-CN" sz="2400" dirty="0">
              <a:solidFill>
                <a:schemeClr val="folHlink"/>
              </a:solidFill>
              <a:latin typeface="楷体_GB2312" pitchFamily="49" charset="-122"/>
            </a:endParaRPr>
          </a:p>
          <a:p>
            <a:pPr lvl="1">
              <a:spcBef>
                <a:spcPct val="30000"/>
              </a:spcBef>
              <a:buClr>
                <a:schemeClr val="hlink"/>
              </a:buClr>
              <a:buSzPct val="55000"/>
              <a:buFont typeface="Wingdings" panose="05000000000000000000" pitchFamily="2" charset="2"/>
              <a:buChar char="n"/>
            </a:pPr>
            <a:r>
              <a:rPr kumimoji="1" lang="zh-CN" altLang="en-US" dirty="0">
                <a:solidFill>
                  <a:schemeClr val="hlink"/>
                </a:solidFill>
                <a:latin typeface="楷体_GB2312" pitchFamily="49" charset="-122"/>
              </a:rPr>
              <a:t> 黑盒测试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等价类划分法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边界值分析法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错误推测法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因果图法</a:t>
            </a:r>
          </a:p>
          <a:p>
            <a:pPr lvl="1">
              <a:spcBef>
                <a:spcPct val="10000"/>
              </a:spcBef>
              <a:buClr>
                <a:schemeClr val="hlink"/>
              </a:buClr>
              <a:buSzPct val="55000"/>
              <a:buFont typeface="Wingdings" panose="05000000000000000000" pitchFamily="2" charset="2"/>
              <a:buChar char="n"/>
            </a:pPr>
            <a:r>
              <a:rPr kumimoji="1" lang="zh-CN" altLang="en-US" dirty="0">
                <a:solidFill>
                  <a:schemeClr val="hlink"/>
                </a:solidFill>
                <a:latin typeface="楷体_GB2312" pitchFamily="49" charset="-122"/>
              </a:rPr>
              <a:t> 白盒测试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逻辑覆盖法</a:t>
            </a:r>
          </a:p>
        </p:txBody>
      </p:sp>
    </p:spTree>
    <p:extLst>
      <p:ext uri="{BB962C8B-B14F-4D97-AF65-F5344CB8AC3E}">
        <p14:creationId xmlns:p14="http://schemas.microsoft.com/office/powerpoint/2010/main" val="3817409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animBg="1" autoUpdateAnimBg="0"/>
      <p:bldP spid="6"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E64F92C-7896-4107-9A3C-BFD103032989}"/>
              </a:ext>
            </a:extLst>
          </p:cNvPr>
          <p:cNvSpPr/>
          <p:nvPr/>
        </p:nvSpPr>
        <p:spPr>
          <a:xfrm>
            <a:off x="7885029" y="373307"/>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3" name="Text Box 2">
            <a:extLst>
              <a:ext uri="{FF2B5EF4-FFF2-40B4-BE49-F238E27FC236}">
                <a16:creationId xmlns:a16="http://schemas.microsoft.com/office/drawing/2014/main" id="{88A1D17B-08D7-4A86-9586-2CC8B2EBE7DF}"/>
              </a:ext>
            </a:extLst>
          </p:cNvPr>
          <p:cNvSpPr txBox="1">
            <a:spLocks noChangeArrowheads="1"/>
          </p:cNvSpPr>
          <p:nvPr/>
        </p:nvSpPr>
        <p:spPr bwMode="auto">
          <a:xfrm>
            <a:off x="826755" y="834972"/>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dirty="0">
                <a:solidFill>
                  <a:schemeClr val="tx2"/>
                </a:solidFill>
                <a:latin typeface="隶书" panose="02010509060101010101" pitchFamily="49" charset="-122"/>
                <a:ea typeface="隶书" panose="02010509060101010101" pitchFamily="49" charset="-122"/>
              </a:rPr>
              <a:t>5.1.1 </a:t>
            </a:r>
            <a:r>
              <a:rPr lang="zh-CN" altLang="en-US" sz="4000" dirty="0">
                <a:solidFill>
                  <a:schemeClr val="tx2"/>
                </a:solidFill>
                <a:latin typeface="隶书" panose="02010509060101010101" pitchFamily="49" charset="-122"/>
                <a:ea typeface="隶书" panose="02010509060101010101" pitchFamily="49" charset="-122"/>
              </a:rPr>
              <a:t>软件测试技术</a:t>
            </a:r>
            <a:endParaRPr lang="en-US" altLang="zh-CN" sz="4000" dirty="0">
              <a:solidFill>
                <a:schemeClr val="tx2"/>
              </a:solidFill>
              <a:latin typeface="隶书" panose="02010509060101010101" pitchFamily="49" charset="-122"/>
              <a:ea typeface="隶书" panose="02010509060101010101" pitchFamily="49" charset="-122"/>
            </a:endParaRPr>
          </a:p>
        </p:txBody>
      </p:sp>
      <p:sp>
        <p:nvSpPr>
          <p:cNvPr id="4" name="Text Box 4">
            <a:extLst>
              <a:ext uri="{FF2B5EF4-FFF2-40B4-BE49-F238E27FC236}">
                <a16:creationId xmlns:a16="http://schemas.microsoft.com/office/drawing/2014/main" id="{DDCF282F-3847-48B7-A087-251D31828C47}"/>
              </a:ext>
            </a:extLst>
          </p:cNvPr>
          <p:cNvSpPr txBox="1">
            <a:spLocks noChangeArrowheads="1"/>
          </p:cNvSpPr>
          <p:nvPr/>
        </p:nvSpPr>
        <p:spPr bwMode="auto">
          <a:xfrm>
            <a:off x="1483517" y="2130099"/>
            <a:ext cx="3276600" cy="301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buSzPct val="60000"/>
              <a:buFont typeface="Wingdings" panose="05000000000000000000" pitchFamily="2" charset="2"/>
              <a:buChar char="n"/>
            </a:pPr>
            <a:r>
              <a:rPr kumimoji="1" lang="zh-CN" altLang="en-US" sz="2400" dirty="0">
                <a:solidFill>
                  <a:schemeClr val="folHlink"/>
                </a:solidFill>
                <a:latin typeface="楷体_GB2312" pitchFamily="49" charset="-122"/>
              </a:rPr>
              <a:t> 测试用例的产生方法</a:t>
            </a:r>
            <a:endParaRPr kumimoji="1" lang="en-US" altLang="zh-CN" sz="2400" dirty="0">
              <a:solidFill>
                <a:schemeClr val="folHlink"/>
              </a:solidFill>
              <a:latin typeface="楷体_GB2312" pitchFamily="49" charset="-122"/>
            </a:endParaRPr>
          </a:p>
          <a:p>
            <a:pPr lvl="1">
              <a:spcBef>
                <a:spcPct val="30000"/>
              </a:spcBef>
              <a:buClr>
                <a:schemeClr val="hlink"/>
              </a:buClr>
              <a:buSzPct val="55000"/>
              <a:buFont typeface="Wingdings" panose="05000000000000000000" pitchFamily="2" charset="2"/>
              <a:buChar char="n"/>
            </a:pPr>
            <a:r>
              <a:rPr kumimoji="1" lang="zh-CN" altLang="en-US" dirty="0">
                <a:solidFill>
                  <a:schemeClr val="hlink"/>
                </a:solidFill>
                <a:latin typeface="楷体_GB2312" pitchFamily="49" charset="-122"/>
              </a:rPr>
              <a:t> 黑盒测试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等价类划分法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边界值分析法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错误推测法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因果图法</a:t>
            </a:r>
          </a:p>
          <a:p>
            <a:pPr lvl="1">
              <a:spcBef>
                <a:spcPct val="10000"/>
              </a:spcBef>
              <a:buClr>
                <a:schemeClr val="hlink"/>
              </a:buClr>
              <a:buSzPct val="55000"/>
              <a:buFont typeface="Wingdings" panose="05000000000000000000" pitchFamily="2" charset="2"/>
              <a:buChar char="n"/>
            </a:pPr>
            <a:r>
              <a:rPr kumimoji="1" lang="zh-CN" altLang="en-US" dirty="0">
                <a:solidFill>
                  <a:schemeClr val="hlink"/>
                </a:solidFill>
                <a:latin typeface="楷体_GB2312" pitchFamily="49" charset="-122"/>
              </a:rPr>
              <a:t> 白盒测试</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逻辑覆盖法</a:t>
            </a:r>
          </a:p>
        </p:txBody>
      </p:sp>
      <p:sp>
        <p:nvSpPr>
          <p:cNvPr id="5" name="AutoShape 5">
            <a:extLst>
              <a:ext uri="{FF2B5EF4-FFF2-40B4-BE49-F238E27FC236}">
                <a16:creationId xmlns:a16="http://schemas.microsoft.com/office/drawing/2014/main" id="{723BD552-BAD2-4B9C-BAED-98951EA914FF}"/>
              </a:ext>
            </a:extLst>
          </p:cNvPr>
          <p:cNvSpPr>
            <a:spLocks noChangeArrowheads="1"/>
          </p:cNvSpPr>
          <p:nvPr/>
        </p:nvSpPr>
        <p:spPr bwMode="auto">
          <a:xfrm>
            <a:off x="6096000" y="1600200"/>
            <a:ext cx="5181600" cy="5257800"/>
          </a:xfrm>
          <a:prstGeom prst="wedgeRectCallout">
            <a:avLst>
              <a:gd name="adj1" fmla="val -59986"/>
              <a:gd name="adj2" fmla="val -17782"/>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buSzPct val="60000"/>
              <a:buFont typeface="Wingdings" panose="05000000000000000000" pitchFamily="2" charset="2"/>
              <a:buChar char="n"/>
            </a:pPr>
            <a:r>
              <a:rPr kumimoji="0" lang="zh-CN" altLang="en-US" sz="2000" dirty="0">
                <a:latin typeface="楷体_GB2312" pitchFamily="49" charset="-122"/>
                <a:ea typeface="楷体_GB2312" pitchFamily="49" charset="-122"/>
              </a:rPr>
              <a:t>程序在处理边界情况时最容易发生错误，使用</a:t>
            </a:r>
            <a:r>
              <a:rPr kumimoji="0" lang="zh-CN" altLang="en-US" sz="2000" dirty="0">
                <a:ea typeface="楷体_GB2312" pitchFamily="49" charset="-122"/>
              </a:rPr>
              <a:t>“</a:t>
            </a:r>
            <a:r>
              <a:rPr kumimoji="0" lang="zh-CN" altLang="en-US" sz="2000" dirty="0">
                <a:solidFill>
                  <a:schemeClr val="hlink"/>
                </a:solidFill>
                <a:latin typeface="楷体_GB2312" pitchFamily="49" charset="-122"/>
                <a:ea typeface="楷体_GB2312" pitchFamily="49" charset="-122"/>
              </a:rPr>
              <a:t>边界值分析方法</a:t>
            </a:r>
            <a:r>
              <a:rPr kumimoji="0" lang="zh-CN" altLang="en-US" sz="2000" dirty="0">
                <a:ea typeface="楷体_GB2312" pitchFamily="49" charset="-122"/>
              </a:rPr>
              <a:t>”</a:t>
            </a:r>
            <a:r>
              <a:rPr kumimoji="0" lang="zh-CN" altLang="en-US" sz="2000" dirty="0">
                <a:latin typeface="楷体_GB2312" pitchFamily="49" charset="-122"/>
                <a:ea typeface="楷体_GB2312" pitchFamily="49" charset="-122"/>
              </a:rPr>
              <a:t>设计测试方案：</a:t>
            </a:r>
          </a:p>
          <a:p>
            <a:pPr lvl="1">
              <a:spcBef>
                <a:spcPct val="20000"/>
              </a:spcBef>
              <a:buClr>
                <a:schemeClr val="hlink"/>
              </a:buClr>
              <a:buSzPct val="55000"/>
              <a:buFont typeface="Wingdings" panose="05000000000000000000" pitchFamily="2" charset="2"/>
              <a:buChar char="n"/>
            </a:pPr>
            <a:r>
              <a:rPr kumimoji="0" lang="zh-CN" altLang="en-US" sz="2000" dirty="0">
                <a:latin typeface="宋体" panose="02010600030101010101" pitchFamily="2" charset="-122"/>
                <a:ea typeface="楷体_GB2312" pitchFamily="49" charset="-122"/>
              </a:rPr>
              <a:t>边界值：输入等价类和输出等价类的边界</a:t>
            </a:r>
          </a:p>
          <a:p>
            <a:pPr lvl="1">
              <a:spcBef>
                <a:spcPct val="20000"/>
              </a:spcBef>
              <a:buClr>
                <a:schemeClr val="hlink"/>
              </a:buClr>
              <a:buSzPct val="55000"/>
              <a:buFont typeface="Wingdings" panose="05000000000000000000" pitchFamily="2" charset="2"/>
              <a:buChar char="n"/>
            </a:pPr>
            <a:r>
              <a:rPr kumimoji="0" lang="zh-CN" altLang="en-US" sz="2000" dirty="0">
                <a:latin typeface="宋体" panose="02010600030101010101" pitchFamily="2" charset="-122"/>
                <a:ea typeface="楷体_GB2312" pitchFamily="49" charset="-122"/>
              </a:rPr>
              <a:t>测试用例：选择各等价类的边界数据</a:t>
            </a:r>
          </a:p>
          <a:p>
            <a:pPr lvl="1">
              <a:spcBef>
                <a:spcPct val="20000"/>
              </a:spcBef>
              <a:buClr>
                <a:schemeClr val="hlink"/>
              </a:buClr>
              <a:buSzPct val="55000"/>
              <a:buFont typeface="Wingdings" panose="05000000000000000000" pitchFamily="2" charset="2"/>
              <a:buChar char="n"/>
            </a:pPr>
            <a:r>
              <a:rPr kumimoji="0" lang="zh-CN" altLang="en-US" sz="2000" dirty="0">
                <a:latin typeface="宋体" panose="02010600030101010101" pitchFamily="2" charset="-122"/>
                <a:ea typeface="楷体_GB2312" pitchFamily="49" charset="-122"/>
              </a:rPr>
              <a:t>联合等价划分和边界值分析法</a:t>
            </a:r>
            <a:endParaRPr kumimoji="0" lang="zh-CN" altLang="en-US" sz="2000" dirty="0">
              <a:latin typeface="楷体_GB2312" pitchFamily="49" charset="-122"/>
              <a:ea typeface="楷体_GB2312" pitchFamily="49" charset="-122"/>
            </a:endParaRPr>
          </a:p>
          <a:p>
            <a:pPr>
              <a:lnSpc>
                <a:spcPct val="120000"/>
              </a:lnSpc>
              <a:spcBef>
                <a:spcPct val="20000"/>
              </a:spcBef>
              <a:buSzPct val="60000"/>
              <a:buFont typeface="Wingdings" panose="05000000000000000000" pitchFamily="2" charset="2"/>
              <a:buChar char="n"/>
            </a:pPr>
            <a:r>
              <a:rPr kumimoji="0" lang="zh-CN" altLang="en-US" sz="2000" dirty="0">
                <a:solidFill>
                  <a:schemeClr val="hlink"/>
                </a:solidFill>
                <a:latin typeface="楷体_GB2312" pitchFamily="49" charset="-122"/>
                <a:ea typeface="楷体_GB2312" pitchFamily="49" charset="-122"/>
              </a:rPr>
              <a:t>错误推测法</a:t>
            </a:r>
            <a:r>
              <a:rPr kumimoji="0" lang="zh-CN" altLang="en-US" sz="2000" dirty="0">
                <a:latin typeface="楷体_GB2312" pitchFamily="49" charset="-122"/>
                <a:ea typeface="楷体_GB2312" pitchFamily="49" charset="-122"/>
              </a:rPr>
              <a:t>，预测程序中可能存在哪类错误，从而挑选最佳的测试方案： </a:t>
            </a:r>
            <a:endParaRPr kumimoji="0" lang="zh-CN" altLang="en-US" sz="2000" dirty="0">
              <a:solidFill>
                <a:schemeClr val="folHlink"/>
              </a:solidFill>
              <a:latin typeface="楷体_GB2312" pitchFamily="49" charset="-122"/>
              <a:ea typeface="楷体_GB2312" pitchFamily="49" charset="-122"/>
            </a:endParaRPr>
          </a:p>
          <a:p>
            <a:pPr lvl="1">
              <a:spcBef>
                <a:spcPct val="20000"/>
              </a:spcBef>
              <a:buClr>
                <a:schemeClr val="hlink"/>
              </a:buClr>
              <a:buSzPct val="55000"/>
              <a:buFont typeface="Wingdings" panose="05000000000000000000" pitchFamily="2" charset="2"/>
              <a:buChar char="n"/>
            </a:pPr>
            <a:r>
              <a:rPr kumimoji="0" lang="zh-CN" altLang="en-US" sz="2000" dirty="0">
                <a:latin typeface="宋体" panose="02010600030101010101" pitchFamily="2" charset="-122"/>
                <a:ea typeface="楷体_GB2312" pitchFamily="49" charset="-122"/>
              </a:rPr>
              <a:t>仔细分析</a:t>
            </a:r>
            <a:r>
              <a:rPr kumimoji="0" lang="zh-CN" altLang="en-US" sz="2000" dirty="0">
                <a:solidFill>
                  <a:schemeClr val="folHlink"/>
                </a:solidFill>
                <a:latin typeface="宋体" panose="02010600030101010101" pitchFamily="2" charset="-122"/>
                <a:ea typeface="楷体_GB2312" pitchFamily="49" charset="-122"/>
              </a:rPr>
              <a:t>规格说明书</a:t>
            </a:r>
            <a:r>
              <a:rPr kumimoji="0" lang="zh-CN" altLang="en-US" sz="2000" dirty="0">
                <a:latin typeface="宋体" panose="02010600030101010101" pitchFamily="2" charset="-122"/>
                <a:ea typeface="楷体_GB2312" pitchFamily="49" charset="-122"/>
              </a:rPr>
              <a:t>，凭</a:t>
            </a:r>
            <a:r>
              <a:rPr kumimoji="0" lang="zh-CN" altLang="en-US" sz="2000" dirty="0">
                <a:solidFill>
                  <a:schemeClr val="folHlink"/>
                </a:solidFill>
                <a:latin typeface="宋体" panose="02010600030101010101" pitchFamily="2" charset="-122"/>
                <a:ea typeface="楷体_GB2312" pitchFamily="49" charset="-122"/>
              </a:rPr>
              <a:t>经验</a:t>
            </a:r>
            <a:r>
              <a:rPr kumimoji="0" lang="zh-CN" altLang="en-US" sz="2000" dirty="0">
                <a:latin typeface="宋体" panose="02010600030101010101" pitchFamily="2" charset="-122"/>
                <a:ea typeface="楷体_GB2312" pitchFamily="49" charset="-122"/>
              </a:rPr>
              <a:t>和</a:t>
            </a:r>
            <a:r>
              <a:rPr kumimoji="0" lang="zh-CN" altLang="en-US" sz="2000" dirty="0">
                <a:solidFill>
                  <a:schemeClr val="folHlink"/>
                </a:solidFill>
                <a:latin typeface="宋体" panose="02010600030101010101" pitchFamily="2" charset="-122"/>
                <a:ea typeface="楷体_GB2312" pitchFamily="49" charset="-122"/>
              </a:rPr>
              <a:t>直觉</a:t>
            </a:r>
            <a:r>
              <a:rPr kumimoji="0" lang="zh-CN" altLang="en-US" sz="2000" dirty="0">
                <a:latin typeface="宋体" panose="02010600030101010101" pitchFamily="2" charset="-122"/>
                <a:ea typeface="楷体_GB2312" pitchFamily="49" charset="-122"/>
              </a:rPr>
              <a:t>做出推测；</a:t>
            </a:r>
          </a:p>
          <a:p>
            <a:pPr lvl="1">
              <a:spcBef>
                <a:spcPct val="20000"/>
              </a:spcBef>
              <a:buClr>
                <a:schemeClr val="hlink"/>
              </a:buClr>
              <a:buSzPct val="55000"/>
              <a:buFont typeface="Wingdings" panose="05000000000000000000" pitchFamily="2" charset="2"/>
              <a:buChar char="n"/>
            </a:pPr>
            <a:r>
              <a:rPr kumimoji="0" lang="zh-CN" altLang="en-US" sz="2000" dirty="0">
                <a:latin typeface="宋体" panose="02010600030101010101" pitchFamily="2" charset="-122"/>
                <a:ea typeface="楷体_GB2312" pitchFamily="49" charset="-122"/>
              </a:rPr>
              <a:t>列举对</a:t>
            </a:r>
            <a:r>
              <a:rPr kumimoji="0" lang="zh-CN" altLang="en-US" sz="2000" dirty="0">
                <a:solidFill>
                  <a:schemeClr val="folHlink"/>
                </a:solidFill>
                <a:latin typeface="宋体" panose="02010600030101010101" pitchFamily="2" charset="-122"/>
                <a:ea typeface="楷体_GB2312" pitchFamily="49" charset="-122"/>
              </a:rPr>
              <a:t>规格说明书</a:t>
            </a:r>
            <a:r>
              <a:rPr kumimoji="0" lang="zh-CN" altLang="en-US" sz="2000" dirty="0">
                <a:latin typeface="宋体" panose="02010600030101010101" pitchFamily="2" charset="-122"/>
                <a:ea typeface="楷体_GB2312" pitchFamily="49" charset="-122"/>
              </a:rPr>
              <a:t>中</a:t>
            </a:r>
            <a:r>
              <a:rPr kumimoji="0" lang="zh-CN" altLang="en-US" sz="2000" dirty="0">
                <a:solidFill>
                  <a:schemeClr val="hlink"/>
                </a:solidFill>
                <a:latin typeface="宋体" panose="02010600030101010101" pitchFamily="2" charset="-122"/>
                <a:ea typeface="楷体_GB2312" pitchFamily="49" charset="-122"/>
              </a:rPr>
              <a:t>容易遗漏</a:t>
            </a:r>
            <a:r>
              <a:rPr kumimoji="0" lang="zh-CN" altLang="en-US" sz="2000" dirty="0">
                <a:latin typeface="宋体" panose="02010600030101010101" pitchFamily="2" charset="-122"/>
                <a:ea typeface="楷体_GB2312" pitchFamily="49" charset="-122"/>
              </a:rPr>
              <a:t>的部分，和</a:t>
            </a:r>
            <a:r>
              <a:rPr kumimoji="0" lang="zh-CN" altLang="en-US" sz="2000" dirty="0">
                <a:solidFill>
                  <a:schemeClr val="folHlink"/>
                </a:solidFill>
                <a:latin typeface="宋体" panose="02010600030101010101" pitchFamily="2" charset="-122"/>
                <a:ea typeface="楷体_GB2312" pitchFamily="49" charset="-122"/>
              </a:rPr>
              <a:t>程序</a:t>
            </a:r>
            <a:r>
              <a:rPr kumimoji="0" lang="zh-CN" altLang="en-US" sz="2000" dirty="0">
                <a:latin typeface="宋体" panose="02010600030101010101" pitchFamily="2" charset="-122"/>
                <a:ea typeface="楷体_GB2312" pitchFamily="49" charset="-122"/>
              </a:rPr>
              <a:t>中</a:t>
            </a:r>
            <a:r>
              <a:rPr kumimoji="0" lang="zh-CN" altLang="en-US" sz="2000" dirty="0">
                <a:solidFill>
                  <a:schemeClr val="hlink"/>
                </a:solidFill>
                <a:latin typeface="宋体" panose="02010600030101010101" pitchFamily="2" charset="-122"/>
                <a:ea typeface="楷体_GB2312" pitchFamily="49" charset="-122"/>
              </a:rPr>
              <a:t>易发生错误</a:t>
            </a:r>
            <a:r>
              <a:rPr kumimoji="0" lang="zh-CN" altLang="en-US" sz="2000" dirty="0">
                <a:latin typeface="宋体" panose="02010600030101010101" pitchFamily="2" charset="-122"/>
                <a:ea typeface="楷体_GB2312" pitchFamily="49" charset="-122"/>
              </a:rPr>
              <a:t>的特殊情况</a:t>
            </a:r>
          </a:p>
          <a:p>
            <a:pPr lvl="1">
              <a:spcBef>
                <a:spcPct val="20000"/>
              </a:spcBef>
              <a:buClr>
                <a:schemeClr val="hlink"/>
              </a:buClr>
              <a:buSzPct val="55000"/>
              <a:buFont typeface="Wingdings" panose="05000000000000000000" pitchFamily="2" charset="2"/>
              <a:buChar char="n"/>
            </a:pPr>
            <a:r>
              <a:rPr kumimoji="0" lang="zh-CN" altLang="en-US" sz="2000" dirty="0">
                <a:latin typeface="宋体" panose="02010600030101010101" pitchFamily="2" charset="-122"/>
                <a:ea typeface="楷体_GB2312" pitchFamily="49" charset="-122"/>
              </a:rPr>
              <a:t>设计测试用例</a:t>
            </a:r>
          </a:p>
        </p:txBody>
      </p:sp>
    </p:spTree>
    <p:extLst>
      <p:ext uri="{BB962C8B-B14F-4D97-AF65-F5344CB8AC3E}">
        <p14:creationId xmlns:p14="http://schemas.microsoft.com/office/powerpoint/2010/main" val="107052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0D7D87A-AA15-493B-AD58-BF4E9DEFB0F2}"/>
              </a:ext>
            </a:extLst>
          </p:cNvPr>
          <p:cNvSpPr/>
          <p:nvPr/>
        </p:nvSpPr>
        <p:spPr>
          <a:xfrm>
            <a:off x="7556397" y="29469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3" name="AutoShape 5">
            <a:extLst>
              <a:ext uri="{FF2B5EF4-FFF2-40B4-BE49-F238E27FC236}">
                <a16:creationId xmlns:a16="http://schemas.microsoft.com/office/drawing/2014/main" id="{80F94250-C6E9-4BBF-847D-0FE8CDABBB07}"/>
              </a:ext>
            </a:extLst>
          </p:cNvPr>
          <p:cNvSpPr>
            <a:spLocks noChangeArrowheads="1"/>
          </p:cNvSpPr>
          <p:nvPr/>
        </p:nvSpPr>
        <p:spPr bwMode="auto">
          <a:xfrm>
            <a:off x="5572159" y="1970227"/>
            <a:ext cx="5181600" cy="4724400"/>
          </a:xfrm>
          <a:prstGeom prst="wedgeRectCallout">
            <a:avLst>
              <a:gd name="adj1" fmla="val -63634"/>
              <a:gd name="adj2" fmla="val -3056"/>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buSzPct val="60000"/>
              <a:buFont typeface="Wingdings" panose="05000000000000000000" pitchFamily="2" charset="2"/>
              <a:buChar char="n"/>
            </a:pPr>
            <a:r>
              <a:rPr kumimoji="0" lang="zh-CN" altLang="en-US" sz="2000" dirty="0">
                <a:solidFill>
                  <a:schemeClr val="folHlink"/>
                </a:solidFill>
                <a:latin typeface="楷体_GB2312" pitchFamily="49" charset="-122"/>
                <a:ea typeface="楷体_GB2312" pitchFamily="49" charset="-122"/>
              </a:rPr>
              <a:t>因果图法：</a:t>
            </a:r>
          </a:p>
          <a:p>
            <a:pPr lvl="1">
              <a:lnSpc>
                <a:spcPct val="120000"/>
              </a:lnSpc>
              <a:spcBef>
                <a:spcPct val="20000"/>
              </a:spcBef>
              <a:buClr>
                <a:schemeClr val="hlink"/>
              </a:buClr>
              <a:buSzPct val="55000"/>
              <a:buFont typeface="Wingdings" panose="05000000000000000000" pitchFamily="2" charset="2"/>
              <a:buChar char="n"/>
            </a:pPr>
            <a:r>
              <a:rPr kumimoji="0" lang="zh-CN" altLang="en-US" sz="2000" dirty="0">
                <a:solidFill>
                  <a:schemeClr val="hlink"/>
                </a:solidFill>
                <a:latin typeface="宋体" panose="02010600030101010101" pitchFamily="2" charset="-122"/>
                <a:ea typeface="楷体_GB2312" pitchFamily="49" charset="-122"/>
              </a:rPr>
              <a:t>等价类划分法</a:t>
            </a:r>
            <a:r>
              <a:rPr kumimoji="0" lang="zh-CN" altLang="en-US" sz="2000" dirty="0">
                <a:latin typeface="宋体" panose="02010600030101010101" pitchFamily="2" charset="-122"/>
                <a:ea typeface="楷体_GB2312" pitchFamily="49" charset="-122"/>
              </a:rPr>
              <a:t>和</a:t>
            </a:r>
            <a:r>
              <a:rPr kumimoji="0" lang="zh-CN" altLang="en-US" sz="2000" dirty="0">
                <a:solidFill>
                  <a:schemeClr val="hlink"/>
                </a:solidFill>
                <a:latin typeface="宋体" panose="02010600030101010101" pitchFamily="2" charset="-122"/>
                <a:ea typeface="楷体_GB2312" pitchFamily="49" charset="-122"/>
              </a:rPr>
              <a:t>边界值分析法</a:t>
            </a:r>
            <a:r>
              <a:rPr kumimoji="0" lang="zh-CN" altLang="en-US" sz="2000" dirty="0">
                <a:latin typeface="宋体" panose="02010600030101010101" pitchFamily="2" charset="-122"/>
                <a:ea typeface="楷体_GB2312" pitchFamily="49" charset="-122"/>
              </a:rPr>
              <a:t>，只是单独测试各个输入条件；</a:t>
            </a:r>
          </a:p>
          <a:p>
            <a:pPr lvl="1">
              <a:lnSpc>
                <a:spcPct val="120000"/>
              </a:lnSpc>
              <a:spcBef>
                <a:spcPct val="20000"/>
              </a:spcBef>
              <a:buClr>
                <a:schemeClr val="hlink"/>
              </a:buClr>
              <a:buSzPct val="55000"/>
              <a:buFont typeface="Wingdings" panose="05000000000000000000" pitchFamily="2" charset="2"/>
              <a:buChar char="n"/>
            </a:pPr>
            <a:r>
              <a:rPr kumimoji="0" lang="zh-CN" altLang="en-US" sz="2000" dirty="0">
                <a:solidFill>
                  <a:schemeClr val="hlink"/>
                </a:solidFill>
                <a:latin typeface="宋体" panose="02010600030101010101" pitchFamily="2" charset="-122"/>
                <a:ea typeface="楷体_GB2312" pitchFamily="49" charset="-122"/>
              </a:rPr>
              <a:t>因果图法</a:t>
            </a:r>
            <a:r>
              <a:rPr kumimoji="0" lang="zh-CN" altLang="en-US" sz="2000" dirty="0">
                <a:latin typeface="宋体" panose="02010600030101010101" pitchFamily="2" charset="-122"/>
                <a:ea typeface="楷体_GB2312" pitchFamily="49" charset="-122"/>
              </a:rPr>
              <a:t>，对各种输入条件进行组合检查；</a:t>
            </a:r>
          </a:p>
          <a:p>
            <a:pPr lvl="1">
              <a:lnSpc>
                <a:spcPct val="120000"/>
              </a:lnSpc>
              <a:spcBef>
                <a:spcPct val="20000"/>
              </a:spcBef>
              <a:buClr>
                <a:schemeClr val="hlink"/>
              </a:buClr>
              <a:buSzPct val="55000"/>
              <a:buFont typeface="Wingdings" panose="05000000000000000000" pitchFamily="2" charset="2"/>
              <a:buChar char="n"/>
            </a:pPr>
            <a:r>
              <a:rPr kumimoji="0" lang="zh-CN" altLang="en-US" sz="2000" dirty="0">
                <a:latin typeface="宋体" panose="02010600030101010101" pitchFamily="2" charset="-122"/>
                <a:ea typeface="楷体_GB2312" pitchFamily="49" charset="-122"/>
              </a:rPr>
              <a:t>思想：把输入条件视为</a:t>
            </a:r>
            <a:r>
              <a:rPr kumimoji="0" lang="zh-CN" altLang="en-US" sz="2000" dirty="0">
                <a:ea typeface="楷体_GB2312" pitchFamily="49" charset="-122"/>
              </a:rPr>
              <a:t>“</a:t>
            </a:r>
            <a:r>
              <a:rPr kumimoji="0" lang="zh-CN" altLang="en-US" sz="2000" dirty="0">
                <a:latin typeface="宋体" panose="02010600030101010101" pitchFamily="2" charset="-122"/>
                <a:ea typeface="楷体_GB2312" pitchFamily="49" charset="-122"/>
              </a:rPr>
              <a:t>因</a:t>
            </a:r>
            <a:r>
              <a:rPr kumimoji="0" lang="zh-CN" altLang="en-US" sz="2000" dirty="0">
                <a:ea typeface="楷体_GB2312" pitchFamily="49" charset="-122"/>
              </a:rPr>
              <a:t>”</a:t>
            </a:r>
            <a:r>
              <a:rPr kumimoji="0" lang="zh-CN" altLang="en-US" sz="2000" dirty="0">
                <a:latin typeface="宋体" panose="02010600030101010101" pitchFamily="2" charset="-122"/>
                <a:ea typeface="楷体_GB2312" pitchFamily="49" charset="-122"/>
              </a:rPr>
              <a:t>，输出条件视为</a:t>
            </a:r>
            <a:r>
              <a:rPr kumimoji="0" lang="zh-CN" altLang="en-US" sz="2000" dirty="0">
                <a:ea typeface="楷体_GB2312" pitchFamily="49" charset="-122"/>
              </a:rPr>
              <a:t>“</a:t>
            </a:r>
            <a:r>
              <a:rPr kumimoji="0" lang="zh-CN" altLang="en-US" sz="2000" dirty="0">
                <a:latin typeface="宋体" panose="02010600030101010101" pitchFamily="2" charset="-122"/>
                <a:ea typeface="楷体_GB2312" pitchFamily="49" charset="-122"/>
              </a:rPr>
              <a:t>果</a:t>
            </a:r>
            <a:r>
              <a:rPr kumimoji="0" lang="zh-CN" altLang="en-US" sz="2000" dirty="0">
                <a:ea typeface="楷体_GB2312" pitchFamily="49" charset="-122"/>
              </a:rPr>
              <a:t>”</a:t>
            </a:r>
            <a:r>
              <a:rPr kumimoji="0" lang="zh-CN" altLang="en-US" sz="2000" dirty="0">
                <a:latin typeface="宋体" panose="02010600030101010101" pitchFamily="2" charset="-122"/>
                <a:ea typeface="楷体_GB2312" pitchFamily="49" charset="-122"/>
              </a:rPr>
              <a:t>，画出从因到果的逻辑网络图；</a:t>
            </a:r>
          </a:p>
          <a:p>
            <a:pPr lvl="1">
              <a:lnSpc>
                <a:spcPct val="120000"/>
              </a:lnSpc>
              <a:spcBef>
                <a:spcPct val="20000"/>
              </a:spcBef>
              <a:buClr>
                <a:schemeClr val="hlink"/>
              </a:buClr>
              <a:buSzPct val="55000"/>
              <a:buFont typeface="Wingdings" panose="05000000000000000000" pitchFamily="2" charset="2"/>
              <a:buChar char="n"/>
            </a:pPr>
            <a:r>
              <a:rPr kumimoji="0" lang="zh-CN" altLang="en-US" sz="2000" dirty="0">
                <a:latin typeface="宋体" panose="02010600030101010101" pitchFamily="2" charset="-122"/>
                <a:ea typeface="楷体_GB2312" pitchFamily="49" charset="-122"/>
              </a:rPr>
              <a:t>设计测试用例</a:t>
            </a:r>
          </a:p>
        </p:txBody>
      </p:sp>
      <p:sp>
        <p:nvSpPr>
          <p:cNvPr id="4" name="Text Box 2">
            <a:extLst>
              <a:ext uri="{FF2B5EF4-FFF2-40B4-BE49-F238E27FC236}">
                <a16:creationId xmlns:a16="http://schemas.microsoft.com/office/drawing/2014/main" id="{B58BDA3F-1D0A-4D9C-A7FE-2E92B47B00EF}"/>
              </a:ext>
            </a:extLst>
          </p:cNvPr>
          <p:cNvSpPr txBox="1">
            <a:spLocks noChangeArrowheads="1"/>
          </p:cNvSpPr>
          <p:nvPr/>
        </p:nvSpPr>
        <p:spPr bwMode="auto">
          <a:xfrm>
            <a:off x="2981359" y="1055827"/>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5.1.1 </a:t>
            </a:r>
            <a:r>
              <a:rPr lang="zh-CN" altLang="en-US" sz="4000">
                <a:solidFill>
                  <a:schemeClr val="tx2"/>
                </a:solidFill>
                <a:latin typeface="隶书" panose="02010509060101010101" pitchFamily="49" charset="-122"/>
                <a:ea typeface="隶书" panose="02010509060101010101" pitchFamily="49" charset="-122"/>
              </a:rPr>
              <a:t>软件测试技术</a:t>
            </a:r>
            <a:endParaRPr lang="en-US" altLang="zh-CN" sz="4000">
              <a:solidFill>
                <a:schemeClr val="tx2"/>
              </a:solidFill>
              <a:latin typeface="隶书" panose="02010509060101010101" pitchFamily="49" charset="-122"/>
              <a:ea typeface="隶书" panose="02010509060101010101" pitchFamily="49" charset="-122"/>
            </a:endParaRPr>
          </a:p>
        </p:txBody>
      </p:sp>
      <p:sp>
        <p:nvSpPr>
          <p:cNvPr id="5" name="Text Box 6">
            <a:extLst>
              <a:ext uri="{FF2B5EF4-FFF2-40B4-BE49-F238E27FC236}">
                <a16:creationId xmlns:a16="http://schemas.microsoft.com/office/drawing/2014/main" id="{D6A99C46-5CE4-4370-81D9-E75B312D6047}"/>
              </a:ext>
            </a:extLst>
          </p:cNvPr>
          <p:cNvSpPr txBox="1">
            <a:spLocks noChangeArrowheads="1"/>
          </p:cNvSpPr>
          <p:nvPr/>
        </p:nvSpPr>
        <p:spPr bwMode="auto">
          <a:xfrm>
            <a:off x="2371759" y="2049602"/>
            <a:ext cx="3276600" cy="301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buSzPct val="60000"/>
              <a:buFont typeface="Wingdings" panose="05000000000000000000" pitchFamily="2" charset="2"/>
              <a:buChar char="n"/>
            </a:pPr>
            <a:r>
              <a:rPr kumimoji="1" lang="zh-CN" altLang="en-US" sz="2400">
                <a:solidFill>
                  <a:schemeClr val="folHlink"/>
                </a:solidFill>
                <a:latin typeface="楷体_GB2312" pitchFamily="49" charset="-122"/>
              </a:rPr>
              <a:t> 测试用例的产生方法</a:t>
            </a:r>
            <a:endParaRPr kumimoji="1" lang="en-US" altLang="zh-CN" sz="2400">
              <a:solidFill>
                <a:schemeClr val="folHlink"/>
              </a:solidFill>
              <a:latin typeface="楷体_GB2312" pitchFamily="49" charset="-122"/>
            </a:endParaRPr>
          </a:p>
          <a:p>
            <a:pPr lvl="1">
              <a:spcBef>
                <a:spcPct val="30000"/>
              </a:spcBef>
              <a:buClr>
                <a:schemeClr val="hlink"/>
              </a:buClr>
              <a:buSzPct val="55000"/>
              <a:buFont typeface="Wingdings" panose="05000000000000000000" pitchFamily="2" charset="2"/>
              <a:buChar char="n"/>
            </a:pPr>
            <a:r>
              <a:rPr kumimoji="1" lang="zh-CN" altLang="en-US">
                <a:solidFill>
                  <a:schemeClr val="hlink"/>
                </a:solidFill>
                <a:latin typeface="楷体_GB2312" pitchFamily="49" charset="-122"/>
              </a:rPr>
              <a:t> 黑盒测试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等价类划分法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边界值分析法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错误推测法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因果图法</a:t>
            </a:r>
          </a:p>
          <a:p>
            <a:pPr lvl="1">
              <a:spcBef>
                <a:spcPct val="10000"/>
              </a:spcBef>
              <a:buClr>
                <a:schemeClr val="hlink"/>
              </a:buClr>
              <a:buSzPct val="55000"/>
              <a:buFont typeface="Wingdings" panose="05000000000000000000" pitchFamily="2" charset="2"/>
              <a:buChar char="n"/>
            </a:pPr>
            <a:r>
              <a:rPr kumimoji="1" lang="zh-CN" altLang="en-US">
                <a:solidFill>
                  <a:schemeClr val="hlink"/>
                </a:solidFill>
                <a:latin typeface="楷体_GB2312" pitchFamily="49" charset="-122"/>
              </a:rPr>
              <a:t> 白盒测试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逻辑覆盖法</a:t>
            </a:r>
          </a:p>
        </p:txBody>
      </p:sp>
    </p:spTree>
    <p:extLst>
      <p:ext uri="{BB962C8B-B14F-4D97-AF65-F5344CB8AC3E}">
        <p14:creationId xmlns:p14="http://schemas.microsoft.com/office/powerpoint/2010/main" val="200287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691EBD9-F27E-498F-AD6B-AF630D7B8B7A}"/>
              </a:ext>
            </a:extLst>
          </p:cNvPr>
          <p:cNvSpPr/>
          <p:nvPr/>
        </p:nvSpPr>
        <p:spPr>
          <a:xfrm>
            <a:off x="7170503" y="202416"/>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3" name="Text Box 2">
            <a:extLst>
              <a:ext uri="{FF2B5EF4-FFF2-40B4-BE49-F238E27FC236}">
                <a16:creationId xmlns:a16="http://schemas.microsoft.com/office/drawing/2014/main" id="{669CFF71-CEF7-40A0-AA07-6F9BA74D90B0}"/>
              </a:ext>
            </a:extLst>
          </p:cNvPr>
          <p:cNvSpPr txBox="1">
            <a:spLocks noChangeArrowheads="1"/>
          </p:cNvSpPr>
          <p:nvPr/>
        </p:nvSpPr>
        <p:spPr bwMode="auto">
          <a:xfrm>
            <a:off x="2821497" y="973822"/>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5.1.1 </a:t>
            </a:r>
            <a:r>
              <a:rPr lang="zh-CN" altLang="en-US" sz="4000">
                <a:solidFill>
                  <a:schemeClr val="tx2"/>
                </a:solidFill>
                <a:latin typeface="隶书" panose="02010509060101010101" pitchFamily="49" charset="-122"/>
                <a:ea typeface="隶书" panose="02010509060101010101" pitchFamily="49" charset="-122"/>
              </a:rPr>
              <a:t>软件测试技术</a:t>
            </a:r>
            <a:endParaRPr lang="en-US" altLang="zh-CN" sz="4000">
              <a:solidFill>
                <a:schemeClr val="tx2"/>
              </a:solidFill>
              <a:latin typeface="隶书" panose="02010509060101010101" pitchFamily="49" charset="-122"/>
              <a:ea typeface="隶书" panose="02010509060101010101" pitchFamily="49" charset="-122"/>
            </a:endParaRPr>
          </a:p>
        </p:txBody>
      </p:sp>
      <p:sp>
        <p:nvSpPr>
          <p:cNvPr id="4" name="Text Box 6">
            <a:extLst>
              <a:ext uri="{FF2B5EF4-FFF2-40B4-BE49-F238E27FC236}">
                <a16:creationId xmlns:a16="http://schemas.microsoft.com/office/drawing/2014/main" id="{20F9739A-C2C8-4653-B175-89BC8F9D80ED}"/>
              </a:ext>
            </a:extLst>
          </p:cNvPr>
          <p:cNvSpPr txBox="1">
            <a:spLocks noChangeArrowheads="1"/>
          </p:cNvSpPr>
          <p:nvPr/>
        </p:nvSpPr>
        <p:spPr bwMode="auto">
          <a:xfrm>
            <a:off x="2211897" y="1967597"/>
            <a:ext cx="3276600" cy="301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buSzPct val="60000"/>
              <a:buFont typeface="Wingdings" panose="05000000000000000000" pitchFamily="2" charset="2"/>
              <a:buChar char="n"/>
            </a:pPr>
            <a:r>
              <a:rPr kumimoji="1" lang="zh-CN" altLang="en-US" sz="2400">
                <a:solidFill>
                  <a:schemeClr val="folHlink"/>
                </a:solidFill>
                <a:latin typeface="楷体_GB2312" pitchFamily="49" charset="-122"/>
              </a:rPr>
              <a:t> 测试用例的产生方法</a:t>
            </a:r>
            <a:endParaRPr kumimoji="1" lang="en-US" altLang="zh-CN" sz="2400">
              <a:solidFill>
                <a:schemeClr val="folHlink"/>
              </a:solidFill>
              <a:latin typeface="楷体_GB2312" pitchFamily="49" charset="-122"/>
            </a:endParaRPr>
          </a:p>
          <a:p>
            <a:pPr lvl="1">
              <a:spcBef>
                <a:spcPct val="30000"/>
              </a:spcBef>
              <a:buClr>
                <a:schemeClr val="hlink"/>
              </a:buClr>
              <a:buSzPct val="55000"/>
              <a:buFont typeface="Wingdings" panose="05000000000000000000" pitchFamily="2" charset="2"/>
              <a:buChar char="n"/>
            </a:pPr>
            <a:r>
              <a:rPr kumimoji="1" lang="zh-CN" altLang="en-US">
                <a:solidFill>
                  <a:schemeClr val="hlink"/>
                </a:solidFill>
                <a:latin typeface="楷体_GB2312" pitchFamily="49" charset="-122"/>
              </a:rPr>
              <a:t> 黑盒测试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等价类划分法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边界值分析法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错误推测法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因果图法</a:t>
            </a:r>
          </a:p>
          <a:p>
            <a:pPr lvl="1">
              <a:spcBef>
                <a:spcPct val="10000"/>
              </a:spcBef>
              <a:buClr>
                <a:schemeClr val="hlink"/>
              </a:buClr>
              <a:buSzPct val="55000"/>
              <a:buFont typeface="Wingdings" panose="05000000000000000000" pitchFamily="2" charset="2"/>
              <a:buChar char="n"/>
            </a:pPr>
            <a:r>
              <a:rPr kumimoji="1" lang="zh-CN" altLang="en-US">
                <a:solidFill>
                  <a:schemeClr val="hlink"/>
                </a:solidFill>
                <a:latin typeface="楷体_GB2312" pitchFamily="49" charset="-122"/>
              </a:rPr>
              <a:t> 白盒测试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逻辑覆盖法</a:t>
            </a:r>
          </a:p>
        </p:txBody>
      </p:sp>
      <p:grpSp>
        <p:nvGrpSpPr>
          <p:cNvPr id="5" name="Group 10">
            <a:extLst>
              <a:ext uri="{FF2B5EF4-FFF2-40B4-BE49-F238E27FC236}">
                <a16:creationId xmlns:a16="http://schemas.microsoft.com/office/drawing/2014/main" id="{48076F9A-6E82-4771-B564-6E321CD23FC7}"/>
              </a:ext>
            </a:extLst>
          </p:cNvPr>
          <p:cNvGrpSpPr>
            <a:grpSpLocks/>
          </p:cNvGrpSpPr>
          <p:nvPr/>
        </p:nvGrpSpPr>
        <p:grpSpPr bwMode="auto">
          <a:xfrm>
            <a:off x="5412297" y="1888222"/>
            <a:ext cx="5181600" cy="4724400"/>
            <a:chOff x="2400" y="1200"/>
            <a:chExt cx="3264" cy="2976"/>
          </a:xfrm>
        </p:grpSpPr>
        <p:sp>
          <p:nvSpPr>
            <p:cNvPr id="6" name="AutoShape 5">
              <a:extLst>
                <a:ext uri="{FF2B5EF4-FFF2-40B4-BE49-F238E27FC236}">
                  <a16:creationId xmlns:a16="http://schemas.microsoft.com/office/drawing/2014/main" id="{884D842F-C139-417E-9C78-7E74DE25108F}"/>
                </a:ext>
              </a:extLst>
            </p:cNvPr>
            <p:cNvSpPr>
              <a:spLocks noChangeArrowheads="1"/>
            </p:cNvSpPr>
            <p:nvPr/>
          </p:nvSpPr>
          <p:spPr bwMode="auto">
            <a:xfrm>
              <a:off x="2400" y="1200"/>
              <a:ext cx="3264" cy="2976"/>
            </a:xfrm>
            <a:prstGeom prst="wedgeRectCallout">
              <a:avLst>
                <a:gd name="adj1" fmla="val -62778"/>
                <a:gd name="adj2" fmla="val 11694"/>
              </a:avLst>
            </a:prstGeom>
            <a:solidFill>
              <a:srgbClr val="FF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buSzPct val="60000"/>
                <a:buFont typeface="Wingdings" panose="05000000000000000000" pitchFamily="2" charset="2"/>
                <a:buChar char="n"/>
              </a:pPr>
              <a:r>
                <a:rPr kumimoji="0" lang="zh-CN" altLang="en-US" sz="2000">
                  <a:solidFill>
                    <a:schemeClr val="hlink"/>
                  </a:solidFill>
                  <a:latin typeface="楷体_GB2312" pitchFamily="49" charset="-122"/>
                  <a:ea typeface="楷体_GB2312" pitchFamily="49" charset="-122"/>
                </a:rPr>
                <a:t>逻辑覆盖</a:t>
              </a:r>
              <a:r>
                <a:rPr kumimoji="0" lang="zh-CN" altLang="en-US" sz="2000">
                  <a:latin typeface="楷体_GB2312" pitchFamily="49" charset="-122"/>
                  <a:ea typeface="楷体_GB2312" pitchFamily="49" charset="-122"/>
                </a:rPr>
                <a:t>，是对一系列测试过程的总称，这组测试过程逐渐进行越来越完整的通路测试，按覆盖源程序语句的详尽程度划分：</a:t>
              </a:r>
              <a:endParaRPr kumimoji="0" lang="zh-CN" altLang="en-US" sz="2000">
                <a:solidFill>
                  <a:schemeClr val="folHlink"/>
                </a:solidFill>
                <a:latin typeface="楷体_GB2312" pitchFamily="49" charset="-122"/>
                <a:ea typeface="楷体_GB2312" pitchFamily="49" charset="-122"/>
              </a:endParaRPr>
            </a:p>
            <a:p>
              <a:pPr lvl="1">
                <a:lnSpc>
                  <a:spcPct val="120000"/>
                </a:lnSpc>
                <a:spcBef>
                  <a:spcPct val="20000"/>
                </a:spcBef>
                <a:buClr>
                  <a:schemeClr val="hlink"/>
                </a:buClr>
                <a:buSzPct val="55000"/>
                <a:buFont typeface="Wingdings" panose="05000000000000000000" pitchFamily="2" charset="2"/>
                <a:buChar char="n"/>
              </a:pPr>
              <a:r>
                <a:rPr kumimoji="0" lang="zh-CN" altLang="en-US" sz="2000">
                  <a:solidFill>
                    <a:schemeClr val="folHlink"/>
                  </a:solidFill>
                  <a:latin typeface="宋体" panose="02010600030101010101" pitchFamily="2" charset="-122"/>
                  <a:ea typeface="楷体_GB2312" pitchFamily="49" charset="-122"/>
                </a:rPr>
                <a:t>语句覆盖</a:t>
              </a:r>
              <a:r>
                <a:rPr kumimoji="0" lang="zh-CN" altLang="en-US" sz="2000">
                  <a:latin typeface="宋体" panose="02010600030101010101" pitchFamily="2" charset="-122"/>
                  <a:ea typeface="楷体_GB2312" pitchFamily="49" charset="-122"/>
                </a:rPr>
                <a:t>，试图覆盖所有语句</a:t>
              </a:r>
            </a:p>
            <a:p>
              <a:pPr lvl="1">
                <a:lnSpc>
                  <a:spcPct val="120000"/>
                </a:lnSpc>
                <a:spcBef>
                  <a:spcPct val="20000"/>
                </a:spcBef>
                <a:buClr>
                  <a:schemeClr val="hlink"/>
                </a:buClr>
                <a:buSzPct val="55000"/>
                <a:buFont typeface="Wingdings" panose="05000000000000000000" pitchFamily="2" charset="2"/>
                <a:buChar char="n"/>
              </a:pPr>
              <a:r>
                <a:rPr kumimoji="0" lang="zh-CN" altLang="en-US" sz="2000">
                  <a:solidFill>
                    <a:schemeClr val="folHlink"/>
                  </a:solidFill>
                  <a:latin typeface="宋体" panose="02010600030101010101" pitchFamily="2" charset="-122"/>
                  <a:ea typeface="楷体_GB2312" pitchFamily="49" charset="-122"/>
                </a:rPr>
                <a:t>判定覆盖</a:t>
              </a:r>
              <a:r>
                <a:rPr kumimoji="0" lang="zh-CN" altLang="en-US" sz="2000">
                  <a:latin typeface="宋体" panose="02010600030101010101" pitchFamily="2" charset="-122"/>
                  <a:ea typeface="楷体_GB2312" pitchFamily="49" charset="-122"/>
                </a:rPr>
                <a:t>，试图覆盖所有判定点，判定点值的</a:t>
              </a:r>
              <a:r>
                <a:rPr kumimoji="0" lang="zh-CN" altLang="en-US" sz="2000">
                  <a:ea typeface="楷体_GB2312" pitchFamily="49" charset="-122"/>
                </a:rPr>
                <a:t>“</a:t>
              </a:r>
              <a:r>
                <a:rPr kumimoji="0" lang="zh-CN" altLang="en-US" sz="2000">
                  <a:latin typeface="宋体" panose="02010600030101010101" pitchFamily="2" charset="-122"/>
                  <a:ea typeface="楷体_GB2312" pitchFamily="49" charset="-122"/>
                </a:rPr>
                <a:t>真</a:t>
              </a:r>
              <a:r>
                <a:rPr kumimoji="0" lang="zh-CN" altLang="en-US" sz="2000">
                  <a:ea typeface="楷体_GB2312" pitchFamily="49" charset="-122"/>
                </a:rPr>
                <a:t>”</a:t>
              </a:r>
              <a:r>
                <a:rPr kumimoji="0" lang="zh-CN" altLang="en-US" sz="2000">
                  <a:latin typeface="宋体" panose="02010600030101010101" pitchFamily="2" charset="-122"/>
                  <a:ea typeface="楷体_GB2312" pitchFamily="49" charset="-122"/>
                </a:rPr>
                <a:t>或</a:t>
              </a:r>
              <a:r>
                <a:rPr kumimoji="0" lang="zh-CN" altLang="en-US" sz="2000">
                  <a:ea typeface="楷体_GB2312" pitchFamily="49" charset="-122"/>
                </a:rPr>
                <a:t>“</a:t>
              </a:r>
              <a:r>
                <a:rPr kumimoji="0" lang="zh-CN" altLang="en-US" sz="2000">
                  <a:latin typeface="宋体" panose="02010600030101010101" pitchFamily="2" charset="-122"/>
                  <a:ea typeface="楷体_GB2312" pitchFamily="49" charset="-122"/>
                </a:rPr>
                <a:t>假</a:t>
              </a:r>
              <a:r>
                <a:rPr kumimoji="0" lang="zh-CN" altLang="en-US" sz="2000">
                  <a:ea typeface="楷体_GB2312" pitchFamily="49" charset="-122"/>
                </a:rPr>
                <a:t>”</a:t>
              </a:r>
              <a:endParaRPr kumimoji="0" lang="zh-CN" altLang="en-US" sz="2000">
                <a:latin typeface="宋体" panose="02010600030101010101" pitchFamily="2" charset="-122"/>
                <a:ea typeface="楷体_GB2312" pitchFamily="49" charset="-122"/>
              </a:endParaRPr>
            </a:p>
            <a:p>
              <a:pPr lvl="1">
                <a:lnSpc>
                  <a:spcPct val="120000"/>
                </a:lnSpc>
                <a:spcBef>
                  <a:spcPct val="20000"/>
                </a:spcBef>
                <a:buClr>
                  <a:schemeClr val="hlink"/>
                </a:buClr>
                <a:buSzPct val="55000"/>
                <a:buFont typeface="Wingdings" panose="05000000000000000000" pitchFamily="2" charset="2"/>
                <a:buChar char="n"/>
              </a:pPr>
              <a:r>
                <a:rPr kumimoji="0" lang="zh-CN" altLang="en-US" sz="2000">
                  <a:solidFill>
                    <a:schemeClr val="folHlink"/>
                  </a:solidFill>
                  <a:latin typeface="宋体" panose="02010600030101010101" pitchFamily="2" charset="-122"/>
                  <a:ea typeface="楷体_GB2312" pitchFamily="49" charset="-122"/>
                </a:rPr>
                <a:t>条件覆盖</a:t>
              </a:r>
              <a:r>
                <a:rPr kumimoji="0" lang="zh-CN" altLang="en-US" sz="2000">
                  <a:latin typeface="宋体" panose="02010600030101010101" pitchFamily="2" charset="-122"/>
                  <a:ea typeface="楷体_GB2312" pitchFamily="49" charset="-122"/>
                </a:rPr>
                <a:t>，试图覆盖所有判定条件</a:t>
              </a:r>
            </a:p>
            <a:p>
              <a:pPr lvl="1">
                <a:lnSpc>
                  <a:spcPct val="120000"/>
                </a:lnSpc>
                <a:spcBef>
                  <a:spcPct val="20000"/>
                </a:spcBef>
                <a:buClr>
                  <a:schemeClr val="hlink"/>
                </a:buClr>
                <a:buSzPct val="55000"/>
                <a:buFont typeface="Wingdings" panose="05000000000000000000" pitchFamily="2" charset="2"/>
                <a:buChar char="n"/>
              </a:pPr>
              <a:r>
                <a:rPr kumimoji="0" lang="zh-CN" altLang="en-US" sz="2000">
                  <a:solidFill>
                    <a:schemeClr val="folHlink"/>
                  </a:solidFill>
                  <a:latin typeface="宋体" panose="02010600030101010101" pitchFamily="2" charset="-122"/>
                  <a:ea typeface="楷体_GB2312" pitchFamily="49" charset="-122"/>
                </a:rPr>
                <a:t>判定/条件覆盖</a:t>
              </a:r>
              <a:r>
                <a:rPr kumimoji="0" lang="zh-CN" altLang="en-US" sz="2000">
                  <a:latin typeface="宋体" panose="02010600030101010101" pitchFamily="2" charset="-122"/>
                  <a:ea typeface="楷体_GB2312" pitchFamily="49" charset="-122"/>
                </a:rPr>
                <a:t>，试图覆盖所有判定点和判定条件</a:t>
              </a:r>
              <a:endParaRPr kumimoji="0" lang="zh-CN" altLang="en-US" sz="2000">
                <a:solidFill>
                  <a:schemeClr val="folHlink"/>
                </a:solidFill>
                <a:latin typeface="宋体" panose="02010600030101010101" pitchFamily="2" charset="-122"/>
                <a:ea typeface="楷体_GB2312" pitchFamily="49" charset="-122"/>
              </a:endParaRPr>
            </a:p>
            <a:p>
              <a:pPr lvl="1">
                <a:lnSpc>
                  <a:spcPct val="120000"/>
                </a:lnSpc>
                <a:spcBef>
                  <a:spcPct val="20000"/>
                </a:spcBef>
                <a:buClr>
                  <a:schemeClr val="hlink"/>
                </a:buClr>
                <a:buSzPct val="55000"/>
                <a:buFont typeface="Wingdings" panose="05000000000000000000" pitchFamily="2" charset="2"/>
                <a:buChar char="n"/>
              </a:pPr>
              <a:r>
                <a:rPr kumimoji="0" lang="zh-CN" altLang="en-US" sz="2000">
                  <a:solidFill>
                    <a:schemeClr val="folHlink"/>
                  </a:solidFill>
                  <a:latin typeface="宋体" panose="02010600030101010101" pitchFamily="2" charset="-122"/>
                  <a:ea typeface="楷体_GB2312" pitchFamily="49" charset="-122"/>
                </a:rPr>
                <a:t>条件组合覆盖</a:t>
              </a:r>
              <a:r>
                <a:rPr kumimoji="0" lang="zh-CN" altLang="en-US" sz="2000">
                  <a:latin typeface="宋体" panose="02010600030101010101" pitchFamily="2" charset="-122"/>
                  <a:ea typeface="楷体_GB2312" pitchFamily="49" charset="-122"/>
                </a:rPr>
                <a:t>，试图覆盖所有判定条件的各种组合</a:t>
              </a:r>
            </a:p>
          </p:txBody>
        </p:sp>
        <p:sp>
          <p:nvSpPr>
            <p:cNvPr id="7" name="Line 7">
              <a:extLst>
                <a:ext uri="{FF2B5EF4-FFF2-40B4-BE49-F238E27FC236}">
                  <a16:creationId xmlns:a16="http://schemas.microsoft.com/office/drawing/2014/main" id="{CF37DDF4-3653-4897-8E13-A1FD7BE3A7E0}"/>
                </a:ext>
              </a:extLst>
            </p:cNvPr>
            <p:cNvSpPr>
              <a:spLocks noChangeShapeType="1"/>
            </p:cNvSpPr>
            <p:nvPr/>
          </p:nvSpPr>
          <p:spPr bwMode="auto">
            <a:xfrm>
              <a:off x="2640" y="2256"/>
              <a:ext cx="0" cy="1680"/>
            </a:xfrm>
            <a:prstGeom prst="line">
              <a:avLst/>
            </a:prstGeom>
            <a:noFill/>
            <a:ln w="22225">
              <a:solidFill>
                <a:srgbClr val="8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 name="Text Box 8">
              <a:extLst>
                <a:ext uri="{FF2B5EF4-FFF2-40B4-BE49-F238E27FC236}">
                  <a16:creationId xmlns:a16="http://schemas.microsoft.com/office/drawing/2014/main" id="{B49F3FC4-393D-4FE6-AD29-BF689F4FF536}"/>
                </a:ext>
              </a:extLst>
            </p:cNvPr>
            <p:cNvSpPr txBox="1">
              <a:spLocks noChangeArrowheads="1"/>
            </p:cNvSpPr>
            <p:nvPr/>
          </p:nvSpPr>
          <p:spPr bwMode="auto">
            <a:xfrm>
              <a:off x="2400" y="224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None/>
              </a:pPr>
              <a:r>
                <a:rPr lang="zh-CN" altLang="en-US">
                  <a:solidFill>
                    <a:schemeClr val="hlink"/>
                  </a:solidFill>
                </a:rPr>
                <a:t>弱</a:t>
              </a:r>
            </a:p>
          </p:txBody>
        </p:sp>
        <p:sp>
          <p:nvSpPr>
            <p:cNvPr id="9" name="Text Box 9">
              <a:extLst>
                <a:ext uri="{FF2B5EF4-FFF2-40B4-BE49-F238E27FC236}">
                  <a16:creationId xmlns:a16="http://schemas.microsoft.com/office/drawing/2014/main" id="{E8054A90-21E1-4953-9945-C4944D10AD30}"/>
                </a:ext>
              </a:extLst>
            </p:cNvPr>
            <p:cNvSpPr txBox="1">
              <a:spLocks noChangeArrowheads="1"/>
            </p:cNvSpPr>
            <p:nvPr/>
          </p:nvSpPr>
          <p:spPr bwMode="auto">
            <a:xfrm>
              <a:off x="2400" y="3600"/>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None/>
              </a:pPr>
              <a:r>
                <a:rPr lang="zh-CN" altLang="en-US">
                  <a:solidFill>
                    <a:schemeClr val="hlink"/>
                  </a:solidFill>
                </a:rPr>
                <a:t>强</a:t>
              </a:r>
            </a:p>
          </p:txBody>
        </p:sp>
      </p:grpSp>
    </p:spTree>
    <p:extLst>
      <p:ext uri="{BB962C8B-B14F-4D97-AF65-F5344CB8AC3E}">
        <p14:creationId xmlns:p14="http://schemas.microsoft.com/office/powerpoint/2010/main" val="20961644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B90C3E3-EC05-46F4-A7B1-4AE7102718CD}"/>
              </a:ext>
            </a:extLst>
          </p:cNvPr>
          <p:cNvSpPr/>
          <p:nvPr/>
        </p:nvSpPr>
        <p:spPr>
          <a:xfrm>
            <a:off x="7212448" y="29469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5" name="Text Box 2">
            <a:extLst>
              <a:ext uri="{FF2B5EF4-FFF2-40B4-BE49-F238E27FC236}">
                <a16:creationId xmlns:a16="http://schemas.microsoft.com/office/drawing/2014/main" id="{799C2FE4-1606-4EE3-AA9F-F530AFDBF3B9}"/>
              </a:ext>
            </a:extLst>
          </p:cNvPr>
          <p:cNvSpPr txBox="1">
            <a:spLocks noChangeArrowheads="1"/>
          </p:cNvSpPr>
          <p:nvPr/>
        </p:nvSpPr>
        <p:spPr bwMode="auto">
          <a:xfrm>
            <a:off x="2330042" y="1921764"/>
            <a:ext cx="8077200" cy="470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Font typeface="Wingdings" panose="05000000000000000000" pitchFamily="2" charset="2"/>
              <a:buNone/>
            </a:pPr>
            <a:r>
              <a:rPr lang="zh-CN" altLang="en-US" sz="2800">
                <a:latin typeface="Times New Roman" panose="02020603050405020304" pitchFamily="18" charset="0"/>
                <a:ea typeface="宋体" panose="02010600030101010101" pitchFamily="2" charset="-122"/>
              </a:rPr>
              <a:t>例 </a:t>
            </a:r>
            <a:r>
              <a:rPr lang="zh-CN" altLang="en-US" sz="2800">
                <a:latin typeface="Arial" panose="020B0604020202020204" pitchFamily="34" charset="0"/>
                <a:ea typeface="宋体" panose="02010600030101010101" pitchFamily="2" charset="-122"/>
              </a:rPr>
              <a:t>设计下面给出伪码的判定覆盖和条件组合覆盖的测试用例，要求给出输入的（</a:t>
            </a:r>
            <a:r>
              <a:rPr lang="en-US" altLang="zh-CN" sz="2800">
                <a:latin typeface="Arial" panose="020B0604020202020204" pitchFamily="34" charset="0"/>
                <a:ea typeface="宋体" panose="02010600030101010101" pitchFamily="2" charset="-122"/>
              </a:rPr>
              <a:t>A，B）</a:t>
            </a:r>
            <a:r>
              <a:rPr lang="zh-CN" altLang="en-US" sz="2800">
                <a:latin typeface="Arial" panose="020B0604020202020204" pitchFamily="34" charset="0"/>
                <a:ea typeface="宋体" panose="02010600030101010101" pitchFamily="2" charset="-122"/>
              </a:rPr>
              <a:t>值和相应的预期输出（</a:t>
            </a:r>
            <a:r>
              <a:rPr lang="en-US" altLang="zh-CN" sz="2800">
                <a:latin typeface="Arial" panose="020B0604020202020204" pitchFamily="34" charset="0"/>
                <a:ea typeface="宋体" panose="02010600030101010101" pitchFamily="2" charset="-122"/>
              </a:rPr>
              <a:t>X，Y）</a:t>
            </a:r>
            <a:r>
              <a:rPr lang="zh-CN" altLang="en-US" sz="2800">
                <a:latin typeface="Arial" panose="020B0604020202020204" pitchFamily="34" charset="0"/>
                <a:ea typeface="宋体" panose="02010600030101010101" pitchFamily="2" charset="-122"/>
              </a:rPr>
              <a:t>值。</a:t>
            </a:r>
            <a:endParaRPr lang="zh-CN" altLang="en-US"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START</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INPUT （A，B）</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IF  A &gt;7</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THEN  X ＝20</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ELSE  X ＝5</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END IF</a:t>
            </a:r>
            <a:endParaRPr lang="en-US" altLang="zh-CN" sz="2800">
              <a:ea typeface="宋体" panose="02010600030101010101" pitchFamily="2" charset="-122"/>
            </a:endParaRPr>
          </a:p>
        </p:txBody>
      </p:sp>
      <p:sp>
        <p:nvSpPr>
          <p:cNvPr id="7" name="Text Box 3">
            <a:extLst>
              <a:ext uri="{FF2B5EF4-FFF2-40B4-BE49-F238E27FC236}">
                <a16:creationId xmlns:a16="http://schemas.microsoft.com/office/drawing/2014/main" id="{A3C52135-EE16-4789-82C2-47548AE9A9F7}"/>
              </a:ext>
            </a:extLst>
          </p:cNvPr>
          <p:cNvSpPr txBox="1">
            <a:spLocks noChangeArrowheads="1"/>
          </p:cNvSpPr>
          <p:nvPr/>
        </p:nvSpPr>
        <p:spPr bwMode="auto">
          <a:xfrm>
            <a:off x="6444842" y="3407664"/>
            <a:ext cx="3886200" cy="329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IF  B &gt;10</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THEN  Y ＝30</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ELSE  Y ＝10</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END IF</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PRINT （X，Y）</a:t>
            </a:r>
            <a:endParaRPr lang="en-US" altLang="zh-CN" sz="2800">
              <a:ea typeface="宋体" panose="02010600030101010101" pitchFamily="2" charset="-122"/>
            </a:endParaRPr>
          </a:p>
          <a:p>
            <a:pPr algn="just">
              <a:spcBef>
                <a:spcPct val="3000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STOP</a:t>
            </a:r>
            <a:endParaRPr lang="zh-CN" altLang="en-US"/>
          </a:p>
        </p:txBody>
      </p:sp>
      <p:sp>
        <p:nvSpPr>
          <p:cNvPr id="9" name="Text Box 4">
            <a:extLst>
              <a:ext uri="{FF2B5EF4-FFF2-40B4-BE49-F238E27FC236}">
                <a16:creationId xmlns:a16="http://schemas.microsoft.com/office/drawing/2014/main" id="{34084C95-AE58-4439-AE71-F6FACD7F2126}"/>
              </a:ext>
            </a:extLst>
          </p:cNvPr>
          <p:cNvSpPr txBox="1">
            <a:spLocks noChangeArrowheads="1"/>
          </p:cNvSpPr>
          <p:nvPr/>
        </p:nvSpPr>
        <p:spPr bwMode="auto">
          <a:xfrm>
            <a:off x="2863442" y="1066101"/>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5.1.1 </a:t>
            </a:r>
            <a:r>
              <a:rPr lang="zh-CN" altLang="en-US" sz="4000">
                <a:solidFill>
                  <a:schemeClr val="tx2"/>
                </a:solidFill>
                <a:latin typeface="隶书" panose="02010509060101010101" pitchFamily="49" charset="-122"/>
                <a:ea typeface="隶书" panose="02010509060101010101" pitchFamily="49" charset="-122"/>
              </a:rPr>
              <a:t>软件测试技术</a:t>
            </a:r>
            <a:endParaRPr lang="en-US" altLang="zh-CN" sz="4000">
              <a:solidFill>
                <a:schemeClr val="tx2"/>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2856822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627BE82-B692-4BDF-A7F9-33D9A971C6CF}"/>
              </a:ext>
            </a:extLst>
          </p:cNvPr>
          <p:cNvSpPr/>
          <p:nvPr/>
        </p:nvSpPr>
        <p:spPr>
          <a:xfrm>
            <a:off x="7313116" y="311473"/>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5" name="Text Box 1026">
            <a:extLst>
              <a:ext uri="{FF2B5EF4-FFF2-40B4-BE49-F238E27FC236}">
                <a16:creationId xmlns:a16="http://schemas.microsoft.com/office/drawing/2014/main" id="{C64D0D9E-DAE2-49F6-A4E9-EEB056C81190}"/>
              </a:ext>
            </a:extLst>
          </p:cNvPr>
          <p:cNvSpPr txBox="1">
            <a:spLocks noChangeArrowheads="1"/>
          </p:cNvSpPr>
          <p:nvPr/>
        </p:nvSpPr>
        <p:spPr bwMode="auto">
          <a:xfrm>
            <a:off x="2430710" y="2179342"/>
            <a:ext cx="8305800" cy="392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Font typeface="Wingdings" panose="05000000000000000000" pitchFamily="2" charset="2"/>
              <a:buNone/>
            </a:pPr>
            <a:r>
              <a:rPr lang="zh-CN" altLang="en-US" sz="2400">
                <a:ea typeface="宋体" panose="02010600030101010101" pitchFamily="2" charset="-122"/>
              </a:rPr>
              <a:t>1</a:t>
            </a:r>
            <a:r>
              <a:rPr lang="zh-CN" altLang="en-US" sz="2400">
                <a:latin typeface="Times New Roman" panose="02020603050405020304" pitchFamily="18" charset="0"/>
                <a:ea typeface="宋体" panose="02010600030101010101" pitchFamily="2" charset="-122"/>
              </a:rPr>
              <a:t>、判定覆盖的测试用例</a:t>
            </a:r>
            <a:endParaRPr lang="zh-CN" altLang="en-US" sz="2400">
              <a:ea typeface="宋体" panose="02010600030101010101" pitchFamily="2" charset="-122"/>
            </a:endParaRPr>
          </a:p>
          <a:p>
            <a:pPr>
              <a:spcBef>
                <a:spcPct val="50000"/>
              </a:spcBef>
              <a:buFont typeface="Wingdings" panose="05000000000000000000" pitchFamily="2" charset="2"/>
              <a:buNone/>
            </a:pPr>
            <a:r>
              <a:rPr lang="zh-CN" altLang="en-US" sz="2400">
                <a:latin typeface="Times New Roman" panose="02020603050405020304" pitchFamily="18" charset="0"/>
                <a:ea typeface="宋体" panose="02010600030101010101" pitchFamily="2" charset="-122"/>
              </a:rPr>
              <a:t>因为每个判定表达式为真或为假时均有赋值语句，为了使每个语句都至少执行一次，总共需要两组测试数据，以便使得每个判定表达式取指为真或为假各一次。</a:t>
            </a:r>
            <a:endParaRPr lang="zh-CN" altLang="en-US" sz="2400">
              <a:ea typeface="宋体" panose="02010600030101010101" pitchFamily="2" charset="-122"/>
            </a:endParaRPr>
          </a:p>
          <a:p>
            <a:pPr>
              <a:spcBef>
                <a:spcPct val="50000"/>
              </a:spcBef>
              <a:buFont typeface="Wingdings" panose="05000000000000000000" pitchFamily="2" charset="2"/>
              <a:buNone/>
            </a:pPr>
            <a:r>
              <a:rPr lang="zh-CN" altLang="en-US" sz="2400">
                <a:latin typeface="Times New Roman" panose="02020603050405020304" pitchFamily="18" charset="0"/>
                <a:ea typeface="宋体" panose="02010600030101010101" pitchFamily="2" charset="-122"/>
              </a:rPr>
              <a:t>使2个判定表达式之值全为假</a:t>
            </a:r>
          </a:p>
          <a:p>
            <a:pPr>
              <a:spcBef>
                <a:spcPct val="50000"/>
              </a:spcBef>
              <a:buFont typeface="Wingdings" panose="05000000000000000000" pitchFamily="2" charset="2"/>
              <a:buNone/>
            </a:pPr>
            <a:r>
              <a:rPr lang="zh-CN" altLang="en-US" sz="2400">
                <a:solidFill>
                  <a:srgbClr val="A50021"/>
                </a:solidFill>
                <a:latin typeface="Arial" panose="020B0604020202020204" pitchFamily="34" charset="0"/>
                <a:ea typeface="宋体" panose="02010600030101010101" pitchFamily="2" charset="-122"/>
              </a:rPr>
              <a:t>    输入：</a:t>
            </a:r>
            <a:r>
              <a:rPr lang="en-US" altLang="zh-CN" sz="2400">
                <a:solidFill>
                  <a:srgbClr val="A50021"/>
                </a:solidFill>
                <a:latin typeface="Arial" panose="020B0604020202020204" pitchFamily="34" charset="0"/>
                <a:ea typeface="宋体" panose="02010600030101010101" pitchFamily="2" charset="-122"/>
              </a:rPr>
              <a:t>A＝1，B＝1；</a:t>
            </a:r>
            <a:r>
              <a:rPr lang="zh-CN" altLang="en-US" sz="2400">
                <a:solidFill>
                  <a:srgbClr val="A50021"/>
                </a:solidFill>
                <a:latin typeface="Arial" panose="020B0604020202020204" pitchFamily="34" charset="0"/>
                <a:ea typeface="宋体" panose="02010600030101010101" pitchFamily="2" charset="-122"/>
              </a:rPr>
              <a:t>预期输出：</a:t>
            </a:r>
            <a:r>
              <a:rPr lang="en-US" altLang="zh-CN" sz="2400">
                <a:solidFill>
                  <a:srgbClr val="A50021"/>
                </a:solidFill>
                <a:latin typeface="Arial" panose="020B0604020202020204" pitchFamily="34" charset="0"/>
                <a:ea typeface="宋体" panose="02010600030101010101" pitchFamily="2" charset="-122"/>
              </a:rPr>
              <a:t>X＝5，Y＝10</a:t>
            </a:r>
          </a:p>
          <a:p>
            <a:pPr>
              <a:spcBef>
                <a:spcPct val="50000"/>
              </a:spcBef>
              <a:buFont typeface="Wingdings" panose="05000000000000000000" pitchFamily="2" charset="2"/>
              <a:buNone/>
            </a:pPr>
            <a:r>
              <a:rPr lang="zh-CN" altLang="en-US" sz="2400">
                <a:latin typeface="Times New Roman" panose="02020603050405020304" pitchFamily="18" charset="0"/>
                <a:ea typeface="宋体" panose="02010600030101010101" pitchFamily="2" charset="-122"/>
              </a:rPr>
              <a:t>使2个判定表达式之值全为真</a:t>
            </a:r>
          </a:p>
          <a:p>
            <a:pPr>
              <a:spcBef>
                <a:spcPct val="50000"/>
              </a:spcBef>
              <a:buFont typeface="Wingdings" panose="05000000000000000000" pitchFamily="2" charset="2"/>
              <a:buNone/>
            </a:pPr>
            <a:r>
              <a:rPr lang="zh-CN" altLang="en-US" sz="2400">
                <a:solidFill>
                  <a:srgbClr val="A50021"/>
                </a:solidFill>
                <a:latin typeface="Arial" panose="020B0604020202020204" pitchFamily="34" charset="0"/>
                <a:ea typeface="宋体" panose="02010600030101010101" pitchFamily="2" charset="-122"/>
              </a:rPr>
              <a:t>    输入：</a:t>
            </a:r>
            <a:r>
              <a:rPr lang="en-US" altLang="zh-CN" sz="2400">
                <a:solidFill>
                  <a:srgbClr val="A50021"/>
                </a:solidFill>
                <a:latin typeface="Arial" panose="020B0604020202020204" pitchFamily="34" charset="0"/>
                <a:ea typeface="宋体" panose="02010600030101010101" pitchFamily="2" charset="-122"/>
              </a:rPr>
              <a:t>A＝20，B＝40；</a:t>
            </a:r>
            <a:r>
              <a:rPr lang="zh-CN" altLang="en-US" sz="2400">
                <a:solidFill>
                  <a:srgbClr val="A50021"/>
                </a:solidFill>
                <a:latin typeface="Arial" panose="020B0604020202020204" pitchFamily="34" charset="0"/>
                <a:ea typeface="宋体" panose="02010600030101010101" pitchFamily="2" charset="-122"/>
              </a:rPr>
              <a:t>预期输出：</a:t>
            </a:r>
            <a:r>
              <a:rPr lang="en-US" altLang="zh-CN" sz="2400">
                <a:solidFill>
                  <a:srgbClr val="A50021"/>
                </a:solidFill>
                <a:latin typeface="Arial" panose="020B0604020202020204" pitchFamily="34" charset="0"/>
                <a:ea typeface="宋体" panose="02010600030101010101" pitchFamily="2" charset="-122"/>
              </a:rPr>
              <a:t>X＝20，Y＝30</a:t>
            </a:r>
          </a:p>
        </p:txBody>
      </p:sp>
      <p:sp>
        <p:nvSpPr>
          <p:cNvPr id="7" name="Text Box 1027">
            <a:extLst>
              <a:ext uri="{FF2B5EF4-FFF2-40B4-BE49-F238E27FC236}">
                <a16:creationId xmlns:a16="http://schemas.microsoft.com/office/drawing/2014/main" id="{A5119B39-1272-4D07-8556-48BEDF412531}"/>
              </a:ext>
            </a:extLst>
          </p:cNvPr>
          <p:cNvSpPr txBox="1">
            <a:spLocks noChangeArrowheads="1"/>
          </p:cNvSpPr>
          <p:nvPr/>
        </p:nvSpPr>
        <p:spPr bwMode="auto">
          <a:xfrm>
            <a:off x="2964110" y="1380829"/>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5.1.1 </a:t>
            </a:r>
            <a:r>
              <a:rPr lang="zh-CN" altLang="en-US" sz="4000">
                <a:solidFill>
                  <a:schemeClr val="tx2"/>
                </a:solidFill>
                <a:latin typeface="隶书" panose="02010509060101010101" pitchFamily="49" charset="-122"/>
                <a:ea typeface="隶书" panose="02010509060101010101" pitchFamily="49" charset="-122"/>
              </a:rPr>
              <a:t>软件测试技术</a:t>
            </a:r>
            <a:endParaRPr lang="en-US" altLang="zh-CN" sz="4000">
              <a:solidFill>
                <a:schemeClr val="tx2"/>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40733707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549312A-48CF-4473-AA38-41457FCD7F28}"/>
              </a:ext>
            </a:extLst>
          </p:cNvPr>
          <p:cNvSpPr/>
          <p:nvPr/>
        </p:nvSpPr>
        <p:spPr>
          <a:xfrm>
            <a:off x="7204060" y="286306"/>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5" name="Text Box 2">
            <a:extLst>
              <a:ext uri="{FF2B5EF4-FFF2-40B4-BE49-F238E27FC236}">
                <a16:creationId xmlns:a16="http://schemas.microsoft.com/office/drawing/2014/main" id="{F4AFB0E5-8C6A-457F-9BCE-85F97C706526}"/>
              </a:ext>
            </a:extLst>
          </p:cNvPr>
          <p:cNvSpPr txBox="1">
            <a:spLocks noChangeArrowheads="1"/>
          </p:cNvSpPr>
          <p:nvPr/>
        </p:nvSpPr>
        <p:spPr bwMode="auto">
          <a:xfrm>
            <a:off x="2189802" y="1876291"/>
            <a:ext cx="8382000" cy="484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25000"/>
              </a:spcBef>
              <a:buFont typeface="Wingdings" panose="05000000000000000000" pitchFamily="2" charset="2"/>
              <a:buNone/>
            </a:pPr>
            <a:r>
              <a:rPr lang="en-US" altLang="zh-CN" sz="2400">
                <a:ea typeface="宋体" panose="02010600030101010101" pitchFamily="2" charset="-122"/>
              </a:rPr>
              <a:t>2</a:t>
            </a:r>
            <a:r>
              <a:rPr lang="en-US" altLang="zh-CN" sz="2400">
                <a:latin typeface="Times New Roman" panose="02020603050405020304" pitchFamily="18" charset="0"/>
                <a:ea typeface="宋体" panose="02010600030101010101" pitchFamily="2" charset="-122"/>
              </a:rPr>
              <a:t>、</a:t>
            </a:r>
            <a:r>
              <a:rPr lang="zh-CN" altLang="en-US" sz="2400">
                <a:latin typeface="Times New Roman" panose="02020603050405020304" pitchFamily="18" charset="0"/>
                <a:ea typeface="宋体" panose="02010600030101010101" pitchFamily="2" charset="-122"/>
              </a:rPr>
              <a:t>条件组合覆盖的测试用例</a:t>
            </a:r>
            <a:endParaRPr lang="zh-CN" altLang="en-US" sz="2400">
              <a:ea typeface="宋体" panose="02010600030101010101" pitchFamily="2" charset="-122"/>
            </a:endParaRPr>
          </a:p>
          <a:p>
            <a:pPr>
              <a:spcBef>
                <a:spcPct val="25000"/>
              </a:spcBef>
              <a:buFont typeface="Wingdings" panose="05000000000000000000" pitchFamily="2" charset="2"/>
              <a:buNone/>
            </a:pPr>
            <a:r>
              <a:rPr lang="zh-CN" altLang="en-US" sz="2400">
                <a:latin typeface="Times New Roman" panose="02020603050405020304" pitchFamily="18" charset="0"/>
                <a:ea typeface="宋体" panose="02010600030101010101" pitchFamily="2" charset="-122"/>
              </a:rPr>
              <a:t>本程序共有</a:t>
            </a:r>
            <a:r>
              <a:rPr lang="zh-CN" altLang="en-US" sz="2400">
                <a:ea typeface="宋体" panose="02010600030101010101" pitchFamily="2" charset="-122"/>
              </a:rPr>
              <a:t>4</a:t>
            </a:r>
            <a:r>
              <a:rPr lang="zh-CN" altLang="en-US" sz="2400">
                <a:latin typeface="Times New Roman" panose="02020603050405020304" pitchFamily="18" charset="0"/>
                <a:ea typeface="宋体" panose="02010600030101010101" pitchFamily="2" charset="-122"/>
              </a:rPr>
              <a:t>条可能的执行通路，为做到条件组合覆盖需要</a:t>
            </a:r>
            <a:r>
              <a:rPr lang="zh-CN" altLang="en-US" sz="2400">
                <a:ea typeface="宋体" panose="02010600030101010101" pitchFamily="2" charset="-122"/>
              </a:rPr>
              <a:t>4</a:t>
            </a:r>
            <a:r>
              <a:rPr lang="zh-CN" altLang="en-US" sz="2400">
                <a:latin typeface="Times New Roman" panose="02020603050405020304" pitchFamily="18" charset="0"/>
                <a:ea typeface="宋体" panose="02010600030101010101" pitchFamily="2" charset="-122"/>
              </a:rPr>
              <a:t>组测试数据。</a:t>
            </a:r>
            <a:endParaRPr lang="zh-CN" altLang="en-US" sz="2400">
              <a:ea typeface="宋体" panose="02010600030101010101" pitchFamily="2" charset="-122"/>
            </a:endParaRPr>
          </a:p>
          <a:p>
            <a:pPr>
              <a:spcBef>
                <a:spcPct val="25000"/>
              </a:spcBef>
              <a:buFont typeface="Wingdings" panose="05000000000000000000" pitchFamily="2" charset="2"/>
              <a:buNone/>
            </a:pPr>
            <a:r>
              <a:rPr lang="zh-CN" altLang="en-US" sz="2400">
                <a:ea typeface="宋体" panose="02010600030101010101" pitchFamily="2" charset="-122"/>
              </a:rPr>
              <a:t>2</a:t>
            </a:r>
            <a:r>
              <a:rPr lang="zh-CN" altLang="en-US" sz="2400">
                <a:latin typeface="Times New Roman" panose="02020603050405020304" pitchFamily="18" charset="0"/>
                <a:ea typeface="宋体" panose="02010600030101010101" pitchFamily="2" charset="-122"/>
              </a:rPr>
              <a:t>个判定表达式之值全为假</a:t>
            </a:r>
            <a:endParaRPr lang="zh-CN" altLang="en-US" sz="2400">
              <a:ea typeface="宋体" panose="02010600030101010101" pitchFamily="2" charset="-122"/>
            </a:endParaRPr>
          </a:p>
          <a:p>
            <a:pPr>
              <a:spcBef>
                <a:spcPct val="25000"/>
              </a:spcBef>
              <a:buFont typeface="Wingdings" panose="05000000000000000000" pitchFamily="2" charset="2"/>
              <a:buNone/>
            </a:pPr>
            <a:r>
              <a:rPr lang="zh-CN" altLang="en-US" sz="2400">
                <a:solidFill>
                  <a:srgbClr val="A50021"/>
                </a:solidFill>
                <a:latin typeface="Times New Roman" panose="02020603050405020304" pitchFamily="18" charset="0"/>
                <a:ea typeface="宋体" panose="02010600030101010101" pitchFamily="2" charset="-122"/>
              </a:rPr>
              <a:t>   输入：</a:t>
            </a:r>
            <a:r>
              <a:rPr lang="en-US" altLang="zh-CN" sz="2400">
                <a:solidFill>
                  <a:srgbClr val="A50021"/>
                </a:solidFill>
                <a:latin typeface="Arial" panose="020B0604020202020204" pitchFamily="34" charset="0"/>
                <a:ea typeface="宋体" panose="02010600030101010101" pitchFamily="2" charset="-122"/>
              </a:rPr>
              <a:t>A＝1，B＝1；</a:t>
            </a:r>
            <a:r>
              <a:rPr lang="zh-CN" altLang="en-US" sz="2400">
                <a:solidFill>
                  <a:srgbClr val="A50021"/>
                </a:solidFill>
                <a:latin typeface="Arial" panose="020B0604020202020204" pitchFamily="34" charset="0"/>
                <a:ea typeface="宋体" panose="02010600030101010101" pitchFamily="2" charset="-122"/>
              </a:rPr>
              <a:t>预期输出：</a:t>
            </a:r>
            <a:r>
              <a:rPr lang="en-US" altLang="zh-CN" sz="2400">
                <a:solidFill>
                  <a:srgbClr val="A50021"/>
                </a:solidFill>
                <a:latin typeface="Arial" panose="020B0604020202020204" pitchFamily="34" charset="0"/>
                <a:ea typeface="宋体" panose="02010600030101010101" pitchFamily="2" charset="-122"/>
              </a:rPr>
              <a:t>X＝5，Y＝10</a:t>
            </a:r>
            <a:br>
              <a:rPr lang="en-US" altLang="zh-CN" sz="2400">
                <a:ea typeface="宋体" panose="02010600030101010101" pitchFamily="2" charset="-122"/>
              </a:rPr>
            </a:br>
            <a:r>
              <a:rPr lang="en-US" altLang="zh-CN" sz="2400">
                <a:ea typeface="宋体" panose="02010600030101010101" pitchFamily="2" charset="-122"/>
              </a:rPr>
              <a:t>2</a:t>
            </a:r>
            <a:r>
              <a:rPr lang="zh-CN" altLang="en-US" sz="2400">
                <a:latin typeface="Times New Roman" panose="02020603050405020304" pitchFamily="18" charset="0"/>
                <a:ea typeface="宋体" panose="02010600030101010101" pitchFamily="2" charset="-122"/>
              </a:rPr>
              <a:t>个判定表达式之值依次为假、真</a:t>
            </a:r>
            <a:endParaRPr lang="zh-CN" altLang="en-US" sz="2400">
              <a:ea typeface="宋体" panose="02010600030101010101" pitchFamily="2" charset="-122"/>
            </a:endParaRPr>
          </a:p>
          <a:p>
            <a:pPr>
              <a:spcBef>
                <a:spcPct val="25000"/>
              </a:spcBef>
              <a:buFont typeface="Wingdings" panose="05000000000000000000" pitchFamily="2" charset="2"/>
              <a:buNone/>
            </a:pPr>
            <a:r>
              <a:rPr lang="zh-CN" altLang="en-US" sz="2400">
                <a:latin typeface="Times New Roman" panose="02020603050405020304" pitchFamily="18" charset="0"/>
                <a:ea typeface="宋体" panose="02010600030101010101" pitchFamily="2" charset="-122"/>
              </a:rPr>
              <a:t>   </a:t>
            </a:r>
            <a:r>
              <a:rPr lang="zh-CN" altLang="en-US" sz="2400">
                <a:solidFill>
                  <a:srgbClr val="A50021"/>
                </a:solidFill>
                <a:latin typeface="Times New Roman" panose="02020603050405020304" pitchFamily="18" charset="0"/>
                <a:ea typeface="宋体" panose="02010600030101010101" pitchFamily="2" charset="-122"/>
              </a:rPr>
              <a:t>输入：</a:t>
            </a:r>
            <a:r>
              <a:rPr lang="en-US" altLang="zh-CN" sz="2400">
                <a:solidFill>
                  <a:srgbClr val="A50021"/>
                </a:solidFill>
                <a:latin typeface="Times New Roman" panose="02020603050405020304" pitchFamily="18" charset="0"/>
                <a:ea typeface="宋体" panose="02010600030101010101" pitchFamily="2" charset="-122"/>
              </a:rPr>
              <a:t>A＝1，B＝40；</a:t>
            </a:r>
            <a:r>
              <a:rPr lang="zh-CN" altLang="en-US" sz="2400">
                <a:solidFill>
                  <a:srgbClr val="A50021"/>
                </a:solidFill>
                <a:latin typeface="Times New Roman" panose="02020603050405020304" pitchFamily="18" charset="0"/>
                <a:ea typeface="宋体" panose="02010600030101010101" pitchFamily="2" charset="-122"/>
              </a:rPr>
              <a:t>预期输出：</a:t>
            </a:r>
            <a:r>
              <a:rPr lang="en-US" altLang="zh-CN" sz="2400">
                <a:solidFill>
                  <a:srgbClr val="A50021"/>
                </a:solidFill>
                <a:latin typeface="Times New Roman" panose="02020603050405020304" pitchFamily="18" charset="0"/>
                <a:ea typeface="宋体" panose="02010600030101010101" pitchFamily="2" charset="-122"/>
              </a:rPr>
              <a:t>X＝5，Y＝30</a:t>
            </a:r>
          </a:p>
          <a:p>
            <a:pPr>
              <a:spcBef>
                <a:spcPct val="25000"/>
              </a:spcBef>
              <a:buFont typeface="Wingdings" panose="05000000000000000000" pitchFamily="2" charset="2"/>
              <a:buNone/>
            </a:pPr>
            <a:r>
              <a:rPr lang="en-US" altLang="zh-CN" sz="2400">
                <a:ea typeface="宋体" panose="02010600030101010101" pitchFamily="2" charset="-122"/>
              </a:rPr>
              <a:t>2</a:t>
            </a:r>
            <a:r>
              <a:rPr lang="zh-CN" altLang="en-US" sz="2400">
                <a:latin typeface="Times New Roman" panose="02020603050405020304" pitchFamily="18" charset="0"/>
                <a:ea typeface="宋体" panose="02010600030101010101" pitchFamily="2" charset="-122"/>
              </a:rPr>
              <a:t>个判定表达式之值依次为真、假</a:t>
            </a:r>
            <a:endParaRPr lang="zh-CN" altLang="en-US" sz="2400">
              <a:ea typeface="宋体" panose="02010600030101010101" pitchFamily="2" charset="-122"/>
            </a:endParaRPr>
          </a:p>
          <a:p>
            <a:pPr>
              <a:spcBef>
                <a:spcPct val="25000"/>
              </a:spcBef>
              <a:buFont typeface="Wingdings" panose="05000000000000000000" pitchFamily="2" charset="2"/>
              <a:buNone/>
            </a:pPr>
            <a:r>
              <a:rPr lang="zh-CN" altLang="en-US" sz="2400">
                <a:latin typeface="Times New Roman" panose="02020603050405020304" pitchFamily="18" charset="0"/>
                <a:ea typeface="宋体" panose="02010600030101010101" pitchFamily="2" charset="-122"/>
              </a:rPr>
              <a:t>   </a:t>
            </a:r>
            <a:r>
              <a:rPr lang="zh-CN" altLang="en-US" sz="2400">
                <a:solidFill>
                  <a:srgbClr val="A50021"/>
                </a:solidFill>
                <a:latin typeface="Times New Roman" panose="02020603050405020304" pitchFamily="18" charset="0"/>
                <a:ea typeface="宋体" panose="02010600030101010101" pitchFamily="2" charset="-122"/>
              </a:rPr>
              <a:t>输入：</a:t>
            </a:r>
            <a:r>
              <a:rPr lang="en-US" altLang="zh-CN" sz="2400">
                <a:solidFill>
                  <a:srgbClr val="A50021"/>
                </a:solidFill>
                <a:latin typeface="Times New Roman" panose="02020603050405020304" pitchFamily="18" charset="0"/>
                <a:ea typeface="宋体" panose="02010600030101010101" pitchFamily="2" charset="-122"/>
              </a:rPr>
              <a:t>A＝20，B＝1；</a:t>
            </a:r>
            <a:r>
              <a:rPr lang="zh-CN" altLang="en-US" sz="2400">
                <a:solidFill>
                  <a:srgbClr val="A50021"/>
                </a:solidFill>
                <a:latin typeface="Times New Roman" panose="02020603050405020304" pitchFamily="18" charset="0"/>
                <a:ea typeface="宋体" panose="02010600030101010101" pitchFamily="2" charset="-122"/>
              </a:rPr>
              <a:t>预期输出：</a:t>
            </a:r>
            <a:r>
              <a:rPr lang="en-US" altLang="zh-CN" sz="2400">
                <a:solidFill>
                  <a:srgbClr val="A50021"/>
                </a:solidFill>
                <a:latin typeface="Times New Roman" panose="02020603050405020304" pitchFamily="18" charset="0"/>
                <a:ea typeface="宋体" panose="02010600030101010101" pitchFamily="2" charset="-122"/>
              </a:rPr>
              <a:t>X＝20，Y＝10</a:t>
            </a:r>
          </a:p>
          <a:p>
            <a:pPr>
              <a:spcBef>
                <a:spcPct val="25000"/>
              </a:spcBef>
              <a:buFont typeface="Wingdings" panose="05000000000000000000" pitchFamily="2" charset="2"/>
              <a:buNone/>
            </a:pPr>
            <a:r>
              <a:rPr lang="en-US" altLang="zh-CN" sz="2400">
                <a:ea typeface="宋体" panose="02010600030101010101" pitchFamily="2" charset="-122"/>
              </a:rPr>
              <a:t>2</a:t>
            </a:r>
            <a:r>
              <a:rPr lang="zh-CN" altLang="en-US" sz="2400">
                <a:latin typeface="Times New Roman" panose="02020603050405020304" pitchFamily="18" charset="0"/>
                <a:ea typeface="宋体" panose="02010600030101010101" pitchFamily="2" charset="-122"/>
              </a:rPr>
              <a:t>个判定表达式之值全为真</a:t>
            </a:r>
            <a:endParaRPr lang="zh-CN" altLang="en-US" sz="2400">
              <a:ea typeface="宋体" panose="02010600030101010101" pitchFamily="2" charset="-122"/>
            </a:endParaRPr>
          </a:p>
          <a:p>
            <a:pPr>
              <a:spcBef>
                <a:spcPct val="25000"/>
              </a:spcBef>
              <a:buFont typeface="Wingdings" panose="05000000000000000000" pitchFamily="2" charset="2"/>
              <a:buNone/>
            </a:pPr>
            <a:r>
              <a:rPr lang="zh-CN" altLang="en-US" sz="2400">
                <a:solidFill>
                  <a:srgbClr val="A50021"/>
                </a:solidFill>
                <a:latin typeface="Times New Roman" panose="02020603050405020304" pitchFamily="18" charset="0"/>
                <a:ea typeface="宋体" panose="02010600030101010101" pitchFamily="2" charset="-122"/>
              </a:rPr>
              <a:t>   输入：</a:t>
            </a:r>
            <a:r>
              <a:rPr lang="en-US" altLang="zh-CN" sz="2400">
                <a:solidFill>
                  <a:srgbClr val="A50021"/>
                </a:solidFill>
                <a:latin typeface="Times New Roman" panose="02020603050405020304" pitchFamily="18" charset="0"/>
                <a:ea typeface="宋体" panose="02010600030101010101" pitchFamily="2" charset="-122"/>
              </a:rPr>
              <a:t>A＝20，B＝40；</a:t>
            </a:r>
            <a:r>
              <a:rPr lang="zh-CN" altLang="en-US" sz="2400">
                <a:solidFill>
                  <a:srgbClr val="A50021"/>
                </a:solidFill>
                <a:latin typeface="Times New Roman" panose="02020603050405020304" pitchFamily="18" charset="0"/>
                <a:ea typeface="宋体" panose="02010600030101010101" pitchFamily="2" charset="-122"/>
              </a:rPr>
              <a:t>预期输出：</a:t>
            </a:r>
            <a:r>
              <a:rPr lang="en-US" altLang="zh-CN" sz="2400">
                <a:solidFill>
                  <a:srgbClr val="A50021"/>
                </a:solidFill>
                <a:latin typeface="Times New Roman" panose="02020603050405020304" pitchFamily="18" charset="0"/>
                <a:ea typeface="宋体" panose="02010600030101010101" pitchFamily="2" charset="-122"/>
              </a:rPr>
              <a:t>X＝20，Y＝30</a:t>
            </a:r>
            <a:endParaRPr lang="zh-CN" altLang="en-US" sz="2400">
              <a:solidFill>
                <a:srgbClr val="A50021"/>
              </a:solidFill>
              <a:latin typeface="Times New Roman" panose="02020603050405020304" pitchFamily="18" charset="0"/>
              <a:ea typeface="宋体" panose="02010600030101010101" pitchFamily="2" charset="-122"/>
            </a:endParaRPr>
          </a:p>
        </p:txBody>
      </p:sp>
      <p:sp>
        <p:nvSpPr>
          <p:cNvPr id="7" name="Text Box 3">
            <a:extLst>
              <a:ext uri="{FF2B5EF4-FFF2-40B4-BE49-F238E27FC236}">
                <a16:creationId xmlns:a16="http://schemas.microsoft.com/office/drawing/2014/main" id="{4557C7A8-8E61-4F8B-B1C8-56B80DDCC056}"/>
              </a:ext>
            </a:extLst>
          </p:cNvPr>
          <p:cNvSpPr txBox="1">
            <a:spLocks noChangeArrowheads="1"/>
          </p:cNvSpPr>
          <p:nvPr/>
        </p:nvSpPr>
        <p:spPr bwMode="auto">
          <a:xfrm>
            <a:off x="2875602" y="1006341"/>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5.1.1 </a:t>
            </a:r>
            <a:r>
              <a:rPr lang="zh-CN" altLang="en-US" sz="4000">
                <a:solidFill>
                  <a:schemeClr val="tx2"/>
                </a:solidFill>
                <a:latin typeface="隶书" panose="02010509060101010101" pitchFamily="49" charset="-122"/>
                <a:ea typeface="隶书" panose="02010509060101010101" pitchFamily="49" charset="-122"/>
              </a:rPr>
              <a:t>软件测试技术</a:t>
            </a:r>
            <a:endParaRPr lang="en-US" altLang="zh-CN" sz="4000">
              <a:solidFill>
                <a:schemeClr val="tx2"/>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323944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BD4CE4F-77CD-435D-AEF4-36258C1D166F}"/>
              </a:ext>
            </a:extLst>
          </p:cNvPr>
          <p:cNvSpPr/>
          <p:nvPr/>
        </p:nvSpPr>
        <p:spPr>
          <a:xfrm>
            <a:off x="8319795" y="269528"/>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5" name="Text Box 25">
            <a:extLst>
              <a:ext uri="{FF2B5EF4-FFF2-40B4-BE49-F238E27FC236}">
                <a16:creationId xmlns:a16="http://schemas.microsoft.com/office/drawing/2014/main" id="{F2A30B9E-6452-4FF9-9D99-89A1CF063477}"/>
              </a:ext>
            </a:extLst>
          </p:cNvPr>
          <p:cNvSpPr txBox="1">
            <a:spLocks noChangeArrowheads="1"/>
          </p:cNvSpPr>
          <p:nvPr/>
        </p:nvSpPr>
        <p:spPr bwMode="auto">
          <a:xfrm>
            <a:off x="4001612" y="989563"/>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dirty="0">
                <a:solidFill>
                  <a:schemeClr val="tx2"/>
                </a:solidFill>
                <a:latin typeface="隶书" panose="02010509060101010101" pitchFamily="49" charset="-122"/>
                <a:ea typeface="隶书" panose="02010509060101010101" pitchFamily="49" charset="-122"/>
              </a:rPr>
              <a:t>5.1.2 </a:t>
            </a:r>
            <a:r>
              <a:rPr lang="zh-CN" altLang="en-US" sz="4000" dirty="0">
                <a:solidFill>
                  <a:schemeClr val="tx2"/>
                </a:solidFill>
                <a:latin typeface="隶书" panose="02010509060101010101" pitchFamily="49" charset="-122"/>
                <a:ea typeface="隶书" panose="02010509060101010101" pitchFamily="49" charset="-122"/>
              </a:rPr>
              <a:t>软件测试过程</a:t>
            </a:r>
            <a:endParaRPr lang="en-US" altLang="zh-CN" sz="4000" dirty="0">
              <a:solidFill>
                <a:schemeClr val="tx2"/>
              </a:solidFill>
              <a:latin typeface="隶书" panose="02010509060101010101" pitchFamily="49" charset="-122"/>
              <a:ea typeface="隶书" panose="02010509060101010101" pitchFamily="49" charset="-122"/>
            </a:endParaRPr>
          </a:p>
        </p:txBody>
      </p:sp>
      <p:sp>
        <p:nvSpPr>
          <p:cNvPr id="7" name="Rectangle 26">
            <a:extLst>
              <a:ext uri="{FF2B5EF4-FFF2-40B4-BE49-F238E27FC236}">
                <a16:creationId xmlns:a16="http://schemas.microsoft.com/office/drawing/2014/main" id="{8F586D2F-ABA2-46FD-AFB3-137A3BB47939}"/>
              </a:ext>
            </a:extLst>
          </p:cNvPr>
          <p:cNvSpPr>
            <a:spLocks noChangeArrowheads="1"/>
          </p:cNvSpPr>
          <p:nvPr/>
        </p:nvSpPr>
        <p:spPr bwMode="auto">
          <a:xfrm>
            <a:off x="1900869" y="1788323"/>
            <a:ext cx="7543800" cy="487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SzPct val="60000"/>
              <a:buFont typeface="Wingdings" panose="05000000000000000000" pitchFamily="2" charset="2"/>
              <a:buChar char="n"/>
            </a:pPr>
            <a:r>
              <a:rPr kumimoji="1" lang="zh-CN" altLang="en-US" sz="2400" dirty="0">
                <a:latin typeface="楷体_GB2312" pitchFamily="49" charset="-122"/>
              </a:rPr>
              <a:t> </a:t>
            </a:r>
            <a:r>
              <a:rPr kumimoji="1" lang="zh-CN" altLang="en-US" sz="2400" dirty="0">
                <a:solidFill>
                  <a:schemeClr val="folHlink"/>
                </a:solidFill>
                <a:latin typeface="楷体_GB2312" pitchFamily="49" charset="-122"/>
              </a:rPr>
              <a:t>测试的步骤</a:t>
            </a:r>
            <a:endParaRPr kumimoji="1" lang="en-US" altLang="zh-CN" sz="2400" dirty="0">
              <a:solidFill>
                <a:schemeClr val="folHlink"/>
              </a:solidFill>
              <a:latin typeface="楷体_GB2312" pitchFamily="49" charset="-122"/>
            </a:endParaRPr>
          </a:p>
          <a:p>
            <a:pPr lvl="1">
              <a:spcBef>
                <a:spcPct val="30000"/>
              </a:spcBef>
              <a:buClr>
                <a:schemeClr val="hlink"/>
              </a:buClr>
              <a:buSzPct val="55000"/>
              <a:buFont typeface="Wingdings" panose="05000000000000000000" pitchFamily="2" charset="2"/>
              <a:buChar char="n"/>
            </a:pPr>
            <a:r>
              <a:rPr kumimoji="1" lang="zh-CN" altLang="en-US" dirty="0">
                <a:latin typeface="楷体_GB2312" pitchFamily="49" charset="-122"/>
              </a:rPr>
              <a:t> 单元测试</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集成测试</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确认测试</a:t>
            </a:r>
          </a:p>
          <a:p>
            <a:pPr>
              <a:spcBef>
                <a:spcPct val="50000"/>
              </a:spcBef>
              <a:buSzPct val="60000"/>
              <a:buFont typeface="Wingdings" panose="05000000000000000000" pitchFamily="2" charset="2"/>
              <a:buChar char="n"/>
            </a:pPr>
            <a:r>
              <a:rPr kumimoji="1" lang="zh-CN" altLang="en-US" sz="2400" dirty="0">
                <a:latin typeface="楷体_GB2312" pitchFamily="49" charset="-122"/>
              </a:rPr>
              <a:t> </a:t>
            </a:r>
            <a:r>
              <a:rPr kumimoji="1" lang="zh-CN" altLang="en-US" sz="2400" dirty="0">
                <a:solidFill>
                  <a:schemeClr val="folHlink"/>
                </a:solidFill>
                <a:latin typeface="楷体_GB2312" pitchFamily="49" charset="-122"/>
              </a:rPr>
              <a:t>单元测试</a:t>
            </a:r>
          </a:p>
          <a:p>
            <a:pPr lvl="1">
              <a:spcBef>
                <a:spcPct val="30000"/>
              </a:spcBef>
              <a:buClr>
                <a:schemeClr val="hlink"/>
              </a:buClr>
              <a:buSzPct val="55000"/>
              <a:buFont typeface="Wingdings" panose="05000000000000000000" pitchFamily="2" charset="2"/>
              <a:buChar char="n"/>
            </a:pPr>
            <a:r>
              <a:rPr kumimoji="1" lang="zh-CN" altLang="en-US" dirty="0">
                <a:latin typeface="楷体_GB2312" pitchFamily="49" charset="-122"/>
              </a:rPr>
              <a:t> 测试的对象：模块</a:t>
            </a:r>
          </a:p>
          <a:p>
            <a:pPr lvl="1">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目的：发现模块内部存在的错误</a:t>
            </a:r>
          </a:p>
          <a:p>
            <a:pPr lvl="1">
              <a:spcBef>
                <a:spcPct val="10000"/>
              </a:spcBef>
              <a:buClr>
                <a:schemeClr val="hlink"/>
              </a:buClr>
              <a:buSzPct val="55000"/>
              <a:buFont typeface="Wingdings" panose="05000000000000000000" pitchFamily="2" charset="2"/>
              <a:buChar char="n"/>
            </a:pPr>
            <a:r>
              <a:rPr kumimoji="1" lang="en-US" altLang="zh-CN" dirty="0">
                <a:latin typeface="楷体_GB2312" pitchFamily="49" charset="-122"/>
              </a:rPr>
              <a:t> </a:t>
            </a:r>
            <a:r>
              <a:rPr kumimoji="1" lang="zh-CN" altLang="en-US" dirty="0">
                <a:latin typeface="楷体_GB2312" pitchFamily="49" charset="-122"/>
              </a:rPr>
              <a:t>内容：</a:t>
            </a:r>
          </a:p>
          <a:p>
            <a:pPr lvl="2">
              <a:lnSpc>
                <a:spcPct val="110000"/>
              </a:lnSpc>
              <a:spcBef>
                <a:spcPct val="10000"/>
              </a:spcBef>
              <a:buSzPct val="50000"/>
              <a:buFont typeface="Wingdings" panose="05000000000000000000" pitchFamily="2" charset="2"/>
              <a:buChar char="n"/>
            </a:pPr>
            <a:r>
              <a:rPr kumimoji="1" lang="zh-CN" altLang="en-US" dirty="0">
                <a:latin typeface="楷体_GB2312" pitchFamily="49" charset="-122"/>
              </a:rPr>
              <a:t> 模块接口</a:t>
            </a:r>
          </a:p>
          <a:p>
            <a:pPr lvl="2">
              <a:spcBef>
                <a:spcPct val="10000"/>
              </a:spcBef>
              <a:buSzPct val="50000"/>
              <a:buFont typeface="Wingdings" panose="05000000000000000000" pitchFamily="2" charset="2"/>
              <a:buChar char="n"/>
            </a:pPr>
            <a:r>
              <a:rPr kumimoji="1" lang="zh-CN" altLang="en-US" dirty="0">
                <a:latin typeface="楷体_GB2312" pitchFamily="49" charset="-122"/>
              </a:rPr>
              <a:t> 模块内的局部数据结构</a:t>
            </a:r>
          </a:p>
          <a:p>
            <a:pPr lvl="2">
              <a:spcBef>
                <a:spcPct val="10000"/>
              </a:spcBef>
              <a:buSzPct val="50000"/>
              <a:buFont typeface="Wingdings" panose="05000000000000000000" pitchFamily="2" charset="2"/>
              <a:buChar char="n"/>
            </a:pPr>
            <a:r>
              <a:rPr kumimoji="1" lang="zh-CN" altLang="en-US" dirty="0">
                <a:latin typeface="楷体_GB2312" pitchFamily="49" charset="-122"/>
              </a:rPr>
              <a:t> 模块内的重要通路（错误处理）</a:t>
            </a:r>
          </a:p>
          <a:p>
            <a:pPr lvl="2">
              <a:spcBef>
                <a:spcPct val="10000"/>
              </a:spcBef>
              <a:buSzPct val="50000"/>
              <a:buFont typeface="Wingdings" panose="05000000000000000000" pitchFamily="2" charset="2"/>
              <a:buChar char="n"/>
            </a:pPr>
            <a:r>
              <a:rPr kumimoji="1" lang="zh-CN" altLang="en-US" dirty="0">
                <a:latin typeface="楷体_GB2312" pitchFamily="49" charset="-122"/>
              </a:rPr>
              <a:t> 边界条件</a:t>
            </a:r>
          </a:p>
          <a:p>
            <a:pPr lvl="1">
              <a:lnSpc>
                <a:spcPct val="110000"/>
              </a:lnSpc>
              <a:spcBef>
                <a:spcPct val="10000"/>
              </a:spcBef>
              <a:buClr>
                <a:schemeClr val="hlink"/>
              </a:buClr>
              <a:buSzPct val="55000"/>
              <a:buFont typeface="Wingdings" panose="05000000000000000000" pitchFamily="2" charset="2"/>
              <a:buChar char="n"/>
            </a:pPr>
            <a:r>
              <a:rPr kumimoji="1" lang="zh-CN" altLang="en-US" dirty="0">
                <a:latin typeface="楷体_GB2312" pitchFamily="49" charset="-122"/>
              </a:rPr>
              <a:t> 发现编码阶段的错误，会涉及到《详细设计报告》。</a:t>
            </a:r>
          </a:p>
        </p:txBody>
      </p:sp>
    </p:spTree>
    <p:extLst>
      <p:ext uri="{BB962C8B-B14F-4D97-AF65-F5344CB8AC3E}">
        <p14:creationId xmlns:p14="http://schemas.microsoft.com/office/powerpoint/2010/main" val="6317044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2766CEC-C769-44C6-AF6E-A8F21BA26170}"/>
              </a:ext>
            </a:extLst>
          </p:cNvPr>
          <p:cNvSpPr/>
          <p:nvPr/>
        </p:nvSpPr>
        <p:spPr>
          <a:xfrm>
            <a:off x="7850011" y="29469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graphicFrame>
        <p:nvGraphicFramePr>
          <p:cNvPr id="5" name="Object 4">
            <a:extLst>
              <a:ext uri="{FF2B5EF4-FFF2-40B4-BE49-F238E27FC236}">
                <a16:creationId xmlns:a16="http://schemas.microsoft.com/office/drawing/2014/main" id="{5E0EE732-6DAB-43D7-9D04-753D3CD6C1E2}"/>
              </a:ext>
            </a:extLst>
          </p:cNvPr>
          <p:cNvGraphicFramePr>
            <a:graphicFrameLocks noChangeAspect="1"/>
          </p:cNvGraphicFramePr>
          <p:nvPr>
            <p:extLst>
              <p:ext uri="{D42A27DB-BD31-4B8C-83A1-F6EECF244321}">
                <p14:modId xmlns:p14="http://schemas.microsoft.com/office/powerpoint/2010/main" val="1328540744"/>
              </p:ext>
            </p:extLst>
          </p:nvPr>
        </p:nvGraphicFramePr>
        <p:xfrm>
          <a:off x="4018994" y="3964876"/>
          <a:ext cx="2667000" cy="1763713"/>
        </p:xfrm>
        <a:graphic>
          <a:graphicData uri="http://schemas.openxmlformats.org/presentationml/2006/ole">
            <mc:AlternateContent xmlns:mc="http://schemas.openxmlformats.org/markup-compatibility/2006">
              <mc:Choice xmlns:v="urn:schemas-microsoft-com:vml" Requires="v">
                <p:oleObj spid="_x0000_s29702" name="位图图像" r:id="rId3" imgW="3715269" imgH="2457143" progId="Paint.Picture">
                  <p:embed/>
                </p:oleObj>
              </mc:Choice>
              <mc:Fallback>
                <p:oleObj name="位图图像" r:id="rId3" imgW="3715269" imgH="2457143" progId="Paint.Picture">
                  <p:embed/>
                  <p:pic>
                    <p:nvPicPr>
                      <p:cNvPr id="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8994" y="3964876"/>
                        <a:ext cx="2667000" cy="176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1AD49686-90CD-455B-886C-DD71353F62C6}"/>
              </a:ext>
            </a:extLst>
          </p:cNvPr>
          <p:cNvGraphicFramePr>
            <a:graphicFrameLocks noChangeAspect="1"/>
          </p:cNvGraphicFramePr>
          <p:nvPr>
            <p:extLst>
              <p:ext uri="{D42A27DB-BD31-4B8C-83A1-F6EECF244321}">
                <p14:modId xmlns:p14="http://schemas.microsoft.com/office/powerpoint/2010/main" val="2057599879"/>
              </p:ext>
            </p:extLst>
          </p:nvPr>
        </p:nvGraphicFramePr>
        <p:xfrm>
          <a:off x="6685994" y="3279076"/>
          <a:ext cx="4191000" cy="2538413"/>
        </p:xfrm>
        <a:graphic>
          <a:graphicData uri="http://schemas.openxmlformats.org/presentationml/2006/ole">
            <mc:AlternateContent xmlns:mc="http://schemas.openxmlformats.org/markup-compatibility/2006">
              <mc:Choice xmlns:v="urn:schemas-microsoft-com:vml" Requires="v">
                <p:oleObj spid="_x0000_s29703" name="位图图像" r:id="rId5" imgW="5047619" imgH="3057143" progId="Paint.Picture">
                  <p:embed/>
                </p:oleObj>
              </mc:Choice>
              <mc:Fallback>
                <p:oleObj name="位图图像" r:id="rId5" imgW="5047619" imgH="3057143" progId="Paint.Picture">
                  <p:embed/>
                  <p:pic>
                    <p:nvPicPr>
                      <p:cNvPr id="4"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5994" y="3279076"/>
                        <a:ext cx="4191000" cy="253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3">
            <a:extLst>
              <a:ext uri="{FF2B5EF4-FFF2-40B4-BE49-F238E27FC236}">
                <a16:creationId xmlns:a16="http://schemas.microsoft.com/office/drawing/2014/main" id="{D5B47F61-24A7-4EED-8F7A-7E2BB2008FC0}"/>
              </a:ext>
            </a:extLst>
          </p:cNvPr>
          <p:cNvSpPr>
            <a:spLocks noChangeArrowheads="1"/>
          </p:cNvSpPr>
          <p:nvPr/>
        </p:nvSpPr>
        <p:spPr bwMode="auto">
          <a:xfrm>
            <a:off x="2647394" y="2028126"/>
            <a:ext cx="8305800" cy="490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SzPct val="60000"/>
              <a:buFont typeface="Wingdings" panose="05000000000000000000" pitchFamily="2" charset="2"/>
              <a:buChar char="n"/>
            </a:pPr>
            <a:r>
              <a:rPr kumimoji="1" lang="zh-CN" altLang="en-US" sz="2400">
                <a:latin typeface="楷体_GB2312" pitchFamily="49" charset="-122"/>
              </a:rPr>
              <a:t> </a:t>
            </a:r>
            <a:r>
              <a:rPr kumimoji="1" lang="zh-CN" altLang="en-US" sz="2400">
                <a:solidFill>
                  <a:schemeClr val="folHlink"/>
                </a:solidFill>
                <a:latin typeface="楷体_GB2312" pitchFamily="49" charset="-122"/>
              </a:rPr>
              <a:t>集成测试</a:t>
            </a:r>
            <a:endParaRPr kumimoji="1" lang="en-US" altLang="zh-CN" sz="2400">
              <a:solidFill>
                <a:schemeClr val="folHlink"/>
              </a:solidFill>
              <a:latin typeface="楷体_GB2312" pitchFamily="49" charset="-122"/>
            </a:endParaRPr>
          </a:p>
          <a:p>
            <a:pPr lvl="1">
              <a:spcBef>
                <a:spcPct val="30000"/>
              </a:spcBef>
              <a:buClr>
                <a:schemeClr val="hlink"/>
              </a:buClr>
              <a:buSzPct val="55000"/>
              <a:buFont typeface="Wingdings" panose="05000000000000000000" pitchFamily="2" charset="2"/>
              <a:buChar char="n"/>
            </a:pPr>
            <a:r>
              <a:rPr kumimoji="1" lang="zh-CN" altLang="en-US">
                <a:latin typeface="楷体_GB2312" pitchFamily="49" charset="-122"/>
              </a:rPr>
              <a:t> 目的：发现软件设计阶段的错误，会涉及到《概要设计报告》。</a:t>
            </a:r>
          </a:p>
          <a:p>
            <a:pPr lvl="1">
              <a:spcBef>
                <a:spcPct val="30000"/>
              </a:spcBef>
              <a:buClr>
                <a:schemeClr val="hlink"/>
              </a:buClr>
              <a:buSzPct val="55000"/>
              <a:buFont typeface="Wingdings" panose="05000000000000000000" pitchFamily="2" charset="2"/>
              <a:buChar char="n"/>
            </a:pPr>
            <a:r>
              <a:rPr kumimoji="1" lang="zh-CN" altLang="en-US">
                <a:latin typeface="楷体_GB2312" pitchFamily="49" charset="-122"/>
              </a:rPr>
              <a:t> 方法：在组装软件系统的同时，进行测试</a:t>
            </a:r>
          </a:p>
          <a:p>
            <a:pPr lvl="2">
              <a:lnSpc>
                <a:spcPct val="110000"/>
              </a:lnSpc>
              <a:spcBef>
                <a:spcPct val="10000"/>
              </a:spcBef>
              <a:buSzPct val="50000"/>
              <a:buFont typeface="Wingdings" panose="05000000000000000000" pitchFamily="2" charset="2"/>
              <a:buChar char="n"/>
            </a:pPr>
            <a:r>
              <a:rPr kumimoji="1" lang="zh-CN" altLang="en-US">
                <a:latin typeface="楷体_GB2312" pitchFamily="49" charset="-122"/>
              </a:rPr>
              <a:t> 自顶向下，需要</a:t>
            </a:r>
            <a:r>
              <a:rPr kumimoji="1" lang="zh-CN" altLang="en-US">
                <a:latin typeface="Times New Roman" panose="02020603050405020304" pitchFamily="18" charset="0"/>
              </a:rPr>
              <a:t>“</a:t>
            </a:r>
            <a:r>
              <a:rPr kumimoji="1" lang="zh-CN" altLang="en-US">
                <a:latin typeface="楷体_GB2312" pitchFamily="49" charset="-122"/>
              </a:rPr>
              <a:t>存根程序(桩)</a:t>
            </a:r>
            <a:r>
              <a:rPr kumimoji="1" lang="zh-CN" altLang="en-US">
                <a:latin typeface="Times New Roman" panose="02020603050405020304" pitchFamily="18" charset="0"/>
              </a:rPr>
              <a:t>”</a:t>
            </a:r>
            <a:endParaRPr kumimoji="1" lang="zh-CN" altLang="en-US">
              <a:latin typeface="楷体_GB2312" pitchFamily="49" charset="-122"/>
            </a:endParaRPr>
          </a:p>
          <a:p>
            <a:pPr lvl="2">
              <a:spcBef>
                <a:spcPct val="10000"/>
              </a:spcBef>
              <a:buSzPct val="50000"/>
              <a:buFont typeface="Wingdings" panose="05000000000000000000" pitchFamily="2" charset="2"/>
              <a:buChar char="n"/>
            </a:pPr>
            <a:r>
              <a:rPr kumimoji="1" lang="zh-CN" altLang="en-US">
                <a:latin typeface="楷体_GB2312" pitchFamily="49" charset="-122"/>
              </a:rPr>
              <a:t> 自底向上，需要</a:t>
            </a:r>
            <a:r>
              <a:rPr kumimoji="1" lang="zh-CN" altLang="en-US">
                <a:latin typeface="Times New Roman" panose="02020603050405020304" pitchFamily="18" charset="0"/>
              </a:rPr>
              <a:t>“</a:t>
            </a:r>
            <a:r>
              <a:rPr kumimoji="1" lang="zh-CN" altLang="en-US">
                <a:latin typeface="楷体_GB2312" pitchFamily="49" charset="-122"/>
              </a:rPr>
              <a:t>驱动程序</a:t>
            </a:r>
            <a:r>
              <a:rPr kumimoji="1" lang="zh-CN" altLang="en-US">
                <a:latin typeface="Times New Roman" panose="02020603050405020304" pitchFamily="18" charset="0"/>
              </a:rPr>
              <a:t>”</a:t>
            </a:r>
            <a:endParaRPr kumimoji="1" lang="zh-CN" altLang="en-US">
              <a:latin typeface="楷体_GB2312" pitchFamily="49" charset="-122"/>
            </a:endParaRPr>
          </a:p>
          <a:p>
            <a:pPr lvl="2">
              <a:spcBef>
                <a:spcPct val="10000"/>
              </a:spcBef>
              <a:buSzPct val="50000"/>
              <a:buFont typeface="Wingdings" panose="05000000000000000000" pitchFamily="2" charset="2"/>
              <a:buChar char="n"/>
            </a:pPr>
            <a:r>
              <a:rPr kumimoji="1" lang="zh-CN" altLang="en-US">
                <a:latin typeface="楷体_GB2312" pitchFamily="49" charset="-122"/>
              </a:rPr>
              <a:t> 混合策略</a:t>
            </a:r>
          </a:p>
          <a:p>
            <a:pPr lvl="2">
              <a:spcBef>
                <a:spcPct val="10000"/>
              </a:spcBef>
              <a:buSzPct val="50000"/>
              <a:buFont typeface="Wingdings" panose="05000000000000000000" pitchFamily="2" charset="2"/>
              <a:buNone/>
            </a:pPr>
            <a:endParaRPr kumimoji="1" lang="zh-CN" altLang="en-US">
              <a:latin typeface="楷体_GB2312" pitchFamily="49" charset="-122"/>
            </a:endParaRPr>
          </a:p>
          <a:p>
            <a:pPr lvl="2">
              <a:spcBef>
                <a:spcPct val="10000"/>
              </a:spcBef>
              <a:buSzPct val="50000"/>
              <a:buFont typeface="Wingdings" panose="05000000000000000000" pitchFamily="2" charset="2"/>
              <a:buNone/>
            </a:pPr>
            <a:endParaRPr kumimoji="1" lang="zh-CN" altLang="en-US">
              <a:latin typeface="楷体_GB2312" pitchFamily="49" charset="-122"/>
            </a:endParaRPr>
          </a:p>
          <a:p>
            <a:pPr lvl="2">
              <a:spcBef>
                <a:spcPct val="10000"/>
              </a:spcBef>
              <a:buSzPct val="50000"/>
              <a:buFont typeface="Wingdings" panose="05000000000000000000" pitchFamily="2" charset="2"/>
              <a:buNone/>
            </a:pPr>
            <a:endParaRPr kumimoji="1" lang="zh-CN" altLang="en-US">
              <a:latin typeface="楷体_GB2312" pitchFamily="49" charset="-122"/>
            </a:endParaRPr>
          </a:p>
          <a:p>
            <a:pPr lvl="2">
              <a:spcBef>
                <a:spcPct val="10000"/>
              </a:spcBef>
              <a:buSzPct val="50000"/>
              <a:buFont typeface="Wingdings" panose="05000000000000000000" pitchFamily="2" charset="2"/>
              <a:buNone/>
            </a:pPr>
            <a:endParaRPr kumimoji="1" lang="zh-CN" altLang="en-US">
              <a:latin typeface="楷体_GB2312" pitchFamily="49" charset="-122"/>
            </a:endParaRPr>
          </a:p>
          <a:p>
            <a:pPr>
              <a:spcBef>
                <a:spcPct val="50000"/>
              </a:spcBef>
              <a:buSzPct val="60000"/>
              <a:buFont typeface="Wingdings" panose="05000000000000000000" pitchFamily="2" charset="2"/>
              <a:buChar char="n"/>
            </a:pPr>
            <a:r>
              <a:rPr kumimoji="1" lang="zh-CN" altLang="en-US" sz="2400">
                <a:solidFill>
                  <a:schemeClr val="folHlink"/>
                </a:solidFill>
                <a:latin typeface="楷体_GB2312" pitchFamily="49" charset="-122"/>
              </a:rPr>
              <a:t> 确认测试（有效性测试、验收测试）</a:t>
            </a:r>
          </a:p>
          <a:p>
            <a:pPr lvl="1">
              <a:spcBef>
                <a:spcPct val="30000"/>
              </a:spcBef>
              <a:buClr>
                <a:schemeClr val="hlink"/>
              </a:buClr>
              <a:buSzPct val="55000"/>
              <a:buFont typeface="Wingdings" panose="05000000000000000000" pitchFamily="2" charset="2"/>
              <a:buChar char="n"/>
            </a:pPr>
            <a:r>
              <a:rPr kumimoji="1" lang="zh-CN" altLang="en-US">
                <a:latin typeface="楷体_GB2312" pitchFamily="49" charset="-122"/>
              </a:rPr>
              <a:t> 检查系统的功能和性能、检查文档</a:t>
            </a:r>
          </a:p>
          <a:p>
            <a:pPr lvl="1">
              <a:spcBef>
                <a:spcPct val="10000"/>
              </a:spcBef>
              <a:buClr>
                <a:schemeClr val="hlink"/>
              </a:buClr>
              <a:buSzPct val="55000"/>
              <a:buFont typeface="Wingdings" panose="05000000000000000000" pitchFamily="2" charset="2"/>
              <a:buChar char="n"/>
            </a:pPr>
            <a:r>
              <a:rPr kumimoji="1" lang="zh-CN" altLang="en-US">
                <a:latin typeface="楷体_GB2312" pitchFamily="49" charset="-122"/>
              </a:rPr>
              <a:t> 发现软件分析阶段的错误，会涉及到《需求分析报告》。</a:t>
            </a:r>
          </a:p>
        </p:txBody>
      </p:sp>
      <p:sp>
        <p:nvSpPr>
          <p:cNvPr id="11" name="Text Box 6">
            <a:extLst>
              <a:ext uri="{FF2B5EF4-FFF2-40B4-BE49-F238E27FC236}">
                <a16:creationId xmlns:a16="http://schemas.microsoft.com/office/drawing/2014/main" id="{02F8A556-2222-46F9-A8E0-DCDE70F0110F}"/>
              </a:ext>
            </a:extLst>
          </p:cNvPr>
          <p:cNvSpPr txBox="1">
            <a:spLocks noChangeArrowheads="1"/>
          </p:cNvSpPr>
          <p:nvPr/>
        </p:nvSpPr>
        <p:spPr bwMode="auto">
          <a:xfrm>
            <a:off x="3028394" y="1145476"/>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5.1.2 </a:t>
            </a:r>
            <a:r>
              <a:rPr lang="zh-CN" altLang="en-US" sz="4000">
                <a:solidFill>
                  <a:schemeClr val="tx2"/>
                </a:solidFill>
                <a:latin typeface="隶书" panose="02010509060101010101" pitchFamily="49" charset="-122"/>
                <a:ea typeface="隶书" panose="02010509060101010101" pitchFamily="49" charset="-122"/>
              </a:rPr>
              <a:t>软件测试过程</a:t>
            </a:r>
            <a:endParaRPr lang="en-US" altLang="zh-CN" sz="4000">
              <a:solidFill>
                <a:schemeClr val="tx2"/>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6456332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FE11EBD-A596-4309-A62F-089B12CC7B52}"/>
              </a:ext>
            </a:extLst>
          </p:cNvPr>
          <p:cNvSpPr/>
          <p:nvPr/>
        </p:nvSpPr>
        <p:spPr>
          <a:xfrm>
            <a:off x="7489285" y="37858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3" name="Text Box 2">
            <a:extLst>
              <a:ext uri="{FF2B5EF4-FFF2-40B4-BE49-F238E27FC236}">
                <a16:creationId xmlns:a16="http://schemas.microsoft.com/office/drawing/2014/main" id="{7C04C859-F4E7-4CEE-9A82-F22D104FEA40}"/>
              </a:ext>
            </a:extLst>
          </p:cNvPr>
          <p:cNvSpPr txBox="1">
            <a:spLocks noChangeArrowheads="1"/>
          </p:cNvSpPr>
          <p:nvPr/>
        </p:nvSpPr>
        <p:spPr bwMode="auto">
          <a:xfrm>
            <a:off x="3140279" y="1149991"/>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5.1.3 </a:t>
            </a:r>
            <a:r>
              <a:rPr lang="zh-CN" altLang="en-US" sz="4000">
                <a:solidFill>
                  <a:schemeClr val="tx2"/>
                </a:solidFill>
                <a:latin typeface="隶书" panose="02010509060101010101" pitchFamily="49" charset="-122"/>
                <a:ea typeface="隶书" panose="02010509060101010101" pitchFamily="49" charset="-122"/>
              </a:rPr>
              <a:t>面向对象测试</a:t>
            </a:r>
            <a:endParaRPr lang="en-US" altLang="zh-CN" sz="4000">
              <a:solidFill>
                <a:schemeClr val="tx2"/>
              </a:solidFill>
              <a:latin typeface="隶书" panose="02010509060101010101" pitchFamily="49" charset="-122"/>
              <a:ea typeface="隶书" panose="02010509060101010101" pitchFamily="49" charset="-122"/>
            </a:endParaRPr>
          </a:p>
        </p:txBody>
      </p:sp>
      <p:grpSp>
        <p:nvGrpSpPr>
          <p:cNvPr id="4" name="Group 9">
            <a:extLst>
              <a:ext uri="{FF2B5EF4-FFF2-40B4-BE49-F238E27FC236}">
                <a16:creationId xmlns:a16="http://schemas.microsoft.com/office/drawing/2014/main" id="{9347309F-519A-44F0-9F80-2408F6A8FA8F}"/>
              </a:ext>
            </a:extLst>
          </p:cNvPr>
          <p:cNvGrpSpPr>
            <a:grpSpLocks/>
          </p:cNvGrpSpPr>
          <p:nvPr/>
        </p:nvGrpSpPr>
        <p:grpSpPr bwMode="auto">
          <a:xfrm>
            <a:off x="2759279" y="2216791"/>
            <a:ext cx="7543800" cy="3816350"/>
            <a:chOff x="528" y="1296"/>
            <a:chExt cx="4752" cy="2404"/>
          </a:xfrm>
        </p:grpSpPr>
        <p:sp>
          <p:nvSpPr>
            <p:cNvPr id="5" name="Rectangle 3">
              <a:extLst>
                <a:ext uri="{FF2B5EF4-FFF2-40B4-BE49-F238E27FC236}">
                  <a16:creationId xmlns:a16="http://schemas.microsoft.com/office/drawing/2014/main" id="{2145A4BA-DD24-486E-B60B-B66007B39527}"/>
                </a:ext>
              </a:extLst>
            </p:cNvPr>
            <p:cNvSpPr>
              <a:spLocks noChangeArrowheads="1"/>
            </p:cNvSpPr>
            <p:nvPr/>
          </p:nvSpPr>
          <p:spPr bwMode="auto">
            <a:xfrm>
              <a:off x="528" y="1296"/>
              <a:ext cx="4752" cy="2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SzPct val="60000"/>
                <a:buFont typeface="Wingdings" panose="05000000000000000000" pitchFamily="2" charset="2"/>
                <a:buNone/>
              </a:pPr>
              <a:r>
                <a:rPr kumimoji="1" lang="zh-CN" altLang="en-US" sz="2400">
                  <a:latin typeface="楷体_GB2312" pitchFamily="49" charset="-122"/>
                </a:rPr>
                <a:t>    结构化测试的目的、概念、方法和技术，在面向对象技术中同样适用，分为四个层次：</a:t>
              </a:r>
              <a:endParaRPr kumimoji="1" lang="zh-CN" altLang="en-US">
                <a:latin typeface="楷体_GB2312" pitchFamily="49" charset="-122"/>
              </a:endParaRPr>
            </a:p>
            <a:p>
              <a:pPr>
                <a:spcBef>
                  <a:spcPct val="50000"/>
                </a:spcBef>
                <a:buSzPct val="60000"/>
                <a:buFont typeface="Wingdings" panose="05000000000000000000" pitchFamily="2" charset="2"/>
                <a:buChar char="n"/>
              </a:pPr>
              <a:r>
                <a:rPr kumimoji="1" lang="zh-CN" altLang="en-US" sz="2400">
                  <a:latin typeface="楷体_GB2312" pitchFamily="49" charset="-122"/>
                </a:rPr>
                <a:t> </a:t>
              </a:r>
              <a:r>
                <a:rPr kumimoji="1" lang="zh-CN" altLang="en-US" sz="2400">
                  <a:solidFill>
                    <a:schemeClr val="folHlink"/>
                  </a:solidFill>
                  <a:latin typeface="楷体_GB2312" pitchFamily="49" charset="-122"/>
                </a:rPr>
                <a:t>算法层</a:t>
              </a:r>
            </a:p>
            <a:p>
              <a:pPr>
                <a:spcBef>
                  <a:spcPct val="50000"/>
                </a:spcBef>
                <a:buSzPct val="60000"/>
                <a:buFont typeface="Wingdings" panose="05000000000000000000" pitchFamily="2" charset="2"/>
                <a:buChar char="n"/>
              </a:pPr>
              <a:r>
                <a:rPr kumimoji="1" lang="zh-CN" altLang="en-US" sz="2400">
                  <a:solidFill>
                    <a:schemeClr val="folHlink"/>
                  </a:solidFill>
                  <a:latin typeface="楷体_GB2312" pitchFamily="49" charset="-122"/>
                </a:rPr>
                <a:t> 类层</a:t>
              </a:r>
            </a:p>
            <a:p>
              <a:pPr>
                <a:spcBef>
                  <a:spcPct val="50000"/>
                </a:spcBef>
                <a:buSzPct val="60000"/>
                <a:buFont typeface="Wingdings" panose="05000000000000000000" pitchFamily="2" charset="2"/>
                <a:buChar char="n"/>
              </a:pPr>
              <a:r>
                <a:rPr kumimoji="1" lang="zh-CN" altLang="en-US" sz="2400">
                  <a:solidFill>
                    <a:schemeClr val="folHlink"/>
                  </a:solidFill>
                  <a:latin typeface="楷体_GB2312" pitchFamily="49" charset="-122"/>
                </a:rPr>
                <a:t> 主题层</a:t>
              </a:r>
            </a:p>
            <a:p>
              <a:pPr>
                <a:spcBef>
                  <a:spcPct val="50000"/>
                </a:spcBef>
                <a:buSzPct val="60000"/>
                <a:buFont typeface="Wingdings" panose="05000000000000000000" pitchFamily="2" charset="2"/>
                <a:buChar char="n"/>
              </a:pPr>
              <a:r>
                <a:rPr kumimoji="1" lang="zh-CN" altLang="en-US" sz="2400">
                  <a:solidFill>
                    <a:schemeClr val="folHlink"/>
                  </a:solidFill>
                  <a:latin typeface="楷体_GB2312" pitchFamily="49" charset="-122"/>
                </a:rPr>
                <a:t> 系统层</a:t>
              </a:r>
            </a:p>
            <a:p>
              <a:pPr lvl="1">
                <a:spcBef>
                  <a:spcPct val="20000"/>
                </a:spcBef>
                <a:buClr>
                  <a:schemeClr val="hlink"/>
                </a:buClr>
                <a:buSzPct val="55000"/>
                <a:buFont typeface="Wingdings" panose="05000000000000000000" pitchFamily="2" charset="2"/>
                <a:buChar char="n"/>
              </a:pPr>
              <a:r>
                <a:rPr kumimoji="1" lang="zh-CN" altLang="en-US" sz="2200">
                  <a:latin typeface="楷体_GB2312" pitchFamily="49" charset="-122"/>
                </a:rPr>
                <a:t> 面向对象的封装、继承和多态机制，增加了面向对象</a:t>
              </a:r>
            </a:p>
            <a:p>
              <a:pPr lvl="1">
                <a:spcBef>
                  <a:spcPct val="20000"/>
                </a:spcBef>
                <a:buClr>
                  <a:schemeClr val="hlink"/>
                </a:buClr>
                <a:buSzPct val="55000"/>
                <a:buFont typeface="Wingdings" panose="05000000000000000000" pitchFamily="2" charset="2"/>
                <a:buNone/>
              </a:pPr>
              <a:r>
                <a:rPr kumimoji="1" lang="zh-CN" altLang="en-US" sz="2200">
                  <a:latin typeface="楷体_GB2312" pitchFamily="49" charset="-122"/>
                </a:rPr>
                <a:t>  测试的新特点</a:t>
              </a:r>
            </a:p>
          </p:txBody>
        </p:sp>
        <p:sp>
          <p:nvSpPr>
            <p:cNvPr id="6" name="Text Box 4">
              <a:extLst>
                <a:ext uri="{FF2B5EF4-FFF2-40B4-BE49-F238E27FC236}">
                  <a16:creationId xmlns:a16="http://schemas.microsoft.com/office/drawing/2014/main" id="{AE80EDDB-5498-4F44-9C5E-AA0108BE6444}"/>
                </a:ext>
              </a:extLst>
            </p:cNvPr>
            <p:cNvSpPr txBox="1">
              <a:spLocks noChangeArrowheads="1"/>
            </p:cNvSpPr>
            <p:nvPr/>
          </p:nvSpPr>
          <p:spPr bwMode="auto">
            <a:xfrm>
              <a:off x="1584" y="2054"/>
              <a:ext cx="16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None/>
              </a:pPr>
              <a:r>
                <a:rPr lang="zh-CN" altLang="en-US">
                  <a:solidFill>
                    <a:schemeClr val="hlink"/>
                  </a:solidFill>
                </a:rPr>
                <a:t>单元测试、模块测试</a:t>
              </a:r>
            </a:p>
          </p:txBody>
        </p:sp>
        <p:sp>
          <p:nvSpPr>
            <p:cNvPr id="7" name="Text Box 5">
              <a:extLst>
                <a:ext uri="{FF2B5EF4-FFF2-40B4-BE49-F238E27FC236}">
                  <a16:creationId xmlns:a16="http://schemas.microsoft.com/office/drawing/2014/main" id="{CFCBD3D8-404A-4510-8E29-24FDC1D08CC2}"/>
                </a:ext>
              </a:extLst>
            </p:cNvPr>
            <p:cNvSpPr txBox="1">
              <a:spLocks noChangeArrowheads="1"/>
            </p:cNvSpPr>
            <p:nvPr/>
          </p:nvSpPr>
          <p:spPr bwMode="auto">
            <a:xfrm>
              <a:off x="1584" y="2688"/>
              <a:ext cx="17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None/>
              </a:pPr>
              <a:r>
                <a:rPr lang="zh-CN" altLang="en-US">
                  <a:solidFill>
                    <a:schemeClr val="hlink"/>
                  </a:solidFill>
                </a:rPr>
                <a:t>集成测试，注重</a:t>
              </a:r>
              <a:r>
                <a:rPr lang="zh-CN" altLang="en-US">
                  <a:solidFill>
                    <a:schemeClr val="hlink"/>
                  </a:solidFill>
                  <a:latin typeface="Times New Roman" panose="02020603050405020304" pitchFamily="18" charset="0"/>
                </a:rPr>
                <a:t>“</a:t>
              </a:r>
              <a:r>
                <a:rPr lang="zh-CN" altLang="en-US">
                  <a:solidFill>
                    <a:schemeClr val="hlink"/>
                  </a:solidFill>
                </a:rPr>
                <a:t>类</a:t>
              </a:r>
              <a:r>
                <a:rPr lang="zh-CN" altLang="en-US">
                  <a:solidFill>
                    <a:schemeClr val="hlink"/>
                  </a:solidFill>
                  <a:latin typeface="Times New Roman" panose="02020603050405020304" pitchFamily="18" charset="0"/>
                </a:rPr>
                <a:t>&amp;</a:t>
              </a:r>
              <a:r>
                <a:rPr lang="zh-CN" altLang="en-US">
                  <a:solidFill>
                    <a:schemeClr val="hlink"/>
                  </a:solidFill>
                </a:rPr>
                <a:t>对象</a:t>
              </a:r>
              <a:r>
                <a:rPr lang="zh-CN" altLang="en-US">
                  <a:solidFill>
                    <a:schemeClr val="hlink"/>
                  </a:solidFill>
                  <a:latin typeface="Times New Roman" panose="02020603050405020304" pitchFamily="18" charset="0"/>
                </a:rPr>
                <a:t>”</a:t>
              </a:r>
              <a:r>
                <a:rPr lang="zh-CN" altLang="en-US">
                  <a:solidFill>
                    <a:schemeClr val="hlink"/>
                  </a:solidFill>
                </a:rPr>
                <a:t>之间的协作关系</a:t>
              </a:r>
            </a:p>
          </p:txBody>
        </p:sp>
        <p:sp>
          <p:nvSpPr>
            <p:cNvPr id="8" name="AutoShape 6">
              <a:extLst>
                <a:ext uri="{FF2B5EF4-FFF2-40B4-BE49-F238E27FC236}">
                  <a16:creationId xmlns:a16="http://schemas.microsoft.com/office/drawing/2014/main" id="{565B8010-3384-4481-8BCF-B18265E49ECC}"/>
                </a:ext>
              </a:extLst>
            </p:cNvPr>
            <p:cNvSpPr>
              <a:spLocks/>
            </p:cNvSpPr>
            <p:nvPr/>
          </p:nvSpPr>
          <p:spPr bwMode="auto">
            <a:xfrm>
              <a:off x="1488" y="1968"/>
              <a:ext cx="48" cy="432"/>
            </a:xfrm>
            <a:prstGeom prst="rightBrace">
              <a:avLst>
                <a:gd name="adj1" fmla="val 75000"/>
                <a:gd name="adj2" fmla="val 50000"/>
              </a:avLst>
            </a:prstGeom>
            <a:noFill/>
            <a:ln w="22225">
              <a:solidFill>
                <a:schemeClr val="hlink"/>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 name="AutoShape 8">
              <a:extLst>
                <a:ext uri="{FF2B5EF4-FFF2-40B4-BE49-F238E27FC236}">
                  <a16:creationId xmlns:a16="http://schemas.microsoft.com/office/drawing/2014/main" id="{CBF0F800-6FCF-4A8E-A6F5-EF5AA3B838CC}"/>
                </a:ext>
              </a:extLst>
            </p:cNvPr>
            <p:cNvSpPr>
              <a:spLocks/>
            </p:cNvSpPr>
            <p:nvPr/>
          </p:nvSpPr>
          <p:spPr bwMode="auto">
            <a:xfrm>
              <a:off x="1488" y="2688"/>
              <a:ext cx="48" cy="432"/>
            </a:xfrm>
            <a:prstGeom prst="rightBrace">
              <a:avLst>
                <a:gd name="adj1" fmla="val 75000"/>
                <a:gd name="adj2" fmla="val 50000"/>
              </a:avLst>
            </a:prstGeom>
            <a:noFill/>
            <a:ln w="22225">
              <a:solidFill>
                <a:schemeClr val="hlink"/>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Tree>
    <p:extLst>
      <p:ext uri="{BB962C8B-B14F-4D97-AF65-F5344CB8AC3E}">
        <p14:creationId xmlns:p14="http://schemas.microsoft.com/office/powerpoint/2010/main" val="2858813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5D005F-3D8B-4449-B82B-C88A69625165}"/>
              </a:ext>
            </a:extLst>
          </p:cNvPr>
          <p:cNvSpPr/>
          <p:nvPr/>
        </p:nvSpPr>
        <p:spPr>
          <a:xfrm>
            <a:off x="7220837" y="21080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3" name="Text Box 2">
            <a:extLst>
              <a:ext uri="{FF2B5EF4-FFF2-40B4-BE49-F238E27FC236}">
                <a16:creationId xmlns:a16="http://schemas.microsoft.com/office/drawing/2014/main" id="{430D0F26-2008-4626-AF7A-76FDCBC7DFE7}"/>
              </a:ext>
            </a:extLst>
          </p:cNvPr>
          <p:cNvSpPr txBox="1">
            <a:spLocks noChangeArrowheads="1"/>
          </p:cNvSpPr>
          <p:nvPr/>
        </p:nvSpPr>
        <p:spPr bwMode="auto">
          <a:xfrm>
            <a:off x="2871831" y="982211"/>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5.2 </a:t>
            </a:r>
            <a:r>
              <a:rPr lang="zh-CN" altLang="en-US" sz="4000">
                <a:solidFill>
                  <a:schemeClr val="tx2"/>
                </a:solidFill>
                <a:latin typeface="隶书" panose="02010509060101010101" pitchFamily="49" charset="-122"/>
                <a:ea typeface="隶书" panose="02010509060101010101" pitchFamily="49" charset="-122"/>
              </a:rPr>
              <a:t>程序调试</a:t>
            </a:r>
            <a:endParaRPr lang="en-US" altLang="zh-CN" sz="4000">
              <a:solidFill>
                <a:schemeClr val="tx2"/>
              </a:solidFill>
              <a:latin typeface="隶书" panose="02010509060101010101" pitchFamily="49" charset="-122"/>
              <a:ea typeface="隶书" panose="02010509060101010101" pitchFamily="49" charset="-122"/>
            </a:endParaRPr>
          </a:p>
        </p:txBody>
      </p:sp>
      <p:grpSp>
        <p:nvGrpSpPr>
          <p:cNvPr id="4" name="Group 9">
            <a:extLst>
              <a:ext uri="{FF2B5EF4-FFF2-40B4-BE49-F238E27FC236}">
                <a16:creationId xmlns:a16="http://schemas.microsoft.com/office/drawing/2014/main" id="{6612D163-D1D2-459B-BEF1-13C038535C95}"/>
              </a:ext>
            </a:extLst>
          </p:cNvPr>
          <p:cNvGrpSpPr>
            <a:grpSpLocks/>
          </p:cNvGrpSpPr>
          <p:nvPr/>
        </p:nvGrpSpPr>
        <p:grpSpPr bwMode="auto">
          <a:xfrm>
            <a:off x="2338431" y="1972811"/>
            <a:ext cx="8458200" cy="4419600"/>
            <a:chOff x="432" y="1248"/>
            <a:chExt cx="5328" cy="2784"/>
          </a:xfrm>
        </p:grpSpPr>
        <p:grpSp>
          <p:nvGrpSpPr>
            <p:cNvPr id="5" name="Group 7">
              <a:extLst>
                <a:ext uri="{FF2B5EF4-FFF2-40B4-BE49-F238E27FC236}">
                  <a16:creationId xmlns:a16="http://schemas.microsoft.com/office/drawing/2014/main" id="{A2682686-661D-48FD-B75E-A1DE40C2E0BC}"/>
                </a:ext>
              </a:extLst>
            </p:cNvPr>
            <p:cNvGrpSpPr>
              <a:grpSpLocks/>
            </p:cNvGrpSpPr>
            <p:nvPr/>
          </p:nvGrpSpPr>
          <p:grpSpPr bwMode="auto">
            <a:xfrm>
              <a:off x="912" y="2956"/>
              <a:ext cx="4848" cy="1076"/>
              <a:chOff x="768" y="2044"/>
              <a:chExt cx="4848" cy="1076"/>
            </a:xfrm>
          </p:grpSpPr>
          <p:sp>
            <p:nvSpPr>
              <p:cNvPr id="7" name="Rectangle 3">
                <a:extLst>
                  <a:ext uri="{FF2B5EF4-FFF2-40B4-BE49-F238E27FC236}">
                    <a16:creationId xmlns:a16="http://schemas.microsoft.com/office/drawing/2014/main" id="{3919E959-BB4A-402F-BC04-13A1CA1F15F0}"/>
                  </a:ext>
                </a:extLst>
              </p:cNvPr>
              <p:cNvSpPr>
                <a:spLocks noChangeArrowheads="1"/>
              </p:cNvSpPr>
              <p:nvPr/>
            </p:nvSpPr>
            <p:spPr bwMode="auto">
              <a:xfrm>
                <a:off x="768" y="2044"/>
                <a:ext cx="3360" cy="1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spcAft>
                    <a:spcPct val="15000"/>
                  </a:spcAft>
                  <a:buSzPct val="60000"/>
                  <a:buFont typeface="Wingdings" panose="05000000000000000000" pitchFamily="2" charset="2"/>
                  <a:buChar char="n"/>
                </a:pPr>
                <a:r>
                  <a:rPr lang="zh-CN" altLang="en-US" sz="2400">
                    <a:solidFill>
                      <a:schemeClr val="folHlink"/>
                    </a:solidFill>
                    <a:latin typeface="楷体_GB2312" pitchFamily="49" charset="-122"/>
                  </a:rPr>
                  <a:t> </a:t>
                </a:r>
                <a:r>
                  <a:rPr lang="zh-CN" altLang="en-US" sz="2400">
                    <a:latin typeface="楷体_GB2312" pitchFamily="49" charset="-122"/>
                  </a:rPr>
                  <a:t>确定错误性质和位置的原则</a:t>
                </a:r>
              </a:p>
              <a:p>
                <a:pPr lvl="1">
                  <a:spcBef>
                    <a:spcPct val="30000"/>
                  </a:spcBef>
                  <a:buClr>
                    <a:schemeClr val="hlink"/>
                  </a:buClr>
                  <a:buSzPct val="55000"/>
                  <a:buFont typeface="Wingdings" panose="05000000000000000000" pitchFamily="2" charset="2"/>
                  <a:buChar char="n"/>
                </a:pPr>
                <a:r>
                  <a:rPr lang="zh-CN" altLang="en-US">
                    <a:latin typeface="楷体_GB2312" pitchFamily="49" charset="-122"/>
                  </a:rPr>
                  <a:t> 分析思考与错误有关的信息</a:t>
                </a:r>
              </a:p>
              <a:p>
                <a:pPr lvl="1">
                  <a:spcBef>
                    <a:spcPct val="30000"/>
                  </a:spcBef>
                  <a:buClr>
                    <a:schemeClr val="hlink"/>
                  </a:buClr>
                  <a:buSzPct val="55000"/>
                  <a:buFont typeface="Wingdings" panose="05000000000000000000" pitchFamily="2" charset="2"/>
                  <a:buChar char="n"/>
                </a:pPr>
                <a:r>
                  <a:rPr lang="zh-CN" altLang="en-US">
                    <a:latin typeface="楷体_GB2312" pitchFamily="49" charset="-122"/>
                  </a:rPr>
                  <a:t> 避开死胡同</a:t>
                </a:r>
              </a:p>
              <a:p>
                <a:pPr lvl="1">
                  <a:spcBef>
                    <a:spcPct val="30000"/>
                  </a:spcBef>
                  <a:spcAft>
                    <a:spcPct val="20000"/>
                  </a:spcAft>
                  <a:buClr>
                    <a:schemeClr val="hlink"/>
                  </a:buClr>
                  <a:buSzPct val="55000"/>
                  <a:buFont typeface="Wingdings" panose="05000000000000000000" pitchFamily="2" charset="2"/>
                  <a:buChar char="n"/>
                </a:pPr>
                <a:r>
                  <a:rPr lang="zh-CN" altLang="en-US">
                    <a:latin typeface="楷体_GB2312" pitchFamily="49" charset="-122"/>
                  </a:rPr>
                  <a:t> 避免使用试探法</a:t>
                </a:r>
              </a:p>
            </p:txBody>
          </p:sp>
          <p:sp>
            <p:nvSpPr>
              <p:cNvPr id="8" name="Rectangle 6">
                <a:extLst>
                  <a:ext uri="{FF2B5EF4-FFF2-40B4-BE49-F238E27FC236}">
                    <a16:creationId xmlns:a16="http://schemas.microsoft.com/office/drawing/2014/main" id="{9B64D029-7A1C-497A-8AAC-F9C9A919D8F2}"/>
                  </a:ext>
                </a:extLst>
              </p:cNvPr>
              <p:cNvSpPr>
                <a:spLocks noChangeArrowheads="1"/>
              </p:cNvSpPr>
              <p:nvPr/>
            </p:nvSpPr>
            <p:spPr bwMode="auto">
              <a:xfrm>
                <a:off x="3456" y="2047"/>
                <a:ext cx="2160" cy="1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spcAft>
                    <a:spcPct val="15000"/>
                  </a:spcAft>
                  <a:buSzPct val="60000"/>
                  <a:buFont typeface="Wingdings" panose="05000000000000000000" pitchFamily="2" charset="2"/>
                  <a:buChar char="n"/>
                </a:pPr>
                <a:r>
                  <a:rPr lang="zh-CN" altLang="en-US" sz="2400">
                    <a:solidFill>
                      <a:schemeClr val="folHlink"/>
                    </a:solidFill>
                    <a:latin typeface="楷体_GB2312" pitchFamily="49" charset="-122"/>
                  </a:rPr>
                  <a:t> </a:t>
                </a:r>
                <a:r>
                  <a:rPr lang="zh-CN" altLang="en-US" sz="2400">
                    <a:latin typeface="楷体_GB2312" pitchFamily="49" charset="-122"/>
                  </a:rPr>
                  <a:t>修改错误的原则</a:t>
                </a:r>
              </a:p>
              <a:p>
                <a:pPr lvl="1">
                  <a:spcBef>
                    <a:spcPct val="30000"/>
                  </a:spcBef>
                  <a:buClr>
                    <a:schemeClr val="hlink"/>
                  </a:buClr>
                  <a:buSzPct val="55000"/>
                  <a:buFont typeface="Wingdings" panose="05000000000000000000" pitchFamily="2" charset="2"/>
                  <a:buChar char="n"/>
                </a:pPr>
                <a:r>
                  <a:rPr lang="zh-CN" altLang="en-US">
                    <a:latin typeface="楷体_GB2312" pitchFamily="49" charset="-122"/>
                  </a:rPr>
                  <a:t> 关注错误群集的地方</a:t>
                </a:r>
              </a:p>
              <a:p>
                <a:pPr lvl="1">
                  <a:spcBef>
                    <a:spcPct val="30000"/>
                  </a:spcBef>
                  <a:buClr>
                    <a:schemeClr val="hlink"/>
                  </a:buClr>
                  <a:buSzPct val="55000"/>
                  <a:buFont typeface="Wingdings" panose="05000000000000000000" pitchFamily="2" charset="2"/>
                  <a:buChar char="n"/>
                </a:pPr>
                <a:r>
                  <a:rPr lang="zh-CN" altLang="en-US">
                    <a:latin typeface="楷体_GB2312" pitchFamily="49" charset="-122"/>
                  </a:rPr>
                  <a:t> 不要只修改部分错误</a:t>
                </a:r>
              </a:p>
              <a:p>
                <a:pPr lvl="1">
                  <a:spcBef>
                    <a:spcPct val="30000"/>
                  </a:spcBef>
                  <a:buClr>
                    <a:schemeClr val="hlink"/>
                  </a:buClr>
                  <a:buSzPct val="55000"/>
                  <a:buFont typeface="Wingdings" panose="05000000000000000000" pitchFamily="2" charset="2"/>
                  <a:buChar char="n"/>
                </a:pPr>
                <a:r>
                  <a:rPr lang="zh-CN" altLang="en-US">
                    <a:latin typeface="楷体_GB2312" pitchFamily="49" charset="-122"/>
                  </a:rPr>
                  <a:t> 不要引入新的错误</a:t>
                </a:r>
              </a:p>
            </p:txBody>
          </p:sp>
        </p:grpSp>
        <p:sp>
          <p:nvSpPr>
            <p:cNvPr id="6" name="Rectangle 8">
              <a:extLst>
                <a:ext uri="{FF2B5EF4-FFF2-40B4-BE49-F238E27FC236}">
                  <a16:creationId xmlns:a16="http://schemas.microsoft.com/office/drawing/2014/main" id="{2B737979-53D7-47E6-90D4-BD4719549C42}"/>
                </a:ext>
              </a:extLst>
            </p:cNvPr>
            <p:cNvSpPr>
              <a:spLocks noChangeArrowheads="1"/>
            </p:cNvSpPr>
            <p:nvPr/>
          </p:nvSpPr>
          <p:spPr bwMode="auto">
            <a:xfrm>
              <a:off x="432" y="1248"/>
              <a:ext cx="4800" cy="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spcAft>
                  <a:spcPct val="15000"/>
                </a:spcAft>
                <a:buFont typeface="Wingdings" panose="05000000000000000000" pitchFamily="2" charset="2"/>
                <a:buChar char="§"/>
              </a:pPr>
              <a:r>
                <a:rPr lang="zh-CN" altLang="en-US" sz="2400">
                  <a:solidFill>
                    <a:schemeClr val="folHlink"/>
                  </a:solidFill>
                  <a:latin typeface="楷体_GB2312" pitchFamily="49" charset="-122"/>
                </a:rPr>
                <a:t> 程序调试就是诊断和纠正程序错误的过程，错误类型</a:t>
              </a:r>
            </a:p>
            <a:p>
              <a:pPr>
                <a:spcBef>
                  <a:spcPct val="0"/>
                </a:spcBef>
                <a:spcAft>
                  <a:spcPct val="15000"/>
                </a:spcAft>
                <a:buFont typeface="Wingdings" panose="05000000000000000000" pitchFamily="2" charset="2"/>
                <a:buNone/>
              </a:pPr>
              <a:r>
                <a:rPr lang="zh-CN" altLang="en-US" sz="2400">
                  <a:solidFill>
                    <a:schemeClr val="folHlink"/>
                  </a:solidFill>
                  <a:latin typeface="楷体_GB2312" pitchFamily="49" charset="-122"/>
                </a:rPr>
                <a:t>  有：</a:t>
              </a:r>
            </a:p>
            <a:p>
              <a:pPr lvl="1">
                <a:spcBef>
                  <a:spcPct val="30000"/>
                </a:spcBef>
                <a:buClr>
                  <a:schemeClr val="hlink"/>
                </a:buClr>
                <a:buSzPct val="55000"/>
                <a:buFont typeface="Wingdings" panose="05000000000000000000" pitchFamily="2" charset="2"/>
                <a:buChar char="n"/>
              </a:pPr>
              <a:r>
                <a:rPr lang="zh-CN" altLang="en-US">
                  <a:latin typeface="楷体_GB2312" pitchFamily="49" charset="-122"/>
                </a:rPr>
                <a:t> 语法错误</a:t>
              </a:r>
            </a:p>
            <a:p>
              <a:pPr lvl="1">
                <a:spcBef>
                  <a:spcPct val="30000"/>
                </a:spcBef>
                <a:buClr>
                  <a:schemeClr val="hlink"/>
                </a:buClr>
                <a:buSzPct val="55000"/>
                <a:buFont typeface="Wingdings" panose="05000000000000000000" pitchFamily="2" charset="2"/>
                <a:buChar char="n"/>
              </a:pPr>
              <a:r>
                <a:rPr lang="zh-CN" altLang="en-US">
                  <a:latin typeface="楷体_GB2312" pitchFamily="49" charset="-122"/>
                </a:rPr>
                <a:t> 运行错误</a:t>
              </a:r>
            </a:p>
            <a:p>
              <a:pPr lvl="1">
                <a:spcBef>
                  <a:spcPct val="30000"/>
                </a:spcBef>
                <a:buClr>
                  <a:schemeClr val="hlink"/>
                </a:buClr>
                <a:buSzPct val="55000"/>
                <a:buFont typeface="Wingdings" panose="05000000000000000000" pitchFamily="2" charset="2"/>
                <a:buChar char="n"/>
              </a:pPr>
              <a:r>
                <a:rPr lang="zh-CN" altLang="en-US">
                  <a:latin typeface="楷体_GB2312" pitchFamily="49" charset="-122"/>
                </a:rPr>
                <a:t> 逻辑错误</a:t>
              </a:r>
            </a:p>
            <a:p>
              <a:pPr>
                <a:spcBef>
                  <a:spcPct val="30000"/>
                </a:spcBef>
                <a:spcAft>
                  <a:spcPct val="15000"/>
                </a:spcAft>
                <a:buFont typeface="Wingdings" panose="05000000000000000000" pitchFamily="2" charset="2"/>
                <a:buChar char="§"/>
              </a:pPr>
              <a:r>
                <a:rPr lang="zh-CN" altLang="en-US" sz="2400">
                  <a:solidFill>
                    <a:schemeClr val="folHlink"/>
                  </a:solidFill>
                  <a:latin typeface="楷体_GB2312" pitchFamily="49" charset="-122"/>
                </a:rPr>
                <a:t> 修改错误的原则：</a:t>
              </a:r>
              <a:endParaRPr lang="zh-CN" altLang="en-US" sz="2400">
                <a:latin typeface="楷体_GB2312" pitchFamily="49" charset="-122"/>
              </a:endParaRPr>
            </a:p>
          </p:txBody>
        </p:sp>
      </p:grpSp>
    </p:spTree>
    <p:extLst>
      <p:ext uri="{BB962C8B-B14F-4D97-AF65-F5344CB8AC3E}">
        <p14:creationId xmlns:p14="http://schemas.microsoft.com/office/powerpoint/2010/main" val="3807560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227FD56-6329-45C2-84F6-E54D27A506FD}"/>
              </a:ext>
            </a:extLst>
          </p:cNvPr>
          <p:cNvSpPr/>
          <p:nvPr/>
        </p:nvSpPr>
        <p:spPr>
          <a:xfrm>
            <a:off x="7665453" y="311473"/>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3" name="Text Box 2">
            <a:extLst>
              <a:ext uri="{FF2B5EF4-FFF2-40B4-BE49-F238E27FC236}">
                <a16:creationId xmlns:a16="http://schemas.microsoft.com/office/drawing/2014/main" id="{623C6B55-3031-4A86-ABDE-E4478BC2783A}"/>
              </a:ext>
            </a:extLst>
          </p:cNvPr>
          <p:cNvSpPr txBox="1">
            <a:spLocks noChangeArrowheads="1"/>
          </p:cNvSpPr>
          <p:nvPr/>
        </p:nvSpPr>
        <p:spPr bwMode="auto">
          <a:xfrm>
            <a:off x="3316447" y="1082879"/>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5.2 </a:t>
            </a:r>
            <a:r>
              <a:rPr lang="zh-CN" altLang="en-US" sz="4000">
                <a:solidFill>
                  <a:schemeClr val="tx2"/>
                </a:solidFill>
                <a:latin typeface="隶书" panose="02010509060101010101" pitchFamily="49" charset="-122"/>
                <a:ea typeface="隶书" panose="02010509060101010101" pitchFamily="49" charset="-122"/>
              </a:rPr>
              <a:t>程序调试</a:t>
            </a:r>
            <a:endParaRPr lang="en-US" altLang="zh-CN" sz="4000">
              <a:solidFill>
                <a:schemeClr val="tx2"/>
              </a:solidFill>
              <a:latin typeface="隶书" panose="02010509060101010101" pitchFamily="49" charset="-122"/>
              <a:ea typeface="隶书" panose="02010509060101010101" pitchFamily="49" charset="-122"/>
            </a:endParaRPr>
          </a:p>
        </p:txBody>
      </p:sp>
      <p:grpSp>
        <p:nvGrpSpPr>
          <p:cNvPr id="4" name="Group 5">
            <a:extLst>
              <a:ext uri="{FF2B5EF4-FFF2-40B4-BE49-F238E27FC236}">
                <a16:creationId xmlns:a16="http://schemas.microsoft.com/office/drawing/2014/main" id="{C6D43EDF-8C2A-4970-8925-01E777B030D6}"/>
              </a:ext>
            </a:extLst>
          </p:cNvPr>
          <p:cNvGrpSpPr>
            <a:grpSpLocks/>
          </p:cNvGrpSpPr>
          <p:nvPr/>
        </p:nvGrpSpPr>
        <p:grpSpPr bwMode="auto">
          <a:xfrm>
            <a:off x="3087847" y="2221117"/>
            <a:ext cx="7086600" cy="4119562"/>
            <a:chOff x="528" y="1197"/>
            <a:chExt cx="4464" cy="2595"/>
          </a:xfrm>
        </p:grpSpPr>
        <p:sp>
          <p:nvSpPr>
            <p:cNvPr id="5" name="Rectangle 3">
              <a:extLst>
                <a:ext uri="{FF2B5EF4-FFF2-40B4-BE49-F238E27FC236}">
                  <a16:creationId xmlns:a16="http://schemas.microsoft.com/office/drawing/2014/main" id="{8E4E719F-9A52-4F14-A36F-58C77E122022}"/>
                </a:ext>
              </a:extLst>
            </p:cNvPr>
            <p:cNvSpPr>
              <a:spLocks noChangeArrowheads="1"/>
            </p:cNvSpPr>
            <p:nvPr/>
          </p:nvSpPr>
          <p:spPr bwMode="auto">
            <a:xfrm>
              <a:off x="528" y="1197"/>
              <a:ext cx="4464" cy="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spcAft>
                  <a:spcPct val="15000"/>
                </a:spcAft>
                <a:buSzPct val="60000"/>
                <a:buFont typeface="Wingdings" panose="05000000000000000000" pitchFamily="2" charset="2"/>
                <a:buChar char="n"/>
              </a:pPr>
              <a:r>
                <a:rPr lang="zh-CN" altLang="en-US" sz="2400">
                  <a:solidFill>
                    <a:schemeClr val="folHlink"/>
                  </a:solidFill>
                  <a:latin typeface="楷体_GB2312" pitchFamily="49" charset="-122"/>
                </a:rPr>
                <a:t> </a:t>
              </a:r>
              <a:r>
                <a:rPr lang="zh-CN" altLang="en-US" sz="2800">
                  <a:solidFill>
                    <a:schemeClr val="folHlink"/>
                  </a:solidFill>
                  <a:latin typeface="楷体_GB2312" pitchFamily="49" charset="-122"/>
                </a:rPr>
                <a:t>调试方法</a:t>
              </a:r>
            </a:p>
            <a:p>
              <a:pPr lvl="1">
                <a:spcBef>
                  <a:spcPct val="30000"/>
                </a:spcBef>
                <a:buClr>
                  <a:schemeClr val="hlink"/>
                </a:buClr>
                <a:buSzPct val="55000"/>
                <a:buFont typeface="Wingdings" panose="05000000000000000000" pitchFamily="2" charset="2"/>
                <a:buChar char="n"/>
              </a:pPr>
              <a:r>
                <a:rPr lang="zh-CN" altLang="en-US" sz="2200">
                  <a:latin typeface="楷体_GB2312" pitchFamily="49" charset="-122"/>
                </a:rPr>
                <a:t> </a:t>
              </a:r>
              <a:r>
                <a:rPr lang="zh-CN" altLang="en-US" sz="2200">
                  <a:solidFill>
                    <a:schemeClr val="folHlink"/>
                  </a:solidFill>
                  <a:latin typeface="楷体_GB2312" pitchFamily="49" charset="-122"/>
                </a:rPr>
                <a:t>试探法</a:t>
              </a:r>
              <a:r>
                <a:rPr lang="zh-CN" altLang="en-US" sz="2200">
                  <a:latin typeface="楷体_GB2312" pitchFamily="49" charset="-122"/>
                </a:rPr>
                <a:t>：最低效，按照</a:t>
              </a:r>
              <a:r>
                <a:rPr lang="zh-CN" altLang="en-US" sz="2200">
                  <a:latin typeface="Times New Roman" panose="02020603050405020304" pitchFamily="18" charset="0"/>
                </a:rPr>
                <a:t>“</a:t>
              </a:r>
              <a:r>
                <a:rPr lang="zh-CN" altLang="en-US" sz="2200">
                  <a:latin typeface="楷体_GB2312" pitchFamily="49" charset="-122"/>
                </a:rPr>
                <a:t>让计算机自己寻找错误</a:t>
              </a:r>
              <a:r>
                <a:rPr lang="zh-CN" altLang="en-US" sz="2200">
                  <a:latin typeface="Times New Roman" panose="02020603050405020304" pitchFamily="18" charset="0"/>
                </a:rPr>
                <a:t>”</a:t>
              </a:r>
              <a:endParaRPr lang="zh-CN" altLang="en-US" sz="2200">
                <a:latin typeface="楷体_GB2312" pitchFamily="49" charset="-122"/>
              </a:endParaRPr>
            </a:p>
            <a:p>
              <a:pPr lvl="1">
                <a:spcBef>
                  <a:spcPct val="20000"/>
                </a:spcBef>
                <a:buClr>
                  <a:schemeClr val="hlink"/>
                </a:buClr>
                <a:buSzPct val="55000"/>
                <a:buFont typeface="Wingdings" panose="05000000000000000000" pitchFamily="2" charset="2"/>
                <a:buNone/>
              </a:pPr>
              <a:r>
                <a:rPr lang="zh-CN" altLang="en-US" sz="2200">
                  <a:latin typeface="楷体_GB2312" pitchFamily="49" charset="-122"/>
                </a:rPr>
                <a:t>  的策略，设置断点，跟踪调试；</a:t>
              </a:r>
            </a:p>
            <a:p>
              <a:pPr lvl="1">
                <a:spcBef>
                  <a:spcPct val="20000"/>
                </a:spcBef>
                <a:buClr>
                  <a:schemeClr val="hlink"/>
                </a:buClr>
                <a:buSzPct val="55000"/>
                <a:buFont typeface="Wingdings" panose="05000000000000000000" pitchFamily="2" charset="2"/>
                <a:buChar char="n"/>
              </a:pPr>
              <a:r>
                <a:rPr lang="zh-CN" altLang="en-US" sz="2200">
                  <a:latin typeface="楷体_GB2312" pitchFamily="49" charset="-122"/>
                </a:rPr>
                <a:t> </a:t>
              </a:r>
              <a:r>
                <a:rPr lang="zh-CN" altLang="en-US" sz="2200">
                  <a:solidFill>
                    <a:schemeClr val="folHlink"/>
                  </a:solidFill>
                  <a:latin typeface="楷体_GB2312" pitchFamily="49" charset="-122"/>
                </a:rPr>
                <a:t>回溯法</a:t>
              </a:r>
              <a:r>
                <a:rPr lang="zh-CN" altLang="en-US" sz="2200">
                  <a:latin typeface="楷体_GB2312" pitchFamily="49" charset="-122"/>
                </a:rPr>
                <a:t>：调试小程序比较有效，从发现症状的地</a:t>
              </a:r>
            </a:p>
            <a:p>
              <a:pPr lvl="1">
                <a:spcBef>
                  <a:spcPct val="20000"/>
                </a:spcBef>
                <a:buClr>
                  <a:schemeClr val="hlink"/>
                </a:buClr>
                <a:buSzPct val="55000"/>
                <a:buFont typeface="Wingdings" panose="05000000000000000000" pitchFamily="2" charset="2"/>
                <a:buNone/>
              </a:pPr>
              <a:r>
                <a:rPr lang="zh-CN" altLang="en-US" sz="2200">
                  <a:latin typeface="楷体_GB2312" pitchFamily="49" charset="-122"/>
                </a:rPr>
                <a:t>  方开始，人工沿程序的控制流往回追踪源程序代</a:t>
              </a:r>
            </a:p>
            <a:p>
              <a:pPr lvl="1">
                <a:spcBef>
                  <a:spcPct val="20000"/>
                </a:spcBef>
                <a:buClr>
                  <a:schemeClr val="hlink"/>
                </a:buClr>
                <a:buSzPct val="55000"/>
                <a:buFont typeface="Wingdings" panose="05000000000000000000" pitchFamily="2" charset="2"/>
                <a:buNone/>
              </a:pPr>
              <a:r>
                <a:rPr lang="zh-CN" altLang="en-US" sz="2200">
                  <a:latin typeface="楷体_GB2312" pitchFamily="49" charset="-122"/>
                </a:rPr>
                <a:t>  码，直到找出错误原因为止；</a:t>
              </a:r>
            </a:p>
            <a:p>
              <a:pPr lvl="1">
                <a:spcBef>
                  <a:spcPct val="20000"/>
                </a:spcBef>
                <a:buClr>
                  <a:schemeClr val="hlink"/>
                </a:buClr>
                <a:buSzPct val="55000"/>
                <a:buFont typeface="Wingdings" panose="05000000000000000000" pitchFamily="2" charset="2"/>
                <a:buChar char="n"/>
              </a:pPr>
              <a:r>
                <a:rPr lang="zh-CN" altLang="en-US" sz="2200">
                  <a:latin typeface="楷体_GB2312" pitchFamily="49" charset="-122"/>
                </a:rPr>
                <a:t> </a:t>
              </a:r>
              <a:r>
                <a:rPr lang="zh-CN" altLang="en-US" sz="2200">
                  <a:solidFill>
                    <a:schemeClr val="folHlink"/>
                  </a:solidFill>
                  <a:latin typeface="楷体_GB2312" pitchFamily="49" charset="-122"/>
                </a:rPr>
                <a:t>原因排除法</a:t>
              </a:r>
              <a:r>
                <a:rPr lang="zh-CN" altLang="en-US" sz="2200">
                  <a:latin typeface="楷体_GB2312" pitchFamily="49" charset="-122"/>
                </a:rPr>
                <a:t>：</a:t>
              </a:r>
            </a:p>
          </p:txBody>
        </p:sp>
        <p:sp>
          <p:nvSpPr>
            <p:cNvPr id="6" name="Text Box 4">
              <a:extLst>
                <a:ext uri="{FF2B5EF4-FFF2-40B4-BE49-F238E27FC236}">
                  <a16:creationId xmlns:a16="http://schemas.microsoft.com/office/drawing/2014/main" id="{0C2549B3-40F6-45E4-9415-E0D5120EC4BD}"/>
                </a:ext>
              </a:extLst>
            </p:cNvPr>
            <p:cNvSpPr txBox="1">
              <a:spLocks noChangeArrowheads="1"/>
            </p:cNvSpPr>
            <p:nvPr/>
          </p:nvSpPr>
          <p:spPr bwMode="auto">
            <a:xfrm>
              <a:off x="1632" y="3017"/>
              <a:ext cx="1632" cy="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spcBef>
                  <a:spcPct val="20000"/>
                </a:spcBef>
                <a:buClr>
                  <a:schemeClr val="hlink"/>
                </a:buClr>
                <a:buFont typeface="Wingdings" panose="05000000000000000000" pitchFamily="2" charset="2"/>
                <a:buChar char="ü"/>
              </a:pPr>
              <a:r>
                <a:rPr lang="zh-CN" altLang="en-US" sz="2200">
                  <a:latin typeface="楷体_GB2312" pitchFamily="49" charset="-122"/>
                </a:rPr>
                <a:t> 对分查找法</a:t>
              </a:r>
            </a:p>
            <a:p>
              <a:pPr lvl="1">
                <a:spcBef>
                  <a:spcPct val="20000"/>
                </a:spcBef>
                <a:buClr>
                  <a:schemeClr val="hlink"/>
                </a:buClr>
                <a:buFont typeface="Wingdings" panose="05000000000000000000" pitchFamily="2" charset="2"/>
                <a:buChar char="ü"/>
              </a:pPr>
              <a:r>
                <a:rPr lang="zh-CN" altLang="en-US" sz="2200">
                  <a:latin typeface="楷体_GB2312" pitchFamily="49" charset="-122"/>
                </a:rPr>
                <a:t> 归纳法</a:t>
              </a:r>
            </a:p>
            <a:p>
              <a:pPr lvl="1">
                <a:spcBef>
                  <a:spcPct val="20000"/>
                </a:spcBef>
                <a:buClr>
                  <a:schemeClr val="hlink"/>
                </a:buClr>
                <a:buFont typeface="Wingdings" panose="05000000000000000000" pitchFamily="2" charset="2"/>
                <a:buChar char="ü"/>
              </a:pPr>
              <a:r>
                <a:rPr lang="zh-CN" altLang="en-US" sz="2200">
                  <a:latin typeface="楷体_GB2312" pitchFamily="49" charset="-122"/>
                </a:rPr>
                <a:t> 演绎法</a:t>
              </a:r>
              <a:endParaRPr lang="zh-CN" altLang="en-US"/>
            </a:p>
          </p:txBody>
        </p:sp>
      </p:grpSp>
    </p:spTree>
    <p:extLst>
      <p:ext uri="{BB962C8B-B14F-4D97-AF65-F5344CB8AC3E}">
        <p14:creationId xmlns:p14="http://schemas.microsoft.com/office/powerpoint/2010/main" val="5944420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F3DD4B8-6F6B-4DB7-90AE-8E28E56A2A8A}"/>
              </a:ext>
            </a:extLst>
          </p:cNvPr>
          <p:cNvSpPr/>
          <p:nvPr/>
        </p:nvSpPr>
        <p:spPr>
          <a:xfrm>
            <a:off x="7019501" y="442282"/>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5" name="Text Box 2">
            <a:extLst>
              <a:ext uri="{FF2B5EF4-FFF2-40B4-BE49-F238E27FC236}">
                <a16:creationId xmlns:a16="http://schemas.microsoft.com/office/drawing/2014/main" id="{455BD056-A062-4A36-87A8-07A71FB9A599}"/>
              </a:ext>
            </a:extLst>
          </p:cNvPr>
          <p:cNvSpPr txBox="1">
            <a:spLocks noChangeArrowheads="1"/>
          </p:cNvSpPr>
          <p:nvPr/>
        </p:nvSpPr>
        <p:spPr bwMode="auto">
          <a:xfrm>
            <a:off x="2752688" y="1223962"/>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5.3 </a:t>
            </a:r>
            <a:r>
              <a:rPr lang="zh-CN" altLang="en-US" sz="4000">
                <a:solidFill>
                  <a:schemeClr val="tx2"/>
                </a:solidFill>
                <a:latin typeface="隶书" panose="02010509060101010101" pitchFamily="49" charset="-122"/>
                <a:ea typeface="隶书" panose="02010509060101010101" pitchFamily="49" charset="-122"/>
              </a:rPr>
              <a:t>软件维护</a:t>
            </a:r>
            <a:endParaRPr lang="en-US" altLang="zh-CN" sz="4000">
              <a:solidFill>
                <a:schemeClr val="tx2"/>
              </a:solidFill>
              <a:latin typeface="隶书" panose="02010509060101010101" pitchFamily="49" charset="-122"/>
              <a:ea typeface="隶书" panose="02010509060101010101" pitchFamily="49" charset="-122"/>
            </a:endParaRPr>
          </a:p>
        </p:txBody>
      </p:sp>
      <p:sp>
        <p:nvSpPr>
          <p:cNvPr id="7" name="Rectangle 3">
            <a:extLst>
              <a:ext uri="{FF2B5EF4-FFF2-40B4-BE49-F238E27FC236}">
                <a16:creationId xmlns:a16="http://schemas.microsoft.com/office/drawing/2014/main" id="{0E2B901C-8D91-4E46-8FF6-D4B81E6692CD}"/>
              </a:ext>
            </a:extLst>
          </p:cNvPr>
          <p:cNvSpPr>
            <a:spLocks noChangeArrowheads="1"/>
          </p:cNvSpPr>
          <p:nvPr/>
        </p:nvSpPr>
        <p:spPr bwMode="auto">
          <a:xfrm>
            <a:off x="1518407" y="2138362"/>
            <a:ext cx="9563450" cy="471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spcAft>
                <a:spcPct val="10000"/>
              </a:spcAft>
              <a:buSzPct val="60000"/>
              <a:buFont typeface="Wingdings" panose="05000000000000000000" pitchFamily="2" charset="2"/>
              <a:buChar char="n"/>
            </a:pPr>
            <a:r>
              <a:rPr lang="zh-CN" altLang="en-US" sz="2800" dirty="0">
                <a:latin typeface="楷体_GB2312" pitchFamily="49" charset="-122"/>
              </a:rPr>
              <a:t> </a:t>
            </a:r>
            <a:r>
              <a:rPr lang="zh-CN" altLang="en-US" sz="2800" dirty="0">
                <a:solidFill>
                  <a:schemeClr val="folHlink"/>
                </a:solidFill>
                <a:latin typeface="楷体_GB2312" pitchFamily="49" charset="-122"/>
              </a:rPr>
              <a:t>定义</a:t>
            </a:r>
          </a:p>
          <a:p>
            <a:pPr lvl="1">
              <a:lnSpc>
                <a:spcPct val="115000"/>
              </a:lnSpc>
              <a:spcBef>
                <a:spcPct val="20000"/>
              </a:spcBef>
              <a:buClr>
                <a:schemeClr val="hlink"/>
              </a:buClr>
              <a:buSzPct val="55000"/>
              <a:buFont typeface="Wingdings" panose="05000000000000000000" pitchFamily="2" charset="2"/>
              <a:buChar char="n"/>
            </a:pPr>
            <a:r>
              <a:rPr lang="zh-CN" altLang="en-US" sz="2400" dirty="0">
                <a:latin typeface="楷体_GB2312" pitchFamily="49" charset="-122"/>
              </a:rPr>
              <a:t> 指软件交付使用之后，为了改正错误或满足</a:t>
            </a:r>
          </a:p>
          <a:p>
            <a:pPr lvl="1">
              <a:lnSpc>
                <a:spcPct val="115000"/>
              </a:lnSpc>
              <a:spcBef>
                <a:spcPct val="0"/>
              </a:spcBef>
              <a:buClr>
                <a:schemeClr val="hlink"/>
              </a:buClr>
              <a:buSzPct val="55000"/>
              <a:buFont typeface="Wingdings" panose="05000000000000000000" pitchFamily="2" charset="2"/>
              <a:buNone/>
            </a:pPr>
            <a:r>
              <a:rPr lang="zh-CN" altLang="en-US" sz="2400" dirty="0">
                <a:latin typeface="楷体_GB2312" pitchFamily="49" charset="-122"/>
              </a:rPr>
              <a:t>  用户新的需求而修改软件的过程</a:t>
            </a:r>
            <a:endParaRPr lang="zh-CN" altLang="en-US" sz="2800" dirty="0">
              <a:latin typeface="楷体_GB2312" pitchFamily="49" charset="-122"/>
            </a:endParaRPr>
          </a:p>
          <a:p>
            <a:pPr>
              <a:spcBef>
                <a:spcPct val="20000"/>
              </a:spcBef>
              <a:spcAft>
                <a:spcPct val="10000"/>
              </a:spcAft>
              <a:buSzPct val="60000"/>
              <a:buFont typeface="Wingdings" panose="05000000000000000000" pitchFamily="2" charset="2"/>
              <a:buChar char="n"/>
            </a:pPr>
            <a:r>
              <a:rPr lang="zh-CN" altLang="en-US" sz="2800" dirty="0">
                <a:latin typeface="楷体_GB2312" pitchFamily="49" charset="-122"/>
              </a:rPr>
              <a:t> </a:t>
            </a:r>
            <a:r>
              <a:rPr lang="zh-CN" altLang="en-US" sz="2800" dirty="0">
                <a:solidFill>
                  <a:schemeClr val="folHlink"/>
                </a:solidFill>
                <a:latin typeface="楷体_GB2312" pitchFamily="49" charset="-122"/>
              </a:rPr>
              <a:t>分类</a:t>
            </a:r>
          </a:p>
          <a:p>
            <a:pPr lvl="1">
              <a:spcBef>
                <a:spcPct val="20000"/>
              </a:spcBef>
              <a:buClr>
                <a:schemeClr val="hlink"/>
              </a:buClr>
              <a:buSzPct val="55000"/>
              <a:buFont typeface="Wingdings" panose="05000000000000000000" pitchFamily="2" charset="2"/>
              <a:buChar char="n"/>
            </a:pPr>
            <a:r>
              <a:rPr lang="zh-CN" altLang="en-US" sz="2400" dirty="0">
                <a:latin typeface="楷体_GB2312" pitchFamily="49" charset="-122"/>
              </a:rPr>
              <a:t> </a:t>
            </a:r>
            <a:r>
              <a:rPr lang="zh-CN" altLang="en-US" sz="2400" dirty="0">
                <a:solidFill>
                  <a:schemeClr val="hlink"/>
                </a:solidFill>
                <a:latin typeface="楷体_GB2312" pitchFamily="49" charset="-122"/>
              </a:rPr>
              <a:t>改正性维护</a:t>
            </a:r>
            <a:r>
              <a:rPr lang="zh-CN" altLang="en-US" sz="2400" dirty="0">
                <a:latin typeface="楷体_GB2312" pitchFamily="49" charset="-122"/>
              </a:rPr>
              <a:t>：问题诊断和改正软件的过程</a:t>
            </a:r>
          </a:p>
          <a:p>
            <a:pPr lvl="1">
              <a:lnSpc>
                <a:spcPct val="115000"/>
              </a:lnSpc>
              <a:spcBef>
                <a:spcPct val="20000"/>
              </a:spcBef>
              <a:buClr>
                <a:schemeClr val="hlink"/>
              </a:buClr>
              <a:buSzPct val="55000"/>
              <a:buFont typeface="Wingdings" panose="05000000000000000000" pitchFamily="2" charset="2"/>
              <a:buChar char="n"/>
            </a:pPr>
            <a:r>
              <a:rPr lang="zh-CN" altLang="en-US" sz="2400" dirty="0">
                <a:solidFill>
                  <a:schemeClr val="hlink"/>
                </a:solidFill>
                <a:latin typeface="楷体_GB2312" pitchFamily="49" charset="-122"/>
              </a:rPr>
              <a:t> 适应性维护</a:t>
            </a:r>
            <a:r>
              <a:rPr lang="zh-CN" altLang="en-US" sz="2400" dirty="0">
                <a:latin typeface="楷体_GB2312" pitchFamily="49" charset="-122"/>
              </a:rPr>
              <a:t>：因应用环境变化而修改软件的过程</a:t>
            </a:r>
          </a:p>
          <a:p>
            <a:pPr lvl="1">
              <a:lnSpc>
                <a:spcPct val="115000"/>
              </a:lnSpc>
              <a:spcBef>
                <a:spcPct val="20000"/>
              </a:spcBef>
              <a:buClr>
                <a:schemeClr val="hlink"/>
              </a:buClr>
              <a:buSzPct val="55000"/>
              <a:buFont typeface="Wingdings" panose="05000000000000000000" pitchFamily="2" charset="2"/>
              <a:buChar char="n"/>
            </a:pPr>
            <a:r>
              <a:rPr lang="zh-CN" altLang="en-US" sz="2400" dirty="0">
                <a:solidFill>
                  <a:schemeClr val="hlink"/>
                </a:solidFill>
                <a:latin typeface="楷体_GB2312" pitchFamily="49" charset="-122"/>
              </a:rPr>
              <a:t> 完善性维护</a:t>
            </a:r>
            <a:r>
              <a:rPr lang="zh-CN" altLang="en-US" sz="2400" dirty="0">
                <a:latin typeface="楷体_GB2312" pitchFamily="49" charset="-122"/>
              </a:rPr>
              <a:t>：为满足用户新要求而修改软件的过程</a:t>
            </a:r>
          </a:p>
          <a:p>
            <a:pPr lvl="1">
              <a:lnSpc>
                <a:spcPct val="115000"/>
              </a:lnSpc>
              <a:spcBef>
                <a:spcPct val="20000"/>
              </a:spcBef>
              <a:buClr>
                <a:schemeClr val="hlink"/>
              </a:buClr>
              <a:buSzPct val="55000"/>
              <a:buFont typeface="Wingdings" panose="05000000000000000000" pitchFamily="2" charset="2"/>
              <a:buChar char="n"/>
            </a:pPr>
            <a:r>
              <a:rPr lang="zh-CN" altLang="en-US" sz="2400" dirty="0">
                <a:latin typeface="楷体_GB2312" pitchFamily="49" charset="-122"/>
              </a:rPr>
              <a:t> </a:t>
            </a:r>
            <a:r>
              <a:rPr lang="zh-CN" altLang="en-US" sz="2400" dirty="0">
                <a:solidFill>
                  <a:schemeClr val="hlink"/>
                </a:solidFill>
                <a:latin typeface="楷体_GB2312" pitchFamily="49" charset="-122"/>
              </a:rPr>
              <a:t>预防性维护</a:t>
            </a:r>
            <a:r>
              <a:rPr lang="zh-CN" altLang="en-US" sz="2400" dirty="0">
                <a:latin typeface="楷体_GB2312" pitchFamily="49" charset="-122"/>
              </a:rPr>
              <a:t>：改进软件的可靠性、可维护性，给未</a:t>
            </a:r>
          </a:p>
          <a:p>
            <a:pPr lvl="1">
              <a:lnSpc>
                <a:spcPct val="105000"/>
              </a:lnSpc>
              <a:spcBef>
                <a:spcPct val="0"/>
              </a:spcBef>
              <a:buClr>
                <a:schemeClr val="hlink"/>
              </a:buClr>
              <a:buSzPct val="55000"/>
              <a:buFont typeface="Wingdings" panose="05000000000000000000" pitchFamily="2" charset="2"/>
              <a:buNone/>
            </a:pPr>
            <a:r>
              <a:rPr lang="zh-CN" altLang="en-US" sz="2400" dirty="0">
                <a:latin typeface="楷体_GB2312" pitchFamily="49" charset="-122"/>
              </a:rPr>
              <a:t>              来的改进奠定良好的基础而修改软件</a:t>
            </a:r>
          </a:p>
          <a:p>
            <a:pPr lvl="1">
              <a:lnSpc>
                <a:spcPct val="105000"/>
              </a:lnSpc>
              <a:spcBef>
                <a:spcPct val="0"/>
              </a:spcBef>
              <a:buClr>
                <a:schemeClr val="hlink"/>
              </a:buClr>
              <a:buSzPct val="55000"/>
              <a:buFont typeface="Wingdings" panose="05000000000000000000" pitchFamily="2" charset="2"/>
              <a:buNone/>
            </a:pPr>
            <a:r>
              <a:rPr lang="zh-CN" altLang="en-US" sz="2400" dirty="0">
                <a:latin typeface="楷体_GB2312" pitchFamily="49" charset="-122"/>
              </a:rPr>
              <a:t>              的过程</a:t>
            </a:r>
          </a:p>
        </p:txBody>
      </p:sp>
    </p:spTree>
    <p:extLst>
      <p:ext uri="{BB962C8B-B14F-4D97-AF65-F5344CB8AC3E}">
        <p14:creationId xmlns:p14="http://schemas.microsoft.com/office/powerpoint/2010/main" val="30664682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2CC28E0-DCF9-400E-9252-AE65F3EA6782}"/>
              </a:ext>
            </a:extLst>
          </p:cNvPr>
          <p:cNvSpPr/>
          <p:nvPr/>
        </p:nvSpPr>
        <p:spPr>
          <a:xfrm>
            <a:off x="7631898" y="244361"/>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3" name="Text Box 2">
            <a:extLst>
              <a:ext uri="{FF2B5EF4-FFF2-40B4-BE49-F238E27FC236}">
                <a16:creationId xmlns:a16="http://schemas.microsoft.com/office/drawing/2014/main" id="{22133FC5-53EF-4565-9A58-BF96BFAD1FC4}"/>
              </a:ext>
            </a:extLst>
          </p:cNvPr>
          <p:cNvSpPr txBox="1">
            <a:spLocks noChangeArrowheads="1"/>
          </p:cNvSpPr>
          <p:nvPr/>
        </p:nvSpPr>
        <p:spPr bwMode="auto">
          <a:xfrm>
            <a:off x="3282892" y="1015767"/>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5.3 </a:t>
            </a:r>
            <a:r>
              <a:rPr lang="zh-CN" altLang="en-US" sz="4000">
                <a:solidFill>
                  <a:schemeClr val="tx2"/>
                </a:solidFill>
                <a:latin typeface="隶书" panose="02010509060101010101" pitchFamily="49" charset="-122"/>
                <a:ea typeface="隶书" panose="02010509060101010101" pitchFamily="49" charset="-122"/>
              </a:rPr>
              <a:t>软件维护</a:t>
            </a:r>
            <a:endParaRPr lang="en-US" altLang="zh-CN" sz="4000">
              <a:solidFill>
                <a:schemeClr val="tx2"/>
              </a:solidFill>
              <a:latin typeface="隶书" panose="02010509060101010101" pitchFamily="49" charset="-122"/>
              <a:ea typeface="隶书" panose="02010509060101010101" pitchFamily="49" charset="-122"/>
            </a:endParaRPr>
          </a:p>
        </p:txBody>
      </p:sp>
      <p:grpSp>
        <p:nvGrpSpPr>
          <p:cNvPr id="4" name="Group 6">
            <a:extLst>
              <a:ext uri="{FF2B5EF4-FFF2-40B4-BE49-F238E27FC236}">
                <a16:creationId xmlns:a16="http://schemas.microsoft.com/office/drawing/2014/main" id="{BA31D5A2-BCB0-4432-85E9-280C56D4BE38}"/>
              </a:ext>
            </a:extLst>
          </p:cNvPr>
          <p:cNvGrpSpPr>
            <a:grpSpLocks/>
          </p:cNvGrpSpPr>
          <p:nvPr/>
        </p:nvGrpSpPr>
        <p:grpSpPr bwMode="auto">
          <a:xfrm>
            <a:off x="2749492" y="1717442"/>
            <a:ext cx="8001000" cy="4938712"/>
            <a:chOff x="624" y="1161"/>
            <a:chExt cx="5040" cy="3111"/>
          </a:xfrm>
        </p:grpSpPr>
        <p:sp>
          <p:nvSpPr>
            <p:cNvPr id="5" name="Text Box 3">
              <a:extLst>
                <a:ext uri="{FF2B5EF4-FFF2-40B4-BE49-F238E27FC236}">
                  <a16:creationId xmlns:a16="http://schemas.microsoft.com/office/drawing/2014/main" id="{380230EF-6507-40AC-8220-41DDAF66FB2E}"/>
                </a:ext>
              </a:extLst>
            </p:cNvPr>
            <p:cNvSpPr txBox="1">
              <a:spLocks noChangeArrowheads="1"/>
            </p:cNvSpPr>
            <p:nvPr/>
          </p:nvSpPr>
          <p:spPr bwMode="auto">
            <a:xfrm>
              <a:off x="624" y="1161"/>
              <a:ext cx="17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Char char="§"/>
              </a:pPr>
              <a:r>
                <a:rPr lang="zh-CN" altLang="en-US" sz="2800">
                  <a:solidFill>
                    <a:schemeClr val="folHlink"/>
                  </a:solidFill>
                </a:rPr>
                <a:t> 软件维护策略</a:t>
              </a:r>
            </a:p>
          </p:txBody>
        </p:sp>
        <p:sp>
          <p:nvSpPr>
            <p:cNvPr id="6" name="Rectangle 5">
              <a:extLst>
                <a:ext uri="{FF2B5EF4-FFF2-40B4-BE49-F238E27FC236}">
                  <a16:creationId xmlns:a16="http://schemas.microsoft.com/office/drawing/2014/main" id="{539AF634-72D0-44CC-8D7E-DC53E34202F7}"/>
                </a:ext>
              </a:extLst>
            </p:cNvPr>
            <p:cNvSpPr>
              <a:spLocks noChangeArrowheads="1"/>
            </p:cNvSpPr>
            <p:nvPr/>
          </p:nvSpPr>
          <p:spPr bwMode="auto">
            <a:xfrm>
              <a:off x="1008" y="1431"/>
              <a:ext cx="4656" cy="2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10000"/>
                </a:spcBef>
                <a:buSzPct val="60000"/>
                <a:buFont typeface="Wingdings" panose="05000000000000000000" pitchFamily="2" charset="2"/>
                <a:buChar char="n"/>
              </a:pPr>
              <a:r>
                <a:rPr lang="zh-CN" altLang="en-US" sz="2400" dirty="0">
                  <a:solidFill>
                    <a:schemeClr val="hlink"/>
                  </a:solidFill>
                  <a:latin typeface="楷体_GB2312" pitchFamily="49" charset="-122"/>
                </a:rPr>
                <a:t> 改正性维护</a:t>
              </a:r>
            </a:p>
            <a:p>
              <a:pPr lvl="1">
                <a:lnSpc>
                  <a:spcPct val="110000"/>
                </a:lnSpc>
                <a:spcBef>
                  <a:spcPct val="10000"/>
                </a:spcBef>
                <a:buClr>
                  <a:schemeClr val="hlink"/>
                </a:buClr>
                <a:buSzPct val="55000"/>
                <a:buFont typeface="Wingdings" panose="05000000000000000000" pitchFamily="2" charset="2"/>
                <a:buChar char="n"/>
              </a:pPr>
              <a:r>
                <a:rPr lang="zh-CN" altLang="en-US" sz="2400" dirty="0">
                  <a:latin typeface="楷体_GB2312" pitchFamily="49" charset="-122"/>
                </a:rPr>
                <a:t> 新技术提高软件可靠性</a:t>
              </a:r>
            </a:p>
            <a:p>
              <a:pPr lvl="1">
                <a:lnSpc>
                  <a:spcPct val="110000"/>
                </a:lnSpc>
                <a:spcBef>
                  <a:spcPct val="10000"/>
                </a:spcBef>
                <a:spcAft>
                  <a:spcPct val="10000"/>
                </a:spcAft>
                <a:buClr>
                  <a:schemeClr val="hlink"/>
                </a:buClr>
                <a:buSzPct val="55000"/>
                <a:buFont typeface="Wingdings" panose="05000000000000000000" pitchFamily="2" charset="2"/>
                <a:buChar char="n"/>
              </a:pPr>
              <a:r>
                <a:rPr lang="zh-CN" altLang="en-US" sz="2400" dirty="0">
                  <a:latin typeface="楷体_GB2312" pitchFamily="49" charset="-122"/>
                </a:rPr>
                <a:t> 开发各阶段进行周期性的维护审查</a:t>
              </a:r>
            </a:p>
            <a:p>
              <a:pPr>
                <a:lnSpc>
                  <a:spcPct val="110000"/>
                </a:lnSpc>
                <a:spcBef>
                  <a:spcPct val="10000"/>
                </a:spcBef>
                <a:buSzPct val="60000"/>
                <a:buFont typeface="Wingdings" panose="05000000000000000000" pitchFamily="2" charset="2"/>
                <a:buChar char="n"/>
              </a:pPr>
              <a:r>
                <a:rPr lang="zh-CN" altLang="en-US" sz="2400" dirty="0">
                  <a:solidFill>
                    <a:schemeClr val="hlink"/>
                  </a:solidFill>
                  <a:latin typeface="楷体_GB2312" pitchFamily="49" charset="-122"/>
                </a:rPr>
                <a:t> 适应性维护</a:t>
              </a:r>
            </a:p>
            <a:p>
              <a:pPr lvl="1">
                <a:lnSpc>
                  <a:spcPct val="110000"/>
                </a:lnSpc>
                <a:spcBef>
                  <a:spcPct val="10000"/>
                </a:spcBef>
                <a:buClr>
                  <a:schemeClr val="hlink"/>
                </a:buClr>
                <a:buSzPct val="55000"/>
                <a:buFont typeface="Wingdings" panose="05000000000000000000" pitchFamily="2" charset="2"/>
                <a:buChar char="n"/>
              </a:pPr>
              <a:r>
                <a:rPr lang="zh-CN" altLang="en-US" sz="2400" dirty="0">
                  <a:latin typeface="楷体_GB2312" pitchFamily="49" charset="-122"/>
                </a:rPr>
                <a:t> 把环境的可能变化考虑在内</a:t>
              </a:r>
            </a:p>
            <a:p>
              <a:pPr lvl="1">
                <a:lnSpc>
                  <a:spcPct val="110000"/>
                </a:lnSpc>
                <a:spcBef>
                  <a:spcPct val="10000"/>
                </a:spcBef>
                <a:buClr>
                  <a:schemeClr val="hlink"/>
                </a:buClr>
                <a:buSzPct val="55000"/>
                <a:buFont typeface="Wingdings" panose="05000000000000000000" pitchFamily="2" charset="2"/>
                <a:buChar char="n"/>
              </a:pPr>
              <a:r>
                <a:rPr lang="zh-CN" altLang="en-US" sz="2400" dirty="0">
                  <a:latin typeface="楷体_GB2312" pitchFamily="49" charset="-122"/>
                </a:rPr>
                <a:t> 把因环境变化而必须修改的程序局限在少数模块</a:t>
              </a:r>
            </a:p>
            <a:p>
              <a:pPr lvl="1">
                <a:lnSpc>
                  <a:spcPct val="110000"/>
                </a:lnSpc>
                <a:spcBef>
                  <a:spcPct val="10000"/>
                </a:spcBef>
                <a:buClr>
                  <a:schemeClr val="hlink"/>
                </a:buClr>
                <a:buSzPct val="55000"/>
                <a:buFont typeface="Wingdings" panose="05000000000000000000" pitchFamily="2" charset="2"/>
                <a:buChar char="n"/>
              </a:pPr>
              <a:r>
                <a:rPr lang="zh-CN" altLang="en-US" sz="2400" dirty="0">
                  <a:latin typeface="楷体_GB2312" pitchFamily="49" charset="-122"/>
                </a:rPr>
                <a:t> 使用内部程序列表、外部文件及例外处理</a:t>
              </a:r>
            </a:p>
            <a:p>
              <a:pPr lvl="1">
                <a:lnSpc>
                  <a:spcPct val="110000"/>
                </a:lnSpc>
                <a:spcBef>
                  <a:spcPct val="10000"/>
                </a:spcBef>
                <a:spcAft>
                  <a:spcPct val="10000"/>
                </a:spcAft>
                <a:buClr>
                  <a:schemeClr val="hlink"/>
                </a:buClr>
                <a:buSzPct val="55000"/>
                <a:buFont typeface="Wingdings" panose="05000000000000000000" pitchFamily="2" charset="2"/>
                <a:buChar char="n"/>
              </a:pPr>
              <a:r>
                <a:rPr lang="zh-CN" altLang="en-US" sz="2400" dirty="0">
                  <a:latin typeface="楷体_GB2312" pitchFamily="49" charset="-122"/>
                </a:rPr>
                <a:t> 使用面向对象技术</a:t>
              </a:r>
            </a:p>
            <a:p>
              <a:pPr>
                <a:lnSpc>
                  <a:spcPct val="110000"/>
                </a:lnSpc>
                <a:spcBef>
                  <a:spcPct val="10000"/>
                </a:spcBef>
                <a:buSzPct val="60000"/>
                <a:buFont typeface="Wingdings" panose="05000000000000000000" pitchFamily="2" charset="2"/>
                <a:buChar char="n"/>
              </a:pPr>
              <a:r>
                <a:rPr lang="zh-CN" altLang="en-US" sz="2400" dirty="0">
                  <a:solidFill>
                    <a:schemeClr val="hlink"/>
                  </a:solidFill>
                  <a:latin typeface="楷体_GB2312" pitchFamily="49" charset="-122"/>
                </a:rPr>
                <a:t> 完善性维护</a:t>
              </a:r>
            </a:p>
            <a:p>
              <a:pPr lvl="1">
                <a:lnSpc>
                  <a:spcPct val="110000"/>
                </a:lnSpc>
                <a:spcBef>
                  <a:spcPct val="10000"/>
                </a:spcBef>
                <a:buClr>
                  <a:schemeClr val="hlink"/>
                </a:buClr>
                <a:buSzPct val="55000"/>
                <a:buFont typeface="Wingdings" panose="05000000000000000000" pitchFamily="2" charset="2"/>
                <a:buChar char="n"/>
              </a:pPr>
              <a:r>
                <a:rPr lang="zh-CN" altLang="en-US" sz="2400" dirty="0">
                  <a:latin typeface="楷体_GB2312" pitchFamily="49" charset="-122"/>
                </a:rPr>
                <a:t> 用快速原型法建立软件原型</a:t>
              </a:r>
            </a:p>
          </p:txBody>
        </p:sp>
      </p:grpSp>
    </p:spTree>
    <p:extLst>
      <p:ext uri="{BB962C8B-B14F-4D97-AF65-F5344CB8AC3E}">
        <p14:creationId xmlns:p14="http://schemas.microsoft.com/office/powerpoint/2010/main" val="1874745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087485A-6C7A-4FFD-9303-CD013F91AA43}"/>
              </a:ext>
            </a:extLst>
          </p:cNvPr>
          <p:cNvSpPr/>
          <p:nvPr/>
        </p:nvSpPr>
        <p:spPr>
          <a:xfrm>
            <a:off x="7212448" y="420530"/>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graphicFrame>
        <p:nvGraphicFramePr>
          <p:cNvPr id="3" name="Object 6">
            <a:extLst>
              <a:ext uri="{FF2B5EF4-FFF2-40B4-BE49-F238E27FC236}">
                <a16:creationId xmlns:a16="http://schemas.microsoft.com/office/drawing/2014/main" id="{30F7CCF8-1F59-47E5-BA4C-5715CA7AC93B}"/>
              </a:ext>
            </a:extLst>
          </p:cNvPr>
          <p:cNvGraphicFramePr>
            <a:graphicFrameLocks noChangeAspect="1"/>
          </p:cNvGraphicFramePr>
          <p:nvPr>
            <p:extLst>
              <p:ext uri="{D42A27DB-BD31-4B8C-83A1-F6EECF244321}">
                <p14:modId xmlns:p14="http://schemas.microsoft.com/office/powerpoint/2010/main" val="2308607845"/>
              </p:ext>
            </p:extLst>
          </p:nvPr>
        </p:nvGraphicFramePr>
        <p:xfrm>
          <a:off x="5028721" y="2085788"/>
          <a:ext cx="5334000" cy="3200400"/>
        </p:xfrm>
        <a:graphic>
          <a:graphicData uri="http://schemas.openxmlformats.org/presentationml/2006/ole">
            <mc:AlternateContent xmlns:mc="http://schemas.openxmlformats.org/markup-compatibility/2006">
              <mc:Choice xmlns:v="urn:schemas-microsoft-com:vml" Requires="v">
                <p:oleObj spid="_x0000_s30724" name="Picture2" r:id="rId3" imgW="6705720" imgH="3657600" progId="Word.Picture.8">
                  <p:embed/>
                </p:oleObj>
              </mc:Choice>
              <mc:Fallback>
                <p:oleObj name="Picture2" r:id="rId3" imgW="6705720" imgH="3657600" progId="Word.Picture.8">
                  <p:embed/>
                  <p:pic>
                    <p:nvPicPr>
                      <p:cNvPr id="3"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8721" y="2085788"/>
                        <a:ext cx="5334000" cy="320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2">
            <a:extLst>
              <a:ext uri="{FF2B5EF4-FFF2-40B4-BE49-F238E27FC236}">
                <a16:creationId xmlns:a16="http://schemas.microsoft.com/office/drawing/2014/main" id="{AAC01D44-4952-4454-8648-41708EE4358D}"/>
              </a:ext>
            </a:extLst>
          </p:cNvPr>
          <p:cNvSpPr txBox="1">
            <a:spLocks noChangeArrowheads="1"/>
          </p:cNvSpPr>
          <p:nvPr/>
        </p:nvSpPr>
        <p:spPr bwMode="auto">
          <a:xfrm>
            <a:off x="2514121" y="1171388"/>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5.3 </a:t>
            </a:r>
            <a:r>
              <a:rPr lang="zh-CN" altLang="en-US" sz="4000">
                <a:solidFill>
                  <a:schemeClr val="tx2"/>
                </a:solidFill>
                <a:latin typeface="隶书" panose="02010509060101010101" pitchFamily="49" charset="-122"/>
                <a:ea typeface="隶书" panose="02010509060101010101" pitchFamily="49" charset="-122"/>
              </a:rPr>
              <a:t>软件维护</a:t>
            </a:r>
            <a:endParaRPr lang="en-US" altLang="zh-CN" sz="4000">
              <a:solidFill>
                <a:schemeClr val="tx2"/>
              </a:solidFill>
              <a:latin typeface="隶书" panose="02010509060101010101" pitchFamily="49" charset="-122"/>
              <a:ea typeface="隶书" panose="02010509060101010101" pitchFamily="49" charset="-122"/>
            </a:endParaRPr>
          </a:p>
        </p:txBody>
      </p:sp>
      <p:grpSp>
        <p:nvGrpSpPr>
          <p:cNvPr id="5" name="Group 7">
            <a:extLst>
              <a:ext uri="{FF2B5EF4-FFF2-40B4-BE49-F238E27FC236}">
                <a16:creationId xmlns:a16="http://schemas.microsoft.com/office/drawing/2014/main" id="{5F30B733-0CCF-4BF1-8D9D-84BDB7C28553}"/>
              </a:ext>
            </a:extLst>
          </p:cNvPr>
          <p:cNvGrpSpPr>
            <a:grpSpLocks/>
          </p:cNvGrpSpPr>
          <p:nvPr/>
        </p:nvGrpSpPr>
        <p:grpSpPr bwMode="auto">
          <a:xfrm>
            <a:off x="1980721" y="2100076"/>
            <a:ext cx="4800600" cy="4557712"/>
            <a:chOff x="432" y="1209"/>
            <a:chExt cx="3024" cy="2871"/>
          </a:xfrm>
        </p:grpSpPr>
        <p:sp>
          <p:nvSpPr>
            <p:cNvPr id="6" name="Text Box 4">
              <a:extLst>
                <a:ext uri="{FF2B5EF4-FFF2-40B4-BE49-F238E27FC236}">
                  <a16:creationId xmlns:a16="http://schemas.microsoft.com/office/drawing/2014/main" id="{8D72F176-5A7D-47E5-86C6-378F7896E1E3}"/>
                </a:ext>
              </a:extLst>
            </p:cNvPr>
            <p:cNvSpPr txBox="1">
              <a:spLocks noChangeArrowheads="1"/>
            </p:cNvSpPr>
            <p:nvPr/>
          </p:nvSpPr>
          <p:spPr bwMode="auto">
            <a:xfrm>
              <a:off x="432" y="1209"/>
              <a:ext cx="17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Char char="§"/>
              </a:pPr>
              <a:r>
                <a:rPr lang="zh-CN" altLang="en-US" sz="2800">
                  <a:solidFill>
                    <a:schemeClr val="folHlink"/>
                  </a:solidFill>
                </a:rPr>
                <a:t> 软件维护过程</a:t>
              </a:r>
              <a:endParaRPr lang="en-US" altLang="zh-CN" sz="2800">
                <a:solidFill>
                  <a:schemeClr val="folHlink"/>
                </a:solidFill>
              </a:endParaRPr>
            </a:p>
          </p:txBody>
        </p:sp>
        <p:sp>
          <p:nvSpPr>
            <p:cNvPr id="7" name="Rectangle 5">
              <a:extLst>
                <a:ext uri="{FF2B5EF4-FFF2-40B4-BE49-F238E27FC236}">
                  <a16:creationId xmlns:a16="http://schemas.microsoft.com/office/drawing/2014/main" id="{5B1CFA71-91AC-4D75-BE46-0C381EAF933A}"/>
                </a:ext>
              </a:extLst>
            </p:cNvPr>
            <p:cNvSpPr>
              <a:spLocks noChangeArrowheads="1"/>
            </p:cNvSpPr>
            <p:nvPr/>
          </p:nvSpPr>
          <p:spPr bwMode="auto">
            <a:xfrm>
              <a:off x="720" y="1525"/>
              <a:ext cx="2736" cy="2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20000"/>
                </a:spcBef>
                <a:spcAft>
                  <a:spcPct val="15000"/>
                </a:spcAft>
                <a:buSzPct val="60000"/>
                <a:buFont typeface="Wingdings" panose="05000000000000000000" pitchFamily="2" charset="2"/>
                <a:buChar char="n"/>
              </a:pPr>
              <a:r>
                <a:rPr lang="zh-CN" altLang="en-US" sz="2400">
                  <a:solidFill>
                    <a:schemeClr val="hlink"/>
                  </a:solidFill>
                  <a:latin typeface="楷体_GB2312" pitchFamily="49" charset="-122"/>
                </a:rPr>
                <a:t> 维护组织</a:t>
              </a:r>
            </a:p>
            <a:p>
              <a:pPr>
                <a:lnSpc>
                  <a:spcPct val="110000"/>
                </a:lnSpc>
                <a:spcBef>
                  <a:spcPct val="20000"/>
                </a:spcBef>
                <a:spcAft>
                  <a:spcPct val="15000"/>
                </a:spcAft>
                <a:buSzPct val="60000"/>
                <a:buFont typeface="Wingdings" panose="05000000000000000000" pitchFamily="2" charset="2"/>
                <a:buChar char="n"/>
              </a:pPr>
              <a:r>
                <a:rPr lang="zh-CN" altLang="en-US" sz="2400">
                  <a:solidFill>
                    <a:schemeClr val="hlink"/>
                  </a:solidFill>
                  <a:latin typeface="楷体_GB2312" pitchFamily="49" charset="-122"/>
                </a:rPr>
                <a:t> 维护报告</a:t>
              </a:r>
            </a:p>
            <a:p>
              <a:pPr>
                <a:lnSpc>
                  <a:spcPct val="110000"/>
                </a:lnSpc>
                <a:spcBef>
                  <a:spcPct val="20000"/>
                </a:spcBef>
                <a:spcAft>
                  <a:spcPct val="15000"/>
                </a:spcAft>
                <a:buSzPct val="60000"/>
                <a:buFont typeface="Wingdings" panose="05000000000000000000" pitchFamily="2" charset="2"/>
                <a:buChar char="n"/>
              </a:pPr>
              <a:r>
                <a:rPr lang="zh-CN" altLang="en-US" sz="2400">
                  <a:latin typeface="楷体_GB2312" pitchFamily="49" charset="-122"/>
                </a:rPr>
                <a:t> </a:t>
              </a:r>
              <a:r>
                <a:rPr lang="zh-CN" altLang="en-US" sz="2400">
                  <a:solidFill>
                    <a:schemeClr val="hlink"/>
                  </a:solidFill>
                  <a:latin typeface="楷体_GB2312" pitchFamily="49" charset="-122"/>
                </a:rPr>
                <a:t>维护的事件流</a:t>
              </a:r>
            </a:p>
            <a:p>
              <a:pPr lvl="1">
                <a:lnSpc>
                  <a:spcPct val="110000"/>
                </a:lnSpc>
                <a:spcBef>
                  <a:spcPct val="10000"/>
                </a:spcBef>
                <a:buClr>
                  <a:schemeClr val="hlink"/>
                </a:buClr>
                <a:buSzPct val="55000"/>
                <a:buFont typeface="Wingdings" panose="05000000000000000000" pitchFamily="2" charset="2"/>
                <a:buChar char="n"/>
              </a:pPr>
              <a:r>
                <a:rPr lang="zh-CN" altLang="en-US" sz="2400">
                  <a:latin typeface="楷体_GB2312" pitchFamily="49" charset="-122"/>
                </a:rPr>
                <a:t> 确定维护类型</a:t>
              </a:r>
            </a:p>
            <a:p>
              <a:pPr lvl="1">
                <a:lnSpc>
                  <a:spcPct val="110000"/>
                </a:lnSpc>
                <a:spcBef>
                  <a:spcPct val="20000"/>
                </a:spcBef>
                <a:spcAft>
                  <a:spcPct val="10000"/>
                </a:spcAft>
                <a:buClr>
                  <a:schemeClr val="hlink"/>
                </a:buClr>
                <a:buSzPct val="55000"/>
                <a:buFont typeface="Wingdings" panose="05000000000000000000" pitchFamily="2" charset="2"/>
                <a:buChar char="n"/>
              </a:pPr>
              <a:r>
                <a:rPr lang="zh-CN" altLang="en-US" sz="2400">
                  <a:latin typeface="楷体_GB2312" pitchFamily="49" charset="-122"/>
                </a:rPr>
                <a:t> 改正性维护</a:t>
              </a:r>
            </a:p>
            <a:p>
              <a:pPr lvl="1">
                <a:lnSpc>
                  <a:spcPct val="110000"/>
                </a:lnSpc>
                <a:spcBef>
                  <a:spcPct val="20000"/>
                </a:spcBef>
                <a:spcAft>
                  <a:spcPct val="10000"/>
                </a:spcAft>
                <a:buClr>
                  <a:schemeClr val="hlink"/>
                </a:buClr>
                <a:buSzPct val="55000"/>
                <a:buFont typeface="Wingdings" panose="05000000000000000000" pitchFamily="2" charset="2"/>
                <a:buChar char="n"/>
              </a:pPr>
              <a:r>
                <a:rPr lang="zh-CN" altLang="en-US" sz="2400">
                  <a:latin typeface="楷体_GB2312" pitchFamily="49" charset="-122"/>
                </a:rPr>
                <a:t> 适应性维护和完善性维护</a:t>
              </a:r>
            </a:p>
            <a:p>
              <a:pPr lvl="1">
                <a:lnSpc>
                  <a:spcPct val="110000"/>
                </a:lnSpc>
                <a:spcBef>
                  <a:spcPct val="20000"/>
                </a:spcBef>
                <a:spcAft>
                  <a:spcPct val="10000"/>
                </a:spcAft>
                <a:buClr>
                  <a:schemeClr val="hlink"/>
                </a:buClr>
                <a:buSzPct val="55000"/>
                <a:buFont typeface="Wingdings" panose="05000000000000000000" pitchFamily="2" charset="2"/>
                <a:buChar char="n"/>
              </a:pPr>
              <a:r>
                <a:rPr lang="zh-CN" altLang="en-US" sz="2400">
                  <a:latin typeface="楷体_GB2312" pitchFamily="49" charset="-122"/>
                </a:rPr>
                <a:t> 维护的技术工作</a:t>
              </a:r>
            </a:p>
            <a:p>
              <a:pPr lvl="1">
                <a:lnSpc>
                  <a:spcPct val="110000"/>
                </a:lnSpc>
                <a:spcBef>
                  <a:spcPct val="20000"/>
                </a:spcBef>
                <a:spcAft>
                  <a:spcPct val="10000"/>
                </a:spcAft>
                <a:buClr>
                  <a:schemeClr val="hlink"/>
                </a:buClr>
                <a:buSzPct val="55000"/>
                <a:buFont typeface="Wingdings" panose="05000000000000000000" pitchFamily="2" charset="2"/>
                <a:buChar char="n"/>
              </a:pPr>
              <a:r>
                <a:rPr lang="zh-CN" altLang="en-US" sz="2400">
                  <a:latin typeface="楷体_GB2312" pitchFamily="49" charset="-122"/>
                </a:rPr>
                <a:t> 情况评审</a:t>
              </a:r>
            </a:p>
          </p:txBody>
        </p:sp>
      </p:grpSp>
    </p:spTree>
    <p:extLst>
      <p:ext uri="{BB962C8B-B14F-4D97-AF65-F5344CB8AC3E}">
        <p14:creationId xmlns:p14="http://schemas.microsoft.com/office/powerpoint/2010/main" val="41504620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52DB3C9A-360F-4B60-815F-82E886C6ADF8}"/>
              </a:ext>
            </a:extLst>
          </p:cNvPr>
          <p:cNvSpPr txBox="1">
            <a:spLocks noChangeArrowheads="1"/>
          </p:cNvSpPr>
          <p:nvPr/>
        </p:nvSpPr>
        <p:spPr bwMode="auto">
          <a:xfrm>
            <a:off x="3962400" y="982211"/>
            <a:ext cx="601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kumimoji="1" lang="zh-CN" altLang="en-US" sz="4000">
                <a:solidFill>
                  <a:schemeClr val="tx2"/>
                </a:solidFill>
                <a:latin typeface="隶书" panose="02010509060101010101" pitchFamily="49" charset="-122"/>
                <a:ea typeface="隶书" panose="02010509060101010101" pitchFamily="49" charset="-122"/>
              </a:rPr>
              <a:t>5.3 </a:t>
            </a:r>
            <a:r>
              <a:rPr lang="zh-CN" altLang="en-US" sz="4000">
                <a:solidFill>
                  <a:schemeClr val="tx2"/>
                </a:solidFill>
                <a:latin typeface="隶书" panose="02010509060101010101" pitchFamily="49" charset="-122"/>
                <a:ea typeface="隶书" panose="02010509060101010101" pitchFamily="49" charset="-122"/>
              </a:rPr>
              <a:t>软件维护</a:t>
            </a:r>
            <a:endParaRPr lang="en-US" altLang="zh-CN" sz="4000">
              <a:solidFill>
                <a:schemeClr val="tx2"/>
              </a:solidFill>
              <a:latin typeface="隶书" panose="02010509060101010101" pitchFamily="49" charset="-122"/>
              <a:ea typeface="隶书" panose="02010509060101010101" pitchFamily="49" charset="-122"/>
            </a:endParaRPr>
          </a:p>
        </p:txBody>
      </p:sp>
      <p:grpSp>
        <p:nvGrpSpPr>
          <p:cNvPr id="3" name="Group 7">
            <a:extLst>
              <a:ext uri="{FF2B5EF4-FFF2-40B4-BE49-F238E27FC236}">
                <a16:creationId xmlns:a16="http://schemas.microsoft.com/office/drawing/2014/main" id="{F7C560A0-FDA9-4A61-AAA0-988250728076}"/>
              </a:ext>
            </a:extLst>
          </p:cNvPr>
          <p:cNvGrpSpPr>
            <a:grpSpLocks/>
          </p:cNvGrpSpPr>
          <p:nvPr/>
        </p:nvGrpSpPr>
        <p:grpSpPr bwMode="auto">
          <a:xfrm>
            <a:off x="3505200" y="1910899"/>
            <a:ext cx="7467600" cy="4481512"/>
            <a:chOff x="432" y="1209"/>
            <a:chExt cx="4704" cy="2823"/>
          </a:xfrm>
        </p:grpSpPr>
        <p:sp>
          <p:nvSpPr>
            <p:cNvPr id="4" name="Rectangle 3">
              <a:extLst>
                <a:ext uri="{FF2B5EF4-FFF2-40B4-BE49-F238E27FC236}">
                  <a16:creationId xmlns:a16="http://schemas.microsoft.com/office/drawing/2014/main" id="{A7B40C09-086A-4BD9-8993-DC6A1F412B8F}"/>
                </a:ext>
              </a:extLst>
            </p:cNvPr>
            <p:cNvSpPr>
              <a:spLocks noChangeArrowheads="1"/>
            </p:cNvSpPr>
            <p:nvPr/>
          </p:nvSpPr>
          <p:spPr bwMode="auto">
            <a:xfrm>
              <a:off x="864" y="1523"/>
              <a:ext cx="4272" cy="2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20000"/>
                </a:spcBef>
                <a:spcAft>
                  <a:spcPct val="15000"/>
                </a:spcAft>
                <a:buSzPct val="60000"/>
                <a:buFont typeface="Wingdings" panose="05000000000000000000" pitchFamily="2" charset="2"/>
                <a:buChar char="n"/>
              </a:pPr>
              <a:r>
                <a:rPr lang="zh-CN" altLang="en-US" sz="2400">
                  <a:latin typeface="楷体_GB2312" pitchFamily="49" charset="-122"/>
                </a:rPr>
                <a:t> 定义</a:t>
              </a:r>
            </a:p>
            <a:p>
              <a:pPr lvl="1">
                <a:lnSpc>
                  <a:spcPct val="110000"/>
                </a:lnSpc>
                <a:spcBef>
                  <a:spcPct val="20000"/>
                </a:spcBef>
                <a:buClr>
                  <a:schemeClr val="hlink"/>
                </a:buClr>
                <a:buSzPct val="55000"/>
                <a:buFont typeface="Wingdings" panose="05000000000000000000" pitchFamily="2" charset="2"/>
                <a:buChar char="n"/>
              </a:pPr>
              <a:r>
                <a:rPr lang="zh-CN" altLang="en-US" sz="2400">
                  <a:latin typeface="楷体_GB2312" pitchFamily="49" charset="-122"/>
                </a:rPr>
                <a:t> 指因修改软件而造成的错误或其它不希望</a:t>
              </a:r>
            </a:p>
            <a:p>
              <a:pPr lvl="1">
                <a:lnSpc>
                  <a:spcPct val="110000"/>
                </a:lnSpc>
                <a:spcBef>
                  <a:spcPct val="5000"/>
                </a:spcBef>
                <a:spcAft>
                  <a:spcPct val="10000"/>
                </a:spcAft>
                <a:buClr>
                  <a:schemeClr val="hlink"/>
                </a:buClr>
                <a:buSzPct val="55000"/>
                <a:buFont typeface="Wingdings" panose="05000000000000000000" pitchFamily="2" charset="2"/>
                <a:buNone/>
              </a:pPr>
              <a:r>
                <a:rPr lang="zh-CN" altLang="en-US" sz="2400">
                  <a:latin typeface="楷体_GB2312" pitchFamily="49" charset="-122"/>
                </a:rPr>
                <a:t>  发生的情况</a:t>
              </a:r>
            </a:p>
            <a:p>
              <a:pPr>
                <a:lnSpc>
                  <a:spcPct val="110000"/>
                </a:lnSpc>
                <a:spcBef>
                  <a:spcPct val="20000"/>
                </a:spcBef>
                <a:spcAft>
                  <a:spcPct val="15000"/>
                </a:spcAft>
                <a:buSzPct val="60000"/>
                <a:buFont typeface="Wingdings" panose="05000000000000000000" pitchFamily="2" charset="2"/>
                <a:buChar char="n"/>
              </a:pPr>
              <a:r>
                <a:rPr lang="zh-CN" altLang="en-US" sz="2400">
                  <a:latin typeface="楷体_GB2312" pitchFamily="49" charset="-122"/>
                </a:rPr>
                <a:t> 类型</a:t>
              </a:r>
            </a:p>
            <a:p>
              <a:pPr lvl="1">
                <a:lnSpc>
                  <a:spcPct val="110000"/>
                </a:lnSpc>
                <a:spcBef>
                  <a:spcPct val="20000"/>
                </a:spcBef>
                <a:buClr>
                  <a:schemeClr val="hlink"/>
                </a:buClr>
                <a:buSzPct val="55000"/>
                <a:buFont typeface="Wingdings" panose="05000000000000000000" pitchFamily="2" charset="2"/>
                <a:buChar char="n"/>
              </a:pPr>
              <a:r>
                <a:rPr lang="zh-CN" altLang="en-US" sz="2400">
                  <a:latin typeface="楷体_GB2312" pitchFamily="49" charset="-122"/>
                </a:rPr>
                <a:t> 修改代码的副作用</a:t>
              </a:r>
            </a:p>
            <a:p>
              <a:pPr lvl="1">
                <a:lnSpc>
                  <a:spcPct val="110000"/>
                </a:lnSpc>
                <a:spcBef>
                  <a:spcPct val="20000"/>
                </a:spcBef>
                <a:buClr>
                  <a:schemeClr val="hlink"/>
                </a:buClr>
                <a:buSzPct val="55000"/>
                <a:buFont typeface="Wingdings" panose="05000000000000000000" pitchFamily="2" charset="2"/>
                <a:buChar char="n"/>
              </a:pPr>
              <a:r>
                <a:rPr lang="zh-CN" altLang="en-US" sz="2400">
                  <a:latin typeface="楷体_GB2312" pitchFamily="49" charset="-122"/>
                </a:rPr>
                <a:t> 修改数据的副作用</a:t>
              </a:r>
            </a:p>
            <a:p>
              <a:pPr lvl="1">
                <a:lnSpc>
                  <a:spcPct val="110000"/>
                </a:lnSpc>
                <a:spcBef>
                  <a:spcPct val="20000"/>
                </a:spcBef>
                <a:spcAft>
                  <a:spcPct val="20000"/>
                </a:spcAft>
                <a:buClr>
                  <a:schemeClr val="hlink"/>
                </a:buClr>
                <a:buSzPct val="55000"/>
                <a:buFont typeface="Wingdings" panose="05000000000000000000" pitchFamily="2" charset="2"/>
                <a:buChar char="n"/>
              </a:pPr>
              <a:r>
                <a:rPr lang="zh-CN" altLang="en-US" sz="2400">
                  <a:latin typeface="楷体_GB2312" pitchFamily="49" charset="-122"/>
                </a:rPr>
                <a:t> 文档的副作用</a:t>
              </a:r>
            </a:p>
            <a:p>
              <a:pPr>
                <a:lnSpc>
                  <a:spcPct val="110000"/>
                </a:lnSpc>
                <a:spcBef>
                  <a:spcPct val="20000"/>
                </a:spcBef>
                <a:spcAft>
                  <a:spcPct val="15000"/>
                </a:spcAft>
                <a:buSzPct val="60000"/>
                <a:buFont typeface="Wingdings" panose="05000000000000000000" pitchFamily="2" charset="2"/>
                <a:buChar char="n"/>
              </a:pPr>
              <a:r>
                <a:rPr lang="zh-CN" altLang="en-US" sz="2400">
                  <a:latin typeface="楷体_GB2312" pitchFamily="49" charset="-122"/>
                </a:rPr>
                <a:t> 控制维护的副作用</a:t>
              </a:r>
            </a:p>
          </p:txBody>
        </p:sp>
        <p:sp>
          <p:nvSpPr>
            <p:cNvPr id="5" name="Text Box 5">
              <a:extLst>
                <a:ext uri="{FF2B5EF4-FFF2-40B4-BE49-F238E27FC236}">
                  <a16:creationId xmlns:a16="http://schemas.microsoft.com/office/drawing/2014/main" id="{3EA46A06-2629-4750-8FCD-78DCDA2997F8}"/>
                </a:ext>
              </a:extLst>
            </p:cNvPr>
            <p:cNvSpPr txBox="1">
              <a:spLocks noChangeArrowheads="1"/>
            </p:cNvSpPr>
            <p:nvPr/>
          </p:nvSpPr>
          <p:spPr bwMode="auto">
            <a:xfrm>
              <a:off x="432" y="1209"/>
              <a:ext cx="17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Char char="§"/>
              </a:pPr>
              <a:r>
                <a:rPr lang="zh-CN" altLang="en-US" sz="2800">
                  <a:solidFill>
                    <a:schemeClr val="folHlink"/>
                  </a:solidFill>
                </a:rPr>
                <a:t> 维护的副作用</a:t>
              </a:r>
              <a:endParaRPr lang="en-US" altLang="zh-CN" sz="2800">
                <a:solidFill>
                  <a:schemeClr val="folHlink"/>
                </a:solidFill>
              </a:endParaRPr>
            </a:p>
          </p:txBody>
        </p:sp>
      </p:grpSp>
      <p:sp>
        <p:nvSpPr>
          <p:cNvPr id="6" name="矩形 5">
            <a:extLst>
              <a:ext uri="{FF2B5EF4-FFF2-40B4-BE49-F238E27FC236}">
                <a16:creationId xmlns:a16="http://schemas.microsoft.com/office/drawing/2014/main" id="{F06B6BAC-2176-460E-B962-74929F086C4F}"/>
              </a:ext>
            </a:extLst>
          </p:cNvPr>
          <p:cNvSpPr/>
          <p:nvPr/>
        </p:nvSpPr>
        <p:spPr>
          <a:xfrm>
            <a:off x="8311406" y="21080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Tree>
    <p:extLst>
      <p:ext uri="{BB962C8B-B14F-4D97-AF65-F5344CB8AC3E}">
        <p14:creationId xmlns:p14="http://schemas.microsoft.com/office/powerpoint/2010/main" val="21706045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1759CFA-F723-44D0-AC81-57407A442405}"/>
              </a:ext>
            </a:extLst>
          </p:cNvPr>
          <p:cNvSpPr/>
          <p:nvPr/>
        </p:nvSpPr>
        <p:spPr>
          <a:xfrm>
            <a:off x="8059736" y="378585"/>
            <a:ext cx="2972289" cy="461665"/>
          </a:xfrm>
          <a:prstGeom prst="rect">
            <a:avLst/>
          </a:prstGeom>
        </p:spPr>
        <p:txBody>
          <a:bodyPr wrap="none">
            <a:spAutoFit/>
          </a:bodyPr>
          <a:lstStyle/>
          <a:p>
            <a:pPr>
              <a:defRPr/>
            </a:pPr>
            <a:r>
              <a:rPr lang="en-US" altLang="zh-CN" sz="2400" b="1" kern="100" dirty="0">
                <a:latin typeface="+mj-ea"/>
                <a:cs typeface="Times New Roman" panose="02020603050405020304" pitchFamily="18" charset="0"/>
              </a:rPr>
              <a:t>05  </a:t>
            </a:r>
            <a:r>
              <a:rPr lang="zh-CN" altLang="en-US" sz="2400" b="1" kern="100" dirty="0">
                <a:latin typeface="+mj-ea"/>
                <a:cs typeface="Times New Roman" panose="02020603050405020304" pitchFamily="18" charset="0"/>
              </a:rPr>
              <a:t>软件测试与维护</a:t>
            </a:r>
            <a:endParaRPr lang="zh-CN" altLang="zh-CN" sz="2400" b="1" kern="100" dirty="0">
              <a:latin typeface="+mj-ea"/>
              <a:cs typeface="Times New Roman" panose="02020603050405020304" pitchFamily="18" charset="0"/>
            </a:endParaRPr>
          </a:p>
        </p:txBody>
      </p:sp>
      <p:sp>
        <p:nvSpPr>
          <p:cNvPr id="5" name="Text Box 2">
            <a:extLst>
              <a:ext uri="{FF2B5EF4-FFF2-40B4-BE49-F238E27FC236}">
                <a16:creationId xmlns:a16="http://schemas.microsoft.com/office/drawing/2014/main" id="{78B4F68E-16A8-4317-8F6A-E41260563806}"/>
              </a:ext>
            </a:extLst>
          </p:cNvPr>
          <p:cNvSpPr txBox="1">
            <a:spLocks noChangeArrowheads="1"/>
          </p:cNvSpPr>
          <p:nvPr/>
        </p:nvSpPr>
        <p:spPr bwMode="auto">
          <a:xfrm>
            <a:off x="3710730" y="2292991"/>
            <a:ext cx="6553200" cy="4022725"/>
          </a:xfrm>
          <a:prstGeom prst="rect">
            <a:avLst/>
          </a:prstGeom>
          <a:noFill/>
          <a:ln>
            <a:noFill/>
          </a:ln>
          <a:effectLst/>
          <a:extLst>
            <a:ext uri="{909E8E84-426E-40DD-AFC4-6F175D3DCCD1}">
              <a14:hiddenFill xmlns:a14="http://schemas.microsoft.com/office/drawing/2010/main">
                <a:solidFill>
                  <a:srgbClr val="3333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15000"/>
              </a:lnSpc>
              <a:spcBef>
                <a:spcPct val="10000"/>
              </a:spcBef>
              <a:buClrTx/>
              <a:buFontTx/>
              <a:buAutoNum type="arabicPeriod"/>
            </a:pPr>
            <a:r>
              <a:rPr kumimoji="0" lang="zh-CN" altLang="en-US">
                <a:latin typeface="楷体_GB2312" pitchFamily="49" charset="-122"/>
                <a:ea typeface="楷体_GB2312" pitchFamily="49" charset="-122"/>
              </a:rPr>
              <a:t>软件测试的概念、基本任务、目的</a:t>
            </a:r>
          </a:p>
          <a:p>
            <a:pPr eaLnBrk="0" hangingPunct="0">
              <a:spcBef>
                <a:spcPct val="10000"/>
              </a:spcBef>
              <a:buClrTx/>
              <a:buFontTx/>
              <a:buAutoNum type="arabicPeriod"/>
            </a:pPr>
            <a:r>
              <a:rPr kumimoji="0" lang="zh-CN" altLang="en-US">
                <a:latin typeface="楷体_GB2312" pitchFamily="49" charset="-122"/>
                <a:ea typeface="楷体_GB2312" pitchFamily="49" charset="-122"/>
              </a:rPr>
              <a:t>软件测试的步骤，单元、集成、确认测试的内容、方法、分别发现哪个阶段的错误</a:t>
            </a:r>
          </a:p>
          <a:p>
            <a:pPr eaLnBrk="0" hangingPunct="0">
              <a:lnSpc>
                <a:spcPct val="115000"/>
              </a:lnSpc>
              <a:spcBef>
                <a:spcPct val="10000"/>
              </a:spcBef>
              <a:buClrTx/>
              <a:buFontTx/>
              <a:buAutoNum type="arabicPeriod"/>
            </a:pPr>
            <a:r>
              <a:rPr kumimoji="0" lang="zh-CN" altLang="en-US" u="sng">
                <a:latin typeface="楷体_GB2312" pitchFamily="49" charset="-122"/>
                <a:ea typeface="楷体_GB2312" pitchFamily="49" charset="-122"/>
              </a:rPr>
              <a:t>两种测试方法和产生测试用例的方法</a:t>
            </a:r>
            <a:endParaRPr kumimoji="0" lang="zh-CN" altLang="en-US">
              <a:latin typeface="楷体_GB2312" pitchFamily="49" charset="-122"/>
              <a:ea typeface="楷体_GB2312" pitchFamily="49" charset="-122"/>
            </a:endParaRPr>
          </a:p>
          <a:p>
            <a:pPr eaLnBrk="0" hangingPunct="0">
              <a:lnSpc>
                <a:spcPct val="115000"/>
              </a:lnSpc>
              <a:spcBef>
                <a:spcPct val="10000"/>
              </a:spcBef>
              <a:buClrTx/>
              <a:buFontTx/>
              <a:buAutoNum type="arabicPeriod"/>
            </a:pPr>
            <a:r>
              <a:rPr kumimoji="0" lang="zh-CN" altLang="en-US">
                <a:latin typeface="楷体_GB2312" pitchFamily="49" charset="-122"/>
                <a:ea typeface="楷体_GB2312" pitchFamily="49" charset="-122"/>
              </a:rPr>
              <a:t>程序调试的概念、与软件测试的区别</a:t>
            </a:r>
          </a:p>
          <a:p>
            <a:pPr eaLnBrk="0" hangingPunct="0">
              <a:lnSpc>
                <a:spcPct val="115000"/>
              </a:lnSpc>
              <a:spcBef>
                <a:spcPct val="10000"/>
              </a:spcBef>
              <a:buClrTx/>
              <a:buFontTx/>
              <a:buAutoNum type="arabicPeriod"/>
            </a:pPr>
            <a:r>
              <a:rPr kumimoji="0" lang="zh-CN" altLang="en-US">
                <a:solidFill>
                  <a:schemeClr val="folHlink"/>
                </a:solidFill>
                <a:latin typeface="楷体_GB2312" pitchFamily="49" charset="-122"/>
                <a:ea typeface="楷体_GB2312" pitchFamily="49" charset="-122"/>
              </a:rPr>
              <a:t>程序错误的类型、调试方法、调试原则</a:t>
            </a:r>
          </a:p>
          <a:p>
            <a:pPr eaLnBrk="0" hangingPunct="0">
              <a:lnSpc>
                <a:spcPct val="115000"/>
              </a:lnSpc>
              <a:spcBef>
                <a:spcPct val="10000"/>
              </a:spcBef>
              <a:buClrTx/>
              <a:buFontTx/>
              <a:buAutoNum type="arabicPeriod"/>
            </a:pPr>
            <a:r>
              <a:rPr kumimoji="0" lang="zh-CN" altLang="en-US">
                <a:solidFill>
                  <a:schemeClr val="folHlink"/>
                </a:solidFill>
                <a:latin typeface="楷体_GB2312" pitchFamily="49" charset="-122"/>
                <a:ea typeface="楷体_GB2312" pitchFamily="49" charset="-122"/>
              </a:rPr>
              <a:t>面向对象测试的层次、特点</a:t>
            </a:r>
          </a:p>
          <a:p>
            <a:pPr eaLnBrk="0" hangingPunct="0">
              <a:lnSpc>
                <a:spcPct val="115000"/>
              </a:lnSpc>
              <a:spcBef>
                <a:spcPct val="10000"/>
              </a:spcBef>
              <a:buClrTx/>
              <a:buFontTx/>
              <a:buAutoNum type="arabicPeriod"/>
            </a:pPr>
            <a:r>
              <a:rPr kumimoji="0" lang="zh-CN" altLang="en-US">
                <a:latin typeface="楷体_GB2312" pitchFamily="49" charset="-122"/>
                <a:ea typeface="楷体_GB2312" pitchFamily="49" charset="-122"/>
              </a:rPr>
              <a:t>软件维护的概念、分类、维护过程</a:t>
            </a:r>
          </a:p>
          <a:p>
            <a:pPr eaLnBrk="0" hangingPunct="0">
              <a:lnSpc>
                <a:spcPct val="115000"/>
              </a:lnSpc>
              <a:spcBef>
                <a:spcPct val="10000"/>
              </a:spcBef>
              <a:buClrTx/>
              <a:buFontTx/>
              <a:buAutoNum type="arabicPeriod"/>
            </a:pPr>
            <a:r>
              <a:rPr kumimoji="0" lang="zh-CN" altLang="en-US">
                <a:solidFill>
                  <a:schemeClr val="folHlink"/>
                </a:solidFill>
                <a:latin typeface="楷体_GB2312" pitchFamily="49" charset="-122"/>
                <a:ea typeface="楷体_GB2312" pitchFamily="49" charset="-122"/>
              </a:rPr>
              <a:t>软件维护的副作用</a:t>
            </a:r>
          </a:p>
        </p:txBody>
      </p:sp>
      <p:sp>
        <p:nvSpPr>
          <p:cNvPr id="7" name="Text Box 4">
            <a:extLst>
              <a:ext uri="{FF2B5EF4-FFF2-40B4-BE49-F238E27FC236}">
                <a16:creationId xmlns:a16="http://schemas.microsoft.com/office/drawing/2014/main" id="{63A4792C-4C09-4116-875D-5D650E43ABE2}"/>
              </a:ext>
            </a:extLst>
          </p:cNvPr>
          <p:cNvSpPr txBox="1">
            <a:spLocks noChangeArrowheads="1"/>
          </p:cNvSpPr>
          <p:nvPr/>
        </p:nvSpPr>
        <p:spPr bwMode="auto">
          <a:xfrm>
            <a:off x="3710730" y="1149991"/>
            <a:ext cx="6705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FontTx/>
              <a:buNone/>
            </a:pPr>
            <a:r>
              <a:rPr lang="zh-CN" altLang="en-US" sz="4000" dirty="0">
                <a:solidFill>
                  <a:schemeClr val="tx2"/>
                </a:solidFill>
                <a:latin typeface="隶书" panose="02010509060101010101" pitchFamily="49" charset="-122"/>
                <a:ea typeface="隶书" panose="02010509060101010101" pitchFamily="49" charset="-122"/>
              </a:rPr>
              <a:t>课堂总结（</a:t>
            </a:r>
            <a:r>
              <a:rPr lang="zh-CN" altLang="en-US" sz="4000" dirty="0">
                <a:latin typeface="隶书" panose="02010509060101010101" pitchFamily="49" charset="-122"/>
                <a:ea typeface="隶书" panose="02010509060101010101" pitchFamily="49" charset="-122"/>
              </a:rPr>
              <a:t>掌握</a:t>
            </a:r>
            <a:r>
              <a:rPr lang="zh-CN" altLang="en-US" sz="4000" dirty="0">
                <a:solidFill>
                  <a:schemeClr val="tx2"/>
                </a:solidFill>
                <a:latin typeface="隶书" panose="02010509060101010101" pitchFamily="49" charset="-122"/>
                <a:ea typeface="隶书" panose="02010509060101010101" pitchFamily="49" charset="-122"/>
              </a:rPr>
              <a:t>，了解）</a:t>
            </a:r>
            <a:endParaRPr lang="en-US" altLang="zh-CN" sz="4000" dirty="0">
              <a:solidFill>
                <a:schemeClr val="tx2"/>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25610048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CFD7FB-82A6-42E5-B9C9-76EF57548588}"/>
              </a:ext>
            </a:extLst>
          </p:cNvPr>
          <p:cNvSpPr txBox="1">
            <a:spLocks/>
          </p:cNvSpPr>
          <p:nvPr/>
        </p:nvSpPr>
        <p:spPr>
          <a:xfrm>
            <a:off x="2611073" y="919789"/>
            <a:ext cx="77724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zh-CN" sz="6600" b="1" dirty="0">
              <a:solidFill>
                <a:schemeClr val="accent5">
                  <a:lumMod val="50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endParaRPr lang="en-US" altLang="zh-CN" sz="6600" b="1" dirty="0">
              <a:solidFill>
                <a:schemeClr val="accent5">
                  <a:lumMod val="50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endParaRPr lang="zh-CN" altLang="en-US" sz="6600" b="1" dirty="0">
              <a:solidFill>
                <a:schemeClr val="accent5">
                  <a:lumMod val="50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pic>
        <p:nvPicPr>
          <p:cNvPr id="3" name="图片 2" descr="cover.jpg">
            <a:extLst>
              <a:ext uri="{FF2B5EF4-FFF2-40B4-BE49-F238E27FC236}">
                <a16:creationId xmlns:a16="http://schemas.microsoft.com/office/drawing/2014/main" id="{597FF4CF-C1EF-4F59-8CAE-3BA4704657F9}"/>
              </a:ext>
            </a:extLst>
          </p:cNvPr>
          <p:cNvPicPr>
            <a:picLocks noChangeAspect="1"/>
          </p:cNvPicPr>
          <p:nvPr/>
        </p:nvPicPr>
        <p:blipFill>
          <a:blip r:embed="rId2"/>
          <a:stretch>
            <a:fillRect/>
          </a:stretch>
        </p:blipFill>
        <p:spPr>
          <a:xfrm>
            <a:off x="1468073" y="3506402"/>
            <a:ext cx="9144000" cy="2321719"/>
          </a:xfrm>
          <a:prstGeom prst="rect">
            <a:avLst/>
          </a:prstGeom>
        </p:spPr>
      </p:pic>
      <p:pic>
        <p:nvPicPr>
          <p:cNvPr id="4" name="图片 3" descr="hrbeu.jpg">
            <a:extLst>
              <a:ext uri="{FF2B5EF4-FFF2-40B4-BE49-F238E27FC236}">
                <a16:creationId xmlns:a16="http://schemas.microsoft.com/office/drawing/2014/main" id="{360A4292-4E4E-4F6A-9787-37429360338E}"/>
              </a:ext>
            </a:extLst>
          </p:cNvPr>
          <p:cNvPicPr>
            <a:picLocks noChangeAspect="1"/>
          </p:cNvPicPr>
          <p:nvPr/>
        </p:nvPicPr>
        <p:blipFill>
          <a:blip r:embed="rId3"/>
          <a:stretch>
            <a:fillRect/>
          </a:stretch>
        </p:blipFill>
        <p:spPr>
          <a:xfrm>
            <a:off x="2163880" y="860476"/>
            <a:ext cx="2257425" cy="514350"/>
          </a:xfrm>
          <a:prstGeom prst="rect">
            <a:avLst/>
          </a:prstGeom>
        </p:spPr>
      </p:pic>
      <p:sp>
        <p:nvSpPr>
          <p:cNvPr id="5" name="副标题 2">
            <a:extLst>
              <a:ext uri="{FF2B5EF4-FFF2-40B4-BE49-F238E27FC236}">
                <a16:creationId xmlns:a16="http://schemas.microsoft.com/office/drawing/2014/main" id="{C68EBF6C-08B3-44C5-A068-DFFCE3C75856}"/>
              </a:ext>
            </a:extLst>
          </p:cNvPr>
          <p:cNvSpPr txBox="1">
            <a:spLocks/>
          </p:cNvSpPr>
          <p:nvPr/>
        </p:nvSpPr>
        <p:spPr>
          <a:xfrm>
            <a:off x="5537907" y="3570805"/>
            <a:ext cx="4388366" cy="1655762"/>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rPr>
              <a:t>王念滨</a:t>
            </a:r>
            <a:endParaRPr kumimoji="0" lang="en-US" altLang="zh-CN"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rPr>
              <a:t>计算机科学与技术学院</a:t>
            </a:r>
            <a:endParaRPr kumimoji="0" lang="en-US" altLang="zh-CN"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rPr>
              <a:t>大数据与智能计算课题组</a:t>
            </a:r>
            <a:endParaRPr kumimoji="0" lang="en-US" altLang="zh-CN"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rPr>
              <a:t>2020</a:t>
            </a:r>
            <a:r>
              <a:rPr kumimoji="0" lang="zh-CN" altLang="en-US"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rPr>
              <a:t>年</a:t>
            </a:r>
            <a:r>
              <a:rPr kumimoji="0" lang="en-US" altLang="zh-CN"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rPr>
              <a:t>3</a:t>
            </a:r>
            <a:r>
              <a:rPr kumimoji="0" lang="zh-CN" altLang="en-US" sz="2400" b="0" i="0" u="none" strike="noStrike" kern="1200" cap="none" spc="0" normalizeH="0" baseline="0" noProof="0" dirty="0">
                <a:ln>
                  <a:noFill/>
                </a:ln>
                <a:solidFill>
                  <a:srgbClr val="5B9BD5">
                    <a:lumMod val="50000"/>
                  </a:srgbClr>
                </a:solidFill>
                <a:effectLst/>
                <a:uLnTx/>
                <a:uFillTx/>
                <a:latin typeface="华文新魏" panose="02010800040101010101" pitchFamily="2" charset="-122"/>
                <a:ea typeface="华文新魏" panose="02010800040101010101" pitchFamily="2" charset="-122"/>
                <a:cs typeface="+mn-cs"/>
              </a:rPr>
              <a:t>月</a:t>
            </a:r>
          </a:p>
        </p:txBody>
      </p:sp>
    </p:spTree>
    <p:extLst>
      <p:ext uri="{BB962C8B-B14F-4D97-AF65-F5344CB8AC3E}">
        <p14:creationId xmlns:p14="http://schemas.microsoft.com/office/powerpoint/2010/main" val="25207767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795093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152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8934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30893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2.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3.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4.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5.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6.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7.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8.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6900</TotalTime>
  <Words>8364</Words>
  <Application>Microsoft Office PowerPoint</Application>
  <PresentationFormat>宽屏</PresentationFormat>
  <Paragraphs>943</Paragraphs>
  <Slides>98</Slides>
  <Notes>0</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4</vt:i4>
      </vt:variant>
      <vt:variant>
        <vt:lpstr>幻灯片标题</vt:lpstr>
      </vt:variant>
      <vt:variant>
        <vt:i4>98</vt:i4>
      </vt:variant>
    </vt:vector>
  </HeadingPairs>
  <TitlesOfParts>
    <vt:vector size="124" baseType="lpstr">
      <vt:lpstr>仿宋</vt:lpstr>
      <vt:lpstr>黑体</vt:lpstr>
      <vt:lpstr>华文仿宋</vt:lpstr>
      <vt:lpstr>华文楷体</vt:lpstr>
      <vt:lpstr>华文隶书</vt:lpstr>
      <vt:lpstr>华文新魏</vt:lpstr>
      <vt:lpstr>华文中宋</vt:lpstr>
      <vt:lpstr>楷体</vt:lpstr>
      <vt:lpstr>楷体_GB2312</vt:lpstr>
      <vt:lpstr>隶书</vt:lpstr>
      <vt:lpstr>宋体</vt:lpstr>
      <vt:lpstr>微软雅黑</vt:lpstr>
      <vt:lpstr>Arial</vt:lpstr>
      <vt:lpstr>Calibri</vt:lpstr>
      <vt:lpstr>Calibri Light</vt:lpstr>
      <vt:lpstr>Impact</vt:lpstr>
      <vt:lpstr>Tahoma</vt:lpstr>
      <vt:lpstr>Times New Roman</vt:lpstr>
      <vt:lpstr>Verdana</vt:lpstr>
      <vt:lpstr>Wingdings</vt:lpstr>
      <vt:lpstr>Wingdings 2</vt:lpstr>
      <vt:lpstr>Office 主题</vt:lpstr>
      <vt:lpstr>剪辑</vt:lpstr>
      <vt:lpstr>Visio</vt:lpstr>
      <vt:lpstr>位图图像</vt:lpstr>
      <vt:lpstr>Picture2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什么是软件测试？--两种经典理念</vt:lpstr>
      <vt:lpstr>微软的软件测试</vt:lpstr>
      <vt:lpstr>微软的测试：一个完善的自动化测试体系</vt:lpstr>
      <vt:lpstr>微软的测试：自动测试流程</vt:lpstr>
      <vt:lpstr>微软的测试：测试实例</vt:lpstr>
      <vt:lpstr>微软的测试：自动化测试的核心</vt:lpstr>
      <vt:lpstr>微软的测试：自动测试程序设计要点</vt:lpstr>
      <vt:lpstr>微软的测试：测试用例的分级，及运行频度</vt:lpstr>
      <vt:lpstr>微软的测试：测试用例管理</vt:lpstr>
      <vt:lpstr>PowerPoint 演示文稿</vt:lpstr>
      <vt:lpstr>微软的测试：测试报告</vt:lpstr>
      <vt:lpstr>PowerPoint 演示文稿</vt:lpstr>
      <vt:lpstr>微软的测试：高级自动化的关键--硬件的管理</vt:lpstr>
      <vt:lpstr>微软的测试：测试自动化的发展阶段与计划</vt:lpstr>
      <vt:lpstr>微软的测试：测试自动化的风险</vt:lpstr>
      <vt:lpstr>PowerPoint 演示文稿</vt:lpstr>
      <vt:lpstr>PowerPoint 演示文稿</vt:lpstr>
      <vt:lpstr>Google的测试之道—灵魂与思想</vt:lpstr>
      <vt:lpstr>Google的测试之道—灵魂与思想</vt:lpstr>
      <vt:lpstr>Google的测试----组织机构</vt:lpstr>
      <vt:lpstr>Google的测试-产品团队</vt:lpstr>
      <vt:lpstr>Google的测试-服务团队</vt:lpstr>
      <vt:lpstr>Google的测试-嵌入式工程师</vt:lpstr>
      <vt:lpstr>Google的测试-组织机构特点</vt:lpstr>
      <vt:lpstr>Google的测试-组织机构缺点</vt:lpstr>
      <vt:lpstr>Google的测试-组织机构对测试人员的益处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王 鹏飞</cp:lastModifiedBy>
  <cp:revision>232</cp:revision>
  <dcterms:created xsi:type="dcterms:W3CDTF">2020-02-08T11:08:49Z</dcterms:created>
  <dcterms:modified xsi:type="dcterms:W3CDTF">2020-08-30T04:30:14Z</dcterms:modified>
</cp:coreProperties>
</file>